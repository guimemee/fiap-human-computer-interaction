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7"/>
  </p:notesMasterIdLst>
  <p:handoutMasterIdLst>
    <p:handoutMasterId r:id="rId28"/>
  </p:handoutMasterIdLst>
  <p:sldIdLst>
    <p:sldId id="256" r:id="rId6"/>
    <p:sldId id="266" r:id="rId7"/>
    <p:sldId id="697" r:id="rId8"/>
    <p:sldId id="704" r:id="rId9"/>
    <p:sldId id="700" r:id="rId10"/>
    <p:sldId id="708" r:id="rId11"/>
    <p:sldId id="698" r:id="rId12"/>
    <p:sldId id="701" r:id="rId13"/>
    <p:sldId id="703" r:id="rId14"/>
    <p:sldId id="699" r:id="rId15"/>
    <p:sldId id="702" r:id="rId16"/>
    <p:sldId id="705" r:id="rId17"/>
    <p:sldId id="712" r:id="rId18"/>
    <p:sldId id="707" r:id="rId19"/>
    <p:sldId id="710" r:id="rId20"/>
    <p:sldId id="711" r:id="rId21"/>
    <p:sldId id="714" r:id="rId22"/>
    <p:sldId id="686" r:id="rId23"/>
    <p:sldId id="715" r:id="rId24"/>
    <p:sldId id="716" r:id="rId25"/>
    <p:sldId id="706" r:id="rId26"/>
  </p:sldIdLst>
  <p:sldSz cx="9144000" cy="6858000" type="screen4x3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BDB"/>
    <a:srgbClr val="FFCC99"/>
    <a:srgbClr val="000000"/>
    <a:srgbClr val="F93C1D"/>
    <a:srgbClr val="F0265D"/>
    <a:srgbClr val="DCE6F2"/>
    <a:srgbClr val="F5F4EE"/>
    <a:srgbClr val="FFFFFF"/>
    <a:srgbClr val="F6F6F6"/>
    <a:srgbClr val="E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9" autoAdjust="0"/>
    <p:restoredTop sz="94249" autoAdjust="0"/>
  </p:normalViewPr>
  <p:slideViewPr>
    <p:cSldViewPr snapToGrid="0" snapToObjects="1">
      <p:cViewPr varScale="1">
        <p:scale>
          <a:sx n="79" d="100"/>
          <a:sy n="79" d="100"/>
        </p:scale>
        <p:origin x="7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01A63A9-F13B-46F1-A93F-27AA737FD7E7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F2F50FE-E718-42E3-9D8A-946F780C79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0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911963"/>
            <a:ext cx="4576305" cy="9566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503980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CONTEÚDO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DO CURSO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0771A93E-B440-4403-AED2-B4EB82B47085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B0FC110-69A9-4E69-A533-474F77BD5C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785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/>
          </p:cNvPicPr>
          <p:nvPr userDrawn="1"/>
        </p:nvPicPr>
        <p:blipFill rotWithShape="1">
          <a:blip r:embed="rId3"/>
          <a:srcRect l="21776" r="21705"/>
          <a:stretch/>
        </p:blipFill>
        <p:spPr>
          <a:xfrm>
            <a:off x="-11651" y="2329273"/>
            <a:ext cx="9155651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2" name="TextBox 14"/>
          <p:cNvSpPr txBox="1"/>
          <p:nvPr userDrawn="1"/>
        </p:nvSpPr>
        <p:spPr>
          <a:xfrm>
            <a:off x="632919" y="6295596"/>
            <a:ext cx="36170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b="1" dirty="0" err="1">
                <a:solidFill>
                  <a:srgbClr val="303030"/>
                </a:solidFill>
                <a:latin typeface="Gotham-Bold"/>
                <a:cs typeface="Gotham-Bold"/>
              </a:rPr>
              <a:t>Versão</a:t>
            </a:r>
            <a:r>
              <a:rPr lang="en-US" sz="1400" b="1" dirty="0">
                <a:solidFill>
                  <a:srgbClr val="303030"/>
                </a:solidFill>
                <a:latin typeface="Gotham-Bold"/>
                <a:cs typeface="Gotham-Bold"/>
              </a:rPr>
              <a:t> 3.0 – Agosto/2025</a:t>
            </a:r>
          </a:p>
        </p:txBody>
      </p:sp>
      <p:sp>
        <p:nvSpPr>
          <p:cNvPr id="14" name="TextBox 15"/>
          <p:cNvSpPr txBox="1"/>
          <p:nvPr userDrawn="1"/>
        </p:nvSpPr>
        <p:spPr>
          <a:xfrm>
            <a:off x="1006056" y="3414497"/>
            <a:ext cx="798370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 DA COMPUTAÇÃO</a:t>
            </a:r>
            <a:endParaRPr lang="en-US" sz="3200" b="1" cap="small" baseline="0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5" name="Rectangle 22"/>
          <p:cNvSpPr/>
          <p:nvPr userDrawn="1"/>
        </p:nvSpPr>
        <p:spPr>
          <a:xfrm flipH="1">
            <a:off x="754365" y="3141713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2015  Prof. Leandro </a:t>
            </a:r>
            <a:r>
              <a:rPr kumimoji="1" lang="en-US" sz="2000" b="1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Rubim</a:t>
            </a:r>
            <a:endParaRPr kumimoji="1" lang="en-US" sz="2000" b="1" dirty="0">
              <a:solidFill>
                <a:schemeClr val="bg1"/>
              </a:solidFill>
              <a:latin typeface="Gotham HTF" pitchFamily="2" charset="0"/>
              <a:cs typeface="Gotham-Bold"/>
            </a:endParaRP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hyperlink" Target="https://twitter.com/amazonBR" TargetMode="External"/><Relationship Id="rId12" Type="http://schemas.openxmlformats.org/officeDocument/2006/relationships/image" Target="../media/image42.png"/><Relationship Id="rId2" Type="http://schemas.openxmlformats.org/officeDocument/2006/relationships/hyperlink" Target="https://twitter.com/NetflixBrasil?ref_src=twsrc%5Egoogle%7Ctwcamp%5Eserp%7Ctwgr%5Eauthor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hyperlink" Target="https://twitter.com/McDonalds_BR/with_replies" TargetMode="External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hyperlink" Target="https://twitter.com/usebrusinhas/with_replies" TargetMode="External"/><Relationship Id="rId9" Type="http://schemas.openxmlformats.org/officeDocument/2006/relationships/hyperlink" Target="https://twitter.com/CVVoficia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0"/>
          <p:cNvSpPr txBox="1"/>
          <p:nvPr/>
        </p:nvSpPr>
        <p:spPr>
          <a:xfrm>
            <a:off x="1002372" y="3912101"/>
            <a:ext cx="7223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cap="all" dirty="0">
                <a:solidFill>
                  <a:schemeClr val="bg1"/>
                </a:solidFill>
              </a:rPr>
              <a:t>Human-COMPUTER interaction</a:t>
            </a:r>
          </a:p>
        </p:txBody>
      </p:sp>
      <p:sp>
        <p:nvSpPr>
          <p:cNvPr id="5" name="TextBox 21"/>
          <p:cNvSpPr txBox="1"/>
          <p:nvPr/>
        </p:nvSpPr>
        <p:spPr>
          <a:xfrm>
            <a:off x="1050858" y="4541323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HENRIQUE </a:t>
            </a:r>
            <a:r>
              <a:rPr lang="en-US" b="1" u="sng" dirty="0">
                <a:solidFill>
                  <a:srgbClr val="FFFFFF"/>
                </a:solidFill>
                <a:latin typeface="Gotham-Bold"/>
                <a:cs typeface="Gotham-Bold"/>
              </a:rPr>
              <a:t>CORDEIRO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53EB4E57-EBB0-6C0C-B6EC-278B8EB9AAAA}"/>
              </a:ext>
            </a:extLst>
          </p:cNvPr>
          <p:cNvSpPr/>
          <p:nvPr/>
        </p:nvSpPr>
        <p:spPr>
          <a:xfrm>
            <a:off x="959902" y="2765981"/>
            <a:ext cx="7215910" cy="1572986"/>
          </a:xfrm>
          <a:custGeom>
            <a:avLst/>
            <a:gdLst>
              <a:gd name="connsiteX0" fmla="*/ 0 w 8005482"/>
              <a:gd name="connsiteY0" fmla="*/ 703272 h 1456355"/>
              <a:gd name="connsiteX1" fmla="*/ 430306 w 8005482"/>
              <a:gd name="connsiteY1" fmla="*/ 12989 h 1456355"/>
              <a:gd name="connsiteX2" fmla="*/ 1183341 w 8005482"/>
              <a:gd name="connsiteY2" fmla="*/ 1241154 h 1456355"/>
              <a:gd name="connsiteX3" fmla="*/ 1927412 w 8005482"/>
              <a:gd name="connsiteY3" fmla="*/ 156425 h 1456355"/>
              <a:gd name="connsiteX4" fmla="*/ 2653553 w 8005482"/>
              <a:gd name="connsiteY4" fmla="*/ 1375625 h 1456355"/>
              <a:gd name="connsiteX5" fmla="*/ 3657600 w 8005482"/>
              <a:gd name="connsiteY5" fmla="*/ 156425 h 1456355"/>
              <a:gd name="connsiteX6" fmla="*/ 4338918 w 8005482"/>
              <a:gd name="connsiteY6" fmla="*/ 1456307 h 1456355"/>
              <a:gd name="connsiteX7" fmla="*/ 5307106 w 8005482"/>
              <a:gd name="connsiteY7" fmla="*/ 210213 h 1456355"/>
              <a:gd name="connsiteX8" fmla="*/ 5934635 w 8005482"/>
              <a:gd name="connsiteY8" fmla="*/ 1312872 h 1456355"/>
              <a:gd name="connsiteX9" fmla="*/ 6598024 w 8005482"/>
              <a:gd name="connsiteY9" fmla="*/ 228142 h 1456355"/>
              <a:gd name="connsiteX10" fmla="*/ 7198659 w 8005482"/>
              <a:gd name="connsiteY10" fmla="*/ 1330801 h 1456355"/>
              <a:gd name="connsiteX11" fmla="*/ 8005482 w 8005482"/>
              <a:gd name="connsiteY11" fmla="*/ 228142 h 1456355"/>
              <a:gd name="connsiteX0" fmla="*/ 0 w 8005482"/>
              <a:gd name="connsiteY0" fmla="*/ 703272 h 1456355"/>
              <a:gd name="connsiteX1" fmla="*/ 430306 w 8005482"/>
              <a:gd name="connsiteY1" fmla="*/ 12989 h 1456355"/>
              <a:gd name="connsiteX2" fmla="*/ 1183341 w 8005482"/>
              <a:gd name="connsiteY2" fmla="*/ 1241154 h 1456355"/>
              <a:gd name="connsiteX3" fmla="*/ 1927412 w 8005482"/>
              <a:gd name="connsiteY3" fmla="*/ 156425 h 1456355"/>
              <a:gd name="connsiteX4" fmla="*/ 2653553 w 8005482"/>
              <a:gd name="connsiteY4" fmla="*/ 1375625 h 1456355"/>
              <a:gd name="connsiteX5" fmla="*/ 3657600 w 8005482"/>
              <a:gd name="connsiteY5" fmla="*/ 156425 h 1456355"/>
              <a:gd name="connsiteX6" fmla="*/ 4338918 w 8005482"/>
              <a:gd name="connsiteY6" fmla="*/ 1456307 h 1456355"/>
              <a:gd name="connsiteX7" fmla="*/ 5307106 w 8005482"/>
              <a:gd name="connsiteY7" fmla="*/ 210213 h 1456355"/>
              <a:gd name="connsiteX8" fmla="*/ 5934635 w 8005482"/>
              <a:gd name="connsiteY8" fmla="*/ 1312872 h 1456355"/>
              <a:gd name="connsiteX9" fmla="*/ 6598024 w 8005482"/>
              <a:gd name="connsiteY9" fmla="*/ 228142 h 1456355"/>
              <a:gd name="connsiteX10" fmla="*/ 7324165 w 8005482"/>
              <a:gd name="connsiteY10" fmla="*/ 1330801 h 1456355"/>
              <a:gd name="connsiteX11" fmla="*/ 8005482 w 8005482"/>
              <a:gd name="connsiteY11" fmla="*/ 228142 h 1456355"/>
              <a:gd name="connsiteX0" fmla="*/ 0 w 7856668"/>
              <a:gd name="connsiteY0" fmla="*/ 703272 h 1456355"/>
              <a:gd name="connsiteX1" fmla="*/ 430306 w 7856668"/>
              <a:gd name="connsiteY1" fmla="*/ 12989 h 1456355"/>
              <a:gd name="connsiteX2" fmla="*/ 1183341 w 7856668"/>
              <a:gd name="connsiteY2" fmla="*/ 1241154 h 1456355"/>
              <a:gd name="connsiteX3" fmla="*/ 1927412 w 7856668"/>
              <a:gd name="connsiteY3" fmla="*/ 156425 h 1456355"/>
              <a:gd name="connsiteX4" fmla="*/ 2653553 w 7856668"/>
              <a:gd name="connsiteY4" fmla="*/ 1375625 h 1456355"/>
              <a:gd name="connsiteX5" fmla="*/ 3657600 w 7856668"/>
              <a:gd name="connsiteY5" fmla="*/ 156425 h 1456355"/>
              <a:gd name="connsiteX6" fmla="*/ 4338918 w 7856668"/>
              <a:gd name="connsiteY6" fmla="*/ 1456307 h 1456355"/>
              <a:gd name="connsiteX7" fmla="*/ 5307106 w 7856668"/>
              <a:gd name="connsiteY7" fmla="*/ 210213 h 1456355"/>
              <a:gd name="connsiteX8" fmla="*/ 5934635 w 7856668"/>
              <a:gd name="connsiteY8" fmla="*/ 1312872 h 1456355"/>
              <a:gd name="connsiteX9" fmla="*/ 6598024 w 7856668"/>
              <a:gd name="connsiteY9" fmla="*/ 228142 h 1456355"/>
              <a:gd name="connsiteX10" fmla="*/ 7324165 w 7856668"/>
              <a:gd name="connsiteY10" fmla="*/ 1330801 h 1456355"/>
              <a:gd name="connsiteX11" fmla="*/ 7856668 w 7856668"/>
              <a:gd name="connsiteY11" fmla="*/ 559837 h 1456355"/>
              <a:gd name="connsiteX0" fmla="*/ 0 w 7777300"/>
              <a:gd name="connsiteY0" fmla="*/ 703272 h 1456355"/>
              <a:gd name="connsiteX1" fmla="*/ 430306 w 7777300"/>
              <a:gd name="connsiteY1" fmla="*/ 12989 h 1456355"/>
              <a:gd name="connsiteX2" fmla="*/ 1183341 w 7777300"/>
              <a:gd name="connsiteY2" fmla="*/ 1241154 h 1456355"/>
              <a:gd name="connsiteX3" fmla="*/ 1927412 w 7777300"/>
              <a:gd name="connsiteY3" fmla="*/ 156425 h 1456355"/>
              <a:gd name="connsiteX4" fmla="*/ 2653553 w 7777300"/>
              <a:gd name="connsiteY4" fmla="*/ 1375625 h 1456355"/>
              <a:gd name="connsiteX5" fmla="*/ 3657600 w 7777300"/>
              <a:gd name="connsiteY5" fmla="*/ 156425 h 1456355"/>
              <a:gd name="connsiteX6" fmla="*/ 4338918 w 7777300"/>
              <a:gd name="connsiteY6" fmla="*/ 1456307 h 1456355"/>
              <a:gd name="connsiteX7" fmla="*/ 5307106 w 7777300"/>
              <a:gd name="connsiteY7" fmla="*/ 210213 h 1456355"/>
              <a:gd name="connsiteX8" fmla="*/ 5934635 w 7777300"/>
              <a:gd name="connsiteY8" fmla="*/ 1312872 h 1456355"/>
              <a:gd name="connsiteX9" fmla="*/ 6598024 w 7777300"/>
              <a:gd name="connsiteY9" fmla="*/ 228142 h 1456355"/>
              <a:gd name="connsiteX10" fmla="*/ 7324165 w 7777300"/>
              <a:gd name="connsiteY10" fmla="*/ 1330801 h 1456355"/>
              <a:gd name="connsiteX11" fmla="*/ 7777300 w 7777300"/>
              <a:gd name="connsiteY11" fmla="*/ 649484 h 14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77300" h="1456355">
                <a:moveTo>
                  <a:pt x="0" y="703272"/>
                </a:moveTo>
                <a:cubicBezTo>
                  <a:pt x="116541" y="313307"/>
                  <a:pt x="233083" y="-76658"/>
                  <a:pt x="430306" y="12989"/>
                </a:cubicBezTo>
                <a:cubicBezTo>
                  <a:pt x="627530" y="102636"/>
                  <a:pt x="933823" y="1217248"/>
                  <a:pt x="1183341" y="1241154"/>
                </a:cubicBezTo>
                <a:cubicBezTo>
                  <a:pt x="1432859" y="1265060"/>
                  <a:pt x="1682377" y="134013"/>
                  <a:pt x="1927412" y="156425"/>
                </a:cubicBezTo>
                <a:cubicBezTo>
                  <a:pt x="2172447" y="178837"/>
                  <a:pt x="2365188" y="1375625"/>
                  <a:pt x="2653553" y="1375625"/>
                </a:cubicBezTo>
                <a:cubicBezTo>
                  <a:pt x="2941918" y="1375625"/>
                  <a:pt x="3376706" y="142978"/>
                  <a:pt x="3657600" y="156425"/>
                </a:cubicBezTo>
                <a:cubicBezTo>
                  <a:pt x="3938494" y="169872"/>
                  <a:pt x="4064001" y="1447342"/>
                  <a:pt x="4338918" y="1456307"/>
                </a:cubicBezTo>
                <a:cubicBezTo>
                  <a:pt x="4613835" y="1465272"/>
                  <a:pt x="5041153" y="234119"/>
                  <a:pt x="5307106" y="210213"/>
                </a:cubicBezTo>
                <a:cubicBezTo>
                  <a:pt x="5573059" y="186307"/>
                  <a:pt x="5719482" y="1309884"/>
                  <a:pt x="5934635" y="1312872"/>
                </a:cubicBezTo>
                <a:cubicBezTo>
                  <a:pt x="6149788" y="1315860"/>
                  <a:pt x="6366436" y="225154"/>
                  <a:pt x="6598024" y="228142"/>
                </a:cubicBezTo>
                <a:cubicBezTo>
                  <a:pt x="6829612" y="231130"/>
                  <a:pt x="7089589" y="1330801"/>
                  <a:pt x="7324165" y="1330801"/>
                </a:cubicBezTo>
                <a:cubicBezTo>
                  <a:pt x="7558741" y="1330801"/>
                  <a:pt x="7663747" y="754072"/>
                  <a:pt x="7777300" y="649484"/>
                </a:cubicBezTo>
              </a:path>
            </a:pathLst>
          </a:cu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06A5C63E-81FF-C098-D2EF-F75FA0E8228C}"/>
              </a:ext>
            </a:extLst>
          </p:cNvPr>
          <p:cNvGrpSpPr/>
          <p:nvPr/>
        </p:nvGrpSpPr>
        <p:grpSpPr>
          <a:xfrm>
            <a:off x="3340270" y="2924298"/>
            <a:ext cx="2163156" cy="1245308"/>
            <a:chOff x="3270556" y="3981577"/>
            <a:chExt cx="2163156" cy="548525"/>
          </a:xfrm>
          <a:solidFill>
            <a:srgbClr val="FFCC99"/>
          </a:solidFill>
        </p:grpSpPr>
        <p:sp>
          <p:nvSpPr>
            <p:cNvPr id="40" name="Estrela: 24 Pontas 39">
              <a:extLst>
                <a:ext uri="{FF2B5EF4-FFF2-40B4-BE49-F238E27FC236}">
                  <a16:creationId xmlns:a16="http://schemas.microsoft.com/office/drawing/2014/main" id="{10452503-E397-8756-8D69-8ABD35553CD4}"/>
                </a:ext>
              </a:extLst>
            </p:cNvPr>
            <p:cNvSpPr/>
            <p:nvPr/>
          </p:nvSpPr>
          <p:spPr>
            <a:xfrm>
              <a:off x="3270556" y="3981577"/>
              <a:ext cx="2163156" cy="548525"/>
            </a:xfrm>
            <a:prstGeom prst="star24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4B4ABD10-63FF-7B53-4181-3810D77CED38}"/>
                </a:ext>
              </a:extLst>
            </p:cNvPr>
            <p:cNvSpPr txBox="1"/>
            <p:nvPr/>
          </p:nvSpPr>
          <p:spPr>
            <a:xfrm>
              <a:off x="3880542" y="4046022"/>
              <a:ext cx="758541" cy="13556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sz="1400" i="1" dirty="0" err="1">
                  <a:solidFill>
                    <a:srgbClr val="C00000"/>
                  </a:solidFill>
                  <a:latin typeface="Dreaming Outloud Pro" panose="020F0502020204030204" pitchFamily="66" charset="0"/>
                  <a:cs typeface="Dreaming Outloud Pro" panose="020F0502020204030204" pitchFamily="66" charset="0"/>
                </a:rPr>
                <a:t>RUíDOS</a:t>
              </a:r>
              <a:endParaRPr lang="pt-BR" sz="1400" i="1" dirty="0">
                <a:solidFill>
                  <a:srgbClr val="C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endParaRPr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F06E82D1-9846-56B5-62AE-49D5B3CC0083}"/>
                </a:ext>
              </a:extLst>
            </p:cNvPr>
            <p:cNvSpPr txBox="1"/>
            <p:nvPr/>
          </p:nvSpPr>
          <p:spPr>
            <a:xfrm>
              <a:off x="4049933" y="4329736"/>
              <a:ext cx="758541" cy="13556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pt-BR" sz="1400" i="1" dirty="0" err="1">
                  <a:solidFill>
                    <a:srgbClr val="C00000"/>
                  </a:solidFill>
                  <a:latin typeface="Dreaming Outloud Pro" panose="020F0502020204030204" pitchFamily="66" charset="0"/>
                  <a:cs typeface="Dreaming Outloud Pro" panose="020F0502020204030204" pitchFamily="66" charset="0"/>
                </a:rPr>
                <a:t>RUíDOS</a:t>
              </a:r>
              <a:endParaRPr lang="pt-BR" sz="1400" i="1" dirty="0">
                <a:solidFill>
                  <a:srgbClr val="C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endParaRPr>
            </a:p>
          </p:txBody>
        </p:sp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553016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Semiótica e seu papel no design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12EFC6-0C69-A446-58F1-41C3184E0D1C}"/>
              </a:ext>
            </a:extLst>
          </p:cNvPr>
          <p:cNvSpPr/>
          <p:nvPr/>
        </p:nvSpPr>
        <p:spPr>
          <a:xfrm>
            <a:off x="422114" y="1617096"/>
            <a:ext cx="829977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2400" b="1" cap="all" dirty="0"/>
              <a:t>O design da interação homem-máquina (parte da UX) </a:t>
            </a:r>
          </a:p>
          <a:p>
            <a:pPr algn="ctr"/>
            <a:r>
              <a:rPr lang="pt-BR" sz="2400" b="1" cap="all" dirty="0"/>
              <a:t>É, na prática, o design de um processo de comunicação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1C0911C-4EC2-08D0-2CBC-1C19E266B52F}"/>
              </a:ext>
            </a:extLst>
          </p:cNvPr>
          <p:cNvSpPr txBox="1"/>
          <p:nvPr/>
        </p:nvSpPr>
        <p:spPr>
          <a:xfrm>
            <a:off x="756504" y="4412721"/>
            <a:ext cx="182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C00000"/>
                </a:solidFill>
              </a:rPr>
              <a:t>Designer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9AE5B3-A408-DBE6-B6CD-CDB2481A1953}"/>
              </a:ext>
            </a:extLst>
          </p:cNvPr>
          <p:cNvSpPr txBox="1"/>
          <p:nvPr/>
        </p:nvSpPr>
        <p:spPr>
          <a:xfrm>
            <a:off x="3507618" y="4412721"/>
            <a:ext cx="182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C00000"/>
                </a:solidFill>
              </a:rPr>
              <a:t>Projeto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493F809-AC33-17BF-9E1B-9D2CF54D598D}"/>
              </a:ext>
            </a:extLst>
          </p:cNvPr>
          <p:cNvSpPr txBox="1"/>
          <p:nvPr/>
        </p:nvSpPr>
        <p:spPr>
          <a:xfrm>
            <a:off x="6532458" y="4412721"/>
            <a:ext cx="182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C00000"/>
                </a:solidFill>
              </a:rPr>
              <a:t>Usuário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0CA8A6A-B8BC-8B4A-3122-8EA0C9F772B1}"/>
              </a:ext>
            </a:extLst>
          </p:cNvPr>
          <p:cNvSpPr txBox="1"/>
          <p:nvPr/>
        </p:nvSpPr>
        <p:spPr>
          <a:xfrm>
            <a:off x="699486" y="3235369"/>
            <a:ext cx="1944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tx2"/>
                </a:solidFill>
              </a:rPr>
              <a:t>EMISSOR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8D53D1-AFED-1E94-44F0-562754E26C4D}"/>
              </a:ext>
            </a:extLst>
          </p:cNvPr>
          <p:cNvSpPr txBox="1"/>
          <p:nvPr/>
        </p:nvSpPr>
        <p:spPr>
          <a:xfrm>
            <a:off x="3240583" y="3235369"/>
            <a:ext cx="2528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tx2"/>
                </a:solidFill>
              </a:rPr>
              <a:t>MENSAGEM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909B9D-2C4B-2C38-7787-E5BC28E50012}"/>
              </a:ext>
            </a:extLst>
          </p:cNvPr>
          <p:cNvSpPr txBox="1"/>
          <p:nvPr/>
        </p:nvSpPr>
        <p:spPr>
          <a:xfrm>
            <a:off x="6365110" y="3235369"/>
            <a:ext cx="2163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tx2"/>
                </a:solidFill>
              </a:rPr>
              <a:t>RECEPTOR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F514BE2C-CBA2-CC05-6139-F33E484E201E}"/>
              </a:ext>
            </a:extLst>
          </p:cNvPr>
          <p:cNvCxnSpPr>
            <a:cxnSpLocks/>
          </p:cNvCxnSpPr>
          <p:nvPr/>
        </p:nvCxnSpPr>
        <p:spPr>
          <a:xfrm>
            <a:off x="2644249" y="3554339"/>
            <a:ext cx="596334" cy="0"/>
          </a:xfrm>
          <a:prstGeom prst="straightConnector1">
            <a:avLst/>
          </a:prstGeom>
          <a:ln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58A4D6E-3AF8-CF05-13AD-71C7DBABEFE1}"/>
              </a:ext>
            </a:extLst>
          </p:cNvPr>
          <p:cNvCxnSpPr>
            <a:cxnSpLocks/>
          </p:cNvCxnSpPr>
          <p:nvPr/>
        </p:nvCxnSpPr>
        <p:spPr>
          <a:xfrm>
            <a:off x="5768776" y="3558535"/>
            <a:ext cx="596334" cy="0"/>
          </a:xfrm>
          <a:prstGeom prst="straightConnector1">
            <a:avLst/>
          </a:prstGeom>
          <a:ln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5869FEF-5E8B-CEF6-5FF1-DF66B0748AAB}"/>
              </a:ext>
            </a:extLst>
          </p:cNvPr>
          <p:cNvSpPr txBox="1"/>
          <p:nvPr/>
        </p:nvSpPr>
        <p:spPr>
          <a:xfrm>
            <a:off x="3514822" y="5023454"/>
            <a:ext cx="1828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2"/>
                </a:solidFill>
              </a:rPr>
              <a:t>Interface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785757B-9629-85D0-99C2-B394C67D5265}"/>
              </a:ext>
            </a:extLst>
          </p:cNvPr>
          <p:cNvSpPr txBox="1"/>
          <p:nvPr/>
        </p:nvSpPr>
        <p:spPr>
          <a:xfrm>
            <a:off x="3971742" y="5509682"/>
            <a:ext cx="925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2"/>
                </a:solidFill>
              </a:rPr>
              <a:t>Design 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54510CB-426E-59BA-2A14-6402080429B0}"/>
              </a:ext>
            </a:extLst>
          </p:cNvPr>
          <p:cNvSpPr txBox="1"/>
          <p:nvPr/>
        </p:nvSpPr>
        <p:spPr>
          <a:xfrm>
            <a:off x="3788825" y="5248638"/>
            <a:ext cx="1291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2"/>
                </a:solidFill>
              </a:rPr>
              <a:t>x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E786E8D-C62E-8D77-D316-5FACB90FBB48}"/>
              </a:ext>
            </a:extLst>
          </p:cNvPr>
          <p:cNvSpPr txBox="1"/>
          <p:nvPr/>
        </p:nvSpPr>
        <p:spPr>
          <a:xfrm>
            <a:off x="818081" y="5180454"/>
            <a:ext cx="1856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cap="all" dirty="0"/>
              <a:t>semiótica</a:t>
            </a:r>
          </a:p>
        </p:txBody>
      </p: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8B31D6D0-C973-D8C5-93E4-8D048770854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644249" y="5556790"/>
            <a:ext cx="1327493" cy="15294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4E1CEEB8-D263-11DA-9425-1ADA6E5B7FCE}"/>
              </a:ext>
            </a:extLst>
          </p:cNvPr>
          <p:cNvSpPr txBox="1"/>
          <p:nvPr/>
        </p:nvSpPr>
        <p:spPr>
          <a:xfrm rot="373644">
            <a:off x="2788439" y="5212480"/>
            <a:ext cx="1154611" cy="453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pt-BR" sz="1400" dirty="0">
                <a:solidFill>
                  <a:srgbClr val="C00000"/>
                </a:solidFill>
              </a:rPr>
              <a:t>Cuidado</a:t>
            </a:r>
          </a:p>
          <a:p>
            <a:pPr algn="ctr">
              <a:lnSpc>
                <a:spcPts val="1400"/>
              </a:lnSpc>
            </a:pPr>
            <a:r>
              <a:rPr lang="pt-BR" sz="1400" dirty="0">
                <a:solidFill>
                  <a:srgbClr val="C00000"/>
                </a:solidFill>
              </a:rPr>
              <a:t>aplicado ao...</a:t>
            </a: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C8AE50B2-E460-FDEE-B88B-AB5BE40FA62F}"/>
              </a:ext>
            </a:extLst>
          </p:cNvPr>
          <p:cNvCxnSpPr>
            <a:cxnSpLocks/>
          </p:cNvCxnSpPr>
          <p:nvPr/>
        </p:nvCxnSpPr>
        <p:spPr>
          <a:xfrm flipV="1">
            <a:off x="2592445" y="4169606"/>
            <a:ext cx="1251158" cy="118712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4F93942D-8DEF-C459-C657-682C36E13B46}"/>
              </a:ext>
            </a:extLst>
          </p:cNvPr>
          <p:cNvSpPr txBox="1"/>
          <p:nvPr/>
        </p:nvSpPr>
        <p:spPr>
          <a:xfrm rot="18998481">
            <a:off x="2492008" y="4673465"/>
            <a:ext cx="983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C00000"/>
                </a:solidFill>
              </a:rPr>
              <a:t>... p/ evitar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2F2AB7EE-D767-CA4D-4AC8-88F3BEBCEBAC}"/>
              </a:ext>
            </a:extLst>
          </p:cNvPr>
          <p:cNvSpPr/>
          <p:nvPr/>
        </p:nvSpPr>
        <p:spPr>
          <a:xfrm>
            <a:off x="2268125" y="6172049"/>
            <a:ext cx="4599464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Mas, O que é a Semiótica ?</a:t>
            </a:r>
          </a:p>
        </p:txBody>
      </p:sp>
    </p:spTree>
    <p:extLst>
      <p:ext uri="{BB962C8B-B14F-4D97-AF65-F5344CB8AC3E}">
        <p14:creationId xmlns:p14="http://schemas.microsoft.com/office/powerpoint/2010/main" val="292525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0" grpId="0"/>
      <p:bldP spid="11" grpId="0"/>
      <p:bldP spid="12" grpId="0"/>
      <p:bldP spid="13" grpId="0"/>
      <p:bldP spid="14" grpId="0"/>
      <p:bldP spid="16" grpId="0"/>
      <p:bldP spid="26" grpId="0"/>
      <p:bldP spid="27" grpId="0"/>
      <p:bldP spid="28" grpId="0"/>
      <p:bldP spid="42" grpId="0"/>
      <p:bldP spid="50" grpId="0"/>
      <p:bldP spid="54" grpId="0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553016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Semiótica e seu papel no design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5DBF131-9DF6-4558-8AB5-52E4DF48836C}"/>
              </a:ext>
            </a:extLst>
          </p:cNvPr>
          <p:cNvSpPr txBox="1"/>
          <p:nvPr/>
        </p:nvSpPr>
        <p:spPr>
          <a:xfrm>
            <a:off x="618565" y="2614669"/>
            <a:ext cx="79337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cap="small" dirty="0"/>
              <a:t>Semiótica é uma área de conhecimento que busca compreender como o ser humano interpreta o ambiente que o cerca </a:t>
            </a:r>
          </a:p>
          <a:p>
            <a:pPr algn="ctr"/>
            <a:r>
              <a:rPr lang="pt-BR" sz="2400" cap="small" dirty="0"/>
              <a:t>e todas as coisas que percebe ou com as quais interage</a:t>
            </a:r>
          </a:p>
          <a:p>
            <a:pPr algn="ctr"/>
            <a:endParaRPr lang="pt-BR" sz="2400" cap="small" dirty="0"/>
          </a:p>
          <a:p>
            <a:pPr algn="ctr"/>
            <a:r>
              <a:rPr lang="pt-BR" sz="2400" cap="small" dirty="0"/>
              <a:t>Estuda, portanto, como o indivíduo atribui significado a tudo que está ao seu redor</a:t>
            </a:r>
          </a:p>
          <a:p>
            <a:pPr algn="ctr"/>
            <a:endParaRPr lang="pt-BR" sz="2400" cap="small" dirty="0"/>
          </a:p>
          <a:p>
            <a:pPr algn="ctr"/>
            <a:r>
              <a:rPr lang="pt-BR" sz="2400" cap="small" dirty="0"/>
              <a:t>Sendo assim, é um conhecimento essencial para a comunicação, seja ela através de qualquer um dos sentidos humanos. </a:t>
            </a:r>
          </a:p>
          <a:p>
            <a:pPr algn="ctr"/>
            <a:r>
              <a:rPr lang="pt-BR" sz="2400" cap="small" dirty="0"/>
              <a:t>É, portanto, </a:t>
            </a:r>
            <a:r>
              <a:rPr lang="pt-BR" sz="2400" b="1" cap="small" dirty="0"/>
              <a:t>também essencial para o design de interfaces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6611EC-8414-1C2D-8081-0EF3AE191F19}"/>
              </a:ext>
            </a:extLst>
          </p:cNvPr>
          <p:cNvSpPr/>
          <p:nvPr/>
        </p:nvSpPr>
        <p:spPr>
          <a:xfrm>
            <a:off x="2302135" y="1590210"/>
            <a:ext cx="4728667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3600" b="1" cap="all" dirty="0"/>
              <a:t>O que é a Semiótica ?</a:t>
            </a:r>
          </a:p>
        </p:txBody>
      </p:sp>
    </p:spTree>
    <p:extLst>
      <p:ext uri="{BB962C8B-B14F-4D97-AF65-F5344CB8AC3E}">
        <p14:creationId xmlns:p14="http://schemas.microsoft.com/office/powerpoint/2010/main" val="103074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553016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Semiótica e seu papel no design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5DBF131-9DF6-4558-8AB5-52E4DF48836C}"/>
              </a:ext>
            </a:extLst>
          </p:cNvPr>
          <p:cNvSpPr txBox="1"/>
          <p:nvPr/>
        </p:nvSpPr>
        <p:spPr>
          <a:xfrm>
            <a:off x="1079654" y="1662820"/>
            <a:ext cx="7017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cap="small" dirty="0"/>
              <a:t>Semiótica = Estudo dos Signos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AB9ADB-278C-3768-5B38-E85E7278DB98}"/>
              </a:ext>
            </a:extLst>
          </p:cNvPr>
          <p:cNvSpPr txBox="1"/>
          <p:nvPr/>
        </p:nvSpPr>
        <p:spPr>
          <a:xfrm>
            <a:off x="5509" y="2581197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ctr"/>
            <a:r>
              <a:rPr lang="pt-BR" sz="2000" i="1" cap="small" dirty="0"/>
              <a:t>(Charles S. Peirce)   </a:t>
            </a:r>
            <a:r>
              <a:rPr lang="pt-BR" sz="2800" i="1" cap="small" dirty="0"/>
              <a:t> 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2139B0-3179-6A54-3301-57DE9CC8E016}"/>
              </a:ext>
            </a:extLst>
          </p:cNvPr>
          <p:cNvSpPr txBox="1"/>
          <p:nvPr/>
        </p:nvSpPr>
        <p:spPr>
          <a:xfrm>
            <a:off x="959903" y="5442974"/>
            <a:ext cx="7182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cap="small" dirty="0">
                <a:solidFill>
                  <a:schemeClr val="tx2"/>
                </a:solidFill>
              </a:rPr>
              <a:t>“para alguém” </a:t>
            </a:r>
            <a:r>
              <a:rPr lang="pt-BR" sz="2000" cap="small" dirty="0">
                <a:solidFill>
                  <a:schemeClr val="tx2"/>
                </a:solidFill>
              </a:rPr>
              <a:t>– Um signo pode ter significados diferente para </a:t>
            </a:r>
          </a:p>
          <a:p>
            <a:r>
              <a:rPr lang="pt-BR" sz="2000" cap="small" dirty="0">
                <a:solidFill>
                  <a:schemeClr val="tx2"/>
                </a:solidFill>
              </a:rPr>
              <a:t>                diferentes pessoas em diferentes contextos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810909-08EF-13DA-3B9B-70E0BC26C0C7}"/>
              </a:ext>
            </a:extLst>
          </p:cNvPr>
          <p:cNvSpPr txBox="1"/>
          <p:nvPr/>
        </p:nvSpPr>
        <p:spPr>
          <a:xfrm>
            <a:off x="959903" y="4590237"/>
            <a:ext cx="72215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cap="small" dirty="0">
                <a:solidFill>
                  <a:schemeClr val="tx2"/>
                </a:solidFill>
              </a:rPr>
              <a:t>“no lugar de outra coisa” </a:t>
            </a:r>
            <a:r>
              <a:rPr lang="pt-BR" sz="2000" cap="small" dirty="0">
                <a:solidFill>
                  <a:schemeClr val="tx2"/>
                </a:solidFill>
              </a:rPr>
              <a:t>– Um signo raramente vale por ele mesmo,                    </a:t>
            </a:r>
          </a:p>
          <a:p>
            <a:r>
              <a:rPr lang="pt-BR" sz="2000" cap="small" dirty="0">
                <a:solidFill>
                  <a:schemeClr val="tx2"/>
                </a:solidFill>
              </a:rPr>
              <a:t>                normalmente é uma representação de algo além dele mesmo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DB43347-7887-248C-1603-8A76FB4C68FA}"/>
              </a:ext>
            </a:extLst>
          </p:cNvPr>
          <p:cNvSpPr txBox="1"/>
          <p:nvPr/>
        </p:nvSpPr>
        <p:spPr>
          <a:xfrm>
            <a:off x="959903" y="3793061"/>
            <a:ext cx="7182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cap="small" dirty="0">
                <a:solidFill>
                  <a:schemeClr val="tx2"/>
                </a:solidFill>
              </a:rPr>
              <a:t>“algo” </a:t>
            </a:r>
            <a:r>
              <a:rPr lang="pt-BR" sz="2000" cap="small" dirty="0">
                <a:solidFill>
                  <a:schemeClr val="tx2"/>
                </a:solidFill>
              </a:rPr>
              <a:t>– Qualquer coisa pode ser um signo. Um objeto, uma palavra, </a:t>
            </a:r>
          </a:p>
          <a:p>
            <a:r>
              <a:rPr lang="pt-BR" sz="2000" cap="small" dirty="0">
                <a:solidFill>
                  <a:schemeClr val="tx2"/>
                </a:solidFill>
              </a:rPr>
              <a:t>                um gesto, um som, um ruido, um ato...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BB013AB-B479-9A5E-6B1E-376A9A9BD578}"/>
              </a:ext>
            </a:extLst>
          </p:cNvPr>
          <p:cNvSpPr/>
          <p:nvPr/>
        </p:nvSpPr>
        <p:spPr>
          <a:xfrm>
            <a:off x="1810871" y="2707341"/>
            <a:ext cx="735106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374E55B-70A5-D6CA-88D5-1F67153B6082}"/>
              </a:ext>
            </a:extLst>
          </p:cNvPr>
          <p:cNvSpPr/>
          <p:nvPr/>
        </p:nvSpPr>
        <p:spPr>
          <a:xfrm>
            <a:off x="3733951" y="2707341"/>
            <a:ext cx="3464707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CCA0BAF-076D-F76A-17CC-ED3B1E6B67DB}"/>
              </a:ext>
            </a:extLst>
          </p:cNvPr>
          <p:cNvSpPr/>
          <p:nvPr/>
        </p:nvSpPr>
        <p:spPr>
          <a:xfrm>
            <a:off x="7198658" y="2707341"/>
            <a:ext cx="1783978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72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6" grpId="1" animBg="1"/>
      <p:bldP spid="8" grpId="0" animBg="1"/>
      <p:bldP spid="8" grpId="1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553016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Semiótica e seu papel no design</a:t>
            </a:r>
          </a:p>
        </p:txBody>
      </p:sp>
      <p:pic>
        <p:nvPicPr>
          <p:cNvPr id="10" name="CxpmxYSvkU_RATATOUILLEClipAntonEgoTastesRatatouille2007_5afd">
            <a:hlinkClick r:id="" action="ppaction://media"/>
            <a:extLst>
              <a:ext uri="{FF2B5EF4-FFF2-40B4-BE49-F238E27FC236}">
                <a16:creationId xmlns:a16="http://schemas.microsoft.com/office/drawing/2014/main" id="{043104C1-4B4F-9822-3782-205E4EA672E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6293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07273" y="2831983"/>
            <a:ext cx="6362504" cy="357890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D46F11-168F-F55F-79E4-DA69924EEE4B}"/>
              </a:ext>
            </a:extLst>
          </p:cNvPr>
          <p:cNvSpPr txBox="1"/>
          <p:nvPr/>
        </p:nvSpPr>
        <p:spPr>
          <a:xfrm>
            <a:off x="5509" y="1612370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ctr"/>
            <a:r>
              <a:rPr lang="pt-BR" sz="2000" i="1" cap="small" dirty="0"/>
              <a:t>(Charles S. Peirce)   </a:t>
            </a:r>
            <a:r>
              <a:rPr lang="pt-BR" sz="2800" i="1" cap="smal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1123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28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3913572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O que são signos ?     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C0A4D8-FF79-DA8D-0CE6-6DFFDEA3F9DA}"/>
              </a:ext>
            </a:extLst>
          </p:cNvPr>
          <p:cNvSpPr txBox="1"/>
          <p:nvPr/>
        </p:nvSpPr>
        <p:spPr>
          <a:xfrm>
            <a:off x="85752" y="4381198"/>
            <a:ext cx="2794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“BURRO”</a:t>
            </a:r>
          </a:p>
        </p:txBody>
      </p:sp>
      <p:sp>
        <p:nvSpPr>
          <p:cNvPr id="9" name="Seta: da Esquerda para a Direita 8">
            <a:extLst>
              <a:ext uri="{FF2B5EF4-FFF2-40B4-BE49-F238E27FC236}">
                <a16:creationId xmlns:a16="http://schemas.microsoft.com/office/drawing/2014/main" id="{B869506F-D16F-9A7E-6D3A-4BF962E13D70}"/>
              </a:ext>
            </a:extLst>
          </p:cNvPr>
          <p:cNvSpPr/>
          <p:nvPr/>
        </p:nvSpPr>
        <p:spPr>
          <a:xfrm>
            <a:off x="2948210" y="4698019"/>
            <a:ext cx="647347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79B4F10-37A6-AA01-E31E-39E45AEF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109" y="4313623"/>
            <a:ext cx="1361283" cy="90752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793025A-7F07-2055-B1B9-88CF9D8FC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734" t="18504" r="5115" b="8824"/>
          <a:stretch/>
        </p:blipFill>
        <p:spPr>
          <a:xfrm>
            <a:off x="3663147" y="3786833"/>
            <a:ext cx="2695036" cy="1962545"/>
          </a:xfrm>
          <a:prstGeom prst="rect">
            <a:avLst/>
          </a:prstGeom>
        </p:spPr>
      </p:pic>
      <p:sp>
        <p:nvSpPr>
          <p:cNvPr id="18" name="Seta: da Esquerda para a Direita 17">
            <a:extLst>
              <a:ext uri="{FF2B5EF4-FFF2-40B4-BE49-F238E27FC236}">
                <a16:creationId xmlns:a16="http://schemas.microsoft.com/office/drawing/2014/main" id="{1A81B72E-3370-1FEE-0C24-EA943E8EDDC7}"/>
              </a:ext>
            </a:extLst>
          </p:cNvPr>
          <p:cNvSpPr/>
          <p:nvPr/>
        </p:nvSpPr>
        <p:spPr>
          <a:xfrm>
            <a:off x="6429763" y="4654668"/>
            <a:ext cx="647347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5285F1-7BAB-C4D0-01BB-FC59741FD4D4}"/>
              </a:ext>
            </a:extLst>
          </p:cNvPr>
          <p:cNvSpPr txBox="1"/>
          <p:nvPr/>
        </p:nvSpPr>
        <p:spPr>
          <a:xfrm>
            <a:off x="432492" y="3417856"/>
            <a:ext cx="2101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“algo”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(uma palavra) </a:t>
            </a:r>
            <a:endParaRPr lang="pt-BR" sz="14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15B2519-722A-0966-CC9F-9FC366388791}"/>
              </a:ext>
            </a:extLst>
          </p:cNvPr>
          <p:cNvSpPr txBox="1"/>
          <p:nvPr/>
        </p:nvSpPr>
        <p:spPr>
          <a:xfrm>
            <a:off x="3888469" y="3152899"/>
            <a:ext cx="2601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“no lugar de outra coisa”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(um animal)</a:t>
            </a:r>
            <a:r>
              <a:rPr lang="pt-BR" sz="1800" cap="small" dirty="0">
                <a:solidFill>
                  <a:schemeClr val="tx2"/>
                </a:solidFill>
              </a:rPr>
              <a:t> </a:t>
            </a:r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3DB2019-7D34-9093-427D-9965A961F469}"/>
              </a:ext>
            </a:extLst>
          </p:cNvPr>
          <p:cNvSpPr txBox="1"/>
          <p:nvPr/>
        </p:nvSpPr>
        <p:spPr>
          <a:xfrm>
            <a:off x="6947295" y="3345130"/>
            <a:ext cx="21911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“para alguém”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(para os brasileiros) </a:t>
            </a:r>
            <a:endParaRPr lang="pt-BR" sz="1400" dirty="0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2913127-7454-03E0-F308-3681CD365290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483186" y="4002631"/>
            <a:ext cx="0" cy="51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D67E539-F292-9F53-772B-7611EF68F785}"/>
              </a:ext>
            </a:extLst>
          </p:cNvPr>
          <p:cNvCxnSpPr>
            <a:cxnSpLocks/>
            <a:stCxn id="12" idx="0"/>
          </p:cNvCxnSpPr>
          <p:nvPr/>
        </p:nvCxnSpPr>
        <p:spPr>
          <a:xfrm flipH="1">
            <a:off x="4902010" y="3786833"/>
            <a:ext cx="108655" cy="32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95E44BC5-ECF8-5239-FE40-2B9EF5E4D8CE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042893" y="3929905"/>
            <a:ext cx="0" cy="243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4AC4ED4-D50D-452D-5442-C39B76FFFB91}"/>
              </a:ext>
            </a:extLst>
          </p:cNvPr>
          <p:cNvSpPr txBox="1"/>
          <p:nvPr/>
        </p:nvSpPr>
        <p:spPr>
          <a:xfrm>
            <a:off x="5509" y="1612370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ctr"/>
            <a:r>
              <a:rPr lang="pt-BR" sz="2000" i="1" cap="small" dirty="0"/>
              <a:t>(Charles S. Peirce)   </a:t>
            </a:r>
            <a:r>
              <a:rPr lang="pt-BR" sz="2800" i="1" cap="smal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24251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/>
      <p:bldP spid="23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3913572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O que são signos ?     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C0A4D8-FF79-DA8D-0CE6-6DFFDEA3F9DA}"/>
              </a:ext>
            </a:extLst>
          </p:cNvPr>
          <p:cNvSpPr txBox="1"/>
          <p:nvPr/>
        </p:nvSpPr>
        <p:spPr>
          <a:xfrm>
            <a:off x="3319770" y="2637697"/>
            <a:ext cx="2308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“BURRO”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79B4F10-37A6-AA01-E31E-39E45AEF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070" y="4725510"/>
            <a:ext cx="1158723" cy="77248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793025A-7F07-2055-B1B9-88CF9D8FC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734" t="18504" r="5115" b="8824"/>
          <a:stretch/>
        </p:blipFill>
        <p:spPr>
          <a:xfrm>
            <a:off x="1532531" y="4456729"/>
            <a:ext cx="1614710" cy="1175844"/>
          </a:xfrm>
          <a:prstGeom prst="rect">
            <a:avLst/>
          </a:prstGeom>
        </p:spPr>
      </p:pic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D9E2D06C-59E5-9C95-65DB-A08CCDB6B962}"/>
              </a:ext>
            </a:extLst>
          </p:cNvPr>
          <p:cNvSpPr/>
          <p:nvPr/>
        </p:nvSpPr>
        <p:spPr>
          <a:xfrm>
            <a:off x="3274398" y="3691715"/>
            <a:ext cx="2398812" cy="2067942"/>
          </a:xfrm>
          <a:prstGeom prst="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  TRIÁDICO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BF1607-C69A-A670-9725-32696259D1EA}"/>
              </a:ext>
            </a:extLst>
          </p:cNvPr>
          <p:cNvSpPr txBox="1"/>
          <p:nvPr/>
        </p:nvSpPr>
        <p:spPr>
          <a:xfrm>
            <a:off x="4063638" y="3308404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SIGNO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D3B65-6A5A-198B-4DF8-6A9CED738ED8}"/>
              </a:ext>
            </a:extLst>
          </p:cNvPr>
          <p:cNvSpPr txBox="1"/>
          <p:nvPr/>
        </p:nvSpPr>
        <p:spPr>
          <a:xfrm>
            <a:off x="2346022" y="5632573"/>
            <a:ext cx="92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OBJETO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F65834-53F4-571F-4CDA-628DE93DBD68}"/>
              </a:ext>
            </a:extLst>
          </p:cNvPr>
          <p:cNvSpPr txBox="1"/>
          <p:nvPr/>
        </p:nvSpPr>
        <p:spPr>
          <a:xfrm>
            <a:off x="5682804" y="5628125"/>
            <a:ext cx="173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INTERPRETANTE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91F2F8-17BE-3B11-41A0-52B74FD22EA2}"/>
              </a:ext>
            </a:extLst>
          </p:cNvPr>
          <p:cNvSpPr txBox="1"/>
          <p:nvPr/>
        </p:nvSpPr>
        <p:spPr>
          <a:xfrm>
            <a:off x="-11017" y="6273725"/>
            <a:ext cx="9166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cap="small" dirty="0">
                <a:solidFill>
                  <a:srgbClr val="C00000"/>
                </a:solidFill>
              </a:rPr>
              <a:t> Um signo é uma coisa que representa um objeto para um interpretante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1F4308B-4DD3-6ECA-AB55-221277CD28EA}"/>
              </a:ext>
            </a:extLst>
          </p:cNvPr>
          <p:cNvSpPr txBox="1"/>
          <p:nvPr/>
        </p:nvSpPr>
        <p:spPr>
          <a:xfrm>
            <a:off x="5509" y="1612370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ctr"/>
            <a:r>
              <a:rPr lang="pt-BR" sz="2000" i="1" cap="small" dirty="0"/>
              <a:t>(Charles S. Peirce)   </a:t>
            </a:r>
            <a:r>
              <a:rPr lang="pt-BR" sz="2800" i="1" cap="smal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79087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B12DC67-0647-47BA-AC5D-D75AB1C5E43A}"/>
              </a:ext>
            </a:extLst>
          </p:cNvPr>
          <p:cNvSpPr/>
          <p:nvPr/>
        </p:nvSpPr>
        <p:spPr>
          <a:xfrm>
            <a:off x="959903" y="703901"/>
            <a:ext cx="3913572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O que são signos ?     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AB9ADB-278C-3768-5B38-E85E7278DB98}"/>
              </a:ext>
            </a:extLst>
          </p:cNvPr>
          <p:cNvSpPr txBox="1"/>
          <p:nvPr/>
        </p:nvSpPr>
        <p:spPr>
          <a:xfrm>
            <a:off x="5509" y="1790709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r"/>
            <a:r>
              <a:rPr lang="pt-BR" sz="2000" cap="small" dirty="0"/>
              <a:t>Charles S. Pierce   </a:t>
            </a:r>
            <a:r>
              <a:rPr lang="pt-BR" sz="2800" cap="small" dirty="0"/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C0A4D8-FF79-DA8D-0CE6-6DFFDEA3F9DA}"/>
              </a:ext>
            </a:extLst>
          </p:cNvPr>
          <p:cNvSpPr txBox="1"/>
          <p:nvPr/>
        </p:nvSpPr>
        <p:spPr>
          <a:xfrm>
            <a:off x="85752" y="3928160"/>
            <a:ext cx="2794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“BURRO”</a:t>
            </a:r>
          </a:p>
        </p:txBody>
      </p:sp>
      <p:sp>
        <p:nvSpPr>
          <p:cNvPr id="9" name="Seta: da Esquerda para a Direita 8">
            <a:extLst>
              <a:ext uri="{FF2B5EF4-FFF2-40B4-BE49-F238E27FC236}">
                <a16:creationId xmlns:a16="http://schemas.microsoft.com/office/drawing/2014/main" id="{B869506F-D16F-9A7E-6D3A-4BF962E13D70}"/>
              </a:ext>
            </a:extLst>
          </p:cNvPr>
          <p:cNvSpPr/>
          <p:nvPr/>
        </p:nvSpPr>
        <p:spPr>
          <a:xfrm>
            <a:off x="2948210" y="4244981"/>
            <a:ext cx="647347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79B4F10-37A6-AA01-E31E-39E45AEF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109" y="3860585"/>
            <a:ext cx="1361283" cy="90752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793025A-7F07-2055-B1B9-88CF9D8FC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734" t="18504" r="5115" b="8824"/>
          <a:stretch/>
        </p:blipFill>
        <p:spPr>
          <a:xfrm>
            <a:off x="3663147" y="3333795"/>
            <a:ext cx="2695036" cy="196254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BC9621B-538B-FE7E-5B87-98D87BC55D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8773" t="24915" r="7771" b="27764"/>
          <a:stretch/>
        </p:blipFill>
        <p:spPr>
          <a:xfrm>
            <a:off x="3595557" y="5467349"/>
            <a:ext cx="2181340" cy="1236853"/>
          </a:xfrm>
          <a:prstGeom prst="rect">
            <a:avLst/>
          </a:prstGeom>
        </p:spPr>
      </p:pic>
      <p:sp>
        <p:nvSpPr>
          <p:cNvPr id="14" name="Seta: da Esquerda para a Direita 13">
            <a:extLst>
              <a:ext uri="{FF2B5EF4-FFF2-40B4-BE49-F238E27FC236}">
                <a16:creationId xmlns:a16="http://schemas.microsoft.com/office/drawing/2014/main" id="{8106E1F1-FE03-622A-ED0D-B6BC8A955B29}"/>
              </a:ext>
            </a:extLst>
          </p:cNvPr>
          <p:cNvSpPr/>
          <p:nvPr/>
        </p:nvSpPr>
        <p:spPr>
          <a:xfrm rot="2872197">
            <a:off x="2603308" y="5063744"/>
            <a:ext cx="1214089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704CB80-F111-3569-4E13-812E658850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65033" y="5467349"/>
            <a:ext cx="1277860" cy="1277860"/>
          </a:xfrm>
          <a:prstGeom prst="rect">
            <a:avLst/>
          </a:prstGeom>
        </p:spPr>
      </p:pic>
      <p:sp>
        <p:nvSpPr>
          <p:cNvPr id="18" name="Seta: da Esquerda para a Direita 17">
            <a:extLst>
              <a:ext uri="{FF2B5EF4-FFF2-40B4-BE49-F238E27FC236}">
                <a16:creationId xmlns:a16="http://schemas.microsoft.com/office/drawing/2014/main" id="{1A81B72E-3370-1FEE-0C24-EA943E8EDDC7}"/>
              </a:ext>
            </a:extLst>
          </p:cNvPr>
          <p:cNvSpPr/>
          <p:nvPr/>
        </p:nvSpPr>
        <p:spPr>
          <a:xfrm>
            <a:off x="6429763" y="4201630"/>
            <a:ext cx="647347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55285F1-7BAB-C4D0-01BB-FC59741FD4D4}"/>
              </a:ext>
            </a:extLst>
          </p:cNvPr>
          <p:cNvSpPr txBox="1"/>
          <p:nvPr/>
        </p:nvSpPr>
        <p:spPr>
          <a:xfrm>
            <a:off x="432492" y="2964818"/>
            <a:ext cx="2101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“algo”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(uma palavra) </a:t>
            </a:r>
            <a:endParaRPr lang="pt-BR" sz="14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15B2519-722A-0966-CC9F-9FC366388791}"/>
              </a:ext>
            </a:extLst>
          </p:cNvPr>
          <p:cNvSpPr txBox="1"/>
          <p:nvPr/>
        </p:nvSpPr>
        <p:spPr>
          <a:xfrm>
            <a:off x="3888469" y="2699861"/>
            <a:ext cx="2601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“no lugar de outra coisa”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(um animal)</a:t>
            </a:r>
            <a:r>
              <a:rPr lang="pt-BR" sz="1800" cap="small" dirty="0">
                <a:solidFill>
                  <a:schemeClr val="tx2"/>
                </a:solidFill>
              </a:rPr>
              <a:t> </a:t>
            </a:r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3DB2019-7D34-9093-427D-9965A961F469}"/>
              </a:ext>
            </a:extLst>
          </p:cNvPr>
          <p:cNvSpPr txBox="1"/>
          <p:nvPr/>
        </p:nvSpPr>
        <p:spPr>
          <a:xfrm>
            <a:off x="6947295" y="2892092"/>
            <a:ext cx="21911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cap="small" dirty="0">
                <a:solidFill>
                  <a:schemeClr val="tx2"/>
                </a:solidFill>
              </a:rPr>
              <a:t>“para alguém”</a:t>
            </a:r>
          </a:p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(para os brasileiros) </a:t>
            </a:r>
            <a:endParaRPr lang="pt-BR" sz="1400" dirty="0"/>
          </a:p>
        </p:txBody>
      </p:sp>
      <p:sp>
        <p:nvSpPr>
          <p:cNvPr id="26" name="Seta: da Esquerda para a Direita 25">
            <a:extLst>
              <a:ext uri="{FF2B5EF4-FFF2-40B4-BE49-F238E27FC236}">
                <a16:creationId xmlns:a16="http://schemas.microsoft.com/office/drawing/2014/main" id="{8537B3BA-7B96-12D3-8160-CD36CB551D27}"/>
              </a:ext>
            </a:extLst>
          </p:cNvPr>
          <p:cNvSpPr/>
          <p:nvPr/>
        </p:nvSpPr>
        <p:spPr>
          <a:xfrm>
            <a:off x="5835663" y="5921756"/>
            <a:ext cx="647347" cy="289688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D2913127-7454-03E0-F308-3681CD365290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483186" y="3549593"/>
            <a:ext cx="0" cy="515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D67E539-F292-9F53-772B-7611EF68F785}"/>
              </a:ext>
            </a:extLst>
          </p:cNvPr>
          <p:cNvCxnSpPr>
            <a:cxnSpLocks/>
            <a:stCxn id="12" idx="0"/>
          </p:cNvCxnSpPr>
          <p:nvPr/>
        </p:nvCxnSpPr>
        <p:spPr>
          <a:xfrm flipH="1">
            <a:off x="4902010" y="3333795"/>
            <a:ext cx="108655" cy="32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95E44BC5-ECF8-5239-FE40-2B9EF5E4D8CE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042893" y="3476867"/>
            <a:ext cx="0" cy="243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AC07F5B-4913-9BF0-1CBB-7D2A7F2DCD95}"/>
              </a:ext>
            </a:extLst>
          </p:cNvPr>
          <p:cNvSpPr txBox="1"/>
          <p:nvPr/>
        </p:nvSpPr>
        <p:spPr>
          <a:xfrm>
            <a:off x="4572000" y="5304408"/>
            <a:ext cx="1194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(manteiga)</a:t>
            </a:r>
            <a:r>
              <a:rPr lang="pt-BR" sz="1800" cap="small" dirty="0">
                <a:solidFill>
                  <a:schemeClr val="tx2"/>
                </a:solidFill>
              </a:rPr>
              <a:t> </a:t>
            </a:r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BBC7F99-FD01-658C-316E-34D4E9DE7BB8}"/>
              </a:ext>
            </a:extLst>
          </p:cNvPr>
          <p:cNvSpPr txBox="1"/>
          <p:nvPr/>
        </p:nvSpPr>
        <p:spPr>
          <a:xfrm>
            <a:off x="6609678" y="5190561"/>
            <a:ext cx="158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cap="small" dirty="0">
                <a:solidFill>
                  <a:schemeClr val="tx2"/>
                </a:solidFill>
              </a:rPr>
              <a:t>(para os italianos)</a:t>
            </a:r>
            <a:r>
              <a:rPr lang="pt-BR" sz="1800" cap="small" dirty="0">
                <a:solidFill>
                  <a:schemeClr val="tx2"/>
                </a:solidFill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3154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6" grpId="0" animBg="1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D79B4F10-37A6-AA01-E31E-39E45AEF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965" y="3274331"/>
            <a:ext cx="1361283" cy="9075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A8D294E-291B-BC26-3AD1-8F7F475829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93" t="5701" r="8781"/>
          <a:stretch/>
        </p:blipFill>
        <p:spPr>
          <a:xfrm>
            <a:off x="487036" y="3053097"/>
            <a:ext cx="1889281" cy="255983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9463EA3-399E-1D7F-CDF3-26A7D52D20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95" t="19199" r="2944" b="18070"/>
          <a:stretch/>
        </p:blipFill>
        <p:spPr>
          <a:xfrm>
            <a:off x="6881813" y="5172076"/>
            <a:ext cx="1276350" cy="853952"/>
          </a:xfrm>
          <a:prstGeom prst="rect">
            <a:avLst/>
          </a:prstGeom>
        </p:spPr>
      </p:pic>
      <p:sp>
        <p:nvSpPr>
          <p:cNvPr id="42" name="Seta: da Esquerda para a Direita 41">
            <a:extLst>
              <a:ext uri="{FF2B5EF4-FFF2-40B4-BE49-F238E27FC236}">
                <a16:creationId xmlns:a16="http://schemas.microsoft.com/office/drawing/2014/main" id="{9FDA66F2-CBD9-6E22-77E2-E72592C3736C}"/>
              </a:ext>
            </a:extLst>
          </p:cNvPr>
          <p:cNvSpPr/>
          <p:nvPr/>
        </p:nvSpPr>
        <p:spPr>
          <a:xfrm rot="20198574">
            <a:off x="2846862" y="3941640"/>
            <a:ext cx="839092" cy="39613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69CFF8-87BB-0652-8593-EACBBB50A72A}"/>
              </a:ext>
            </a:extLst>
          </p:cNvPr>
          <p:cNvSpPr txBox="1"/>
          <p:nvPr/>
        </p:nvSpPr>
        <p:spPr>
          <a:xfrm>
            <a:off x="3995703" y="2705675"/>
            <a:ext cx="153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Aprovação</a:t>
            </a:r>
          </a:p>
        </p:txBody>
      </p:sp>
      <p:sp>
        <p:nvSpPr>
          <p:cNvPr id="6" name="Seta: da Esquerda para a Direita 5">
            <a:extLst>
              <a:ext uri="{FF2B5EF4-FFF2-40B4-BE49-F238E27FC236}">
                <a16:creationId xmlns:a16="http://schemas.microsoft.com/office/drawing/2014/main" id="{FBD8279A-FC94-8315-6918-9771460BCFD7}"/>
              </a:ext>
            </a:extLst>
          </p:cNvPr>
          <p:cNvSpPr/>
          <p:nvPr/>
        </p:nvSpPr>
        <p:spPr>
          <a:xfrm>
            <a:off x="5904695" y="3589866"/>
            <a:ext cx="839092" cy="360227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1FA954-CFDB-C10B-91C6-36E87F218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5703" y="4503533"/>
            <a:ext cx="1186039" cy="1779058"/>
          </a:xfrm>
          <a:prstGeom prst="rect">
            <a:avLst/>
          </a:prstGeom>
        </p:spPr>
      </p:pic>
      <p:sp>
        <p:nvSpPr>
          <p:cNvPr id="15" name="Seta: da Esquerda para a Direita 14">
            <a:extLst>
              <a:ext uri="{FF2B5EF4-FFF2-40B4-BE49-F238E27FC236}">
                <a16:creationId xmlns:a16="http://schemas.microsoft.com/office/drawing/2014/main" id="{6C5D3F84-AFE7-F0AA-A976-AB9725F21E28}"/>
              </a:ext>
            </a:extLst>
          </p:cNvPr>
          <p:cNvSpPr/>
          <p:nvPr/>
        </p:nvSpPr>
        <p:spPr>
          <a:xfrm rot="2230268">
            <a:off x="2830247" y="4805241"/>
            <a:ext cx="839092" cy="39613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da Esquerda para a Direita 15">
            <a:extLst>
              <a:ext uri="{FF2B5EF4-FFF2-40B4-BE49-F238E27FC236}">
                <a16:creationId xmlns:a16="http://schemas.microsoft.com/office/drawing/2014/main" id="{BB7446F9-4BB8-8AAE-3281-A916EC8D7865}"/>
              </a:ext>
            </a:extLst>
          </p:cNvPr>
          <p:cNvSpPr/>
          <p:nvPr/>
        </p:nvSpPr>
        <p:spPr>
          <a:xfrm>
            <a:off x="5892366" y="5414622"/>
            <a:ext cx="839092" cy="360227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3D1A7B48-8C5B-8C48-4212-86887A9DFFA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5703" y="2948620"/>
            <a:ext cx="1815814" cy="1216477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6AE6E566-849D-EB2A-5564-B804EE453034}"/>
              </a:ext>
            </a:extLst>
          </p:cNvPr>
          <p:cNvSpPr txBox="1"/>
          <p:nvPr/>
        </p:nvSpPr>
        <p:spPr>
          <a:xfrm>
            <a:off x="3951563" y="6284246"/>
            <a:ext cx="1538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Ofensa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16C35DC-0289-4D02-2081-40F8181DEF2C}"/>
              </a:ext>
            </a:extLst>
          </p:cNvPr>
          <p:cNvSpPr txBox="1"/>
          <p:nvPr/>
        </p:nvSpPr>
        <p:spPr>
          <a:xfrm>
            <a:off x="7601798" y="6026027"/>
            <a:ext cx="621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(Irã)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A42A132-5F8E-55E7-C8ED-6740C7D4A8D1}"/>
              </a:ext>
            </a:extLst>
          </p:cNvPr>
          <p:cNvSpPr/>
          <p:nvPr/>
        </p:nvSpPr>
        <p:spPr>
          <a:xfrm>
            <a:off x="959903" y="703901"/>
            <a:ext cx="3913572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O que são signos ?     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C1468E-758D-7602-B416-3CDF3F9D3A00}"/>
              </a:ext>
            </a:extLst>
          </p:cNvPr>
          <p:cNvSpPr txBox="1"/>
          <p:nvPr/>
        </p:nvSpPr>
        <p:spPr>
          <a:xfrm>
            <a:off x="5509" y="1612370"/>
            <a:ext cx="9166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cap="small" dirty="0"/>
              <a:t> Um </a:t>
            </a:r>
            <a:r>
              <a:rPr lang="pt-BR" sz="2800" b="1" cap="small" dirty="0"/>
              <a:t>signo</a:t>
            </a:r>
            <a:r>
              <a:rPr lang="pt-BR" sz="2800" cap="small" dirty="0"/>
              <a:t> é algo que está no lugar de outra coisa para alguém.</a:t>
            </a:r>
          </a:p>
          <a:p>
            <a:pPr algn="ctr"/>
            <a:r>
              <a:rPr lang="pt-BR" sz="2000" i="1" cap="small" dirty="0"/>
              <a:t>(Charles S. Peirce)   </a:t>
            </a:r>
            <a:r>
              <a:rPr lang="pt-BR" sz="2800" i="1" cap="small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4938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" grpId="0"/>
      <p:bldP spid="6" grpId="0" animBg="1"/>
      <p:bldP spid="15" grpId="0" animBg="1"/>
      <p:bldP spid="16" grpId="0" animBg="1"/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3319CF0-B19B-8189-1CAC-916565F8EA54}"/>
              </a:ext>
            </a:extLst>
          </p:cNvPr>
          <p:cNvSpPr/>
          <p:nvPr/>
        </p:nvSpPr>
        <p:spPr>
          <a:xfrm>
            <a:off x="5352349" y="2594708"/>
            <a:ext cx="3542377" cy="206230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882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001D844-EA4B-4029-A96E-8A8178369A10}"/>
              </a:ext>
            </a:extLst>
          </p:cNvPr>
          <p:cNvSpPr/>
          <p:nvPr/>
        </p:nvSpPr>
        <p:spPr>
          <a:xfrm>
            <a:off x="2688877" y="4385224"/>
            <a:ext cx="3229282" cy="2374163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8824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3B2DF88-8BF1-0F42-C71B-5F5387B6BC7B}"/>
              </a:ext>
            </a:extLst>
          </p:cNvPr>
          <p:cNvSpPr/>
          <p:nvPr/>
        </p:nvSpPr>
        <p:spPr>
          <a:xfrm>
            <a:off x="366654" y="2397960"/>
            <a:ext cx="3019730" cy="2154360"/>
          </a:xfrm>
          <a:prstGeom prst="roundRect">
            <a:avLst/>
          </a:prstGeom>
          <a:solidFill>
            <a:srgbClr val="DCE6F2">
              <a:alpha val="3882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AB9ADB-278C-3768-5B38-E85E7278DB98}"/>
              </a:ext>
            </a:extLst>
          </p:cNvPr>
          <p:cNvSpPr txBox="1"/>
          <p:nvPr/>
        </p:nvSpPr>
        <p:spPr>
          <a:xfrm>
            <a:off x="862574" y="1284283"/>
            <a:ext cx="7455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cap="small" dirty="0"/>
              <a:t>3 tipos fundamentais de signos</a:t>
            </a:r>
          </a:p>
          <a:p>
            <a:pPr algn="ctr"/>
            <a:r>
              <a:rPr lang="pt-BR" sz="2400" cap="small" dirty="0"/>
              <a:t>conforme sua relação com o objeto representado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A42A132-5F8E-55E7-C8ED-6740C7D4A8D1}"/>
              </a:ext>
            </a:extLst>
          </p:cNvPr>
          <p:cNvSpPr/>
          <p:nvPr/>
        </p:nvSpPr>
        <p:spPr>
          <a:xfrm>
            <a:off x="959903" y="703901"/>
            <a:ext cx="3424335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Tipos de signos     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E75E87-F073-7486-0386-B90E9CE00261}"/>
              </a:ext>
            </a:extLst>
          </p:cNvPr>
          <p:cNvSpPr txBox="1"/>
          <p:nvPr/>
        </p:nvSpPr>
        <p:spPr>
          <a:xfrm>
            <a:off x="427647" y="2470823"/>
            <a:ext cx="294670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ÍCONES</a:t>
            </a:r>
            <a:endParaRPr lang="pt-BR" b="1" dirty="0"/>
          </a:p>
          <a:p>
            <a:pPr algn="ctr"/>
            <a:r>
              <a:rPr lang="pt-BR" sz="1400" dirty="0"/>
              <a:t>Signo semelhante ou com </a:t>
            </a:r>
          </a:p>
          <a:p>
            <a:pPr algn="ctr"/>
            <a:r>
              <a:rPr lang="pt-BR" sz="1400" dirty="0"/>
              <a:t>características similares ao significado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66A60B-31C7-C082-A3EC-90C26F698A19}"/>
              </a:ext>
            </a:extLst>
          </p:cNvPr>
          <p:cNvSpPr txBox="1"/>
          <p:nvPr/>
        </p:nvSpPr>
        <p:spPr>
          <a:xfrm>
            <a:off x="2854458" y="4446411"/>
            <a:ext cx="266060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ÍNDICES</a:t>
            </a:r>
          </a:p>
          <a:p>
            <a:pPr algn="ctr"/>
            <a:r>
              <a:rPr lang="pt-BR" sz="1400" dirty="0"/>
              <a:t>Signos que mostram o significado </a:t>
            </a:r>
          </a:p>
          <a:p>
            <a:pPr algn="ctr"/>
            <a:r>
              <a:rPr lang="pt-BR" sz="1400" dirty="0"/>
              <a:t>indiretamente – “dão indícios”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0B9897-30A9-85D8-D0F0-4ADC30C89054}"/>
              </a:ext>
            </a:extLst>
          </p:cNvPr>
          <p:cNvSpPr txBox="1"/>
          <p:nvPr/>
        </p:nvSpPr>
        <p:spPr>
          <a:xfrm>
            <a:off x="5588920" y="2686535"/>
            <a:ext cx="322928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SÍMBOLOS</a:t>
            </a:r>
            <a:endParaRPr lang="pt-BR" b="1" dirty="0"/>
          </a:p>
          <a:p>
            <a:pPr algn="ctr"/>
            <a:r>
              <a:rPr lang="pt-BR" sz="1400" dirty="0"/>
              <a:t>Signos sem relação alguma com </a:t>
            </a:r>
          </a:p>
          <a:p>
            <a:pPr algn="ctr"/>
            <a:r>
              <a:rPr lang="pt-BR" sz="1400" dirty="0"/>
              <a:t>o significado – Convenções/Conveniência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90ECE69-050D-EE78-89D4-7DF3B8D7D8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1986" y="3478807"/>
            <a:ext cx="917013" cy="91701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F1FDCDF-5966-CE6B-5FFA-6C4A8C2B90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8414"/>
          <a:stretch/>
        </p:blipFill>
        <p:spPr>
          <a:xfrm>
            <a:off x="2057819" y="3478807"/>
            <a:ext cx="889701" cy="944324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511D6E-5295-1ADB-FB73-8419FF72913F}"/>
              </a:ext>
            </a:extLst>
          </p:cNvPr>
          <p:cNvSpPr txBox="1"/>
          <p:nvPr/>
        </p:nvSpPr>
        <p:spPr>
          <a:xfrm>
            <a:off x="1643923" y="3566249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/>
              <a:t>=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B5250BF-C337-5289-126A-B67554BBA70D}"/>
              </a:ext>
            </a:extLst>
          </p:cNvPr>
          <p:cNvSpPr txBox="1"/>
          <p:nvPr/>
        </p:nvSpPr>
        <p:spPr>
          <a:xfrm>
            <a:off x="3995274" y="5866141"/>
            <a:ext cx="5870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ym typeface="Wingdings" panose="05000000000000000000" pitchFamily="2" charset="2"/>
              </a:rPr>
              <a:t></a:t>
            </a:r>
            <a:endParaRPr lang="pt-BR" sz="3200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0CD53E5-2501-7E8C-0D38-3819BA20F599}"/>
              </a:ext>
            </a:extLst>
          </p:cNvPr>
          <p:cNvSpPr txBox="1"/>
          <p:nvPr/>
        </p:nvSpPr>
        <p:spPr>
          <a:xfrm>
            <a:off x="5881433" y="3864511"/>
            <a:ext cx="1703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Baguet Script" panose="00000500000000000000" pitchFamily="2" charset="0"/>
              </a:rPr>
              <a:t>Árvore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A0228CFE-7B17-BB69-8D12-9D2F2DF68B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7553" y="3571305"/>
            <a:ext cx="1225323" cy="1068073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AEEDB6DB-4C15-B1AD-FB18-0A9D0E3DB46A}"/>
              </a:ext>
            </a:extLst>
          </p:cNvPr>
          <p:cNvSpPr txBox="1"/>
          <p:nvPr/>
        </p:nvSpPr>
        <p:spPr>
          <a:xfrm>
            <a:off x="7044447" y="3843733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X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3FD342A-75B9-5500-CD25-826A3B416B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19066" y="5425065"/>
            <a:ext cx="1217777" cy="121777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832D2C23-480E-F0DD-0966-8500244AEA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2748" y="5393480"/>
            <a:ext cx="1082289" cy="1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9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3" grpId="0" animBg="1"/>
      <p:bldP spid="32" grpId="0" animBg="1"/>
      <p:bldP spid="7" grpId="0"/>
      <p:bldP spid="8" grpId="0"/>
      <p:bldP spid="9" grpId="0"/>
      <p:bldP spid="23" grpId="0"/>
      <p:bldP spid="25" grpId="0"/>
      <p:bldP spid="26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AB9ADB-278C-3768-5B38-E85E7278DB98}"/>
              </a:ext>
            </a:extLst>
          </p:cNvPr>
          <p:cNvSpPr txBox="1"/>
          <p:nvPr/>
        </p:nvSpPr>
        <p:spPr>
          <a:xfrm>
            <a:off x="959903" y="1702349"/>
            <a:ext cx="7455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cap="small" dirty="0"/>
              <a:t>Um Signo pode ser Ícone, Índice e Símbolo ao mesmo tempo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A42A132-5F8E-55E7-C8ED-6740C7D4A8D1}"/>
              </a:ext>
            </a:extLst>
          </p:cNvPr>
          <p:cNvSpPr/>
          <p:nvPr/>
        </p:nvSpPr>
        <p:spPr>
          <a:xfrm>
            <a:off x="959903" y="703901"/>
            <a:ext cx="3424335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Tipos de signos      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E75E87-F073-7486-0386-B90E9CE00261}"/>
              </a:ext>
            </a:extLst>
          </p:cNvPr>
          <p:cNvSpPr txBox="1"/>
          <p:nvPr/>
        </p:nvSpPr>
        <p:spPr>
          <a:xfrm>
            <a:off x="676061" y="3222190"/>
            <a:ext cx="204235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ÍCONE</a:t>
            </a:r>
          </a:p>
          <a:p>
            <a:pPr algn="ctr"/>
            <a:r>
              <a:rPr lang="pt-BR" sz="1400" dirty="0"/>
              <a:t>(tem as qualidades físicas</a:t>
            </a:r>
          </a:p>
          <a:p>
            <a:pPr algn="ctr"/>
            <a:r>
              <a:rPr lang="pt-BR" sz="1400" dirty="0"/>
              <a:t>de um Puma)</a:t>
            </a:r>
            <a:endParaRPr lang="pt-BR" sz="11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66A60B-31C7-C082-A3EC-90C26F698A19}"/>
              </a:ext>
            </a:extLst>
          </p:cNvPr>
          <p:cNvSpPr txBox="1"/>
          <p:nvPr/>
        </p:nvSpPr>
        <p:spPr>
          <a:xfrm>
            <a:off x="3388901" y="5687397"/>
            <a:ext cx="199067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ÍNDICE</a:t>
            </a:r>
          </a:p>
          <a:p>
            <a:pPr algn="ctr"/>
            <a:r>
              <a:rPr lang="pt-BR" sz="1400" dirty="0"/>
              <a:t>(representa a agilidade e</a:t>
            </a:r>
          </a:p>
          <a:p>
            <a:pPr algn="ctr"/>
            <a:r>
              <a:rPr lang="pt-BR" sz="1400" dirty="0"/>
              <a:t>a força de um Puma)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0B9897-30A9-85D8-D0F0-4ADC30C89054}"/>
              </a:ext>
            </a:extLst>
          </p:cNvPr>
          <p:cNvSpPr txBox="1"/>
          <p:nvPr/>
        </p:nvSpPr>
        <p:spPr>
          <a:xfrm>
            <a:off x="6228073" y="3222190"/>
            <a:ext cx="232634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rgbClr val="C00000"/>
                </a:solidFill>
              </a:rPr>
              <a:t>SÍMBOLO</a:t>
            </a:r>
          </a:p>
          <a:p>
            <a:pPr algn="ctr"/>
            <a:r>
              <a:rPr lang="pt-BR" sz="1400" dirty="0"/>
              <a:t>(a comunicação de marketing</a:t>
            </a:r>
          </a:p>
          <a:p>
            <a:pPr algn="ctr"/>
            <a:r>
              <a:rPr lang="pt-BR" sz="1400" dirty="0"/>
              <a:t>nos fez associar o Puma</a:t>
            </a:r>
          </a:p>
          <a:p>
            <a:pPr algn="ctr"/>
            <a:r>
              <a:rPr lang="pt-BR" sz="1400" dirty="0"/>
              <a:t>a uma Marca)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B8DA48-2D3D-0EDD-BD3F-95612DE408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2003" y="2967309"/>
            <a:ext cx="2884471" cy="2360158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16BED71-0DD8-3E41-12DC-3204469206C7}"/>
              </a:ext>
            </a:extLst>
          </p:cNvPr>
          <p:cNvCxnSpPr>
            <a:cxnSpLocks/>
          </p:cNvCxnSpPr>
          <p:nvPr/>
        </p:nvCxnSpPr>
        <p:spPr>
          <a:xfrm flipH="1" flipV="1">
            <a:off x="2234188" y="3426046"/>
            <a:ext cx="1358098" cy="1880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AB6DB1CA-F203-E1D4-D821-A979E16C1EF2}"/>
              </a:ext>
            </a:extLst>
          </p:cNvPr>
          <p:cNvCxnSpPr>
            <a:cxnSpLocks/>
          </p:cNvCxnSpPr>
          <p:nvPr/>
        </p:nvCxnSpPr>
        <p:spPr>
          <a:xfrm flipH="1">
            <a:off x="4384237" y="5228899"/>
            <a:ext cx="1" cy="45849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946B275-F2CE-EF94-C495-E27448001C94}"/>
              </a:ext>
            </a:extLst>
          </p:cNvPr>
          <p:cNvCxnSpPr>
            <a:cxnSpLocks/>
          </p:cNvCxnSpPr>
          <p:nvPr/>
        </p:nvCxnSpPr>
        <p:spPr>
          <a:xfrm flipV="1">
            <a:off x="5061396" y="3426046"/>
            <a:ext cx="1603278" cy="1880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1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FAB9ADB-278C-3768-5B38-E85E7278DB98}"/>
              </a:ext>
            </a:extLst>
          </p:cNvPr>
          <p:cNvSpPr txBox="1"/>
          <p:nvPr/>
        </p:nvSpPr>
        <p:spPr>
          <a:xfrm>
            <a:off x="959901" y="1445254"/>
            <a:ext cx="7455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cap="small" dirty="0"/>
              <a:t>Um Signo é percebido em 3 etapas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A42A132-5F8E-55E7-C8ED-6740C7D4A8D1}"/>
              </a:ext>
            </a:extLst>
          </p:cNvPr>
          <p:cNvSpPr/>
          <p:nvPr/>
        </p:nvSpPr>
        <p:spPr>
          <a:xfrm>
            <a:off x="959903" y="703901"/>
            <a:ext cx="4944430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A percepção dos signos      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FF66A6-B315-5EC1-B6F9-695DEB54AFC2}"/>
              </a:ext>
            </a:extLst>
          </p:cNvPr>
          <p:cNvSpPr txBox="1"/>
          <p:nvPr/>
        </p:nvSpPr>
        <p:spPr>
          <a:xfrm>
            <a:off x="2665379" y="2398340"/>
            <a:ext cx="621870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1100" b="0" i="0" u="none" strike="noStrike" cap="small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pt-BR" sz="2000" b="1" i="0" u="none" strike="noStrike" cap="small" dirty="0" err="1">
                <a:latin typeface="Calibri" panose="020F0502020204030204" pitchFamily="34" charset="0"/>
              </a:rPr>
              <a:t>Primeiridade</a:t>
            </a:r>
            <a:r>
              <a:rPr lang="pt-BR" sz="2000" b="1" i="0" u="none" strike="noStrike" cap="small" dirty="0">
                <a:latin typeface="Calibri" panose="020F0502020204030204" pitchFamily="34" charset="0"/>
              </a:rPr>
              <a:t> - 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corresponde à percepção da ocorrência </a:t>
            </a:r>
            <a:r>
              <a:rPr lang="pt-BR" sz="2000" b="0" i="0" u="none" strike="noStrike" cap="small" dirty="0" err="1">
                <a:latin typeface="Aptos" panose="020B0004020202020204" pitchFamily="34" charset="0"/>
              </a:rPr>
              <a:t>sígnica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; percepção das formas, dos sentidos. (Exemplo: percepção da água caindo, a nuvem... Chuva)</a:t>
            </a:r>
          </a:p>
          <a:p>
            <a:endParaRPr lang="pt-BR" sz="1050" b="0" i="0" u="none" strike="noStrike" cap="small" dirty="0">
              <a:latin typeface="Aptos" panose="020B0004020202020204" pitchFamily="34" charset="0"/>
            </a:endParaRPr>
          </a:p>
          <a:p>
            <a:r>
              <a:rPr lang="pt-BR" sz="2000" b="1" i="0" u="none" strike="noStrike" cap="small" dirty="0" err="1">
                <a:latin typeface="Calibri" panose="020F0502020204030204" pitchFamily="34" charset="0"/>
              </a:rPr>
              <a:t>Secundidade</a:t>
            </a:r>
            <a:r>
              <a:rPr lang="pt-BR" sz="2000" b="1" i="0" u="none" strike="noStrike" cap="small" dirty="0">
                <a:latin typeface="Calibri" panose="020F0502020204030204" pitchFamily="34" charset="0"/>
              </a:rPr>
              <a:t> 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– relação desta com seu significado; é o factual. (Exemplo: representação da chuva na previsão do tempo </a:t>
            </a:r>
            <a:r>
              <a:rPr lang="pt-BR" sz="2000" b="0" i="0" u="none" strike="noStrike" cap="small" dirty="0">
                <a:latin typeface="Aptos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 “está chovendo”</a:t>
            </a:r>
            <a:r>
              <a:rPr lang="pt-BR" sz="2000" cap="small" dirty="0">
                <a:latin typeface="Aptos" panose="020B0004020202020204" pitchFamily="34" charset="0"/>
              </a:rPr>
              <a:t> ou “vai chover”)</a:t>
            </a:r>
            <a:endParaRPr lang="pt-BR" sz="2000" b="0" i="0" u="none" strike="noStrike" cap="small" dirty="0">
              <a:latin typeface="Aptos" panose="020B0004020202020204" pitchFamily="34" charset="0"/>
            </a:endParaRPr>
          </a:p>
          <a:p>
            <a:endParaRPr lang="pt-BR" sz="1050" b="0" i="0" u="none" strike="noStrike" cap="small" dirty="0">
              <a:latin typeface="Aptos" panose="020B0004020202020204" pitchFamily="34" charset="0"/>
            </a:endParaRPr>
          </a:p>
          <a:p>
            <a:r>
              <a:rPr lang="pt-BR" sz="2000" b="1" i="0" u="none" strike="noStrike" cap="small" dirty="0" err="1">
                <a:latin typeface="Calibri" panose="020F0502020204030204" pitchFamily="34" charset="0"/>
              </a:rPr>
              <a:t>Terceiridade</a:t>
            </a:r>
            <a:r>
              <a:rPr lang="pt-BR" sz="2000" b="1" i="0" u="none" strike="noStrike" cap="small" dirty="0">
                <a:latin typeface="Calibri" panose="020F0502020204030204" pitchFamily="34" charset="0"/>
              </a:rPr>
              <a:t> 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– A interpretação “particular” do significado, a compreensão do signo (Exemplo: </a:t>
            </a:r>
            <a:r>
              <a:rPr lang="pt-BR" sz="2000" cap="small" dirty="0">
                <a:latin typeface="Aptos" panose="020B0004020202020204" pitchFamily="34" charset="0"/>
              </a:rPr>
              <a:t>S</a:t>
            </a:r>
            <a:r>
              <a:rPr lang="pt-BR" sz="2000" b="0" i="0" u="none" strike="noStrike" cap="small" dirty="0">
                <a:latin typeface="Aptos" panose="020B0004020202020204" pitchFamily="34" charset="0"/>
              </a:rPr>
              <a:t>e está chovendo ou vai cho</a:t>
            </a:r>
            <a:r>
              <a:rPr lang="pt-BR" sz="2000" cap="small" dirty="0">
                <a:latin typeface="Aptos" panose="020B0004020202020204" pitchFamily="34" charset="0"/>
              </a:rPr>
              <a:t>ver, devo me preparar para essa condição do tempo, ou não sair de casa...)</a:t>
            </a:r>
            <a:endParaRPr lang="pt-BR" sz="1600" b="0" i="0" u="none" strike="noStrike" cap="small" dirty="0"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8838559-BE6D-6F44-4CD5-D87C23E51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5" y="316953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2BC980C-6B6C-FF17-8B85-0F595B48382E}"/>
              </a:ext>
            </a:extLst>
          </p:cNvPr>
          <p:cNvSpPr/>
          <p:nvPr/>
        </p:nvSpPr>
        <p:spPr>
          <a:xfrm>
            <a:off x="959903" y="703901"/>
            <a:ext cx="680942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Relevância para o design da interação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E75E89-0DEC-1DAD-C0F9-392EA9E9D9F8}"/>
              </a:ext>
            </a:extLst>
          </p:cNvPr>
          <p:cNvSpPr txBox="1"/>
          <p:nvPr/>
        </p:nvSpPr>
        <p:spPr>
          <a:xfrm>
            <a:off x="959903" y="1539063"/>
            <a:ext cx="7455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cap="small" dirty="0"/>
              <a:t>Serve de guia para a escolha dos “signos” que usaremos na interação Homem-Computador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0CE117B-F00C-B6FA-54F6-932542986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27" y="2504135"/>
            <a:ext cx="2013988" cy="1052309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3857EEA-1B67-BD2D-635D-6A8A4073D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54" y="3376545"/>
            <a:ext cx="2121693" cy="11977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DCB594C6-F583-7491-482C-32849C4B3E5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806" y="2334031"/>
            <a:ext cx="2013988" cy="1006994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691B88-3B81-0D24-D707-32FEB492C18F}"/>
              </a:ext>
            </a:extLst>
          </p:cNvPr>
          <p:cNvSpPr txBox="1"/>
          <p:nvPr/>
        </p:nvSpPr>
        <p:spPr>
          <a:xfrm>
            <a:off x="2268807" y="3619087"/>
            <a:ext cx="165462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pt-BR" sz="2400" b="1" cap="small" dirty="0">
                <a:solidFill>
                  <a:srgbClr val="C00000"/>
                </a:solidFill>
              </a:rPr>
              <a:t>Iconografia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F50D2FE5-1873-E43E-8221-9F075CC7F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918" y="2682002"/>
            <a:ext cx="3457575" cy="1584413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80B7150C-A431-C4F0-54F9-92C972DE5831}"/>
              </a:ext>
            </a:extLst>
          </p:cNvPr>
          <p:cNvSpPr txBox="1"/>
          <p:nvPr/>
        </p:nvSpPr>
        <p:spPr>
          <a:xfrm>
            <a:off x="6334401" y="4156789"/>
            <a:ext cx="165462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pt-BR" sz="2400" b="1" cap="small" dirty="0">
                <a:solidFill>
                  <a:srgbClr val="C00000"/>
                </a:solidFill>
              </a:rPr>
              <a:t>UX </a:t>
            </a:r>
            <a:r>
              <a:rPr lang="pt-BR" sz="2400" b="1" cap="small" dirty="0" err="1">
                <a:solidFill>
                  <a:srgbClr val="C00000"/>
                </a:solidFill>
              </a:rPr>
              <a:t>Writing</a:t>
            </a:r>
            <a:endParaRPr lang="pt-BR" sz="2400" b="1" cap="small" dirty="0">
              <a:solidFill>
                <a:srgbClr val="C00000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30ADDDF-4D9A-2F32-44FE-61CD8E436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196" y="4822503"/>
            <a:ext cx="4262087" cy="19373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A3954BD-17EA-6085-593A-258A3B31DCDE}"/>
              </a:ext>
            </a:extLst>
          </p:cNvPr>
          <p:cNvSpPr txBox="1"/>
          <p:nvPr/>
        </p:nvSpPr>
        <p:spPr>
          <a:xfrm>
            <a:off x="3561166" y="4699417"/>
            <a:ext cx="165462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cap="small" dirty="0">
                <a:solidFill>
                  <a:srgbClr val="C00000"/>
                </a:solidFill>
              </a:rPr>
              <a:t>Fontes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A5DAFE0-092E-C86E-0715-204405DF9472}"/>
              </a:ext>
            </a:extLst>
          </p:cNvPr>
          <p:cNvGrpSpPr/>
          <p:nvPr/>
        </p:nvGrpSpPr>
        <p:grpSpPr>
          <a:xfrm>
            <a:off x="5594292" y="4569685"/>
            <a:ext cx="3457576" cy="1584414"/>
            <a:chOff x="5594292" y="4569685"/>
            <a:chExt cx="3457576" cy="1584414"/>
          </a:xfrm>
        </p:grpSpPr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2DB862E2-0F1D-4D82-B9AA-B363409E0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94292" y="4569685"/>
              <a:ext cx="3457576" cy="1584414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043FD63-3354-A2FF-DA30-5071FF318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9413" y="4927049"/>
              <a:ext cx="161948" cy="152421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DA0F1187-7984-A86F-8501-C6FA614B3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029" y="4912760"/>
              <a:ext cx="219106" cy="181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35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1925A07-33CA-29E8-5B5F-C2D832E8F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07" y="2682002"/>
            <a:ext cx="3129308" cy="1603770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49C0B867-DC7F-1186-F5B3-34B94FAC6695}"/>
              </a:ext>
            </a:extLst>
          </p:cNvPr>
          <p:cNvSpPr/>
          <p:nvPr/>
        </p:nvSpPr>
        <p:spPr>
          <a:xfrm>
            <a:off x="74642" y="4265735"/>
            <a:ext cx="2334836" cy="2269520"/>
          </a:xfrm>
          <a:prstGeom prst="ellipse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BC980C-6B6C-FF17-8B85-0F595B48382E}"/>
              </a:ext>
            </a:extLst>
          </p:cNvPr>
          <p:cNvSpPr/>
          <p:nvPr/>
        </p:nvSpPr>
        <p:spPr>
          <a:xfrm>
            <a:off x="959903" y="703901"/>
            <a:ext cx="680942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Relevância para o design da interação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E75E89-0DEC-1DAD-C0F9-392EA9E9D9F8}"/>
              </a:ext>
            </a:extLst>
          </p:cNvPr>
          <p:cNvSpPr txBox="1"/>
          <p:nvPr/>
        </p:nvSpPr>
        <p:spPr>
          <a:xfrm>
            <a:off x="959903" y="1539063"/>
            <a:ext cx="7455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cap="small" dirty="0"/>
              <a:t>Serve de guia para a escolha dos “signos” que usaremos na interação Homem-Computador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FB1A55F-8581-76AC-55CB-778DC5E8E3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6647" y="4285772"/>
            <a:ext cx="4016829" cy="202882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691B88-3B81-0D24-D707-32FEB492C18F}"/>
              </a:ext>
            </a:extLst>
          </p:cNvPr>
          <p:cNvSpPr txBox="1"/>
          <p:nvPr/>
        </p:nvSpPr>
        <p:spPr>
          <a:xfrm>
            <a:off x="2237165" y="4388653"/>
            <a:ext cx="2334835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pt-BR" sz="2400" b="1" cap="small" dirty="0">
                <a:solidFill>
                  <a:srgbClr val="C00000"/>
                </a:solidFill>
              </a:rPr>
              <a:t>Comandos de Voz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72DAAC-121B-C82A-B8E0-B8CFE3C53D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138"/>
          <a:stretch/>
        </p:blipFill>
        <p:spPr>
          <a:xfrm>
            <a:off x="4747187" y="2629424"/>
            <a:ext cx="2683446" cy="2330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9C79328-A411-7C7D-AB39-F55EA83F6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4785" y="4285772"/>
            <a:ext cx="3401497" cy="182941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3DF36F3-FBD0-378A-44E5-CAAA0214733F}"/>
              </a:ext>
            </a:extLst>
          </p:cNvPr>
          <p:cNvSpPr txBox="1"/>
          <p:nvPr/>
        </p:nvSpPr>
        <p:spPr>
          <a:xfrm>
            <a:off x="7371322" y="3341843"/>
            <a:ext cx="1100213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pt-BR" sz="2400" b="1" cap="small" dirty="0">
                <a:solidFill>
                  <a:srgbClr val="C00000"/>
                </a:solidFill>
              </a:rPr>
              <a:t>gestos</a:t>
            </a:r>
          </a:p>
        </p:txBody>
      </p:sp>
    </p:spTree>
    <p:extLst>
      <p:ext uri="{BB962C8B-B14F-4D97-AF65-F5344CB8AC3E}">
        <p14:creationId xmlns:p14="http://schemas.microsoft.com/office/powerpoint/2010/main" val="27344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D9E2D06C-59E5-9C95-65DB-A08CCDB6B962}"/>
              </a:ext>
            </a:extLst>
          </p:cNvPr>
          <p:cNvSpPr/>
          <p:nvPr/>
        </p:nvSpPr>
        <p:spPr>
          <a:xfrm>
            <a:off x="3143769" y="3400342"/>
            <a:ext cx="2398812" cy="2067942"/>
          </a:xfrm>
          <a:prstGeom prst="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  TRIÁDICO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BF1607-C69A-A670-9725-32696259D1EA}"/>
              </a:ext>
            </a:extLst>
          </p:cNvPr>
          <p:cNvSpPr txBox="1"/>
          <p:nvPr/>
        </p:nvSpPr>
        <p:spPr>
          <a:xfrm>
            <a:off x="3347223" y="1922119"/>
            <a:ext cx="2034788" cy="823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pt-BR" b="1" dirty="0">
                <a:solidFill>
                  <a:srgbClr val="C00000"/>
                </a:solidFill>
              </a:rPr>
              <a:t>SIGNOS</a:t>
            </a:r>
          </a:p>
          <a:p>
            <a:pPr algn="ctr">
              <a:lnSpc>
                <a:spcPts val="1900"/>
              </a:lnSpc>
            </a:pPr>
            <a:r>
              <a:rPr lang="pt-BR" b="1" dirty="0">
                <a:solidFill>
                  <a:srgbClr val="C00000"/>
                </a:solidFill>
              </a:rPr>
              <a:t>x</a:t>
            </a:r>
          </a:p>
          <a:p>
            <a:pPr algn="ctr">
              <a:lnSpc>
                <a:spcPts val="1900"/>
              </a:lnSpc>
            </a:pPr>
            <a:r>
              <a:rPr lang="pt-BR" b="1" dirty="0">
                <a:solidFill>
                  <a:srgbClr val="C00000"/>
                </a:solidFill>
              </a:rPr>
              <a:t>TIPO DE INTERFACE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D3B65-6A5A-198B-4DF8-6A9CED738ED8}"/>
              </a:ext>
            </a:extLst>
          </p:cNvPr>
          <p:cNvSpPr txBox="1"/>
          <p:nvPr/>
        </p:nvSpPr>
        <p:spPr>
          <a:xfrm>
            <a:off x="2186214" y="4768413"/>
            <a:ext cx="92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OBJETO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F65834-53F4-571F-4CDA-628DE93DBD68}"/>
              </a:ext>
            </a:extLst>
          </p:cNvPr>
          <p:cNvSpPr txBox="1"/>
          <p:nvPr/>
        </p:nvSpPr>
        <p:spPr>
          <a:xfrm>
            <a:off x="5766045" y="4647821"/>
            <a:ext cx="1732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</a:rPr>
              <a:t>INTERPRETANTE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91F2F8-17BE-3B11-41A0-52B74FD22EA2}"/>
              </a:ext>
            </a:extLst>
          </p:cNvPr>
          <p:cNvSpPr txBox="1"/>
          <p:nvPr/>
        </p:nvSpPr>
        <p:spPr>
          <a:xfrm>
            <a:off x="-22033" y="1320146"/>
            <a:ext cx="91660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cap="small" dirty="0">
                <a:solidFill>
                  <a:srgbClr val="C00000"/>
                </a:solidFill>
              </a:rPr>
              <a:t> Um signo é uma coisa que representa um objeto para um interpretante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DBCB90A-0838-CDA8-FDAB-737C9F24D4CF}"/>
              </a:ext>
            </a:extLst>
          </p:cNvPr>
          <p:cNvSpPr/>
          <p:nvPr/>
        </p:nvSpPr>
        <p:spPr>
          <a:xfrm>
            <a:off x="959903" y="703901"/>
            <a:ext cx="680942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sz="2800" b="1" cap="all" dirty="0"/>
              <a:t>Relevância para o design da interação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8A2709-8C5E-2EB3-02EF-A011DFFE3BB0}"/>
              </a:ext>
            </a:extLst>
          </p:cNvPr>
          <p:cNvSpPr txBox="1"/>
          <p:nvPr/>
        </p:nvSpPr>
        <p:spPr>
          <a:xfrm>
            <a:off x="4364617" y="2762024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Iconografia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C6FA6A6-471D-7363-4AA6-6CFD025E54FF}"/>
              </a:ext>
            </a:extLst>
          </p:cNvPr>
          <p:cNvSpPr txBox="1"/>
          <p:nvPr/>
        </p:nvSpPr>
        <p:spPr>
          <a:xfrm>
            <a:off x="3005739" y="2792418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UX </a:t>
            </a:r>
            <a:r>
              <a:rPr lang="pt-BR" b="1" cap="small" dirty="0" err="1">
                <a:solidFill>
                  <a:schemeClr val="tx2"/>
                </a:solidFill>
              </a:rPr>
              <a:t>Writing</a:t>
            </a:r>
            <a:endParaRPr lang="pt-BR" b="1" cap="small" dirty="0">
              <a:solidFill>
                <a:schemeClr val="tx2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0077BD-F862-B4AA-C1DA-B189D7E2A359}"/>
              </a:ext>
            </a:extLst>
          </p:cNvPr>
          <p:cNvSpPr txBox="1"/>
          <p:nvPr/>
        </p:nvSpPr>
        <p:spPr>
          <a:xfrm>
            <a:off x="4572000" y="3128180"/>
            <a:ext cx="188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Comandos de Voz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F3BE147-0E88-432B-96D2-722D03F564B6}"/>
              </a:ext>
            </a:extLst>
          </p:cNvPr>
          <p:cNvSpPr txBox="1"/>
          <p:nvPr/>
        </p:nvSpPr>
        <p:spPr>
          <a:xfrm>
            <a:off x="3361859" y="3125985"/>
            <a:ext cx="88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Gestos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42F038E-BE19-DA48-8F53-01C91A14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695" y="5044353"/>
            <a:ext cx="1674916" cy="10151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C05904-910C-C098-B598-305EB35516EC}"/>
              </a:ext>
            </a:extLst>
          </p:cNvPr>
          <p:cNvSpPr txBox="1"/>
          <p:nvPr/>
        </p:nvSpPr>
        <p:spPr>
          <a:xfrm>
            <a:off x="5557236" y="6059453"/>
            <a:ext cx="2212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Personas / Contexto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141A4DD-E15E-C6BF-2FF8-85E9A3D0EFCF}"/>
              </a:ext>
            </a:extLst>
          </p:cNvPr>
          <p:cNvSpPr txBox="1"/>
          <p:nvPr/>
        </p:nvSpPr>
        <p:spPr>
          <a:xfrm>
            <a:off x="1119588" y="5009020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Comandos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5F9E6C-4447-94DD-5CCB-A8A1FCA3CCEE}"/>
              </a:ext>
            </a:extLst>
          </p:cNvPr>
          <p:cNvSpPr txBox="1"/>
          <p:nvPr/>
        </p:nvSpPr>
        <p:spPr>
          <a:xfrm>
            <a:off x="1806333" y="5278877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Conteúdos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8895A99-1EAE-6D03-A584-62AA7CDB1D95}"/>
              </a:ext>
            </a:extLst>
          </p:cNvPr>
          <p:cNvSpPr txBox="1"/>
          <p:nvPr/>
        </p:nvSpPr>
        <p:spPr>
          <a:xfrm>
            <a:off x="794243" y="5384580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Opções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E2E39C1-2588-BFD3-EE07-9AFEC4A72DC2}"/>
              </a:ext>
            </a:extLst>
          </p:cNvPr>
          <p:cNvSpPr txBox="1"/>
          <p:nvPr/>
        </p:nvSpPr>
        <p:spPr>
          <a:xfrm>
            <a:off x="2149706" y="5638061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Mensagens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46EFD55-CF10-28A8-A75D-06D1CA3E7F8D}"/>
              </a:ext>
            </a:extLst>
          </p:cNvPr>
          <p:cNvSpPr txBox="1"/>
          <p:nvPr/>
        </p:nvSpPr>
        <p:spPr>
          <a:xfrm>
            <a:off x="2764121" y="3459814"/>
            <a:ext cx="11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Estética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82FF402-F262-D19E-8EE4-F41401917C85}"/>
              </a:ext>
            </a:extLst>
          </p:cNvPr>
          <p:cNvSpPr txBox="1"/>
          <p:nvPr/>
        </p:nvSpPr>
        <p:spPr>
          <a:xfrm>
            <a:off x="4795239" y="3494336"/>
            <a:ext cx="116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Temática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A9F0C9C-D88C-4335-32B4-73E9831A6536}"/>
              </a:ext>
            </a:extLst>
          </p:cNvPr>
          <p:cNvSpPr txBox="1"/>
          <p:nvPr/>
        </p:nvSpPr>
        <p:spPr>
          <a:xfrm>
            <a:off x="364333" y="5718293"/>
            <a:ext cx="179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Personalidade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CD8DB1D-E59D-5529-D0EC-531C7590B1D2}"/>
              </a:ext>
            </a:extLst>
          </p:cNvPr>
          <p:cNvSpPr txBox="1"/>
          <p:nvPr/>
        </p:nvSpPr>
        <p:spPr>
          <a:xfrm>
            <a:off x="1606171" y="6025531"/>
            <a:ext cx="13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Imagem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6142A5-215D-AA83-D7BF-D10DE1B5D335}"/>
              </a:ext>
            </a:extLst>
          </p:cNvPr>
          <p:cNvSpPr txBox="1"/>
          <p:nvPr/>
        </p:nvSpPr>
        <p:spPr>
          <a:xfrm>
            <a:off x="2419402" y="3151602"/>
            <a:ext cx="88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cap="small" dirty="0">
                <a:solidFill>
                  <a:schemeClr val="tx2"/>
                </a:solidFill>
              </a:rPr>
              <a:t>Fontes</a:t>
            </a:r>
          </a:p>
        </p:txBody>
      </p:sp>
    </p:spTree>
    <p:extLst>
      <p:ext uri="{BB962C8B-B14F-4D97-AF65-F5344CB8AC3E}">
        <p14:creationId xmlns:p14="http://schemas.microsoft.com/office/powerpoint/2010/main" val="226722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9" grpId="0"/>
      <p:bldP spid="13" grpId="0"/>
      <p:bldP spid="14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6D6E6-8020-431D-94EA-46B96DC7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TOM DE VOZ DA EMPRESA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A8E946-6B85-4D04-9B0A-D18AB410519C}"/>
              </a:ext>
            </a:extLst>
          </p:cNvPr>
          <p:cNvSpPr txBox="1"/>
          <p:nvPr/>
        </p:nvSpPr>
        <p:spPr>
          <a:xfrm>
            <a:off x="534390" y="1514490"/>
            <a:ext cx="807522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cap="small" dirty="0"/>
              <a:t>Sua marca FALA!! </a:t>
            </a:r>
          </a:p>
          <a:p>
            <a:pPr algn="ctr"/>
            <a:endParaRPr lang="pt-BR" sz="1400" b="1" cap="small" dirty="0"/>
          </a:p>
          <a:p>
            <a:pPr algn="ctr"/>
            <a:r>
              <a:rPr lang="pt-BR" sz="2800" cap="small" dirty="0"/>
              <a:t>Uma marca conversa com seus consumidores através das várias estratégias e técnicas de comunicação</a:t>
            </a:r>
          </a:p>
          <a:p>
            <a:pPr algn="ctr"/>
            <a:endParaRPr lang="pt-BR" sz="2800" cap="small" dirty="0"/>
          </a:p>
          <a:p>
            <a:pPr algn="ctr"/>
            <a:r>
              <a:rPr lang="pt-BR" sz="2800" cap="small" dirty="0"/>
              <a:t>Que imagem sua marca passa quando fala? </a:t>
            </a:r>
          </a:p>
          <a:p>
            <a:pPr algn="ctr"/>
            <a:endParaRPr lang="pt-BR" sz="2800" cap="small" dirty="0"/>
          </a:p>
          <a:p>
            <a:pPr algn="ctr"/>
            <a:r>
              <a:rPr lang="pt-BR" sz="2800" cap="small" dirty="0"/>
              <a:t>Como ela expõe sua personalidade?</a:t>
            </a:r>
          </a:p>
          <a:p>
            <a:pPr algn="ctr"/>
            <a:endParaRPr lang="pt-BR" sz="2800" cap="small" dirty="0"/>
          </a:p>
          <a:p>
            <a:pPr algn="ctr"/>
            <a:r>
              <a:rPr lang="pt-BR" sz="3600" cap="small" dirty="0"/>
              <a:t>Qual seu </a:t>
            </a:r>
            <a:r>
              <a:rPr lang="pt-BR" sz="3600" b="1" cap="small" dirty="0"/>
              <a:t>tom de voz</a:t>
            </a:r>
            <a:r>
              <a:rPr lang="pt-BR" sz="3600" cap="small" dirty="0"/>
              <a:t>? </a:t>
            </a:r>
          </a:p>
          <a:p>
            <a:pPr algn="ctr"/>
            <a:endParaRPr lang="pt-BR" sz="2800" cap="small" dirty="0"/>
          </a:p>
        </p:txBody>
      </p:sp>
    </p:spTree>
    <p:extLst>
      <p:ext uri="{BB962C8B-B14F-4D97-AF65-F5344CB8AC3E}">
        <p14:creationId xmlns:p14="http://schemas.microsoft.com/office/powerpoint/2010/main" val="1975041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4F73650-0403-4533-B00F-CCFAF2EE0AB8}"/>
              </a:ext>
            </a:extLst>
          </p:cNvPr>
          <p:cNvSpPr/>
          <p:nvPr/>
        </p:nvSpPr>
        <p:spPr>
          <a:xfrm>
            <a:off x="984363" y="715224"/>
            <a:ext cx="7520649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cap="all" dirty="0">
                <a:solidFill>
                  <a:prstClr val="black"/>
                </a:solidFill>
                <a:latin typeface="Calibri"/>
              </a:rPr>
              <a:t>6 atributos das marcas centradas no ser humano</a:t>
            </a:r>
            <a:endParaRPr kumimoji="0" lang="pt-BR" sz="2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35B0FC-B55D-4304-898D-F48123F877FC}"/>
              </a:ext>
            </a:extLst>
          </p:cNvPr>
          <p:cNvSpPr txBox="1"/>
          <p:nvPr/>
        </p:nvSpPr>
        <p:spPr>
          <a:xfrm>
            <a:off x="408781" y="1594039"/>
            <a:ext cx="8671811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FISICALIDADE</a:t>
            </a:r>
            <a:r>
              <a:rPr lang="pt-BR" sz="2400" cap="small" dirty="0"/>
              <a:t> – </a:t>
            </a:r>
            <a:r>
              <a:rPr lang="pt-BR" sz="2000" cap="small" dirty="0"/>
              <a:t>Beleza física x maior Influência</a:t>
            </a:r>
            <a:endParaRPr lang="pt-BR" sz="2400" cap="small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INTELECTUALIDADE</a:t>
            </a:r>
            <a:r>
              <a:rPr lang="pt-BR" sz="2400" cap="small" dirty="0"/>
              <a:t> -  </a:t>
            </a:r>
            <a:r>
              <a:rPr lang="pt-BR" sz="2000" cap="small" dirty="0"/>
              <a:t>Pensar além do óbvio </a:t>
            </a:r>
            <a:r>
              <a:rPr lang="pt-BR" sz="2000" cap="small" dirty="0">
                <a:sym typeface="Wingdings" panose="05000000000000000000" pitchFamily="2" charset="2"/>
              </a:rPr>
              <a:t></a:t>
            </a:r>
            <a:r>
              <a:rPr lang="pt-BR" sz="2000" cap="small" dirty="0"/>
              <a:t> inovar</a:t>
            </a:r>
            <a:endParaRPr lang="pt-BR" sz="2400" cap="small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SOCIABILIDADE</a:t>
            </a:r>
            <a:r>
              <a:rPr lang="pt-BR" sz="2400" cap="small" dirty="0"/>
              <a:t> – </a:t>
            </a:r>
            <a:r>
              <a:rPr lang="pt-BR" sz="2000" cap="small" dirty="0"/>
              <a:t>Capacidade de comunicação e envolvimento</a:t>
            </a:r>
            <a:endParaRPr lang="pt-BR" sz="2400" cap="small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EMOCIONALIDADE</a:t>
            </a:r>
            <a:r>
              <a:rPr lang="pt-BR" sz="2400" cap="small" dirty="0"/>
              <a:t> – </a:t>
            </a:r>
            <a:r>
              <a:rPr lang="pt-BR" sz="2000" cap="small" dirty="0"/>
              <a:t>conexão emocional, bom humor</a:t>
            </a:r>
            <a:endParaRPr lang="pt-BR" sz="2400" cap="small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PERSONALIDADE</a:t>
            </a:r>
            <a:r>
              <a:rPr lang="pt-BR" sz="2400" cap="small" dirty="0"/>
              <a:t> – </a:t>
            </a:r>
            <a:r>
              <a:rPr lang="pt-BR" sz="2000" cap="small" dirty="0"/>
              <a:t>Personalidade forte x Autoconsciência</a:t>
            </a:r>
            <a:endParaRPr lang="pt-BR" sz="2400" cap="small" dirty="0"/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pt-BR" sz="2400" b="1" cap="small" dirty="0">
                <a:solidFill>
                  <a:srgbClr val="C00000"/>
                </a:solidFill>
              </a:rPr>
              <a:t>MORALIDADE</a:t>
            </a:r>
            <a:r>
              <a:rPr lang="pt-BR" sz="2400" cap="small" dirty="0"/>
              <a:t> – </a:t>
            </a:r>
            <a:r>
              <a:rPr lang="pt-BR" sz="2000" cap="small" dirty="0"/>
              <a:t>ética e integridade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9EC776-4DAF-4A27-82C0-CA9A431ED84B}"/>
              </a:ext>
            </a:extLst>
          </p:cNvPr>
          <p:cNvSpPr/>
          <p:nvPr/>
        </p:nvSpPr>
        <p:spPr>
          <a:xfrm>
            <a:off x="320634" y="3230088"/>
            <a:ext cx="7540831" cy="2149434"/>
          </a:xfrm>
          <a:prstGeom prst="roundRect">
            <a:avLst>
              <a:gd name="adj" fmla="val 7827"/>
            </a:avLst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9A9C5E-3733-40C8-B877-59D4D7772998}"/>
              </a:ext>
            </a:extLst>
          </p:cNvPr>
          <p:cNvSpPr txBox="1"/>
          <p:nvPr/>
        </p:nvSpPr>
        <p:spPr>
          <a:xfrm rot="911684">
            <a:off x="7279056" y="4095077"/>
            <a:ext cx="1686815" cy="419457"/>
          </a:xfrm>
          <a:prstGeom prst="roundRect">
            <a:avLst>
              <a:gd name="adj" fmla="val 8605"/>
            </a:avLst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pt-BR" sz="2000" b="1" cap="small" dirty="0">
                <a:solidFill>
                  <a:prstClr val="black"/>
                </a:solidFill>
                <a:latin typeface="Calibri"/>
              </a:rPr>
              <a:t>T</a:t>
            </a:r>
            <a:r>
              <a:rPr kumimoji="0" lang="pt-BR" sz="2000" b="1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om de Voz !!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71612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6AF9A89-C206-4D63-9A88-D86655200283}"/>
              </a:ext>
            </a:extLst>
          </p:cNvPr>
          <p:cNvSpPr/>
          <p:nvPr/>
        </p:nvSpPr>
        <p:spPr>
          <a:xfrm>
            <a:off x="5166954" y="2345688"/>
            <a:ext cx="3661861" cy="3207943"/>
          </a:xfrm>
          <a:prstGeom prst="roundRect">
            <a:avLst>
              <a:gd name="adj" fmla="val 5083"/>
            </a:avLst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b="1" cap="small" dirty="0">
                <a:solidFill>
                  <a:schemeClr val="tx1"/>
                </a:solidFill>
              </a:rPr>
              <a:t>Antes de definir seu Tom de Voz, tenha claro: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B6D6E6-8020-431D-94EA-46B96DC7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TOM DE VOZ DA EMPRESA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A8E946-6B85-4D04-9B0A-D18AB410519C}"/>
              </a:ext>
            </a:extLst>
          </p:cNvPr>
          <p:cNvSpPr txBox="1"/>
          <p:nvPr/>
        </p:nvSpPr>
        <p:spPr>
          <a:xfrm>
            <a:off x="534390" y="1514490"/>
            <a:ext cx="8075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cap="small" dirty="0"/>
              <a:t>Qual seu </a:t>
            </a:r>
            <a:r>
              <a:rPr lang="pt-BR" sz="3600" b="1" cap="small" dirty="0"/>
              <a:t>tom de voz</a:t>
            </a:r>
            <a:r>
              <a:rPr lang="pt-BR" sz="3600" cap="small" dirty="0"/>
              <a:t>? </a:t>
            </a:r>
          </a:p>
          <a:p>
            <a:pPr algn="ctr"/>
            <a:endParaRPr lang="pt-BR" sz="2800" cap="small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0785F2-20EC-4275-B28B-9519A4ED7FBC}"/>
              </a:ext>
            </a:extLst>
          </p:cNvPr>
          <p:cNvSpPr txBox="1"/>
          <p:nvPr/>
        </p:nvSpPr>
        <p:spPr>
          <a:xfrm>
            <a:off x="876717" y="2161022"/>
            <a:ext cx="87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Formal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0D3448-2BA5-4AC5-9656-072779CC545F}"/>
              </a:ext>
            </a:extLst>
          </p:cNvPr>
          <p:cNvSpPr txBox="1"/>
          <p:nvPr/>
        </p:nvSpPr>
        <p:spPr>
          <a:xfrm>
            <a:off x="1474992" y="2569362"/>
            <a:ext cx="106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Divertido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4DA32F-FF88-4458-9C0A-B077DDF155C4}"/>
              </a:ext>
            </a:extLst>
          </p:cNvPr>
          <p:cNvSpPr txBox="1"/>
          <p:nvPr/>
        </p:nvSpPr>
        <p:spPr>
          <a:xfrm>
            <a:off x="917468" y="2918877"/>
            <a:ext cx="130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tx2"/>
                </a:solidFill>
              </a:rPr>
              <a:t>Professoral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3089AF-C7EB-4A2A-B13E-2E2CF9D67B60}"/>
              </a:ext>
            </a:extLst>
          </p:cNvPr>
          <p:cNvSpPr txBox="1"/>
          <p:nvPr/>
        </p:nvSpPr>
        <p:spPr>
          <a:xfrm>
            <a:off x="3311554" y="3319374"/>
            <a:ext cx="103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tx2"/>
                </a:solidFill>
              </a:rPr>
              <a:t>Amigável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E9E202-D2CA-43D6-BCCE-E10A934B703D}"/>
              </a:ext>
            </a:extLst>
          </p:cNvPr>
          <p:cNvSpPr txBox="1"/>
          <p:nvPr/>
        </p:nvSpPr>
        <p:spPr>
          <a:xfrm>
            <a:off x="2539514" y="3685258"/>
            <a:ext cx="971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6"/>
                </a:solidFill>
              </a:rPr>
              <a:t>Inquieto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62581B8-EA24-4EB4-97B2-4A6D4F1EE853}"/>
              </a:ext>
            </a:extLst>
          </p:cNvPr>
          <p:cNvSpPr txBox="1"/>
          <p:nvPr/>
        </p:nvSpPr>
        <p:spPr>
          <a:xfrm>
            <a:off x="2386587" y="228841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tx2"/>
                </a:solidFill>
              </a:rPr>
              <a:t>Suave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011487-9B86-4D7D-AFFC-691A366CA29D}"/>
              </a:ext>
            </a:extLst>
          </p:cNvPr>
          <p:cNvSpPr txBox="1"/>
          <p:nvPr/>
        </p:nvSpPr>
        <p:spPr>
          <a:xfrm>
            <a:off x="730186" y="3645597"/>
            <a:ext cx="1125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Detalhista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E46672-20F2-4BBB-BCE9-7FDFB3DB9EFB}"/>
              </a:ext>
            </a:extLst>
          </p:cNvPr>
          <p:cNvSpPr txBox="1"/>
          <p:nvPr/>
        </p:nvSpPr>
        <p:spPr>
          <a:xfrm>
            <a:off x="1727890" y="3353327"/>
            <a:ext cx="113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Despojado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3B53A91-4529-4F49-9B55-94A015CC2E79}"/>
              </a:ext>
            </a:extLst>
          </p:cNvPr>
          <p:cNvSpPr txBox="1"/>
          <p:nvPr/>
        </p:nvSpPr>
        <p:spPr>
          <a:xfrm>
            <a:off x="759996" y="4394141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Sóbrio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D5B271-6F8E-4B55-9569-2713EF7982C0}"/>
              </a:ext>
            </a:extLst>
          </p:cNvPr>
          <p:cNvSpPr txBox="1"/>
          <p:nvPr/>
        </p:nvSpPr>
        <p:spPr>
          <a:xfrm>
            <a:off x="2143416" y="4520740"/>
            <a:ext cx="111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6"/>
                </a:solidFill>
              </a:rPr>
              <a:t>Coloquial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FBA62D-E012-4716-BB3E-309458049747}"/>
              </a:ext>
            </a:extLst>
          </p:cNvPr>
          <p:cNvSpPr txBox="1"/>
          <p:nvPr/>
        </p:nvSpPr>
        <p:spPr>
          <a:xfrm>
            <a:off x="2891313" y="4154321"/>
            <a:ext cx="981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Objetivo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51336D5-4B36-4918-A2B5-01604E2C49CC}"/>
              </a:ext>
            </a:extLst>
          </p:cNvPr>
          <p:cNvSpPr txBox="1"/>
          <p:nvPr/>
        </p:nvSpPr>
        <p:spPr>
          <a:xfrm>
            <a:off x="1370100" y="4045174"/>
            <a:ext cx="117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tx2"/>
                </a:solidFill>
              </a:rPr>
              <a:t>Acolhedor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5C5824-6AB9-4249-AC7A-C22E4ECF2A4F}"/>
              </a:ext>
            </a:extLst>
          </p:cNvPr>
          <p:cNvSpPr txBox="1"/>
          <p:nvPr/>
        </p:nvSpPr>
        <p:spPr>
          <a:xfrm>
            <a:off x="3052871" y="4910852"/>
            <a:ext cx="744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tx2"/>
                </a:solidFill>
              </a:rPr>
              <a:t>Jovem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CB968B0-73EC-48DB-8D73-DA9F55336F38}"/>
              </a:ext>
            </a:extLst>
          </p:cNvPr>
          <p:cNvSpPr txBox="1"/>
          <p:nvPr/>
        </p:nvSpPr>
        <p:spPr>
          <a:xfrm>
            <a:off x="3316244" y="2469494"/>
            <a:ext cx="9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Otimista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8C638AC-9C70-44FB-B7ED-662026430A82}"/>
              </a:ext>
            </a:extLst>
          </p:cNvPr>
          <p:cNvSpPr txBox="1"/>
          <p:nvPr/>
        </p:nvSpPr>
        <p:spPr>
          <a:xfrm>
            <a:off x="2706483" y="2864477"/>
            <a:ext cx="1539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Inconformado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FD2ABA1-946D-4B79-91DA-B66DE5B8DF6B}"/>
              </a:ext>
            </a:extLst>
          </p:cNvPr>
          <p:cNvSpPr txBox="1"/>
          <p:nvPr/>
        </p:nvSpPr>
        <p:spPr>
          <a:xfrm>
            <a:off x="1267243" y="4827837"/>
            <a:ext cx="94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chemeClr val="accent3">
                    <a:lumMod val="50000"/>
                  </a:schemeClr>
                </a:solidFill>
              </a:rPr>
              <a:t>Paciente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08E30A6-95DE-4845-8692-EC809FBCB77F}"/>
              </a:ext>
            </a:extLst>
          </p:cNvPr>
          <p:cNvSpPr txBox="1"/>
          <p:nvPr/>
        </p:nvSpPr>
        <p:spPr>
          <a:xfrm>
            <a:off x="1568255" y="5412986"/>
            <a:ext cx="2095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small" dirty="0">
                <a:solidFill>
                  <a:srgbClr val="C00000"/>
                </a:solidFill>
              </a:rPr>
              <a:t>... o que você quiser,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CB78756-5077-42FE-BA84-7818207A0469}"/>
              </a:ext>
            </a:extLst>
          </p:cNvPr>
          <p:cNvSpPr txBox="1"/>
          <p:nvPr/>
        </p:nvSpPr>
        <p:spPr>
          <a:xfrm>
            <a:off x="730186" y="5882695"/>
            <a:ext cx="7500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cap="small" dirty="0"/>
              <a:t>Mas deve transmitir ou reforçar sua personalidade e deve ser adequado ao momento, à situação, ao local e à persona com quem você está conversando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61D385E-E1CE-4DF1-9F2A-5E6792993F4F}"/>
              </a:ext>
            </a:extLst>
          </p:cNvPr>
          <p:cNvSpPr/>
          <p:nvPr/>
        </p:nvSpPr>
        <p:spPr>
          <a:xfrm>
            <a:off x="4241215" y="5974571"/>
            <a:ext cx="1325544" cy="22868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F7058DB-7B8F-4621-8ED6-C2C483CE3967}"/>
              </a:ext>
            </a:extLst>
          </p:cNvPr>
          <p:cNvSpPr txBox="1"/>
          <p:nvPr/>
        </p:nvSpPr>
        <p:spPr>
          <a:xfrm>
            <a:off x="5453005" y="3169776"/>
            <a:ext cx="30010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cap="small" dirty="0"/>
              <a:t>Quem é sua marca?</a:t>
            </a:r>
          </a:p>
          <a:p>
            <a:r>
              <a:rPr lang="pt-BR" sz="2000" cap="small" dirty="0"/>
              <a:t>No que ela acredita?</a:t>
            </a:r>
          </a:p>
          <a:p>
            <a:r>
              <a:rPr lang="pt-BR" sz="2000" cap="small" dirty="0"/>
              <a:t>Quais são seus valores? </a:t>
            </a:r>
          </a:p>
          <a:p>
            <a:r>
              <a:rPr lang="pt-BR" sz="2000" cap="small" dirty="0"/>
              <a:t>No que ela se diferencia? ...</a:t>
            </a:r>
          </a:p>
          <a:p>
            <a:endParaRPr lang="pt-BR" sz="2000" cap="small" dirty="0"/>
          </a:p>
          <a:p>
            <a:r>
              <a:rPr lang="pt-BR" sz="2000" b="1" cap="small" dirty="0"/>
              <a:t>Qual sua personalidade??</a:t>
            </a:r>
          </a:p>
          <a:p>
            <a:r>
              <a:rPr lang="pt-BR" sz="2000" cap="small" dirty="0"/>
              <a:t>Quem é seu público??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5E5E528-1F68-4054-84A2-560E17D1466F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903987" y="5553631"/>
            <a:ext cx="305258" cy="4209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6D6E6-8020-431D-94EA-46B96DC7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TOM DE VOZ DA EMPRESA</a:t>
            </a:r>
          </a:p>
        </p:txBody>
      </p:sp>
      <p:pic>
        <p:nvPicPr>
          <p:cNvPr id="22" name="Imagem 21">
            <a:hlinkClick r:id="rId2"/>
            <a:extLst>
              <a:ext uri="{FF2B5EF4-FFF2-40B4-BE49-F238E27FC236}">
                <a16:creationId xmlns:a16="http://schemas.microsoft.com/office/drawing/2014/main" id="{FCE06853-C566-44F4-800B-DE34666459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956"/>
          <a:stretch/>
        </p:blipFill>
        <p:spPr>
          <a:xfrm rot="21253067">
            <a:off x="364960" y="1570820"/>
            <a:ext cx="3588448" cy="2851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Imagem 22">
            <a:hlinkClick r:id="rId4"/>
            <a:extLst>
              <a:ext uri="{FF2B5EF4-FFF2-40B4-BE49-F238E27FC236}">
                <a16:creationId xmlns:a16="http://schemas.microsoft.com/office/drawing/2014/main" id="{424D413B-A9D4-4F21-9EE7-BDF940F23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256" y="945667"/>
            <a:ext cx="2633662" cy="215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6B0B6E4-AAEE-4A16-9D26-200ED50C9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9891" y="2408098"/>
            <a:ext cx="2633662" cy="2105025"/>
          </a:xfrm>
          <a:prstGeom prst="rect">
            <a:avLst/>
          </a:prstGeom>
        </p:spPr>
      </p:pic>
      <p:pic>
        <p:nvPicPr>
          <p:cNvPr id="29" name="Imagem 28">
            <a:hlinkClick r:id="rId7"/>
            <a:extLst>
              <a:ext uri="{FF2B5EF4-FFF2-40B4-BE49-F238E27FC236}">
                <a16:creationId xmlns:a16="http://schemas.microsoft.com/office/drawing/2014/main" id="{823639A0-08D2-43C5-BCFF-E88977BF16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73081">
            <a:off x="6064874" y="3479400"/>
            <a:ext cx="2638425" cy="215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" name="Imagem 29">
            <a:hlinkClick r:id="rId9"/>
            <a:extLst>
              <a:ext uri="{FF2B5EF4-FFF2-40B4-BE49-F238E27FC236}">
                <a16:creationId xmlns:a16="http://schemas.microsoft.com/office/drawing/2014/main" id="{44BAE207-BEE8-4B1D-A52F-FF8EEB15EA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5012" y="4187594"/>
            <a:ext cx="2693490" cy="21820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Imagem 31">
            <a:hlinkClick r:id="rId11"/>
            <a:extLst>
              <a:ext uri="{FF2B5EF4-FFF2-40B4-BE49-F238E27FC236}">
                <a16:creationId xmlns:a16="http://schemas.microsoft.com/office/drawing/2014/main" id="{E01E8EC7-B957-4A70-9438-CAB67CC7B4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216893">
            <a:off x="4100513" y="4471358"/>
            <a:ext cx="2678782" cy="2105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84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Henrique Cordeiro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7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7403</TotalTime>
  <Words>1035</Words>
  <Application>Microsoft Office PowerPoint</Application>
  <PresentationFormat>Apresentação na tela (4:3)</PresentationFormat>
  <Paragraphs>199</Paragraphs>
  <Slides>21</Slides>
  <Notes>2</Notes>
  <HiddenSlides>0</HiddenSlides>
  <MMClips>1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21</vt:i4>
      </vt:variant>
    </vt:vector>
  </HeadingPairs>
  <TitlesOfParts>
    <vt:vector size="36" baseType="lpstr">
      <vt:lpstr>Aptos</vt:lpstr>
      <vt:lpstr>Arial</vt:lpstr>
      <vt:lpstr>Baguet Script</vt:lpstr>
      <vt:lpstr>Calibri</vt:lpstr>
      <vt:lpstr>Dreaming Outloud Pro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TOM DE VOZ DA EMPRESA</vt:lpstr>
      <vt:lpstr>Apresentação do PowerPoint</vt:lpstr>
      <vt:lpstr>O TOM DE VOZ DA EMPRESA</vt:lpstr>
      <vt:lpstr>O TOM DE VOZ DA EMPRESA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José Henrique Dell'Osso Cordeiro</cp:lastModifiedBy>
  <cp:revision>351</cp:revision>
  <cp:lastPrinted>2021-04-12T13:42:07Z</cp:lastPrinted>
  <dcterms:created xsi:type="dcterms:W3CDTF">2015-01-30T10:46:50Z</dcterms:created>
  <dcterms:modified xsi:type="dcterms:W3CDTF">2026-05-08T00:45:05Z</dcterms:modified>
</cp:coreProperties>
</file>