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20"/>
  </p:notesMasterIdLst>
  <p:handoutMasterIdLst>
    <p:handoutMasterId r:id="rId21"/>
  </p:handoutMasterIdLst>
  <p:sldIdLst>
    <p:sldId id="256" r:id="rId6"/>
    <p:sldId id="266" r:id="rId7"/>
    <p:sldId id="386" r:id="rId8"/>
    <p:sldId id="391" r:id="rId9"/>
    <p:sldId id="392" r:id="rId10"/>
    <p:sldId id="393" r:id="rId11"/>
    <p:sldId id="400" r:id="rId12"/>
    <p:sldId id="394" r:id="rId13"/>
    <p:sldId id="395" r:id="rId14"/>
    <p:sldId id="396" r:id="rId15"/>
    <p:sldId id="398" r:id="rId16"/>
    <p:sldId id="397" r:id="rId17"/>
    <p:sldId id="399" r:id="rId18"/>
    <p:sldId id="265" r:id="rId1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2F2F2"/>
    <a:srgbClr val="F5F4EE"/>
    <a:srgbClr val="FFCC99"/>
    <a:srgbClr val="F0265D"/>
    <a:srgbClr val="F6F6F6"/>
    <a:srgbClr val="EBAFB5"/>
    <a:srgbClr val="F4D3D6"/>
    <a:srgbClr val="F9E8EA"/>
    <a:srgbClr val="0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9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59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2" d="100"/>
          <a:sy n="72" d="100"/>
        </p:scale>
        <p:origin x="3543" y="4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911963"/>
            <a:ext cx="4576305" cy="9566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503980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CONTEÚDO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DO CURSO</a:t>
            </a: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03546A4-1C41-4D83-90AB-AEA9A18883BF}" type="datetimeFigureOut">
              <a:rPr lang="pt-BR" smtClean="0"/>
              <a:pPr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B90BDFD-6BFE-4DB9-B9EE-A328AD2E34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36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551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/>
          </p:cNvPicPr>
          <p:nvPr userDrawn="1"/>
        </p:nvPicPr>
        <p:blipFill rotWithShape="1">
          <a:blip r:embed="rId3"/>
          <a:srcRect l="21776" r="21705"/>
          <a:stretch/>
        </p:blipFill>
        <p:spPr>
          <a:xfrm>
            <a:off x="-11651" y="2329273"/>
            <a:ext cx="9155651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2" name="TextBox 14"/>
          <p:cNvSpPr txBox="1"/>
          <p:nvPr userDrawn="1"/>
        </p:nvSpPr>
        <p:spPr>
          <a:xfrm>
            <a:off x="632919" y="6295596"/>
            <a:ext cx="3617077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 err="1">
                <a:solidFill>
                  <a:srgbClr val="303030"/>
                </a:solidFill>
                <a:latin typeface="Gotham-Bold"/>
                <a:cs typeface="Gotham-Bold"/>
              </a:rPr>
              <a:t>Versão</a:t>
            </a:r>
            <a:r>
              <a:rPr lang="en-US" sz="1400" dirty="0">
                <a:solidFill>
                  <a:srgbClr val="303030"/>
                </a:solidFill>
                <a:latin typeface="Gotham-Bold"/>
                <a:cs typeface="Gotham-Bold"/>
              </a:rPr>
              <a:t> 1.0 – Agosto/2026</a:t>
            </a:r>
          </a:p>
        </p:txBody>
      </p:sp>
      <p:sp>
        <p:nvSpPr>
          <p:cNvPr id="14" name="TextBox 15"/>
          <p:cNvSpPr txBox="1"/>
          <p:nvPr userDrawn="1"/>
        </p:nvSpPr>
        <p:spPr>
          <a:xfrm>
            <a:off x="1006056" y="3024439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 DE COMPUTAÇÃO</a:t>
            </a: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5" name="Rectangle 22"/>
          <p:cNvSpPr/>
          <p:nvPr userDrawn="1"/>
        </p:nvSpPr>
        <p:spPr>
          <a:xfrm flipH="1">
            <a:off x="754365" y="3141713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ixaDeTexto 11"/>
          <p:cNvSpPr txBox="1"/>
          <p:nvPr userDrawn="1"/>
        </p:nvSpPr>
        <p:spPr>
          <a:xfrm>
            <a:off x="7991114" y="6619101"/>
            <a:ext cx="1093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cap="small" dirty="0">
                <a:solidFill>
                  <a:srgbClr val="002060"/>
                </a:solidFill>
              </a:rPr>
              <a:t>Prof. Cordeiro</a:t>
            </a:r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6" r:id="rId10"/>
    <p:sldLayoutId id="2147483757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694934" cy="1455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2015  Prof. Leandro </a:t>
            </a:r>
            <a:r>
              <a:rPr kumimoji="1" lang="en-US" sz="2000" b="1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Rubim</a:t>
            </a:r>
            <a:endParaRPr kumimoji="1" lang="en-US" sz="2000" b="1" dirty="0">
              <a:solidFill>
                <a:schemeClr val="bg1"/>
              </a:solidFill>
              <a:latin typeface="Gotham HTF" pitchFamily="2" charset="0"/>
              <a:cs typeface="Gotham-Bold"/>
            </a:endParaRP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0"/>
          <p:cNvSpPr txBox="1"/>
          <p:nvPr/>
        </p:nvSpPr>
        <p:spPr>
          <a:xfrm>
            <a:off x="1027971" y="3529066"/>
            <a:ext cx="7223663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200" dirty="0">
                <a:solidFill>
                  <a:srgbClr val="FFFFFF"/>
                </a:solidFill>
                <a:latin typeface="Gotham-Book"/>
                <a:cs typeface="Gotham-Book"/>
              </a:rPr>
              <a:t>NORMAS ISO E O DESIGN DA IHC</a:t>
            </a:r>
            <a:endParaRPr lang="en-US" sz="2200" dirty="0">
              <a:solidFill>
                <a:srgbClr val="FFFFFF"/>
              </a:solidFill>
              <a:latin typeface="Gotham-Book"/>
              <a:cs typeface="Gotham-Book"/>
            </a:endParaRPr>
          </a:p>
        </p:txBody>
      </p:sp>
      <p:sp>
        <p:nvSpPr>
          <p:cNvPr id="5" name="TextBox 21"/>
          <p:cNvSpPr txBox="1"/>
          <p:nvPr/>
        </p:nvSpPr>
        <p:spPr>
          <a:xfrm>
            <a:off x="1036792" y="4150611"/>
            <a:ext cx="3617077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HENRIQUE CORDEIRO</a:t>
            </a: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224E-E1F0-A03A-968E-82E35AEAF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2B29BD4A-473E-5EC7-9534-61B0E3FFC04B}"/>
              </a:ext>
            </a:extLst>
          </p:cNvPr>
          <p:cNvSpPr txBox="1"/>
          <p:nvPr/>
        </p:nvSpPr>
        <p:spPr>
          <a:xfrm>
            <a:off x="792386" y="730822"/>
            <a:ext cx="3694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QUAL O PAPEL DA IHC 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75760CA-2EE6-3633-D381-0B6397D9CFC4}"/>
              </a:ext>
            </a:extLst>
          </p:cNvPr>
          <p:cNvSpPr txBox="1"/>
          <p:nvPr/>
        </p:nvSpPr>
        <p:spPr>
          <a:xfrm>
            <a:off x="600634" y="1595952"/>
            <a:ext cx="81040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cap="small" dirty="0"/>
              <a:t>Projetamos interfaces e interações apenas para executar tarefas ou para melhorar a vida das pessoas?</a:t>
            </a: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0462876D-8105-DF8F-34C8-455059BDB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546266"/>
              </p:ext>
            </p:extLst>
          </p:nvPr>
        </p:nvGraphicFramePr>
        <p:xfrm>
          <a:off x="1024882" y="2776591"/>
          <a:ext cx="7255600" cy="3047566"/>
        </p:xfrm>
        <a:graphic>
          <a:graphicData uri="http://schemas.openxmlformats.org/drawingml/2006/table">
            <a:tbl>
              <a:tblPr/>
              <a:tblGrid>
                <a:gridCol w="3627800">
                  <a:extLst>
                    <a:ext uri="{9D8B030D-6E8A-4147-A177-3AD203B41FA5}">
                      <a16:colId xmlns:a16="http://schemas.microsoft.com/office/drawing/2014/main" val="240952572"/>
                    </a:ext>
                  </a:extLst>
                </a:gridCol>
                <a:gridCol w="3627800">
                  <a:extLst>
                    <a:ext uri="{9D8B030D-6E8A-4147-A177-3AD203B41FA5}">
                      <a16:colId xmlns:a16="http://schemas.microsoft.com/office/drawing/2014/main" val="2316388621"/>
                    </a:ext>
                  </a:extLst>
                </a:gridCol>
              </a:tblGrid>
              <a:tr h="530152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800" b="1" i="0" u="none" strike="noStrike" cap="all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Evolução do Papel das Interações de acordo com o Foco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499299"/>
                  </a:ext>
                </a:extLst>
              </a:tr>
              <a:tr h="279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cap="small" baseline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PERIODO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cap="small" baseline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FOCO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034222"/>
                  </a:ext>
                </a:extLst>
              </a:tr>
              <a:tr h="447655">
                <a:tc>
                  <a:txBody>
                    <a:bodyPr/>
                    <a:lstStyle/>
                    <a:p>
                      <a:pPr marL="88900" indent="0" algn="l" fontAlgn="b">
                        <a:lnSpc>
                          <a:spcPct val="89286"/>
                        </a:lnSpc>
                        <a:buNone/>
                      </a:pPr>
                      <a:r>
                        <a:rPr lang="pt-BR" sz="1800" b="0" i="0" u="none" strike="noStrike" cap="small" baseline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Design Industrial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9388" indent="-90488" algn="l" fontAlgn="b">
                        <a:buNone/>
                      </a:pPr>
                      <a:r>
                        <a:rPr lang="pt-BR" sz="1800" b="0" i="0" u="none" strike="noStrike" cap="small" baseline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031517"/>
                  </a:ext>
                </a:extLst>
              </a:tr>
              <a:tr h="447655">
                <a:tc>
                  <a:txBody>
                    <a:bodyPr/>
                    <a:lstStyle/>
                    <a:p>
                      <a:pPr marL="88900" indent="0" algn="l" defTabSz="457200" rtl="0" eaLnBrk="1" fontAlgn="b" latinLnBrk="0" hangingPunct="1">
                        <a:lnSpc>
                          <a:spcPct val="89286"/>
                        </a:lnSpc>
                        <a:buNone/>
                      </a:pPr>
                      <a:r>
                        <a:rPr lang="pt-BR" sz="1800" b="0" i="0" u="none" strike="noStrike" kern="1200" cap="small" baseline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Ergonomia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9388" indent="-90488" algn="l" defTabSz="457200" rtl="0" eaLnBrk="1" fontAlgn="b" latinLnBrk="0" hangingPunct="1">
                        <a:buNone/>
                      </a:pPr>
                      <a:r>
                        <a:rPr lang="pt-BR" sz="1800" b="0" i="0" u="none" strike="noStrike" kern="1200" cap="small" baseline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Eficiência e segurança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521108"/>
                  </a:ext>
                </a:extLst>
              </a:tr>
              <a:tr h="447655">
                <a:tc>
                  <a:txBody>
                    <a:bodyPr/>
                    <a:lstStyle/>
                    <a:p>
                      <a:pPr marL="88900" indent="0" algn="l" defTabSz="457200" rtl="0" eaLnBrk="1" fontAlgn="b" latinLnBrk="0" hangingPunct="1">
                        <a:lnSpc>
                          <a:spcPct val="89286"/>
                        </a:lnSpc>
                        <a:buNone/>
                      </a:pPr>
                      <a:r>
                        <a:rPr lang="pt-BR" sz="1800" b="0" i="0" u="none" strike="noStrike" kern="1200" cap="small" baseline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Design Centrado no Usuário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9388" indent="-90488" algn="l" defTabSz="457200" rtl="0" eaLnBrk="1" fontAlgn="b" latinLnBrk="0" hangingPunct="1">
                        <a:buNone/>
                      </a:pPr>
                      <a:r>
                        <a:rPr lang="pt-BR" sz="1800" b="0" i="0" u="none" strike="noStrike" kern="1200" cap="small" baseline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Usuário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280302"/>
                  </a:ext>
                </a:extLst>
              </a:tr>
              <a:tr h="447655">
                <a:tc>
                  <a:txBody>
                    <a:bodyPr/>
                    <a:lstStyle/>
                    <a:p>
                      <a:pPr marL="88900" indent="0" algn="l" defTabSz="457200" rtl="0" eaLnBrk="1" fontAlgn="b" latinLnBrk="0" hangingPunct="1">
                        <a:lnSpc>
                          <a:spcPct val="89286"/>
                        </a:lnSpc>
                        <a:buNone/>
                      </a:pPr>
                      <a:r>
                        <a:rPr lang="pt-BR" sz="1800" b="0" i="0" u="none" strike="noStrike" kern="1200" cap="small" baseline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Experiência do Usuário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9388" indent="-90488" algn="l" defTabSz="457200" rtl="0" eaLnBrk="1" fontAlgn="b" latinLnBrk="0" hangingPunct="1">
                        <a:buNone/>
                      </a:pPr>
                      <a:r>
                        <a:rPr lang="pt-BR" sz="1800" b="0" i="0" u="none" strike="noStrike" kern="1200" cap="small" baseline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Vivência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693465"/>
                  </a:ext>
                </a:extLst>
              </a:tr>
              <a:tr h="447655">
                <a:tc>
                  <a:txBody>
                    <a:bodyPr/>
                    <a:lstStyle/>
                    <a:p>
                      <a:pPr marL="88900" indent="0" algn="l" defTabSz="457200" rtl="0" eaLnBrk="1" fontAlgn="b" latinLnBrk="0" hangingPunct="1">
                        <a:lnSpc>
                          <a:spcPct val="89286"/>
                        </a:lnSpc>
                        <a:buNone/>
                      </a:pPr>
                      <a:r>
                        <a:rPr lang="pt-BR" sz="1800" b="0" i="0" u="none" strike="noStrike" kern="1200" cap="small" baseline="0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Design Centrado no Ser Humano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9388" indent="-90488" algn="l" defTabSz="457200" rtl="0" eaLnBrk="1" fontAlgn="b" latinLnBrk="0" hangingPunct="1">
                        <a:buNone/>
                      </a:pPr>
                      <a:r>
                        <a:rPr lang="pt-BR" sz="1800" b="0" i="0" u="none" strike="noStrike" kern="1200" cap="small" baseline="0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Ecossistema humano e social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09549"/>
                  </a:ext>
                </a:extLst>
              </a:tr>
            </a:tbl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CB304210-B26C-BFE6-C8CD-4F3C2AAF7A94}"/>
              </a:ext>
            </a:extLst>
          </p:cNvPr>
          <p:cNvSpPr/>
          <p:nvPr/>
        </p:nvSpPr>
        <p:spPr>
          <a:xfrm>
            <a:off x="1092978" y="5447489"/>
            <a:ext cx="3187195" cy="28210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1281969-0E3F-D9C2-9ACF-EE8D2746633C}"/>
              </a:ext>
            </a:extLst>
          </p:cNvPr>
          <p:cNvSpPr/>
          <p:nvPr/>
        </p:nvSpPr>
        <p:spPr>
          <a:xfrm>
            <a:off x="4701322" y="5447489"/>
            <a:ext cx="3187195" cy="28210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69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FF238732-BB8A-EE18-9F04-9C50A671A25B}"/>
              </a:ext>
            </a:extLst>
          </p:cNvPr>
          <p:cNvSpPr/>
          <p:nvPr/>
        </p:nvSpPr>
        <p:spPr>
          <a:xfrm>
            <a:off x="3188073" y="2661018"/>
            <a:ext cx="2813797" cy="259976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C1FF8D7-AC51-ED3E-306B-6692C6C39A88}"/>
              </a:ext>
            </a:extLst>
          </p:cNvPr>
          <p:cNvSpPr/>
          <p:nvPr/>
        </p:nvSpPr>
        <p:spPr>
          <a:xfrm>
            <a:off x="6127096" y="2661018"/>
            <a:ext cx="2813797" cy="259976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5E5D466-FA58-23A7-2DA5-45E9C56A731E}"/>
              </a:ext>
            </a:extLst>
          </p:cNvPr>
          <p:cNvSpPr/>
          <p:nvPr/>
        </p:nvSpPr>
        <p:spPr>
          <a:xfrm>
            <a:off x="221876" y="2661018"/>
            <a:ext cx="2813797" cy="259976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A6BF9F-626B-8023-54A9-72D7E5D00484}"/>
              </a:ext>
            </a:extLst>
          </p:cNvPr>
          <p:cNvSpPr txBox="1"/>
          <p:nvPr/>
        </p:nvSpPr>
        <p:spPr>
          <a:xfrm>
            <a:off x="796177" y="730822"/>
            <a:ext cx="7930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A EVOLUÇÃO DAS NORMAS E SUAS CONTRIBUIÇÕES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B3CB8CC-F077-4C6E-87BA-37AD7720A4D9}"/>
              </a:ext>
            </a:extLst>
          </p:cNvPr>
          <p:cNvSpPr txBox="1"/>
          <p:nvPr/>
        </p:nvSpPr>
        <p:spPr>
          <a:xfrm>
            <a:off x="796177" y="2829828"/>
            <a:ext cx="1665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ISO 13407:</a:t>
            </a:r>
            <a:r>
              <a:rPr lang="pt-BR" b="1" dirty="0">
                <a:solidFill>
                  <a:srgbClr val="C00000"/>
                </a:solidFill>
              </a:rPr>
              <a:t>1999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306F735-2ACB-B228-B32F-F4AB1F6852B8}"/>
              </a:ext>
            </a:extLst>
          </p:cNvPr>
          <p:cNvSpPr txBox="1"/>
          <p:nvPr/>
        </p:nvSpPr>
        <p:spPr>
          <a:xfrm>
            <a:off x="177613" y="3172772"/>
            <a:ext cx="29023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cap="small" dirty="0" err="1"/>
              <a:t>Human-centred</a:t>
            </a:r>
            <a:r>
              <a:rPr lang="pt-BR" sz="1600" b="1" cap="small" dirty="0"/>
              <a:t> design processes for </a:t>
            </a:r>
            <a:r>
              <a:rPr lang="pt-BR" sz="1600" b="1" cap="small" dirty="0" err="1"/>
              <a:t>interactive</a:t>
            </a:r>
            <a:r>
              <a:rPr lang="pt-BR" sz="1600" b="1" cap="small" dirty="0"/>
              <a:t> systems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9E1CF77-715B-D07C-5616-5D953BBA74C4}"/>
              </a:ext>
            </a:extLst>
          </p:cNvPr>
          <p:cNvSpPr txBox="1"/>
          <p:nvPr/>
        </p:nvSpPr>
        <p:spPr>
          <a:xfrm>
            <a:off x="3453092" y="2842810"/>
            <a:ext cx="2283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ISO 9241-210:</a:t>
            </a:r>
            <a:r>
              <a:rPr lang="pt-BR" b="1" dirty="0">
                <a:solidFill>
                  <a:srgbClr val="C00000"/>
                </a:solidFill>
              </a:rPr>
              <a:t>2010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1527650-B718-380C-E5DB-34454CB10B6B}"/>
              </a:ext>
            </a:extLst>
          </p:cNvPr>
          <p:cNvSpPr txBox="1"/>
          <p:nvPr/>
        </p:nvSpPr>
        <p:spPr>
          <a:xfrm>
            <a:off x="759198" y="3783032"/>
            <a:ext cx="17391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pt-BR" sz="1600" cap="small" dirty="0"/>
              <a:t>Ergonomia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pt-BR" sz="1600" cap="small" dirty="0"/>
              <a:t>Fatores humanos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pt-BR" sz="1600" cap="small" dirty="0"/>
              <a:t>Eficiência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pt-BR" sz="1600" cap="small" dirty="0"/>
              <a:t>Eficácia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pt-BR" sz="1600" cap="small" dirty="0"/>
              <a:t>Usabilidade.</a:t>
            </a:r>
            <a:endParaRPr lang="pt-BR" sz="2000" cap="small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67D9393-9934-CF52-D13D-84A48D4B8A9A}"/>
              </a:ext>
            </a:extLst>
          </p:cNvPr>
          <p:cNvSpPr txBox="1"/>
          <p:nvPr/>
        </p:nvSpPr>
        <p:spPr>
          <a:xfrm>
            <a:off x="3484468" y="3783032"/>
            <a:ext cx="222100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179388" indent="-179388">
              <a:buFont typeface="Arial" panose="020B0604020202020204" pitchFamily="34" charset="0"/>
              <a:buChar char="•"/>
              <a:defRPr sz="1600" cap="small"/>
            </a:lvl1pPr>
          </a:lstStyle>
          <a:p>
            <a:r>
              <a:rPr lang="pt-BR" dirty="0"/>
              <a:t>Experiência do usuário</a:t>
            </a:r>
          </a:p>
          <a:p>
            <a:r>
              <a:rPr lang="pt-BR" dirty="0"/>
              <a:t>Satisfação</a:t>
            </a:r>
          </a:p>
          <a:p>
            <a:r>
              <a:rPr lang="pt-BR" dirty="0"/>
              <a:t>Sustentabilidade</a:t>
            </a:r>
          </a:p>
          <a:p>
            <a:r>
              <a:rPr lang="pt-BR" dirty="0"/>
              <a:t>Acessibilidade.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79D5FF4-785D-DDD0-79D5-C5DC2D8DAC33}"/>
              </a:ext>
            </a:extLst>
          </p:cNvPr>
          <p:cNvSpPr txBox="1"/>
          <p:nvPr/>
        </p:nvSpPr>
        <p:spPr>
          <a:xfrm>
            <a:off x="3255868" y="3172772"/>
            <a:ext cx="2678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cap="small" dirty="0" err="1"/>
              <a:t>Ergonomics</a:t>
            </a:r>
            <a:r>
              <a:rPr lang="pt-BR" sz="1600" b="1" cap="small" dirty="0"/>
              <a:t> </a:t>
            </a:r>
            <a:r>
              <a:rPr lang="pt-BR" sz="1600" b="1" cap="small" dirty="0" err="1"/>
              <a:t>of</a:t>
            </a:r>
            <a:r>
              <a:rPr lang="pt-BR" sz="1600" b="1" cap="small" dirty="0"/>
              <a:t> </a:t>
            </a:r>
            <a:r>
              <a:rPr lang="pt-BR" sz="1600" b="1" cap="small" dirty="0" err="1"/>
              <a:t>human</a:t>
            </a:r>
            <a:r>
              <a:rPr lang="pt-BR" sz="1600" b="1" cap="small" dirty="0"/>
              <a:t>-system </a:t>
            </a:r>
            <a:r>
              <a:rPr lang="pt-BR" sz="1600" b="1" cap="small" dirty="0" err="1"/>
              <a:t>interaction</a:t>
            </a:r>
            <a:endParaRPr lang="pt-BR" sz="1600" b="1" cap="small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AE9A50F-DFBC-7A34-B77B-EB72A82D36E8}"/>
              </a:ext>
            </a:extLst>
          </p:cNvPr>
          <p:cNvSpPr txBox="1"/>
          <p:nvPr/>
        </p:nvSpPr>
        <p:spPr>
          <a:xfrm>
            <a:off x="6495209" y="2846870"/>
            <a:ext cx="2077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ISO 9241-210:</a:t>
            </a:r>
            <a:r>
              <a:rPr lang="pt-BR" b="1" dirty="0">
                <a:solidFill>
                  <a:srgbClr val="C00000"/>
                </a:solidFill>
              </a:rPr>
              <a:t>2019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7CE199E-7072-0B44-A78A-5CCB0A684EEC}"/>
              </a:ext>
            </a:extLst>
          </p:cNvPr>
          <p:cNvSpPr txBox="1"/>
          <p:nvPr/>
        </p:nvSpPr>
        <p:spPr>
          <a:xfrm>
            <a:off x="6194891" y="3172772"/>
            <a:ext cx="2678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cap="small" dirty="0" err="1"/>
              <a:t>Ergonomics</a:t>
            </a:r>
            <a:r>
              <a:rPr lang="pt-BR" sz="1600" b="1" cap="small" dirty="0"/>
              <a:t> </a:t>
            </a:r>
            <a:r>
              <a:rPr lang="pt-BR" sz="1600" b="1" cap="small" dirty="0" err="1"/>
              <a:t>of</a:t>
            </a:r>
            <a:r>
              <a:rPr lang="pt-BR" sz="1600" b="1" cap="small" dirty="0"/>
              <a:t> </a:t>
            </a:r>
            <a:r>
              <a:rPr lang="pt-BR" sz="1600" b="1" cap="small" dirty="0" err="1"/>
              <a:t>human</a:t>
            </a:r>
            <a:r>
              <a:rPr lang="pt-BR" sz="1600" b="1" cap="small" dirty="0"/>
              <a:t>-system </a:t>
            </a:r>
            <a:r>
              <a:rPr lang="pt-BR" sz="1600" b="1" cap="small" dirty="0" err="1"/>
              <a:t>interaction</a:t>
            </a:r>
            <a:endParaRPr lang="pt-BR" sz="1600" b="1" cap="small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AE9248D-43B7-3F33-81C4-88F766C2B4A7}"/>
              </a:ext>
            </a:extLst>
          </p:cNvPr>
          <p:cNvSpPr txBox="1"/>
          <p:nvPr/>
        </p:nvSpPr>
        <p:spPr>
          <a:xfrm>
            <a:off x="6423491" y="3783032"/>
            <a:ext cx="22210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179388" indent="-179388">
              <a:buFont typeface="Arial" panose="020B0604020202020204" pitchFamily="34" charset="0"/>
              <a:buChar char="•"/>
              <a:defRPr sz="1600" cap="small"/>
            </a:lvl1pPr>
          </a:lstStyle>
          <a:p>
            <a:r>
              <a:rPr lang="pt-BR" dirty="0"/>
              <a:t>Todo ciclo de vida</a:t>
            </a:r>
          </a:p>
          <a:p>
            <a:r>
              <a:rPr lang="pt-BR" dirty="0"/>
              <a:t>Múltiplos stakeholders</a:t>
            </a:r>
          </a:p>
          <a:p>
            <a:r>
              <a:rPr lang="pt-BR" dirty="0"/>
              <a:t>Inclusão</a:t>
            </a:r>
          </a:p>
          <a:p>
            <a:r>
              <a:rPr lang="pt-BR" dirty="0"/>
              <a:t>Impacto social</a:t>
            </a:r>
          </a:p>
          <a:p>
            <a:r>
              <a:rPr lang="pt-BR" dirty="0"/>
              <a:t>Design universal.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E020A82-A77A-F5AE-4F5E-6FE23EC244E8}"/>
              </a:ext>
            </a:extLst>
          </p:cNvPr>
          <p:cNvSpPr txBox="1"/>
          <p:nvPr/>
        </p:nvSpPr>
        <p:spPr>
          <a:xfrm>
            <a:off x="454957" y="5456931"/>
            <a:ext cx="2347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cap="small" dirty="0">
                <a:solidFill>
                  <a:srgbClr val="C00000"/>
                </a:solidFill>
              </a:rPr>
              <a:t>Como tornar o sistema mais fácil de usar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174CD8E-8547-E142-A0D2-C1E05E6B820C}"/>
              </a:ext>
            </a:extLst>
          </p:cNvPr>
          <p:cNvSpPr txBox="1"/>
          <p:nvPr/>
        </p:nvSpPr>
        <p:spPr>
          <a:xfrm>
            <a:off x="3421154" y="5456931"/>
            <a:ext cx="2347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cap="small" dirty="0">
                <a:solidFill>
                  <a:srgbClr val="C00000"/>
                </a:solidFill>
              </a:rPr>
              <a:t>Como proporcionar uma boa experiência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EDFA1EA-BBB1-9DB2-EB19-8DD2AE571EE5}"/>
              </a:ext>
            </a:extLst>
          </p:cNvPr>
          <p:cNvSpPr txBox="1"/>
          <p:nvPr/>
        </p:nvSpPr>
        <p:spPr>
          <a:xfrm>
            <a:off x="6291121" y="5318431"/>
            <a:ext cx="24857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cap="small" dirty="0">
                <a:solidFill>
                  <a:srgbClr val="C00000"/>
                </a:solidFill>
              </a:rPr>
              <a:t>Como criar sistemas benéficos para diferentes pessoas e contextos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A40F5BD-5BAA-3D2D-653B-D467DEF8EBF5}"/>
              </a:ext>
            </a:extLst>
          </p:cNvPr>
          <p:cNvSpPr txBox="1"/>
          <p:nvPr/>
        </p:nvSpPr>
        <p:spPr>
          <a:xfrm>
            <a:off x="1004047" y="1326593"/>
            <a:ext cx="73137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cap="small" dirty="0">
                <a:solidFill>
                  <a:srgbClr val="C00000"/>
                </a:solidFill>
              </a:rPr>
              <a:t>A evolução das normas ISO revela uma ampliação contínua do foco: do produto para o sistema, do usuário para o ser humano e </a:t>
            </a:r>
          </a:p>
          <a:p>
            <a:pPr algn="ctr"/>
            <a:r>
              <a:rPr lang="pt-BR" sz="2000" cap="small" dirty="0">
                <a:solidFill>
                  <a:srgbClr val="C00000"/>
                </a:solidFill>
              </a:rPr>
              <a:t>da usabilidade para a acessibilidade e o impacto social.</a:t>
            </a:r>
          </a:p>
        </p:txBody>
      </p:sp>
    </p:spTree>
    <p:extLst>
      <p:ext uri="{BB962C8B-B14F-4D97-AF65-F5344CB8AC3E}">
        <p14:creationId xmlns:p14="http://schemas.microsoft.com/office/powerpoint/2010/main" val="2364006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4" grpId="0" animBg="1"/>
      <p:bldP spid="8" grpId="0"/>
      <p:bldP spid="10" grpId="0"/>
      <p:bldP spid="12" grpId="0"/>
      <p:bldP spid="14" grpId="0"/>
      <p:bldP spid="16" grpId="0"/>
      <p:bldP spid="18" grpId="0"/>
      <p:bldP spid="20" grpId="0"/>
      <p:bldP spid="21" grpId="0"/>
      <p:bldP spid="23" grpId="0"/>
      <p:bldP spid="28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eta: para a Direita 33">
            <a:extLst>
              <a:ext uri="{FF2B5EF4-FFF2-40B4-BE49-F238E27FC236}">
                <a16:creationId xmlns:a16="http://schemas.microsoft.com/office/drawing/2014/main" id="{90E5AC01-D395-3D28-49C1-C58B16B3ED38}"/>
              </a:ext>
            </a:extLst>
          </p:cNvPr>
          <p:cNvSpPr/>
          <p:nvPr/>
        </p:nvSpPr>
        <p:spPr>
          <a:xfrm>
            <a:off x="1516431" y="2832509"/>
            <a:ext cx="218307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Seta: para a Direita 50">
            <a:extLst>
              <a:ext uri="{FF2B5EF4-FFF2-40B4-BE49-F238E27FC236}">
                <a16:creationId xmlns:a16="http://schemas.microsoft.com/office/drawing/2014/main" id="{E34302B3-571D-11D6-5EB4-31B294EED597}"/>
              </a:ext>
            </a:extLst>
          </p:cNvPr>
          <p:cNvSpPr/>
          <p:nvPr/>
        </p:nvSpPr>
        <p:spPr>
          <a:xfrm>
            <a:off x="2987743" y="2842222"/>
            <a:ext cx="218307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Seta: para a Direita 51">
            <a:extLst>
              <a:ext uri="{FF2B5EF4-FFF2-40B4-BE49-F238E27FC236}">
                <a16:creationId xmlns:a16="http://schemas.microsoft.com/office/drawing/2014/main" id="{323003F1-5A82-77F4-20A1-F67DE228942C}"/>
              </a:ext>
            </a:extLst>
          </p:cNvPr>
          <p:cNvSpPr/>
          <p:nvPr/>
        </p:nvSpPr>
        <p:spPr>
          <a:xfrm>
            <a:off x="4459055" y="2851935"/>
            <a:ext cx="218307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Seta: para a Direita 52">
            <a:extLst>
              <a:ext uri="{FF2B5EF4-FFF2-40B4-BE49-F238E27FC236}">
                <a16:creationId xmlns:a16="http://schemas.microsoft.com/office/drawing/2014/main" id="{71A7475A-D971-635F-4C00-6429B4D00831}"/>
              </a:ext>
            </a:extLst>
          </p:cNvPr>
          <p:cNvSpPr/>
          <p:nvPr/>
        </p:nvSpPr>
        <p:spPr>
          <a:xfrm>
            <a:off x="5930367" y="2861648"/>
            <a:ext cx="218307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Seta: para a Direita 53">
            <a:extLst>
              <a:ext uri="{FF2B5EF4-FFF2-40B4-BE49-F238E27FC236}">
                <a16:creationId xmlns:a16="http://schemas.microsoft.com/office/drawing/2014/main" id="{C5F7A4AA-97D5-2B65-863A-60F89E68B1AA}"/>
              </a:ext>
            </a:extLst>
          </p:cNvPr>
          <p:cNvSpPr/>
          <p:nvPr/>
        </p:nvSpPr>
        <p:spPr>
          <a:xfrm>
            <a:off x="7401679" y="2871361"/>
            <a:ext cx="218307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A9B9BA5-DD75-1119-747B-3B88C4638483}"/>
              </a:ext>
            </a:extLst>
          </p:cNvPr>
          <p:cNvSpPr txBox="1"/>
          <p:nvPr/>
        </p:nvSpPr>
        <p:spPr>
          <a:xfrm>
            <a:off x="814116" y="730822"/>
            <a:ext cx="669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A PROPOSIÇÃO DE UM MODELO DE DESIGN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2F5D7CB9-9EF5-0D11-D5A8-B4346874A290}"/>
              </a:ext>
            </a:extLst>
          </p:cNvPr>
          <p:cNvSpPr/>
          <p:nvPr/>
        </p:nvSpPr>
        <p:spPr>
          <a:xfrm>
            <a:off x="263426" y="2540487"/>
            <a:ext cx="1303338" cy="901960"/>
          </a:xfrm>
          <a:prstGeom prst="roundRect">
            <a:avLst>
              <a:gd name="adj" fmla="val 7971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Compreender o contexto</a:t>
            </a:r>
            <a:endParaRPr kumimoji="0" lang="pt-BR" sz="1100" b="0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549C539-E17D-8FC4-1A44-2382D9FB4C92}"/>
              </a:ext>
            </a:extLst>
          </p:cNvPr>
          <p:cNvSpPr/>
          <p:nvPr/>
        </p:nvSpPr>
        <p:spPr>
          <a:xfrm>
            <a:off x="1734740" y="2540487"/>
            <a:ext cx="1303338" cy="901960"/>
          </a:xfrm>
          <a:prstGeom prst="roundRect">
            <a:avLst>
              <a:gd name="adj" fmla="val 12319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Identificar necessidades humanas</a:t>
            </a:r>
            <a:endParaRPr kumimoji="0" lang="pt-BR" sz="1100" b="0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954E3D9-FD79-8627-6F28-9496051657F9}"/>
              </a:ext>
            </a:extLst>
          </p:cNvPr>
          <p:cNvSpPr/>
          <p:nvPr/>
        </p:nvSpPr>
        <p:spPr>
          <a:xfrm>
            <a:off x="3206054" y="2540487"/>
            <a:ext cx="1303338" cy="901960"/>
          </a:xfrm>
          <a:prstGeom prst="roundRect">
            <a:avLst>
              <a:gd name="adj" fmla="val 9058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Definir requisitos</a:t>
            </a:r>
            <a:endParaRPr kumimoji="0" lang="pt-BR" sz="1100" b="0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E2D0DF4-4A16-4B97-815B-074EDCDA7C19}"/>
              </a:ext>
            </a:extLst>
          </p:cNvPr>
          <p:cNvSpPr/>
          <p:nvPr/>
        </p:nvSpPr>
        <p:spPr>
          <a:xfrm>
            <a:off x="4677368" y="2540487"/>
            <a:ext cx="1303338" cy="901960"/>
          </a:xfrm>
          <a:prstGeom prst="roundRect">
            <a:avLst>
              <a:gd name="adj" fmla="val 13406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Gerar soluções</a:t>
            </a:r>
            <a:endParaRPr lang="pt-BR" sz="1100" cap="small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07D9C713-7C5D-72CD-AC52-D93CD5A2215F}"/>
              </a:ext>
            </a:extLst>
          </p:cNvPr>
          <p:cNvSpPr/>
          <p:nvPr/>
        </p:nvSpPr>
        <p:spPr>
          <a:xfrm>
            <a:off x="6148682" y="2540487"/>
            <a:ext cx="1303338" cy="901960"/>
          </a:xfrm>
          <a:prstGeom prst="roundRect">
            <a:avLst>
              <a:gd name="adj" fmla="val 13406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small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Prototipar</a:t>
            </a:r>
            <a:endParaRPr kumimoji="0" lang="pt-BR" sz="1100" b="0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17BFC31-F38E-ED91-414E-1ED40D72B643}"/>
              </a:ext>
            </a:extLst>
          </p:cNvPr>
          <p:cNvSpPr/>
          <p:nvPr/>
        </p:nvSpPr>
        <p:spPr>
          <a:xfrm>
            <a:off x="7619994" y="2540487"/>
            <a:ext cx="1303338" cy="901960"/>
          </a:xfrm>
          <a:prstGeom prst="roundRect">
            <a:avLst>
              <a:gd name="adj" fmla="val 13406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Avaliar</a:t>
            </a:r>
            <a:endParaRPr kumimoji="0" lang="pt-BR" sz="1100" b="0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6A73EA17-0665-666E-36B7-7B4CD5ED509D}"/>
              </a:ext>
            </a:extLst>
          </p:cNvPr>
          <p:cNvSpPr txBox="1"/>
          <p:nvPr/>
        </p:nvSpPr>
        <p:spPr>
          <a:xfrm>
            <a:off x="3261807" y="1242228"/>
            <a:ext cx="261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ISO 9241-210:2019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B433AE42-F375-15CD-7635-0EEA9000AB43}"/>
              </a:ext>
            </a:extLst>
          </p:cNvPr>
          <p:cNvSpPr txBox="1"/>
          <p:nvPr/>
        </p:nvSpPr>
        <p:spPr>
          <a:xfrm>
            <a:off x="1768082" y="1537330"/>
            <a:ext cx="56002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cap="small" dirty="0" err="1"/>
              <a:t>Ergonomics</a:t>
            </a:r>
            <a:r>
              <a:rPr lang="pt-BR" sz="2000" b="1" cap="small" dirty="0"/>
              <a:t> </a:t>
            </a:r>
            <a:r>
              <a:rPr lang="pt-BR" sz="2000" b="1" cap="small" dirty="0" err="1"/>
              <a:t>of</a:t>
            </a:r>
            <a:r>
              <a:rPr lang="pt-BR" sz="2000" b="1" cap="small" dirty="0"/>
              <a:t> </a:t>
            </a:r>
            <a:r>
              <a:rPr lang="pt-BR" sz="2000" b="1" cap="small" dirty="0" err="1"/>
              <a:t>human</a:t>
            </a:r>
            <a:r>
              <a:rPr lang="pt-BR" sz="2000" b="1" cap="small" dirty="0"/>
              <a:t>-system </a:t>
            </a:r>
            <a:r>
              <a:rPr lang="pt-BR" sz="2000" b="1" cap="small" dirty="0" err="1"/>
              <a:t>interaction</a:t>
            </a:r>
            <a:endParaRPr lang="pt-BR" sz="2000" b="1" cap="small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1732ABF-B65E-C719-F6D1-1C311105FF9C}"/>
              </a:ext>
            </a:extLst>
          </p:cNvPr>
          <p:cNvSpPr txBox="1"/>
          <p:nvPr/>
        </p:nvSpPr>
        <p:spPr>
          <a:xfrm>
            <a:off x="470995" y="3603640"/>
            <a:ext cx="888200" cy="60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>
              <a:lnSpc>
                <a:spcPct val="119048"/>
              </a:lnSpc>
            </a:pPr>
            <a:r>
              <a:rPr lang="pt-BR" sz="700" b="0" i="0" cap="al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Compreender</a:t>
            </a:r>
          </a:p>
          <a:p>
            <a:pPr marL="88900" lvl="0" indent="-88900" fontAlgn="t">
              <a:lnSpc>
                <a:spcPct val="119048"/>
              </a:lnSpc>
              <a:buFont typeface="Arial" panose="020B0604020202020204" pitchFamily="34" charset="0"/>
              <a:buChar char="•"/>
            </a:pPr>
            <a:r>
              <a:rPr lang="pt-BR" sz="700" b="0" i="0" cap="al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Pessoas</a:t>
            </a:r>
          </a:p>
          <a:p>
            <a:pPr marL="88900" lvl="0" indent="-88900" fontAlgn="t">
              <a:lnSpc>
                <a:spcPct val="119048"/>
              </a:lnSpc>
              <a:buFont typeface="Arial" panose="020B0604020202020204" pitchFamily="34" charset="0"/>
              <a:buChar char="•"/>
            </a:pPr>
            <a:r>
              <a:rPr lang="pt-BR" sz="700" cap="al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Atividades</a:t>
            </a:r>
          </a:p>
          <a:p>
            <a:pPr marL="88900" lvl="0" indent="-88900" fontAlgn="t">
              <a:lnSpc>
                <a:spcPct val="119048"/>
              </a:lnSpc>
              <a:buFont typeface="Arial" panose="020B0604020202020204" pitchFamily="34" charset="0"/>
              <a:buChar char="•"/>
            </a:pPr>
            <a:r>
              <a:rPr lang="pt-BR" sz="700" b="0" i="0" cap="al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Contexto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82435176-3DFA-51E7-4610-CE92D3DF580B}"/>
              </a:ext>
            </a:extLst>
          </p:cNvPr>
          <p:cNvSpPr txBox="1"/>
          <p:nvPr/>
        </p:nvSpPr>
        <p:spPr>
          <a:xfrm>
            <a:off x="1746443" y="3603637"/>
            <a:ext cx="1279932" cy="7515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88900" lvl="0" indent="-88900" fontAlgn="t">
              <a:lnSpc>
                <a:spcPct val="119048"/>
              </a:lnSpc>
              <a:buFont typeface="Arial" panose="020B0604020202020204" pitchFamily="34" charset="0"/>
              <a:buChar char="•"/>
              <a:defRPr sz="800" b="0" i="0" cap="all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indent="0">
              <a:buNone/>
            </a:pPr>
            <a:r>
              <a:rPr lang="pt-BR" sz="700" dirty="0"/>
              <a:t>Investigar Necessidades:</a:t>
            </a:r>
          </a:p>
          <a:p>
            <a:r>
              <a:rPr lang="pt-BR" sz="700" dirty="0"/>
              <a:t>funcionais;</a:t>
            </a:r>
          </a:p>
          <a:p>
            <a:r>
              <a:rPr lang="pt-BR" sz="700" dirty="0"/>
              <a:t>emocionais;</a:t>
            </a:r>
          </a:p>
          <a:p>
            <a:r>
              <a:rPr lang="pt-BR" sz="700" dirty="0"/>
              <a:t>sociais;</a:t>
            </a:r>
          </a:p>
          <a:p>
            <a:r>
              <a:rPr lang="pt-BR" sz="700" dirty="0"/>
              <a:t>acessibilidade.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5245533F-91AD-EAA7-81A1-B78266E87C4E}"/>
              </a:ext>
            </a:extLst>
          </p:cNvPr>
          <p:cNvSpPr txBox="1"/>
          <p:nvPr/>
        </p:nvSpPr>
        <p:spPr>
          <a:xfrm>
            <a:off x="3129314" y="3603640"/>
            <a:ext cx="1487721" cy="6050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88900" lvl="0" indent="-88900" fontAlgn="t">
              <a:lnSpc>
                <a:spcPct val="119048"/>
              </a:lnSpc>
              <a:buFont typeface="Arial" panose="020B0604020202020204" pitchFamily="34" charset="0"/>
              <a:buChar char="•"/>
              <a:defRPr sz="700" b="0" i="0" cap="all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reduzir esforço cognitivo;</a:t>
            </a:r>
          </a:p>
          <a:p>
            <a:r>
              <a:rPr lang="pt-BR" dirty="0"/>
              <a:t>garantir acessibilidade;</a:t>
            </a:r>
          </a:p>
          <a:p>
            <a:r>
              <a:rPr lang="pt-BR" dirty="0"/>
              <a:t>proteger privacidade;</a:t>
            </a:r>
          </a:p>
          <a:p>
            <a:r>
              <a:rPr lang="pt-BR" dirty="0"/>
              <a:t>promover bem-estar.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4690DB93-ED37-B8F2-DA46-25170CEE0A7D}"/>
              </a:ext>
            </a:extLst>
          </p:cNvPr>
          <p:cNvSpPr txBox="1"/>
          <p:nvPr/>
        </p:nvSpPr>
        <p:spPr>
          <a:xfrm>
            <a:off x="4733119" y="3603635"/>
            <a:ext cx="1197248" cy="6050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88900" lvl="0" indent="-88900" fontAlgn="t">
              <a:lnSpc>
                <a:spcPct val="119048"/>
              </a:lnSpc>
              <a:buFont typeface="Arial" panose="020B0604020202020204" pitchFamily="34" charset="0"/>
              <a:buChar char="•"/>
              <a:defRPr sz="700" b="0" i="0" cap="all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brainstorming;</a:t>
            </a:r>
          </a:p>
          <a:p>
            <a:r>
              <a:rPr lang="pt-BR" dirty="0"/>
              <a:t>design participativo;</a:t>
            </a:r>
          </a:p>
          <a:p>
            <a:r>
              <a:rPr lang="pt-BR" dirty="0" err="1"/>
              <a:t>co-design</a:t>
            </a:r>
            <a:r>
              <a:rPr lang="pt-BR" dirty="0"/>
              <a:t>;</a:t>
            </a:r>
          </a:p>
          <a:p>
            <a:r>
              <a:rPr lang="pt-BR" dirty="0" err="1"/>
              <a:t>storyboards</a:t>
            </a:r>
            <a:r>
              <a:rPr lang="pt-BR" dirty="0"/>
              <a:t>.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8C6E798B-A3F9-79EE-2BB5-11CD634F36B2}"/>
              </a:ext>
            </a:extLst>
          </p:cNvPr>
          <p:cNvSpPr txBox="1"/>
          <p:nvPr/>
        </p:nvSpPr>
        <p:spPr>
          <a:xfrm>
            <a:off x="6171085" y="3603638"/>
            <a:ext cx="1197248" cy="6050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88900" lvl="0" indent="-88900" fontAlgn="t">
              <a:lnSpc>
                <a:spcPct val="119048"/>
              </a:lnSpc>
              <a:buFont typeface="Arial" panose="020B0604020202020204" pitchFamily="34" charset="0"/>
              <a:buChar char="•"/>
              <a:defRPr sz="700" b="0" i="0" cap="all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papel;</a:t>
            </a:r>
          </a:p>
          <a:p>
            <a:r>
              <a:rPr lang="pt-BR" dirty="0" err="1"/>
              <a:t>wireframe</a:t>
            </a:r>
            <a:r>
              <a:rPr lang="pt-BR" dirty="0"/>
              <a:t>;</a:t>
            </a:r>
          </a:p>
          <a:p>
            <a:r>
              <a:rPr lang="pt-BR" dirty="0" err="1"/>
              <a:t>mockup</a:t>
            </a:r>
            <a:r>
              <a:rPr lang="pt-BR" dirty="0"/>
              <a:t>;</a:t>
            </a:r>
          </a:p>
          <a:p>
            <a:r>
              <a:rPr lang="pt-BR" dirty="0"/>
              <a:t>protótipo navegável.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FCEE159-E2DF-CF94-D340-93993FEAE6B9}"/>
              </a:ext>
            </a:extLst>
          </p:cNvPr>
          <p:cNvSpPr txBox="1"/>
          <p:nvPr/>
        </p:nvSpPr>
        <p:spPr>
          <a:xfrm>
            <a:off x="7636487" y="3603636"/>
            <a:ext cx="1286845" cy="6050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88900" lvl="0" indent="-88900" fontAlgn="t">
              <a:lnSpc>
                <a:spcPct val="119048"/>
              </a:lnSpc>
              <a:buFont typeface="Arial" panose="020B0604020202020204" pitchFamily="34" charset="0"/>
              <a:buChar char="•"/>
              <a:defRPr sz="700" b="0" i="0" cap="all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usabilidade;</a:t>
            </a:r>
          </a:p>
          <a:p>
            <a:r>
              <a:rPr lang="pt-BR" dirty="0"/>
              <a:t>experiência do usuário;</a:t>
            </a:r>
          </a:p>
          <a:p>
            <a:r>
              <a:rPr lang="pt-BR" dirty="0"/>
              <a:t>acessibilidade;</a:t>
            </a:r>
          </a:p>
          <a:p>
            <a:r>
              <a:rPr lang="pt-BR" dirty="0"/>
              <a:t>impacto social.</a:t>
            </a:r>
          </a:p>
        </p:txBody>
      </p:sp>
      <p:pic>
        <p:nvPicPr>
          <p:cNvPr id="74" name="Imagem 73">
            <a:extLst>
              <a:ext uri="{FF2B5EF4-FFF2-40B4-BE49-F238E27FC236}">
                <a16:creationId xmlns:a16="http://schemas.microsoft.com/office/drawing/2014/main" id="{B21761DE-5032-0E3D-0BA9-F3BEB06BF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025" y="4668277"/>
            <a:ext cx="5054364" cy="2059309"/>
          </a:xfrm>
          <a:prstGeom prst="rect">
            <a:avLst/>
          </a:prstGeom>
        </p:spPr>
      </p:pic>
      <p:cxnSp>
        <p:nvCxnSpPr>
          <p:cNvPr id="76" name="Conector de Seta Reta 75">
            <a:extLst>
              <a:ext uri="{FF2B5EF4-FFF2-40B4-BE49-F238E27FC236}">
                <a16:creationId xmlns:a16="http://schemas.microsoft.com/office/drawing/2014/main" id="{2066965F-879F-5390-7E26-F14CEDF14440}"/>
              </a:ext>
            </a:extLst>
          </p:cNvPr>
          <p:cNvCxnSpPr>
            <a:cxnSpLocks/>
          </p:cNvCxnSpPr>
          <p:nvPr/>
        </p:nvCxnSpPr>
        <p:spPr>
          <a:xfrm>
            <a:off x="1129553" y="4208677"/>
            <a:ext cx="1016138" cy="7224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>
            <a:extLst>
              <a:ext uri="{FF2B5EF4-FFF2-40B4-BE49-F238E27FC236}">
                <a16:creationId xmlns:a16="http://schemas.microsoft.com/office/drawing/2014/main" id="{D4F48F6F-FBD7-27D0-4402-C71E002F5EAB}"/>
              </a:ext>
            </a:extLst>
          </p:cNvPr>
          <p:cNvCxnSpPr>
            <a:cxnSpLocks/>
            <a:stCxn id="64" idx="2"/>
          </p:cNvCxnSpPr>
          <p:nvPr/>
        </p:nvCxnSpPr>
        <p:spPr>
          <a:xfrm>
            <a:off x="2386409" y="4355189"/>
            <a:ext cx="11860" cy="31308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>
            <a:extLst>
              <a:ext uri="{FF2B5EF4-FFF2-40B4-BE49-F238E27FC236}">
                <a16:creationId xmlns:a16="http://schemas.microsoft.com/office/drawing/2014/main" id="{2D42BA1D-E4BA-928E-B130-1A38E0D54BD3}"/>
              </a:ext>
            </a:extLst>
          </p:cNvPr>
          <p:cNvCxnSpPr>
            <a:cxnSpLocks/>
          </p:cNvCxnSpPr>
          <p:nvPr/>
        </p:nvCxnSpPr>
        <p:spPr>
          <a:xfrm flipH="1">
            <a:off x="3643265" y="4208672"/>
            <a:ext cx="77088" cy="9460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ector de Seta Reta 86">
            <a:extLst>
              <a:ext uri="{FF2B5EF4-FFF2-40B4-BE49-F238E27FC236}">
                <a16:creationId xmlns:a16="http://schemas.microsoft.com/office/drawing/2014/main" id="{50E58D35-B823-F596-1F5D-85D42C7FD55C}"/>
              </a:ext>
            </a:extLst>
          </p:cNvPr>
          <p:cNvCxnSpPr>
            <a:cxnSpLocks/>
          </p:cNvCxnSpPr>
          <p:nvPr/>
        </p:nvCxnSpPr>
        <p:spPr>
          <a:xfrm flipH="1">
            <a:off x="4913511" y="4208677"/>
            <a:ext cx="207734" cy="43449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812819E2-4574-DF65-1452-C659DE2E096E}"/>
              </a:ext>
            </a:extLst>
          </p:cNvPr>
          <p:cNvCxnSpPr>
            <a:cxnSpLocks/>
          </p:cNvCxnSpPr>
          <p:nvPr/>
        </p:nvCxnSpPr>
        <p:spPr>
          <a:xfrm flipH="1">
            <a:off x="5874609" y="4208682"/>
            <a:ext cx="464796" cy="9460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de Seta Reta 92">
            <a:extLst>
              <a:ext uri="{FF2B5EF4-FFF2-40B4-BE49-F238E27FC236}">
                <a16:creationId xmlns:a16="http://schemas.microsoft.com/office/drawing/2014/main" id="{A2762E9F-5091-5777-115D-4C9F86B8EE6F}"/>
              </a:ext>
            </a:extLst>
          </p:cNvPr>
          <p:cNvCxnSpPr>
            <a:cxnSpLocks/>
          </p:cNvCxnSpPr>
          <p:nvPr/>
        </p:nvCxnSpPr>
        <p:spPr>
          <a:xfrm flipH="1">
            <a:off x="6881612" y="4208687"/>
            <a:ext cx="1109347" cy="15081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6AA529F0-7730-E226-3F49-9A4A70D9EF30}"/>
              </a:ext>
            </a:extLst>
          </p:cNvPr>
          <p:cNvSpPr txBox="1"/>
          <p:nvPr/>
        </p:nvSpPr>
        <p:spPr>
          <a:xfrm>
            <a:off x="263426" y="2010345"/>
            <a:ext cx="666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PACT</a:t>
            </a:r>
          </a:p>
        </p:txBody>
      </p:sp>
      <p:cxnSp>
        <p:nvCxnSpPr>
          <p:cNvPr id="106" name="Conector de Seta Reta 105">
            <a:extLst>
              <a:ext uri="{FF2B5EF4-FFF2-40B4-BE49-F238E27FC236}">
                <a16:creationId xmlns:a16="http://schemas.microsoft.com/office/drawing/2014/main" id="{744CD950-5C50-B051-AD4A-8225346D5495}"/>
              </a:ext>
            </a:extLst>
          </p:cNvPr>
          <p:cNvCxnSpPr>
            <a:cxnSpLocks/>
          </p:cNvCxnSpPr>
          <p:nvPr/>
        </p:nvCxnSpPr>
        <p:spPr>
          <a:xfrm>
            <a:off x="596434" y="2331980"/>
            <a:ext cx="0" cy="34065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ector: Angulado 109">
            <a:extLst>
              <a:ext uri="{FF2B5EF4-FFF2-40B4-BE49-F238E27FC236}">
                <a16:creationId xmlns:a16="http://schemas.microsoft.com/office/drawing/2014/main" id="{2652AEF7-E982-1D92-A3B8-728FB32DD8A2}"/>
              </a:ext>
            </a:extLst>
          </p:cNvPr>
          <p:cNvCxnSpPr>
            <a:stCxn id="32" idx="0"/>
            <a:endCxn id="14" idx="0"/>
          </p:cNvCxnSpPr>
          <p:nvPr/>
        </p:nvCxnSpPr>
        <p:spPr>
          <a:xfrm rot="16200000" flipV="1">
            <a:off x="4593379" y="-1137797"/>
            <a:ext cx="12700" cy="7356568"/>
          </a:xfrm>
          <a:prstGeom prst="bentConnector3">
            <a:avLst>
              <a:gd name="adj1" fmla="val 2364709"/>
            </a:avLst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B7E9DCF6-B259-3A91-0B80-8FC90972B3A6}"/>
              </a:ext>
            </a:extLst>
          </p:cNvPr>
          <p:cNvSpPr txBox="1"/>
          <p:nvPr/>
        </p:nvSpPr>
        <p:spPr>
          <a:xfrm>
            <a:off x="3400322" y="2085132"/>
            <a:ext cx="2748352" cy="3077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pt-BR" sz="1400" b="1" cap="small" dirty="0">
                <a:solidFill>
                  <a:prstClr val="black"/>
                </a:solidFill>
                <a:latin typeface="Calibri"/>
              </a:rPr>
              <a:t>Iterar (Melhorar continuamente)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5958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51" grpId="0" animBg="1"/>
      <p:bldP spid="52" grpId="0" animBg="1"/>
      <p:bldP spid="53" grpId="0" animBg="1"/>
      <p:bldP spid="54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32" grpId="0" animBg="1"/>
      <p:bldP spid="60" grpId="0"/>
      <p:bldP spid="64" grpId="0"/>
      <p:bldP spid="66" grpId="0"/>
      <p:bldP spid="68" grpId="0"/>
      <p:bldP spid="70" grpId="0"/>
      <p:bldP spid="72" grpId="0"/>
      <p:bldP spid="104" grpId="0"/>
      <p:bldP spid="1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7C8E9-00E1-64A3-0F1B-4BABE5C54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E55DAD1-0004-F142-DC58-69BE5D557272}"/>
              </a:ext>
            </a:extLst>
          </p:cNvPr>
          <p:cNvSpPr txBox="1"/>
          <p:nvPr/>
        </p:nvSpPr>
        <p:spPr>
          <a:xfrm>
            <a:off x="800583" y="711876"/>
            <a:ext cx="8262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OS 7 DESAFIOS DO DESIGN DA IHC – </a:t>
            </a:r>
            <a:r>
              <a:rPr lang="pt-BR" sz="2800" b="1" dirty="0" err="1"/>
              <a:t>Stephanidis</a:t>
            </a:r>
            <a:r>
              <a:rPr lang="pt-BR" sz="2800" b="1" dirty="0"/>
              <a:t> et al.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49325AB-6DE9-BD87-9D52-B55A23C78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776" y="1449955"/>
            <a:ext cx="6244228" cy="506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89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5511E-805A-15B0-49AA-3A2420900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022F7E7-9FAE-DEF4-ABCC-E2B0659BCBBF}"/>
              </a:ext>
            </a:extLst>
          </p:cNvPr>
          <p:cNvSpPr txBox="1"/>
          <p:nvPr/>
        </p:nvSpPr>
        <p:spPr>
          <a:xfrm>
            <a:off x="800583" y="711876"/>
            <a:ext cx="8262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OS 7 DESAFIOS DO DESIGN DA IHC – </a:t>
            </a:r>
            <a:r>
              <a:rPr lang="pt-BR" sz="2800" b="1" dirty="0" err="1"/>
              <a:t>Stephanidis</a:t>
            </a:r>
            <a:r>
              <a:rPr lang="pt-BR" sz="2800" b="1" dirty="0"/>
              <a:t> et al.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F52D039-263B-14BD-5A93-80FE6ADC9A4C}"/>
              </a:ext>
            </a:extLst>
          </p:cNvPr>
          <p:cNvSpPr txBox="1"/>
          <p:nvPr/>
        </p:nvSpPr>
        <p:spPr>
          <a:xfrm>
            <a:off x="1365360" y="1696615"/>
            <a:ext cx="700143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cap="small" dirty="0"/>
              <a:t>Desafio 1: Simbiose Humano-Tecnologia</a:t>
            </a:r>
          </a:p>
          <a:p>
            <a:endParaRPr lang="pt-BR" cap="small" dirty="0"/>
          </a:p>
          <a:p>
            <a:r>
              <a:rPr lang="pt-BR" cap="small" dirty="0"/>
              <a:t>Como integrar tecnologia à vida humana de forma harmoniosa ?</a:t>
            </a:r>
          </a:p>
          <a:p>
            <a:endParaRPr lang="pt-BR" cap="small" dirty="0"/>
          </a:p>
          <a:p>
            <a:r>
              <a:rPr lang="pt-BR" cap="small" dirty="0"/>
              <a:t>Exemplos de soluções que demandam interações harmoniosas:</a:t>
            </a:r>
          </a:p>
          <a:p>
            <a:r>
              <a:rPr lang="pt-BR" sz="1000" cap="small" dirty="0"/>
              <a:t> 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IA generativa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Assistentes virtuais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 err="1"/>
              <a:t>Wearables</a:t>
            </a:r>
            <a:endParaRPr lang="pt-BR" cap="small" dirty="0"/>
          </a:p>
          <a:p>
            <a:endParaRPr lang="pt-BR" cap="small" dirty="0"/>
          </a:p>
          <a:p>
            <a:r>
              <a:rPr lang="pt-BR" cap="small" dirty="0"/>
              <a:t>Reflexão para guiar o projeto:</a:t>
            </a:r>
          </a:p>
          <a:p>
            <a:r>
              <a:rPr lang="pt-BR" cap="small" dirty="0"/>
              <a:t>A tecnologia amplia capacidades humanas ou cria dependência?</a:t>
            </a:r>
          </a:p>
          <a:p>
            <a:r>
              <a:rPr lang="pt-BR" cap="small" dirty="0"/>
              <a:t>O usuário tem controle sobre as tecnologias?</a:t>
            </a:r>
          </a:p>
        </p:txBody>
      </p:sp>
    </p:spTree>
    <p:extLst>
      <p:ext uri="{BB962C8B-B14F-4D97-AF65-F5344CB8AC3E}">
        <p14:creationId xmlns:p14="http://schemas.microsoft.com/office/powerpoint/2010/main" val="2697334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DBB3-5F6E-8C20-353D-C8261E716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219997D-4A3B-E6A4-6A67-F011C1A5CD9B}"/>
              </a:ext>
            </a:extLst>
          </p:cNvPr>
          <p:cNvSpPr txBox="1"/>
          <p:nvPr/>
        </p:nvSpPr>
        <p:spPr>
          <a:xfrm>
            <a:off x="800583" y="711876"/>
            <a:ext cx="8262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OS 7 DESAFIOS DO DESIGN DA IHC – </a:t>
            </a:r>
            <a:r>
              <a:rPr lang="pt-BR" sz="2800" b="1" dirty="0" err="1"/>
              <a:t>Stephanidis</a:t>
            </a:r>
            <a:r>
              <a:rPr lang="pt-BR" sz="2800" b="1" dirty="0"/>
              <a:t> et al.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080D7B0-653D-2C17-9B66-76BEBFDE19DC}"/>
              </a:ext>
            </a:extLst>
          </p:cNvPr>
          <p:cNvSpPr txBox="1"/>
          <p:nvPr/>
        </p:nvSpPr>
        <p:spPr>
          <a:xfrm>
            <a:off x="1365360" y="1696615"/>
            <a:ext cx="700143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cap="small" dirty="0"/>
              <a:t>Desafio 2: Interação Humano-Ambiente</a:t>
            </a:r>
          </a:p>
          <a:p>
            <a:endParaRPr lang="pt-BR" cap="small" dirty="0"/>
          </a:p>
          <a:p>
            <a:r>
              <a:rPr lang="pt-BR" cap="small" dirty="0"/>
              <a:t>Como interagir em ambientes inteligentes e invisíveis?</a:t>
            </a:r>
          </a:p>
          <a:p>
            <a:endParaRPr lang="pt-BR" cap="small" dirty="0"/>
          </a:p>
          <a:p>
            <a:r>
              <a:rPr lang="pt-BR" cap="small" dirty="0"/>
              <a:t>Exemplos de interações automatizadas ou “escondidas”: </a:t>
            </a:r>
          </a:p>
          <a:p>
            <a:endParaRPr lang="pt-BR" sz="1000" cap="small" dirty="0"/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IoT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Casas Inteligentes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Cidades </a:t>
            </a:r>
            <a:r>
              <a:rPr lang="pt-BR" cap="small" dirty="0" err="1"/>
              <a:t>Interligentes</a:t>
            </a:r>
            <a:endParaRPr lang="pt-BR" cap="small" dirty="0"/>
          </a:p>
          <a:p>
            <a:endParaRPr lang="pt-BR" cap="small" dirty="0"/>
          </a:p>
          <a:p>
            <a:r>
              <a:rPr lang="pt-BR" cap="small" dirty="0"/>
              <a:t>Reflexão para guiar o projeto:</a:t>
            </a:r>
          </a:p>
          <a:p>
            <a:r>
              <a:rPr lang="pt-BR" cap="small" dirty="0"/>
              <a:t>Será que o usuário sabe o que está acontecendo?</a:t>
            </a:r>
          </a:p>
          <a:p>
            <a:r>
              <a:rPr lang="pt-BR" cap="small" dirty="0"/>
              <a:t>As interfaces são intuitivas e adaptativas?</a:t>
            </a:r>
          </a:p>
        </p:txBody>
      </p:sp>
    </p:spTree>
    <p:extLst>
      <p:ext uri="{BB962C8B-B14F-4D97-AF65-F5344CB8AC3E}">
        <p14:creationId xmlns:p14="http://schemas.microsoft.com/office/powerpoint/2010/main" val="2771385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DCAC1-CEE3-EF0A-1817-9D2AF98EA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F225C6E-C15C-94F1-FB48-31A41B105607}"/>
              </a:ext>
            </a:extLst>
          </p:cNvPr>
          <p:cNvSpPr txBox="1"/>
          <p:nvPr/>
        </p:nvSpPr>
        <p:spPr>
          <a:xfrm>
            <a:off x="800583" y="711876"/>
            <a:ext cx="8262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OS 7 DESAFIOS DO DESIGN DA IHC – </a:t>
            </a:r>
            <a:r>
              <a:rPr lang="pt-BR" sz="2800" b="1" dirty="0" err="1"/>
              <a:t>Stephanidis</a:t>
            </a:r>
            <a:r>
              <a:rPr lang="pt-BR" sz="2800" b="1" dirty="0"/>
              <a:t> et al.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C8F343D-FCE3-BC6F-3AAB-77D2A226337A}"/>
              </a:ext>
            </a:extLst>
          </p:cNvPr>
          <p:cNvSpPr txBox="1"/>
          <p:nvPr/>
        </p:nvSpPr>
        <p:spPr>
          <a:xfrm>
            <a:off x="1365360" y="1696615"/>
            <a:ext cx="7001434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cap="small" dirty="0"/>
              <a:t>Desafio 3: Ética, Privacidade e Segurança</a:t>
            </a:r>
          </a:p>
          <a:p>
            <a:endParaRPr lang="pt-BR" cap="small" dirty="0"/>
          </a:p>
          <a:p>
            <a:r>
              <a:rPr lang="pt-BR" cap="small" dirty="0"/>
              <a:t>Como proteger as pessoas?</a:t>
            </a:r>
          </a:p>
          <a:p>
            <a:endParaRPr lang="pt-BR" cap="small" dirty="0"/>
          </a:p>
          <a:p>
            <a:r>
              <a:rPr lang="pt-BR" cap="small" dirty="0"/>
              <a:t>Exemplos de interações intrusivas: </a:t>
            </a:r>
          </a:p>
          <a:p>
            <a:endParaRPr lang="pt-BR" sz="1000" cap="small" dirty="0"/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Coleta de dados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Reconhecimento Facial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Algoritmos de recomendação</a:t>
            </a:r>
          </a:p>
          <a:p>
            <a:endParaRPr lang="pt-BR" cap="small" dirty="0"/>
          </a:p>
          <a:p>
            <a:r>
              <a:rPr lang="pt-BR" cap="small" dirty="0"/>
              <a:t>Reflexão para guiar o projeto:</a:t>
            </a:r>
          </a:p>
          <a:p>
            <a:r>
              <a:rPr lang="pt-BR" cap="small" dirty="0"/>
              <a:t>O usuário tem controle de seus dados?</a:t>
            </a:r>
          </a:p>
        </p:txBody>
      </p:sp>
    </p:spTree>
    <p:extLst>
      <p:ext uri="{BB962C8B-B14F-4D97-AF65-F5344CB8AC3E}">
        <p14:creationId xmlns:p14="http://schemas.microsoft.com/office/powerpoint/2010/main" val="3257933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22ADA-1530-1785-1EF9-41156DAF2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A0BF894-154E-A60B-EEB6-81C6C550E00B}"/>
              </a:ext>
            </a:extLst>
          </p:cNvPr>
          <p:cNvSpPr txBox="1"/>
          <p:nvPr/>
        </p:nvSpPr>
        <p:spPr>
          <a:xfrm>
            <a:off x="800583" y="711876"/>
            <a:ext cx="8262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OS 7 DESAFIOS DO DESIGN DA IHC – </a:t>
            </a:r>
            <a:r>
              <a:rPr lang="pt-BR" sz="2800" b="1" dirty="0" err="1"/>
              <a:t>Stephanidis</a:t>
            </a:r>
            <a:r>
              <a:rPr lang="pt-BR" sz="2800" b="1" dirty="0"/>
              <a:t> et al.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29A24D8-26F5-E2E6-6C67-7473825C09BA}"/>
              </a:ext>
            </a:extLst>
          </p:cNvPr>
          <p:cNvSpPr txBox="1"/>
          <p:nvPr/>
        </p:nvSpPr>
        <p:spPr>
          <a:xfrm>
            <a:off x="1365360" y="1696615"/>
            <a:ext cx="7001434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cap="small" dirty="0"/>
              <a:t>Desafio 4: Bem-Estar, Saúde e Eudaimonia</a:t>
            </a:r>
          </a:p>
          <a:p>
            <a:endParaRPr lang="pt-BR" cap="small" dirty="0"/>
          </a:p>
          <a:p>
            <a:r>
              <a:rPr lang="pt-BR" cap="small" dirty="0"/>
              <a:t>Como a tecnologia contribui para uma vida melhor?</a:t>
            </a:r>
          </a:p>
          <a:p>
            <a:endParaRPr lang="pt-BR" cap="small" dirty="0"/>
          </a:p>
          <a:p>
            <a:r>
              <a:rPr lang="pt-BR" cap="small" dirty="0"/>
              <a:t>Exemplos de interações bem intencionadas: </a:t>
            </a:r>
          </a:p>
          <a:p>
            <a:endParaRPr lang="pt-BR" sz="1000" cap="small" dirty="0"/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Aplicativos de saúde (orientações)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Monitoração de hábitos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Monitoração de Saúde mental digital</a:t>
            </a:r>
          </a:p>
          <a:p>
            <a:endParaRPr lang="pt-BR" cap="small" dirty="0"/>
          </a:p>
          <a:p>
            <a:r>
              <a:rPr lang="pt-BR" cap="small" dirty="0"/>
              <a:t>Reflexão para guiar o projeto:</a:t>
            </a:r>
          </a:p>
          <a:p>
            <a:r>
              <a:rPr lang="pt-BR" cap="small" dirty="0"/>
              <a:t>O sistema melhora a qualidade de vida?</a:t>
            </a:r>
          </a:p>
        </p:txBody>
      </p:sp>
    </p:spTree>
    <p:extLst>
      <p:ext uri="{BB962C8B-B14F-4D97-AF65-F5344CB8AC3E}">
        <p14:creationId xmlns:p14="http://schemas.microsoft.com/office/powerpoint/2010/main" val="3301377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16D5A-476D-7BBB-198E-DAE087A0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62FF368-0771-6514-FF42-D3A6E5C2CE3B}"/>
              </a:ext>
            </a:extLst>
          </p:cNvPr>
          <p:cNvSpPr txBox="1"/>
          <p:nvPr/>
        </p:nvSpPr>
        <p:spPr>
          <a:xfrm>
            <a:off x="800583" y="711876"/>
            <a:ext cx="8262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OS 7 DESAFIOS DO DESIGN DA IHC – </a:t>
            </a:r>
            <a:r>
              <a:rPr lang="pt-BR" sz="2800" b="1" dirty="0" err="1"/>
              <a:t>Stephanidis</a:t>
            </a:r>
            <a:r>
              <a:rPr lang="pt-BR" sz="2800" b="1" dirty="0"/>
              <a:t> et al.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85BF344-5CF8-C8AB-FA66-C946EBE838A4}"/>
              </a:ext>
            </a:extLst>
          </p:cNvPr>
          <p:cNvSpPr txBox="1"/>
          <p:nvPr/>
        </p:nvSpPr>
        <p:spPr>
          <a:xfrm>
            <a:off x="1365360" y="1696615"/>
            <a:ext cx="7001434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cap="small" dirty="0"/>
              <a:t>Desafio 5: Acessibilidade e Acesso Universal</a:t>
            </a:r>
          </a:p>
          <a:p>
            <a:endParaRPr lang="pt-BR" cap="small" dirty="0"/>
          </a:p>
          <a:p>
            <a:r>
              <a:rPr lang="pt-BR" cap="small" dirty="0"/>
              <a:t>Quem está sendo excluído pelo design?</a:t>
            </a:r>
          </a:p>
          <a:p>
            <a:endParaRPr lang="pt-BR" cap="small" dirty="0"/>
          </a:p>
          <a:p>
            <a:r>
              <a:rPr lang="pt-BR" cap="small" dirty="0"/>
              <a:t>Exemplos de pessoas com necessidades de inclusão: </a:t>
            </a:r>
          </a:p>
          <a:p>
            <a:endParaRPr lang="pt-BR" sz="1000" cap="small" dirty="0"/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Pessoas com deficiência visual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Pessoas com limitações motoras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Idosos</a:t>
            </a:r>
          </a:p>
          <a:p>
            <a:endParaRPr lang="pt-BR" cap="small" dirty="0"/>
          </a:p>
          <a:p>
            <a:r>
              <a:rPr lang="pt-BR" cap="small" dirty="0"/>
              <a:t>Reflexão para guiar o projeto:</a:t>
            </a:r>
          </a:p>
          <a:p>
            <a:r>
              <a:rPr lang="pt-BR" cap="small" dirty="0"/>
              <a:t>Todos conseguem utilizar o sistema?</a:t>
            </a:r>
          </a:p>
        </p:txBody>
      </p:sp>
    </p:spTree>
    <p:extLst>
      <p:ext uri="{BB962C8B-B14F-4D97-AF65-F5344CB8AC3E}">
        <p14:creationId xmlns:p14="http://schemas.microsoft.com/office/powerpoint/2010/main" val="4070039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A9AAE-AAE1-AD61-1BBF-633F3DC34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6B11FEA-106B-E222-2990-C5425588A403}"/>
              </a:ext>
            </a:extLst>
          </p:cNvPr>
          <p:cNvSpPr txBox="1"/>
          <p:nvPr/>
        </p:nvSpPr>
        <p:spPr>
          <a:xfrm>
            <a:off x="800583" y="711876"/>
            <a:ext cx="8262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OS 7 DESAFIOS DO DESIGN DA IHC – </a:t>
            </a:r>
            <a:r>
              <a:rPr lang="pt-BR" sz="2800" b="1" dirty="0" err="1"/>
              <a:t>Stephanidis</a:t>
            </a:r>
            <a:r>
              <a:rPr lang="pt-BR" sz="2800" b="1" dirty="0"/>
              <a:t> et al.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488D55F-D49D-060C-51B8-A7C6FDAC9721}"/>
              </a:ext>
            </a:extLst>
          </p:cNvPr>
          <p:cNvSpPr txBox="1"/>
          <p:nvPr/>
        </p:nvSpPr>
        <p:spPr>
          <a:xfrm>
            <a:off x="1365360" y="1696615"/>
            <a:ext cx="7001434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cap="small" dirty="0"/>
              <a:t>Desafio 6: Aprendizagem e Criatividade</a:t>
            </a:r>
          </a:p>
          <a:p>
            <a:endParaRPr lang="pt-BR" cap="small" dirty="0"/>
          </a:p>
          <a:p>
            <a:r>
              <a:rPr lang="pt-BR" cap="small" dirty="0"/>
              <a:t>Como potencializar a aprendizagem humana?</a:t>
            </a:r>
          </a:p>
          <a:p>
            <a:endParaRPr lang="pt-BR" cap="small" dirty="0"/>
          </a:p>
          <a:p>
            <a:r>
              <a:rPr lang="pt-BR" cap="small" dirty="0"/>
              <a:t>Exemplos de ferramentas educacionais: </a:t>
            </a:r>
          </a:p>
          <a:p>
            <a:endParaRPr lang="pt-BR" sz="1000" cap="small" dirty="0"/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Plataformas educacionais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Realidade Virtual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IA na Educação</a:t>
            </a:r>
          </a:p>
          <a:p>
            <a:endParaRPr lang="pt-BR" cap="small" dirty="0"/>
          </a:p>
          <a:p>
            <a:r>
              <a:rPr lang="pt-BR" cap="small" dirty="0"/>
              <a:t>Reflexão para guiar o projeto:</a:t>
            </a:r>
          </a:p>
          <a:p>
            <a:r>
              <a:rPr lang="pt-BR" cap="small" dirty="0"/>
              <a:t>O sistema estimula pensamento crítico e criatividade?</a:t>
            </a:r>
          </a:p>
        </p:txBody>
      </p:sp>
    </p:spTree>
    <p:extLst>
      <p:ext uri="{BB962C8B-B14F-4D97-AF65-F5344CB8AC3E}">
        <p14:creationId xmlns:p14="http://schemas.microsoft.com/office/powerpoint/2010/main" val="3653423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301F-074C-34A8-4FAF-27212966A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D98C99B-5A49-9065-98C6-B58D971F00C0}"/>
              </a:ext>
            </a:extLst>
          </p:cNvPr>
          <p:cNvSpPr txBox="1"/>
          <p:nvPr/>
        </p:nvSpPr>
        <p:spPr>
          <a:xfrm>
            <a:off x="800583" y="711876"/>
            <a:ext cx="8262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/>
              <a:t>OS 7 DESAFIOS DO DESIGN DA IHC – </a:t>
            </a:r>
            <a:r>
              <a:rPr lang="pt-BR" sz="2800" b="1" dirty="0" err="1"/>
              <a:t>Stephanidis</a:t>
            </a:r>
            <a:r>
              <a:rPr lang="pt-BR" sz="2800" b="1" dirty="0"/>
              <a:t> et al.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4800B8E-094A-58B2-DEA5-87FBCF0F9AD9}"/>
              </a:ext>
            </a:extLst>
          </p:cNvPr>
          <p:cNvSpPr txBox="1"/>
          <p:nvPr/>
        </p:nvSpPr>
        <p:spPr>
          <a:xfrm>
            <a:off x="1365360" y="1696615"/>
            <a:ext cx="7001434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cap="small" dirty="0"/>
              <a:t>Desafio 7: Organização Social e Democracia</a:t>
            </a:r>
          </a:p>
          <a:p>
            <a:endParaRPr lang="pt-BR" cap="small" dirty="0"/>
          </a:p>
          <a:p>
            <a:r>
              <a:rPr lang="pt-BR" cap="small" dirty="0"/>
              <a:t>Como a tecnologia afeta a sociedade?</a:t>
            </a:r>
          </a:p>
          <a:p>
            <a:endParaRPr lang="pt-BR" cap="small" dirty="0"/>
          </a:p>
          <a:p>
            <a:r>
              <a:rPr lang="pt-BR" cap="small" dirty="0"/>
              <a:t>Exemplos de impactos: </a:t>
            </a:r>
          </a:p>
          <a:p>
            <a:endParaRPr lang="pt-BR" sz="1000" cap="small" dirty="0"/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Redes sociais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Plataformas de participação cidadã</a:t>
            </a:r>
          </a:p>
          <a:p>
            <a:pPr marL="538163" indent="-179388">
              <a:buFont typeface="Arial" panose="020B0604020202020204" pitchFamily="34" charset="0"/>
              <a:buChar char="•"/>
            </a:pPr>
            <a:r>
              <a:rPr lang="pt-BR" cap="small" dirty="0"/>
              <a:t>Canais de desinformação.</a:t>
            </a:r>
          </a:p>
          <a:p>
            <a:pPr marL="358775"/>
            <a:endParaRPr lang="pt-BR" cap="small" dirty="0"/>
          </a:p>
          <a:p>
            <a:r>
              <a:rPr lang="pt-BR" cap="small" dirty="0"/>
              <a:t>Reflexão para guiar o projeto:</a:t>
            </a:r>
          </a:p>
          <a:p>
            <a:r>
              <a:rPr lang="pt-BR" cap="small" dirty="0"/>
              <a:t>O sistema fortalece ou enfraquece a democracia e a cidadania digital?</a:t>
            </a:r>
          </a:p>
        </p:txBody>
      </p:sp>
    </p:spTree>
    <p:extLst>
      <p:ext uri="{BB962C8B-B14F-4D97-AF65-F5344CB8AC3E}">
        <p14:creationId xmlns:p14="http://schemas.microsoft.com/office/powerpoint/2010/main" val="1272362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6694934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2026  Prof. Henrique Cordeiro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3763</TotalTime>
  <Words>720</Words>
  <Application>Microsoft Office PowerPoint</Application>
  <PresentationFormat>Apresentação na tela (4:3)</PresentationFormat>
  <Paragraphs>178</Paragraphs>
  <Slides>14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14</vt:i4>
      </vt:variant>
    </vt:vector>
  </HeadingPairs>
  <TitlesOfParts>
    <vt:vector size="27" baseType="lpstr">
      <vt:lpstr>Aptos Narrow</vt:lpstr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José Henrique DellOsso Cordeiro</cp:lastModifiedBy>
  <cp:revision>266</cp:revision>
  <dcterms:created xsi:type="dcterms:W3CDTF">2015-01-30T10:46:50Z</dcterms:created>
  <dcterms:modified xsi:type="dcterms:W3CDTF">2026-08-26T14:50:36Z</dcterms:modified>
</cp:coreProperties>
</file>