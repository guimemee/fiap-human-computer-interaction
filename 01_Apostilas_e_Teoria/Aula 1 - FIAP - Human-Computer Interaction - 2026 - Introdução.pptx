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79" r:id="rId5"/>
  </p:sldMasterIdLst>
  <p:notesMasterIdLst>
    <p:notesMasterId r:id="rId33"/>
  </p:notesMasterIdLst>
  <p:handoutMasterIdLst>
    <p:handoutMasterId r:id="rId34"/>
  </p:handoutMasterIdLst>
  <p:sldIdLst>
    <p:sldId id="256" r:id="rId6"/>
    <p:sldId id="291" r:id="rId7"/>
    <p:sldId id="298" r:id="rId8"/>
    <p:sldId id="311" r:id="rId9"/>
    <p:sldId id="299" r:id="rId10"/>
    <p:sldId id="718" r:id="rId11"/>
    <p:sldId id="266" r:id="rId12"/>
    <p:sldId id="329" r:id="rId13"/>
    <p:sldId id="706" r:id="rId14"/>
    <p:sldId id="707" r:id="rId15"/>
    <p:sldId id="347" r:id="rId16"/>
    <p:sldId id="708" r:id="rId17"/>
    <p:sldId id="719" r:id="rId18"/>
    <p:sldId id="720" r:id="rId19"/>
    <p:sldId id="346" r:id="rId20"/>
    <p:sldId id="705" r:id="rId21"/>
    <p:sldId id="335" r:id="rId22"/>
    <p:sldId id="341" r:id="rId23"/>
    <p:sldId id="703" r:id="rId24"/>
    <p:sldId id="709" r:id="rId25"/>
    <p:sldId id="711" r:id="rId26"/>
    <p:sldId id="717" r:id="rId27"/>
    <p:sldId id="710" r:id="rId28"/>
    <p:sldId id="348" r:id="rId29"/>
    <p:sldId id="349" r:id="rId30"/>
    <p:sldId id="716" r:id="rId31"/>
    <p:sldId id="714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113"/>
    <a:srgbClr val="C2CFD7"/>
    <a:srgbClr val="000000"/>
    <a:srgbClr val="C5B7A7"/>
    <a:srgbClr val="ED7D31"/>
    <a:srgbClr val="F0265D"/>
    <a:srgbClr val="F5F4EE"/>
    <a:srgbClr val="FFFFFF"/>
    <a:srgbClr val="FFCC99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9" autoAdjust="0"/>
    <p:restoredTop sz="94249" autoAdjust="0"/>
  </p:normalViewPr>
  <p:slideViewPr>
    <p:cSldViewPr snapToGrid="0" snapToObjects="1">
      <p:cViewPr varScale="1">
        <p:scale>
          <a:sx n="102" d="100"/>
          <a:sy n="102" d="100"/>
        </p:scale>
        <p:origin x="120" y="3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2A2C-965E-4ACB-A219-900EA2DFA40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015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Deixar o e-mail do professor alinhado com o final do texto.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9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5503-4563-FADB-AC36-BE23A7BC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D5EF45-D064-E162-33DF-82BC1A248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EE9C00-30AC-82A1-F642-29F6B3E5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Deixar o e-mail do professor alinhado com o final do texto.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9DB05-45FA-869D-B595-A6B373BA6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66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5940-811A-6080-8B9B-A310E471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F4AE06-073E-E285-7F37-0D398124C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2DD1C3-F8FE-4439-B4EF-CA7D3D806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3FE3B9-6B1D-F1B2-2A2D-63742DC3B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2053" y="3081534"/>
            <a:ext cx="7710964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749902"/>
            <a:ext cx="9856269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1020505" y="843279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1219200" y="1600199"/>
            <a:ext cx="3833707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4153" y="1600201"/>
            <a:ext cx="5610495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9"/>
          <p:cNvSpPr txBox="1"/>
          <p:nvPr userDrawn="1"/>
        </p:nvSpPr>
        <p:spPr>
          <a:xfrm>
            <a:off x="1262832" y="748344"/>
            <a:ext cx="6494029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5052907" y="4911964"/>
            <a:ext cx="6101740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454651" y="5039804"/>
            <a:ext cx="5158316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4718355" y="4930224"/>
            <a:ext cx="358752" cy="322235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1750228"/>
            <a:ext cx="9650931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1219200" y="2319339"/>
            <a:ext cx="9650931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4215012"/>
            <a:ext cx="9650931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1219200" y="4784123"/>
            <a:ext cx="9650931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1262832" y="745669"/>
            <a:ext cx="6494029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99386" y="2857500"/>
            <a:ext cx="8393229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44873" y="749165"/>
            <a:ext cx="9753596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0505" y="1316730"/>
            <a:ext cx="9977963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505" y="2174875"/>
            <a:ext cx="1015764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5157471" y="1421810"/>
            <a:ext cx="5840997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979" y="1421810"/>
            <a:ext cx="4083855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741008" y="3444241"/>
            <a:ext cx="2079413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864788" y="4397170"/>
            <a:ext cx="275232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262831" y="736043"/>
            <a:ext cx="9068743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740277"/>
            <a:ext cx="9958917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1219200" y="4677444"/>
            <a:ext cx="9958917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1219200" y="1568451"/>
            <a:ext cx="9958917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1219199" y="721027"/>
            <a:ext cx="9740767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4733A9A-F6C5-425F-A73B-10761DE378FC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A7DFCB42-E4D8-433F-835E-C34459150A2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463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42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54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272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979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525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380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601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468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247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152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8832-D319-46DE-BE99-12F38FA24AAD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10A5-9343-4A0C-8F47-E99E2B7D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11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32053" y="3081534"/>
            <a:ext cx="7710964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 userDrawn="1"/>
        </p:nvPicPr>
        <p:blipFill rotWithShape="1">
          <a:blip r:embed="rId3"/>
          <a:srcRect l="21776" r="21705"/>
          <a:stretch/>
        </p:blipFill>
        <p:spPr>
          <a:xfrm>
            <a:off x="-15534" y="2329274"/>
            <a:ext cx="12207535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11154647" y="6141017"/>
            <a:ext cx="1052888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38690" y="329330"/>
            <a:ext cx="1329476" cy="272893"/>
          </a:xfrm>
          <a:prstGeom prst="rect">
            <a:avLst/>
          </a:prstGeom>
        </p:spPr>
      </p:pic>
      <p:sp>
        <p:nvSpPr>
          <p:cNvPr id="12" name="TextBox 14"/>
          <p:cNvSpPr txBox="1"/>
          <p:nvPr userDrawn="1"/>
        </p:nvSpPr>
        <p:spPr>
          <a:xfrm>
            <a:off x="843893" y="6295596"/>
            <a:ext cx="4822769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b="1" dirty="0" err="1">
                <a:solidFill>
                  <a:srgbClr val="303030"/>
                </a:solidFill>
                <a:latin typeface="Gotham-Bold"/>
                <a:cs typeface="Gotham-Bold"/>
              </a:rPr>
              <a:t>Versão</a:t>
            </a:r>
            <a:r>
              <a:rPr lang="en-US" sz="1400" b="1" dirty="0">
                <a:solidFill>
                  <a:srgbClr val="303030"/>
                </a:solidFill>
                <a:latin typeface="Gotham-Bold"/>
                <a:cs typeface="Gotham-Bold"/>
              </a:rPr>
              <a:t> 4.0 – </a:t>
            </a:r>
            <a:r>
              <a:rPr lang="en-US" sz="1400" b="1" dirty="0" err="1">
                <a:solidFill>
                  <a:srgbClr val="303030"/>
                </a:solidFill>
                <a:latin typeface="Gotham-Bold"/>
                <a:cs typeface="Gotham-Bold"/>
              </a:rPr>
              <a:t>Fevereiro</a:t>
            </a:r>
            <a:r>
              <a:rPr lang="en-US" sz="1400" b="1" dirty="0">
                <a:solidFill>
                  <a:srgbClr val="303030"/>
                </a:solidFill>
                <a:latin typeface="Gotham-Bold"/>
                <a:cs typeface="Gotham-Bold"/>
              </a:rPr>
              <a:t>/2026</a:t>
            </a:r>
          </a:p>
        </p:txBody>
      </p:sp>
      <p:sp>
        <p:nvSpPr>
          <p:cNvPr id="14" name="TextBox 15"/>
          <p:cNvSpPr txBox="1"/>
          <p:nvPr userDrawn="1"/>
        </p:nvSpPr>
        <p:spPr>
          <a:xfrm>
            <a:off x="1341408" y="3414498"/>
            <a:ext cx="1064494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 DA COMPUTAÇÃO</a:t>
            </a:r>
            <a:endParaRPr lang="en-US" sz="3200" b="1" cap="small" baseline="0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11241094" y="6199267"/>
            <a:ext cx="442429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5" name="Rectangle 22"/>
          <p:cNvSpPr/>
          <p:nvPr userDrawn="1"/>
        </p:nvSpPr>
        <p:spPr>
          <a:xfrm flipH="1">
            <a:off x="1005820" y="3141713"/>
            <a:ext cx="6095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4869" y="697657"/>
            <a:ext cx="9924624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4868" y="1600201"/>
            <a:ext cx="99246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38690" y="329330"/>
            <a:ext cx="1329476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11154647" y="6141017"/>
            <a:ext cx="1052888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11241094" y="6199267"/>
            <a:ext cx="442429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1020505" y="843279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50011" y="333717"/>
            <a:ext cx="1300821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11"/>
          <p:cNvSpPr/>
          <p:nvPr userDrawn="1"/>
        </p:nvSpPr>
        <p:spPr>
          <a:xfrm>
            <a:off x="11154647" y="6141017"/>
            <a:ext cx="1052888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11241094" y="6199267"/>
            <a:ext cx="442429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5" Type="http://schemas.openxmlformats.org/officeDocument/2006/relationships/image" Target="../media/image21.jpe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40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9.jpeg"/><Relationship Id="rId5" Type="http://schemas.microsoft.com/office/2007/relationships/hdphoto" Target="../media/hdphoto1.wdp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67D0B0-8A2C-4913-9531-F04BD74F41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9686" r="9090" b="26378"/>
          <a:stretch/>
        </p:blipFill>
        <p:spPr>
          <a:xfrm>
            <a:off x="-2044450" y="600076"/>
            <a:ext cx="7585846" cy="6000746"/>
          </a:xfrm>
          <a:prstGeom prst="rect">
            <a:avLst/>
          </a:prstGeom>
          <a:effectLst>
            <a:softEdge rad="317500"/>
          </a:effec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0CCC7C44-17D2-D018-B53A-0CCFFB71CAB0}"/>
              </a:ext>
            </a:extLst>
          </p:cNvPr>
          <p:cNvGrpSpPr/>
          <p:nvPr/>
        </p:nvGrpSpPr>
        <p:grpSpPr>
          <a:xfrm>
            <a:off x="5755861" y="1537551"/>
            <a:ext cx="6324600" cy="4829338"/>
            <a:chOff x="3592274" y="930390"/>
            <a:chExt cx="4180126" cy="4829338"/>
          </a:xfrm>
        </p:grpSpPr>
        <p:sp>
          <p:nvSpPr>
            <p:cNvPr id="6" name="TextBox 24">
              <a:extLst>
                <a:ext uri="{FF2B5EF4-FFF2-40B4-BE49-F238E27FC236}">
                  <a16:creationId xmlns:a16="http://schemas.microsoft.com/office/drawing/2014/main" id="{218E76EB-67CA-9758-63C3-421626822D40}"/>
                </a:ext>
              </a:extLst>
            </p:cNvPr>
            <p:cNvSpPr txBox="1"/>
            <p:nvPr/>
          </p:nvSpPr>
          <p:spPr>
            <a:xfrm>
              <a:off x="3688529" y="930390"/>
              <a:ext cx="39884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pt-BR" sz="2400" dirty="0">
                  <a:solidFill>
                    <a:srgbClr val="ED145B"/>
                  </a:solidFill>
                  <a:latin typeface="Gotham HTF" pitchFamily="50" charset="0"/>
                  <a:cs typeface="Gotham HTF Bold"/>
                </a:rPr>
                <a:t>HENRIQUE CORDEIRO</a:t>
              </a:r>
            </a:p>
            <a:p>
              <a:pPr defTabSz="457200"/>
              <a:r>
                <a:rPr lang="pt-BR" sz="2400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Gotham HTF Book"/>
                </a:rPr>
                <a:t>Professor </a:t>
              </a:r>
              <a:r>
                <a:rPr lang="pt-BR" sz="2400" dirty="0" err="1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Gotham HTF Book"/>
                </a:rPr>
                <a:t>MSc</a:t>
              </a:r>
              <a:endParaRPr lang="pt-BR" sz="2400" dirty="0">
                <a:solidFill>
                  <a:prstClr val="white">
                    <a:lumMod val="65000"/>
                  </a:prstClr>
                </a:solidFill>
                <a:latin typeface="Gotham HTF Light" pitchFamily="50" charset="0"/>
                <a:cs typeface="Gotham HTF Book"/>
              </a:endParaRPr>
            </a:p>
          </p:txBody>
        </p:sp>
        <p:sp>
          <p:nvSpPr>
            <p:cNvPr id="7" name="TextBox 25">
              <a:extLst>
                <a:ext uri="{FF2B5EF4-FFF2-40B4-BE49-F238E27FC236}">
                  <a16:creationId xmlns:a16="http://schemas.microsoft.com/office/drawing/2014/main" id="{AB3474F3-AB90-6672-6369-A95C2800B9C9}"/>
                </a:ext>
              </a:extLst>
            </p:cNvPr>
            <p:cNvSpPr txBox="1"/>
            <p:nvPr/>
          </p:nvSpPr>
          <p:spPr>
            <a:xfrm>
              <a:off x="3592274" y="1726764"/>
              <a:ext cx="4180126" cy="4032964"/>
            </a:xfrm>
            <a:prstGeom prst="rect">
              <a:avLst/>
            </a:prstGeom>
            <a:noFill/>
          </p:spPr>
          <p:txBody>
            <a:bodyPr wrap="square" tIns="46800" rtlCol="0">
              <a:spAutoFit/>
            </a:bodyPr>
            <a:lstStyle/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Professor de Graduação e Pós Graduação há 17 anos (11 na FIAP)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Mestre em Engenharia de Produção pela </a:t>
              </a:r>
              <a:r>
                <a:rPr lang="pt-BR" sz="1600" cap="small" dirty="0" err="1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Poli-USP</a:t>
              </a:r>
              <a:endParaRPr lang="pt-BR" sz="1600" cap="small" dirty="0">
                <a:solidFill>
                  <a:prstClr val="white">
                    <a:lumMod val="65000"/>
                  </a:prstClr>
                </a:solidFill>
                <a:latin typeface="Gotham HTF Light" pitchFamily="50" charset="0"/>
                <a:cs typeface="Roboto Light"/>
              </a:endParaRP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Bacharel em Administração de Empresas com Extensão em Gestão de Negócios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Profissional, Executivo e Empreendedor na área de TI por mais de 40 anos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Cofundador de 2 Startups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Especialista no design de produtos e de novos negócios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Palestrante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Pesquisador</a:t>
              </a:r>
            </a:p>
            <a:p>
              <a:pPr marL="171450" indent="-171450" defTabSz="457200">
                <a:spcAft>
                  <a:spcPts val="1200"/>
                </a:spcAft>
                <a:buClr>
                  <a:srgbClr val="ED145B"/>
                </a:buClr>
                <a:buFont typeface="Arial" panose="020B0604020202020204" pitchFamily="34" charset="0"/>
                <a:buChar char="•"/>
              </a:pPr>
              <a:r>
                <a:rPr lang="pt-BR" sz="1600" cap="small" dirty="0">
                  <a:solidFill>
                    <a:prstClr val="white">
                      <a:lumMod val="65000"/>
                    </a:prstClr>
                  </a:solidFill>
                  <a:latin typeface="Gotham HTF Light" pitchFamily="50" charset="0"/>
                  <a:cs typeface="Roboto Light"/>
                </a:rPr>
                <a:t>Entusiasta de Inovação &amp; Curioso Profissional 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5159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276121" y="599529"/>
            <a:ext cx="5639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ED145B"/>
                </a:solidFill>
                <a:latin typeface="Aptos" panose="020B0004020202020204" pitchFamily="34" charset="0"/>
                <a:cs typeface="Gotham HTF Bold"/>
              </a:rPr>
              <a:t>EXPERIÊNCIA ACADÊMICA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1ACF7D92-5B03-41E3-9E10-2E3B99A19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18" y="3174179"/>
            <a:ext cx="4340698" cy="125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0E0BE05-2390-E144-1A10-DDCF539444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07" b="7016"/>
          <a:stretch>
            <a:fillRect/>
          </a:stretch>
        </p:blipFill>
        <p:spPr>
          <a:xfrm>
            <a:off x="2788691" y="1721210"/>
            <a:ext cx="2435653" cy="102300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8DB1AB5-F3D7-F803-E525-8FF8BD16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041" b="22670"/>
          <a:stretch/>
        </p:blipFill>
        <p:spPr>
          <a:xfrm>
            <a:off x="962630" y="3351684"/>
            <a:ext cx="1647187" cy="92719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D558E86-7CD2-E29D-8690-4125AD5324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84" t="9306" r="6244" b="10841"/>
          <a:stretch/>
        </p:blipFill>
        <p:spPr>
          <a:xfrm>
            <a:off x="7500866" y="1755995"/>
            <a:ext cx="1793494" cy="100807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60F2B03-3F97-BE47-C5E6-7D2B1C7BA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0117" y="3077138"/>
            <a:ext cx="1453613" cy="1453613"/>
          </a:xfrm>
          <a:prstGeom prst="ellipse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0BC411A-F5EC-0CFB-EB15-547DE5B052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861" y="4909061"/>
            <a:ext cx="2614526" cy="129979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EA18458-E9AD-940A-8730-9A62CFB9B2F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7038" b="29795"/>
          <a:stretch/>
        </p:blipFill>
        <p:spPr>
          <a:xfrm>
            <a:off x="6292463" y="5067480"/>
            <a:ext cx="2416805" cy="104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275D-A985-F5C6-12DB-D643F1E1C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20B045EB-D3A3-E130-6D26-F7A7893F7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274" y="3288115"/>
            <a:ext cx="3555386" cy="103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FF369C8-8B42-0806-5AE5-B8CDDEA62D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07" b="7016"/>
          <a:stretch>
            <a:fillRect/>
          </a:stretch>
        </p:blipFill>
        <p:spPr>
          <a:xfrm>
            <a:off x="4298974" y="2286191"/>
            <a:ext cx="1248638" cy="52444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B9B602B-7F74-C0BF-BDA5-29D66E2C3A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041" b="22670"/>
          <a:stretch/>
        </p:blipFill>
        <p:spPr>
          <a:xfrm>
            <a:off x="2651680" y="3566280"/>
            <a:ext cx="844430" cy="47533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BFDB896-871B-E3D5-17E1-7CDD6895F1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84" t="9306" r="6244" b="10841"/>
          <a:stretch/>
        </p:blipFill>
        <p:spPr>
          <a:xfrm>
            <a:off x="6421660" y="2304206"/>
            <a:ext cx="919436" cy="51679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B243A8C-5653-5EA8-3B0D-26B45CDAA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3495" y="3276911"/>
            <a:ext cx="745194" cy="745196"/>
          </a:xfrm>
          <a:prstGeom prst="ellipse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6C1AB7A-E72C-E2E7-589E-AC1854EFC9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7274" y="4690674"/>
            <a:ext cx="1340338" cy="66633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5DE91FD-7DC5-6CFD-20F3-819BD933B2E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7038" b="29795"/>
          <a:stretch/>
        </p:blipFill>
        <p:spPr>
          <a:xfrm>
            <a:off x="6282969" y="4690674"/>
            <a:ext cx="1238976" cy="534832"/>
          </a:xfrm>
          <a:prstGeom prst="rect">
            <a:avLst/>
          </a:prstGeom>
        </p:spPr>
      </p:pic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F7716DBE-7ED4-D57E-2E27-E8BA09568D22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5" t="1979" r="9552" b="8317"/>
          <a:stretch/>
        </p:blipFill>
        <p:spPr>
          <a:xfrm>
            <a:off x="9874208" y="3174179"/>
            <a:ext cx="1842770" cy="914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m 2" descr="Uma imagem contendo desenho&#10;&#10;Descrição gerada automaticamente">
            <a:extLst>
              <a:ext uri="{FF2B5EF4-FFF2-40B4-BE49-F238E27FC236}">
                <a16:creationId xmlns:a16="http://schemas.microsoft.com/office/drawing/2014/main" id="{B6FF3650-0E1F-1B90-01E2-60D796FCF31F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3" t="21432" b="25238"/>
          <a:stretch/>
        </p:blipFill>
        <p:spPr>
          <a:xfrm>
            <a:off x="797139" y="1781911"/>
            <a:ext cx="3065566" cy="806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 descr="Uma imagem contendo desenho&#10;&#10;Descrição gerada automaticamente">
            <a:extLst>
              <a:ext uri="{FF2B5EF4-FFF2-40B4-BE49-F238E27FC236}">
                <a16:creationId xmlns:a16="http://schemas.microsoft.com/office/drawing/2014/main" id="{CD94B4D7-1263-B5EC-B5E5-5B071585D766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55" t="-24531" r="-11736" b="-28778"/>
          <a:stretch/>
        </p:blipFill>
        <p:spPr>
          <a:xfrm>
            <a:off x="6645918" y="5826133"/>
            <a:ext cx="2061531" cy="73145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" name="Imagem 4" descr="Uma imagem contendo vermelho, placa, cruz, preto&#10;&#10;Descrição gerada automaticamente">
            <a:extLst>
              <a:ext uri="{FF2B5EF4-FFF2-40B4-BE49-F238E27FC236}">
                <a16:creationId xmlns:a16="http://schemas.microsoft.com/office/drawing/2014/main" id="{5188878F-A9C8-EC72-DD69-120D5CD1C382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24" y="3484097"/>
            <a:ext cx="2141348" cy="806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 descr="Uma imagem contendo desenho, placa, placar&#10;&#10;Descrição gerada automaticamente">
            <a:extLst>
              <a:ext uri="{FF2B5EF4-FFF2-40B4-BE49-F238E27FC236}">
                <a16:creationId xmlns:a16="http://schemas.microsoft.com/office/drawing/2014/main" id="{5B780F26-16DF-28E2-61CB-0B6487A727F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144" y="1503530"/>
            <a:ext cx="1264062" cy="1264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 descr="Uma imagem contendo desenho, texto&#10;&#10;Descrição gerada automaticamente">
            <a:extLst>
              <a:ext uri="{FF2B5EF4-FFF2-40B4-BE49-F238E27FC236}">
                <a16:creationId xmlns:a16="http://schemas.microsoft.com/office/drawing/2014/main" id="{3CD8F9F2-C22A-9605-3293-5967B92C24E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62" y="5723688"/>
            <a:ext cx="1802704" cy="928464"/>
          </a:xfrm>
          <a:prstGeom prst="rect">
            <a:avLst/>
          </a:prstGeom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2B453E5-CDBC-DD4D-B87A-C99761ED99A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1267" t="16470" r="9789" b="12764"/>
          <a:stretch/>
        </p:blipFill>
        <p:spPr>
          <a:xfrm>
            <a:off x="1999582" y="5182165"/>
            <a:ext cx="1496528" cy="76591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195E585-37CA-5CC5-3A1F-3795F43533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9932" y="4729237"/>
            <a:ext cx="2245581" cy="7314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4B02600A-F4FE-B550-070F-F303B1CB2A90}"/>
              </a:ext>
            </a:extLst>
          </p:cNvPr>
          <p:cNvSpPr txBox="1"/>
          <p:nvPr/>
        </p:nvSpPr>
        <p:spPr>
          <a:xfrm>
            <a:off x="3276121" y="599529"/>
            <a:ext cx="608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ED145B"/>
                </a:solidFill>
                <a:latin typeface="Aptos" panose="020B0004020202020204" pitchFamily="34" charset="0"/>
                <a:cs typeface="Gotham HTF Bold"/>
              </a:rPr>
              <a:t>EXPERIÊNCIA PROFISSIONAL</a:t>
            </a:r>
          </a:p>
        </p:txBody>
      </p:sp>
    </p:spTree>
    <p:extLst>
      <p:ext uri="{BB962C8B-B14F-4D97-AF65-F5344CB8AC3E}">
        <p14:creationId xmlns:p14="http://schemas.microsoft.com/office/powerpoint/2010/main" val="968371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>
            <a:extLst>
              <a:ext uri="{FF2B5EF4-FFF2-40B4-BE49-F238E27FC236}">
                <a16:creationId xmlns:a16="http://schemas.microsoft.com/office/drawing/2014/main" id="{076981F5-252D-342B-8504-911361FFE71D}"/>
              </a:ext>
            </a:extLst>
          </p:cNvPr>
          <p:cNvSpPr txBox="1"/>
          <p:nvPr/>
        </p:nvSpPr>
        <p:spPr>
          <a:xfrm>
            <a:off x="1918702" y="236864"/>
            <a:ext cx="8823738" cy="1240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730" dirty="0">
                <a:solidFill>
                  <a:srgbClr val="ED145B"/>
                </a:solidFill>
                <a:latin typeface="Aptos" panose="020B0004020202020204" pitchFamily="34" charset="0"/>
                <a:cs typeface="Gotham HTF Bold"/>
              </a:rPr>
              <a:t>PUBLICAÇÕES NO BRASIL E NO EXTERIOR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EEB80B-A882-FE14-41EA-6A5750BFD4A7}"/>
              </a:ext>
            </a:extLst>
          </p:cNvPr>
          <p:cNvSpPr/>
          <p:nvPr/>
        </p:nvSpPr>
        <p:spPr>
          <a:xfrm>
            <a:off x="1002007" y="3446962"/>
            <a:ext cx="3325513" cy="264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554">
              <a:defRPr/>
            </a:pPr>
            <a:endParaRPr lang="pt-BR" sz="179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5351D68-E08D-1CF7-C8AB-D6108AD1B697}"/>
              </a:ext>
            </a:extLst>
          </p:cNvPr>
          <p:cNvSpPr/>
          <p:nvPr/>
        </p:nvSpPr>
        <p:spPr>
          <a:xfrm>
            <a:off x="709693" y="1899588"/>
            <a:ext cx="2212178" cy="169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554">
              <a:defRPr/>
            </a:pPr>
            <a:endParaRPr lang="pt-BR" sz="1798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9C9082-66EB-A91F-20FA-F091E0D57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4" y="1357466"/>
            <a:ext cx="1836963" cy="9502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63BB47-EFDD-0C1F-2D93-63E7AAFD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435" y="1883588"/>
            <a:ext cx="1836963" cy="14892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D7C229-393B-E859-E117-6F9E48427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03" y="2855679"/>
            <a:ext cx="1943030" cy="9813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6D180B9-1B38-AD29-27FD-87F9D8575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946" y="3642325"/>
            <a:ext cx="1859225" cy="12903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A7D3515-6A38-C572-DE67-134FCA524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85" y="4522910"/>
            <a:ext cx="1587261" cy="15371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B1B8779-0209-383C-2333-466871FB0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6878" y="5089353"/>
            <a:ext cx="2383289" cy="15094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99112D6-0911-3C60-0F56-B72791E4C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980" y="1739639"/>
            <a:ext cx="3257561" cy="4194737"/>
          </a:xfrm>
          <a:prstGeom prst="rect">
            <a:avLst/>
          </a:prstGeom>
          <a:effectLst>
            <a:outerShdw blurRad="63500" sx="102000" sy="102000" algn="ctr" rotWithShape="0">
              <a:schemeClr val="tx1">
                <a:lumMod val="85000"/>
                <a:alpha val="40000"/>
              </a:scheme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3EADD1A-BC7F-A58A-AB05-3588CCD0C0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231" y="1031223"/>
            <a:ext cx="1528988" cy="2341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80C81DD-8964-AC8E-DCB4-D339423C3C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536" y="3188863"/>
            <a:ext cx="1169501" cy="166108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280237D-EEEB-F735-F868-1AA9812A8E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2800" y="971565"/>
            <a:ext cx="1146826" cy="171426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45D3CA8-91C8-646B-F61F-F2FD661F7C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1469" y="3909629"/>
            <a:ext cx="1169183" cy="164608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461EAA6-8C71-2C0B-2376-04B228A9EC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4058" y="5121417"/>
            <a:ext cx="1169501" cy="1657124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B2651E6-FB24-5370-98CC-48FC861506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491" y="4799528"/>
            <a:ext cx="1305756" cy="182160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4C8ED00-663C-C4A7-2248-0A308BD2FA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8419" y="2555124"/>
            <a:ext cx="1367179" cy="2062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6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ço Reservado para Imagem 2">
            <a:extLst>
              <a:ext uri="{FF2B5EF4-FFF2-40B4-BE49-F238E27FC236}">
                <a16:creationId xmlns:a16="http://schemas.microsoft.com/office/drawing/2014/main" id="{5DA5B5FB-EA25-5436-A35E-14DA5C5646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40" r="8440"/>
          <a:stretch>
            <a:fillRect/>
          </a:stretch>
        </p:blipFill>
        <p:spPr>
          <a:xfrm>
            <a:off x="127320" y="2761040"/>
            <a:ext cx="2514807" cy="3716452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4AA129D-D419-655C-00B2-23C09A21F436}"/>
              </a:ext>
            </a:extLst>
          </p:cNvPr>
          <p:cNvSpPr txBox="1"/>
          <p:nvPr/>
        </p:nvSpPr>
        <p:spPr>
          <a:xfrm>
            <a:off x="466816" y="2447259"/>
            <a:ext cx="1842638" cy="33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8072">
              <a:defRPr/>
            </a:pPr>
            <a:r>
              <a:rPr lang="pt-BR" sz="1599" b="1" cap="small" dirty="0">
                <a:solidFill>
                  <a:srgbClr val="ED145B"/>
                </a:solidFill>
                <a:latin typeface="Calibri" panose="020F0502020204030204"/>
              </a:rPr>
              <a:t>Metido a “Chef”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2F71CC-2BBE-D5DE-FD49-FA94F81EE85C}"/>
              </a:ext>
            </a:extLst>
          </p:cNvPr>
          <p:cNvSpPr txBox="1"/>
          <p:nvPr/>
        </p:nvSpPr>
        <p:spPr>
          <a:xfrm>
            <a:off x="2993217" y="167112"/>
            <a:ext cx="1842638" cy="33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8072">
              <a:defRPr/>
            </a:pPr>
            <a:r>
              <a:rPr lang="pt-BR" sz="1599" b="1" cap="small" dirty="0">
                <a:solidFill>
                  <a:srgbClr val="ED145B"/>
                </a:solidFill>
                <a:latin typeface="Calibri" panose="020F0502020204030204"/>
              </a:rPr>
              <a:t>Musico Frustrado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B5497A6-AC7C-4BEB-4260-88D927ABE4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8" t="23293" r="22169" b="14538"/>
          <a:stretch/>
        </p:blipFill>
        <p:spPr>
          <a:xfrm>
            <a:off x="2575158" y="436553"/>
            <a:ext cx="2678757" cy="3972121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7" name="Blade Runner The Final Cut New Trailer   -Legendado">
            <a:hlinkClick r:id="" action="ppaction://media"/>
            <a:extLst>
              <a:ext uri="{FF2B5EF4-FFF2-40B4-BE49-F238E27FC236}">
                <a16:creationId xmlns:a16="http://schemas.microsoft.com/office/drawing/2014/main" id="{4785EB38-CB5C-8B55-33FB-A02716D28C2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260" end="0.1888"/>
                </p14:media>
              </p:ext>
            </p:extLst>
          </p:nvPr>
        </p:nvPicPr>
        <p:blipFill rotWithShape="1">
          <a:blip r:embed="rId7"/>
          <a:srcRect t="13154" b="13068"/>
          <a:stretch>
            <a:fillRect/>
          </a:stretch>
        </p:blipFill>
        <p:spPr>
          <a:xfrm>
            <a:off x="4636835" y="3482956"/>
            <a:ext cx="7427845" cy="3082554"/>
          </a:xfrm>
          <a:prstGeom prst="rect">
            <a:avLst/>
          </a:prstGeom>
          <a:ln>
            <a:solidFill>
              <a:srgbClr val="ED145B">
                <a:alpha val="60000"/>
              </a:srgbClr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B403542-0A0B-8374-8B2C-013CCE345110}"/>
              </a:ext>
            </a:extLst>
          </p:cNvPr>
          <p:cNvSpPr txBox="1"/>
          <p:nvPr/>
        </p:nvSpPr>
        <p:spPr>
          <a:xfrm>
            <a:off x="4958212" y="3036619"/>
            <a:ext cx="2275576" cy="33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8072">
              <a:defRPr/>
            </a:pPr>
            <a:r>
              <a:rPr lang="pt-BR" sz="1599" b="1" cap="small" dirty="0">
                <a:solidFill>
                  <a:srgbClr val="ED145B"/>
                </a:solidFill>
                <a:latin typeface="Calibri" panose="020F0502020204030204"/>
              </a:rPr>
              <a:t>Fã de Ficção Científica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D26B8B1-8E12-6DE3-B8C2-8C2F351458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891" y="1501193"/>
            <a:ext cx="2974762" cy="1673301"/>
          </a:xfrm>
          <a:prstGeom prst="rect">
            <a:avLst/>
          </a:prstGeom>
          <a:ln w="12700">
            <a:solidFill>
              <a:schemeClr val="bg1">
                <a:lumMod val="65000"/>
                <a:alpha val="60000"/>
              </a:schemeClr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7D4567E-9507-AA1B-FCC5-E92A63812F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9619" y="429632"/>
            <a:ext cx="2678757" cy="1506799"/>
          </a:xfrm>
          <a:prstGeom prst="rect">
            <a:avLst/>
          </a:prstGeom>
          <a:ln w="12700">
            <a:solidFill>
              <a:schemeClr val="bg1">
                <a:lumMod val="65000"/>
                <a:alpha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395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851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3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4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/>
          <p:cNvSpPr txBox="1"/>
          <p:nvPr/>
        </p:nvSpPr>
        <p:spPr>
          <a:xfrm>
            <a:off x="1345273" y="3912102"/>
            <a:ext cx="7223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cap="all" dirty="0">
                <a:solidFill>
                  <a:schemeClr val="bg1"/>
                </a:solidFill>
              </a:rPr>
              <a:t>Human-COMPUTER interaction</a:t>
            </a:r>
          </a:p>
        </p:txBody>
      </p:sp>
      <p:sp>
        <p:nvSpPr>
          <p:cNvPr id="5" name="TextBox 21"/>
          <p:cNvSpPr txBox="1"/>
          <p:nvPr/>
        </p:nvSpPr>
        <p:spPr>
          <a:xfrm>
            <a:off x="1393759" y="4541324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HENRIQUE </a:t>
            </a:r>
            <a:r>
              <a:rPr lang="en-US" b="1" u="sng" dirty="0">
                <a:solidFill>
                  <a:srgbClr val="FFFFFF"/>
                </a:solidFill>
                <a:latin typeface="Gotham-Bold"/>
                <a:cs typeface="Gotham-Bold"/>
              </a:rPr>
              <a:t>CORDEIRO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1214624" y="711822"/>
            <a:ext cx="478575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CONTEXTO DA DISCIPLINA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62C5D4-C682-476A-9C9F-7CFC65773F7E}"/>
              </a:ext>
            </a:extLst>
          </p:cNvPr>
          <p:cNvSpPr txBox="1"/>
          <p:nvPr/>
        </p:nvSpPr>
        <p:spPr>
          <a:xfrm>
            <a:off x="3411643" y="2376581"/>
            <a:ext cx="53687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COM CERTEZA VOCÊ CONHECE</a:t>
            </a:r>
          </a:p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APLICATIVOS E SITES</a:t>
            </a:r>
          </a:p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“BONS” E “RUINS”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0B68604-7CEA-D963-276B-5AF285F216CF}"/>
              </a:ext>
            </a:extLst>
          </p:cNvPr>
          <p:cNvSpPr txBox="1"/>
          <p:nvPr/>
        </p:nvSpPr>
        <p:spPr>
          <a:xfrm>
            <a:off x="3781103" y="4796253"/>
            <a:ext cx="4629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O QUE DETERMINA ISSO ?</a:t>
            </a:r>
          </a:p>
        </p:txBody>
      </p:sp>
    </p:spTree>
    <p:extLst>
      <p:ext uri="{BB962C8B-B14F-4D97-AF65-F5344CB8AC3E}">
        <p14:creationId xmlns:p14="http://schemas.microsoft.com/office/powerpoint/2010/main" val="397084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7826-FC13-A839-88F8-152088DF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4E7FB8E-58C0-3F4C-2667-5B8DDA516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6941" y="4438651"/>
            <a:ext cx="4846660" cy="2179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0E966B01-9061-A343-A064-AB8D8F73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983" y="2244861"/>
            <a:ext cx="7245884" cy="3556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DF1C3EE-D947-5F0A-0A7A-BD5F8352BC61}"/>
              </a:ext>
            </a:extLst>
          </p:cNvPr>
          <p:cNvSpPr txBox="1"/>
          <p:nvPr/>
        </p:nvSpPr>
        <p:spPr>
          <a:xfrm>
            <a:off x="3882925" y="1529280"/>
            <a:ext cx="443140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50" b="1" dirty="0"/>
              <a:t>NBR ISO/IEC 9126-1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F3D389E-7A2C-FA9B-6CED-0E7970E50DE2}"/>
              </a:ext>
            </a:extLst>
          </p:cNvPr>
          <p:cNvSpPr/>
          <p:nvPr/>
        </p:nvSpPr>
        <p:spPr>
          <a:xfrm>
            <a:off x="1214624" y="703901"/>
            <a:ext cx="478575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QUALIDADE DE SOFTWARE</a:t>
            </a:r>
          </a:p>
        </p:txBody>
      </p:sp>
    </p:spTree>
    <p:extLst>
      <p:ext uri="{BB962C8B-B14F-4D97-AF65-F5344CB8AC3E}">
        <p14:creationId xmlns:p14="http://schemas.microsoft.com/office/powerpoint/2010/main" val="210144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55AF-A3C0-CBC1-2265-A2B12BEC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0D98C8F-A9B0-99C0-8965-E67FDCF8C6EB}"/>
              </a:ext>
            </a:extLst>
          </p:cNvPr>
          <p:cNvSpPr txBox="1"/>
          <p:nvPr/>
        </p:nvSpPr>
        <p:spPr>
          <a:xfrm>
            <a:off x="3882925" y="1529280"/>
            <a:ext cx="443140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50" b="1" dirty="0"/>
              <a:t>NBR ISO/IEC 9126-1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A50B816B-8B31-2636-CB2D-0A5B1A070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6911" y="2124075"/>
            <a:ext cx="8391874" cy="411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de cantos arredondados 1">
            <a:extLst>
              <a:ext uri="{FF2B5EF4-FFF2-40B4-BE49-F238E27FC236}">
                <a16:creationId xmlns:a16="http://schemas.microsoft.com/office/drawing/2014/main" id="{F7526A5A-CFE8-1D3F-818F-712B70432582}"/>
              </a:ext>
            </a:extLst>
          </p:cNvPr>
          <p:cNvSpPr/>
          <p:nvPr/>
        </p:nvSpPr>
        <p:spPr>
          <a:xfrm>
            <a:off x="4793167" y="3792538"/>
            <a:ext cx="1121857" cy="298470"/>
          </a:xfrm>
          <a:prstGeom prst="roundRect">
            <a:avLst>
              <a:gd name="adj" fmla="val 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de cantos arredondados 11">
            <a:extLst>
              <a:ext uri="{FF2B5EF4-FFF2-40B4-BE49-F238E27FC236}">
                <a16:creationId xmlns:a16="http://schemas.microsoft.com/office/drawing/2014/main" id="{985C0939-68E6-E3A3-EE6C-554880D9EEE8}"/>
              </a:ext>
            </a:extLst>
          </p:cNvPr>
          <p:cNvSpPr/>
          <p:nvPr/>
        </p:nvSpPr>
        <p:spPr>
          <a:xfrm>
            <a:off x="4774118" y="4402588"/>
            <a:ext cx="1131382" cy="1642176"/>
          </a:xfrm>
          <a:prstGeom prst="roundRect">
            <a:avLst>
              <a:gd name="adj" fmla="val 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C2BC29-455B-B39F-5A86-01D94A42C896}"/>
              </a:ext>
            </a:extLst>
          </p:cNvPr>
          <p:cNvSpPr txBox="1"/>
          <p:nvPr/>
        </p:nvSpPr>
        <p:spPr>
          <a:xfrm>
            <a:off x="2839459" y="6148186"/>
            <a:ext cx="73793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/>
              <a:t>ATRIBUTOS RELATIVOS À USABILIDADE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A2F01F6-C1BB-9B48-5558-2B53D8B5EBD9}"/>
              </a:ext>
            </a:extLst>
          </p:cNvPr>
          <p:cNvSpPr/>
          <p:nvPr/>
        </p:nvSpPr>
        <p:spPr>
          <a:xfrm>
            <a:off x="1214976" y="703901"/>
            <a:ext cx="478575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USABILIDADE DE SOFTWARE</a:t>
            </a:r>
          </a:p>
        </p:txBody>
      </p:sp>
      <p:sp>
        <p:nvSpPr>
          <p:cNvPr id="3" name="Retângulo de cantos arredondados 1">
            <a:extLst>
              <a:ext uri="{FF2B5EF4-FFF2-40B4-BE49-F238E27FC236}">
                <a16:creationId xmlns:a16="http://schemas.microsoft.com/office/drawing/2014/main" id="{F27388D2-F1DB-17B8-1A0B-F111400BA798}"/>
              </a:ext>
            </a:extLst>
          </p:cNvPr>
          <p:cNvSpPr/>
          <p:nvPr/>
        </p:nvSpPr>
        <p:spPr>
          <a:xfrm>
            <a:off x="3512054" y="3792538"/>
            <a:ext cx="1121857" cy="298470"/>
          </a:xfrm>
          <a:prstGeom prst="roundRect">
            <a:avLst>
              <a:gd name="adj" fmla="val 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4" name="Retângulo de cantos arredondados 1">
            <a:extLst>
              <a:ext uri="{FF2B5EF4-FFF2-40B4-BE49-F238E27FC236}">
                <a16:creationId xmlns:a16="http://schemas.microsoft.com/office/drawing/2014/main" id="{9D759CEC-4D13-BC0C-E02D-1F619803961A}"/>
              </a:ext>
            </a:extLst>
          </p:cNvPr>
          <p:cNvSpPr/>
          <p:nvPr/>
        </p:nvSpPr>
        <p:spPr>
          <a:xfrm>
            <a:off x="6086475" y="3792538"/>
            <a:ext cx="1121857" cy="298470"/>
          </a:xfrm>
          <a:prstGeom prst="roundRect">
            <a:avLst>
              <a:gd name="adj" fmla="val 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6" name="Retângulo de cantos arredondados 1">
            <a:extLst>
              <a:ext uri="{FF2B5EF4-FFF2-40B4-BE49-F238E27FC236}">
                <a16:creationId xmlns:a16="http://schemas.microsoft.com/office/drawing/2014/main" id="{B180A7A7-C07C-2BC5-685C-E68D205404A3}"/>
              </a:ext>
            </a:extLst>
          </p:cNvPr>
          <p:cNvSpPr/>
          <p:nvPr/>
        </p:nvSpPr>
        <p:spPr>
          <a:xfrm>
            <a:off x="2218746" y="3792538"/>
            <a:ext cx="1121857" cy="298470"/>
          </a:xfrm>
          <a:prstGeom prst="roundRect">
            <a:avLst>
              <a:gd name="adj" fmla="val 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279951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3" grpId="0" animBg="1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747BB5C-CD6A-5B9A-1735-DFFED19D1419}"/>
              </a:ext>
            </a:extLst>
          </p:cNvPr>
          <p:cNvSpPr/>
          <p:nvPr/>
        </p:nvSpPr>
        <p:spPr>
          <a:xfrm>
            <a:off x="5819776" y="2343150"/>
            <a:ext cx="4981574" cy="3500853"/>
          </a:xfrm>
          <a:prstGeom prst="roundRect">
            <a:avLst>
              <a:gd name="adj" fmla="val 9260"/>
            </a:avLst>
          </a:prstGeom>
          <a:solidFill>
            <a:schemeClr val="bg2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3C8DF21-409E-4B81-9EA5-AD6938A4C13D}"/>
              </a:ext>
            </a:extLst>
          </p:cNvPr>
          <p:cNvSpPr/>
          <p:nvPr/>
        </p:nvSpPr>
        <p:spPr>
          <a:xfrm>
            <a:off x="1155433" y="703901"/>
            <a:ext cx="727895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USABILIDADE X QUALIDADE DO SOFTWARE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A27344-EE86-4C96-8319-3871F4714D0C}"/>
              </a:ext>
            </a:extLst>
          </p:cNvPr>
          <p:cNvSpPr txBox="1"/>
          <p:nvPr/>
        </p:nvSpPr>
        <p:spPr>
          <a:xfrm>
            <a:off x="3316001" y="1250504"/>
            <a:ext cx="5857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b="1" dirty="0"/>
              <a:t>NBR ISO/IEC 9126-1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1C4A847-5793-4437-AC1D-676B8F0C1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6035" y="2726665"/>
            <a:ext cx="8820187" cy="256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45BDF8-1E42-4DF1-9782-1D298CDAD3CF}"/>
              </a:ext>
            </a:extLst>
          </p:cNvPr>
          <p:cNvSpPr txBox="1"/>
          <p:nvPr/>
        </p:nvSpPr>
        <p:spPr>
          <a:xfrm>
            <a:off x="3942241" y="5174937"/>
            <a:ext cx="1705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IMPLEMENTAÇÃO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SOFTWARE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409EBDE-A45D-4CC3-A2C7-ACC161CEC986}"/>
              </a:ext>
            </a:extLst>
          </p:cNvPr>
          <p:cNvSpPr txBox="1"/>
          <p:nvPr/>
        </p:nvSpPr>
        <p:spPr>
          <a:xfrm>
            <a:off x="5901684" y="5174937"/>
            <a:ext cx="1759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FUNCIONAMENTO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SOFTWARE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62C59B2-586D-4915-953E-18CF11CC4BE3}"/>
              </a:ext>
            </a:extLst>
          </p:cNvPr>
          <p:cNvSpPr txBox="1"/>
          <p:nvPr/>
        </p:nvSpPr>
        <p:spPr>
          <a:xfrm>
            <a:off x="8349657" y="5174937"/>
            <a:ext cx="1296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PERCEPÇÃO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USUÁRIO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6E4F68D-AF47-45F3-9219-5AB4379D7B33}"/>
              </a:ext>
            </a:extLst>
          </p:cNvPr>
          <p:cNvSpPr/>
          <p:nvPr/>
        </p:nvSpPr>
        <p:spPr>
          <a:xfrm>
            <a:off x="9845040" y="3794760"/>
            <a:ext cx="81153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2A8C1C-37EC-BFD6-D0C0-2667662D0804}"/>
              </a:ext>
            </a:extLst>
          </p:cNvPr>
          <p:cNvSpPr txBox="1"/>
          <p:nvPr/>
        </p:nvSpPr>
        <p:spPr>
          <a:xfrm>
            <a:off x="6847579" y="2462607"/>
            <a:ext cx="300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cap="small" dirty="0">
                <a:solidFill>
                  <a:schemeClr val="tx2"/>
                </a:solidFill>
              </a:rPr>
              <a:t>Experiência do Usuário</a:t>
            </a:r>
          </a:p>
        </p:txBody>
      </p:sp>
    </p:spTree>
    <p:extLst>
      <p:ext uri="{BB962C8B-B14F-4D97-AF65-F5344CB8AC3E}">
        <p14:creationId xmlns:p14="http://schemas.microsoft.com/office/powerpoint/2010/main" val="302428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0F4C-F209-E032-E322-33CF8723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43881084-5290-0C9C-709D-0298D63E635C}"/>
              </a:ext>
            </a:extLst>
          </p:cNvPr>
          <p:cNvSpPr/>
          <p:nvPr/>
        </p:nvSpPr>
        <p:spPr>
          <a:xfrm>
            <a:off x="1131896" y="703901"/>
            <a:ext cx="570395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Experiência DO USUÁRIO (UX)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44451F-4380-58F6-8BF7-78C0B9E3E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1" y="1526870"/>
            <a:ext cx="2778355" cy="291849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0B8E29E-EB5E-A16F-4FBA-7062F3D9A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525" y="1646600"/>
            <a:ext cx="5092454" cy="339497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F553BE-A058-3575-9F35-A6E223C01E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33" t="22607" r="10533" b="22607"/>
          <a:stretch/>
        </p:blipFill>
        <p:spPr>
          <a:xfrm>
            <a:off x="4289625" y="4580962"/>
            <a:ext cx="5092454" cy="205031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0639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9124-5C3D-95E9-F484-BCABF122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97F77DED-4BA9-950A-E9BB-80D745D61B4B}"/>
              </a:ext>
            </a:extLst>
          </p:cNvPr>
          <p:cNvSpPr/>
          <p:nvPr/>
        </p:nvSpPr>
        <p:spPr>
          <a:xfrm>
            <a:off x="1131896" y="703901"/>
            <a:ext cx="570395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Experiência DO USUÁRIO (UX)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D845B1-E1C8-622F-C090-6BE57170B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1" y="1526870"/>
            <a:ext cx="2778355" cy="291849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2FF798B-1EE4-F281-9AC5-60D6A38EA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525" y="1646600"/>
            <a:ext cx="5092454" cy="339497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89FA97-9EB4-72BA-5DC3-68E1A1E4C1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33" t="22607" r="10533" b="22607"/>
          <a:stretch/>
        </p:blipFill>
        <p:spPr>
          <a:xfrm>
            <a:off x="2099134" y="2011759"/>
            <a:ext cx="7212506" cy="2903881"/>
          </a:xfrm>
          <a:prstGeom prst="rect">
            <a:avLst/>
          </a:prstGeom>
          <a:ln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DB9CBDF-6878-B63B-8EEA-EEDF6202E011}"/>
              </a:ext>
            </a:extLst>
          </p:cNvPr>
          <p:cNvSpPr/>
          <p:nvPr/>
        </p:nvSpPr>
        <p:spPr>
          <a:xfrm>
            <a:off x="5638800" y="3610028"/>
            <a:ext cx="778933" cy="93133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879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B3E8-1309-865B-30E1-EC244138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C9B0B9F-BF3A-86ED-A1E1-28916FFB5954}"/>
              </a:ext>
            </a:extLst>
          </p:cNvPr>
          <p:cNvSpPr/>
          <p:nvPr/>
        </p:nvSpPr>
        <p:spPr>
          <a:xfrm>
            <a:off x="1131896" y="703901"/>
            <a:ext cx="570395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INTERAÇÃO HOMEM-COMPUTADOR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E2FDFC-C448-67DE-AA12-7FCE35665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792" t="54874" r="11237" b="27555"/>
          <a:stretch>
            <a:fillRect/>
          </a:stretch>
        </p:blipFill>
        <p:spPr>
          <a:xfrm>
            <a:off x="6988375" y="4869857"/>
            <a:ext cx="1002513" cy="93133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0880FED-FF06-6581-0288-BFA9B48171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9086" t="53261" r="41833" b="30606"/>
          <a:stretch>
            <a:fillRect/>
          </a:stretch>
        </p:blipFill>
        <p:spPr>
          <a:xfrm>
            <a:off x="5051856" y="2947158"/>
            <a:ext cx="1811867" cy="186732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55854E-0421-77FA-14DB-0921235DCB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40" t="29022" r="28040" b="54590"/>
          <a:stretch>
            <a:fillRect/>
          </a:stretch>
        </p:blipFill>
        <p:spPr>
          <a:xfrm>
            <a:off x="4806322" y="1793738"/>
            <a:ext cx="2455333" cy="53143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D8236EA-83BD-82DF-45B2-E46DC1D93C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3" t="54887" r="78495" b="29938"/>
          <a:stretch>
            <a:fillRect/>
          </a:stretch>
        </p:blipFill>
        <p:spPr>
          <a:xfrm>
            <a:off x="3338966" y="3768918"/>
            <a:ext cx="1002513" cy="80433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7EF5BF-28A5-1FD8-A5AA-218286346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46" t="53916" r="69317" b="29152"/>
          <a:stretch>
            <a:fillRect/>
          </a:stretch>
        </p:blipFill>
        <p:spPr>
          <a:xfrm>
            <a:off x="4026759" y="4869857"/>
            <a:ext cx="880534" cy="89746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AFF82A2-3D22-D71A-4CF9-3936F4A84E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04" t="53331" r="57925" b="29737"/>
          <a:stretch>
            <a:fillRect/>
          </a:stretch>
        </p:blipFill>
        <p:spPr>
          <a:xfrm>
            <a:off x="5633702" y="5151628"/>
            <a:ext cx="1002513" cy="89746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0D461B6-C516-6247-F26F-000E875E14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544" t="54075" r="50692" b="28993"/>
          <a:stretch>
            <a:fillRect/>
          </a:stretch>
        </p:blipFill>
        <p:spPr>
          <a:xfrm>
            <a:off x="7858792" y="2532292"/>
            <a:ext cx="618067" cy="89746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EC3AD51-EADA-2505-D630-F274F1D3BD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925" t="53916" r="30400" b="30430"/>
          <a:stretch>
            <a:fillRect/>
          </a:stretch>
        </p:blipFill>
        <p:spPr>
          <a:xfrm>
            <a:off x="3525500" y="2532292"/>
            <a:ext cx="1066800" cy="82973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347AF5C-E28B-8BB0-1494-06249E4B16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93" t="53375" r="21875" b="30271"/>
          <a:stretch>
            <a:fillRect/>
          </a:stretch>
        </p:blipFill>
        <p:spPr>
          <a:xfrm>
            <a:off x="7916330" y="3716378"/>
            <a:ext cx="770468" cy="86685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44732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63C8DF21-409E-4B81-9EA5-AD6938A4C13D}"/>
              </a:ext>
            </a:extLst>
          </p:cNvPr>
          <p:cNvSpPr/>
          <p:nvPr/>
        </p:nvSpPr>
        <p:spPr>
          <a:xfrm>
            <a:off x="1133669" y="703901"/>
            <a:ext cx="732248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USABILIDADE X ENGENHARIA DE SOFTWARE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A27344-EE86-4C96-8319-3871F4714D0C}"/>
              </a:ext>
            </a:extLst>
          </p:cNvPr>
          <p:cNvSpPr txBox="1"/>
          <p:nvPr/>
        </p:nvSpPr>
        <p:spPr>
          <a:xfrm>
            <a:off x="3316001" y="1250504"/>
            <a:ext cx="5857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b="1" dirty="0"/>
              <a:t>NBR ISO/IEC 9126-1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45BDF8-1E42-4DF1-9782-1D298CDAD3CF}"/>
              </a:ext>
            </a:extLst>
          </p:cNvPr>
          <p:cNvSpPr txBox="1"/>
          <p:nvPr/>
        </p:nvSpPr>
        <p:spPr>
          <a:xfrm>
            <a:off x="3942241" y="5189005"/>
            <a:ext cx="1705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IMPLEMENTAÇÃO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SOFTWARE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409EBDE-A45D-4CC3-A2C7-ACC161CEC986}"/>
              </a:ext>
            </a:extLst>
          </p:cNvPr>
          <p:cNvSpPr txBox="1"/>
          <p:nvPr/>
        </p:nvSpPr>
        <p:spPr>
          <a:xfrm>
            <a:off x="5901684" y="5189005"/>
            <a:ext cx="1759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FUNCIONAMENTO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SOFTWARE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62C59B2-586D-4915-953E-18CF11CC4BE3}"/>
              </a:ext>
            </a:extLst>
          </p:cNvPr>
          <p:cNvSpPr txBox="1"/>
          <p:nvPr/>
        </p:nvSpPr>
        <p:spPr>
          <a:xfrm>
            <a:off x="8349657" y="5189005"/>
            <a:ext cx="1296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PERCEPÇÃO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DO USUÁRIO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3CDCB53-1F50-4CD6-B185-407C2A742818}"/>
              </a:ext>
            </a:extLst>
          </p:cNvPr>
          <p:cNvSpPr txBox="1"/>
          <p:nvPr/>
        </p:nvSpPr>
        <p:spPr>
          <a:xfrm>
            <a:off x="1976133" y="2050883"/>
            <a:ext cx="8433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ENGENHARIA DE SOFTWARE - QUALIDADE DO PRODUTO</a:t>
            </a:r>
            <a:endParaRPr lang="pt-BR" sz="2400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9C4A1170-9207-4874-B0D9-8ADBD5001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6035" y="2726665"/>
            <a:ext cx="8820187" cy="256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17FD74D7-F36C-4636-870F-166059FC5F95}"/>
              </a:ext>
            </a:extLst>
          </p:cNvPr>
          <p:cNvSpPr txBox="1"/>
          <p:nvPr/>
        </p:nvSpPr>
        <p:spPr>
          <a:xfrm>
            <a:off x="2041106" y="5160868"/>
            <a:ext cx="1409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ENGENHARIA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DE SOFTWARE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22" name="Retângulo de cantos arredondados 1">
            <a:extLst>
              <a:ext uri="{FF2B5EF4-FFF2-40B4-BE49-F238E27FC236}">
                <a16:creationId xmlns:a16="http://schemas.microsoft.com/office/drawing/2014/main" id="{6A92463B-0838-4D59-B75C-8D608455DC2F}"/>
              </a:ext>
            </a:extLst>
          </p:cNvPr>
          <p:cNvSpPr/>
          <p:nvPr/>
        </p:nvSpPr>
        <p:spPr>
          <a:xfrm>
            <a:off x="2000196" y="2920006"/>
            <a:ext cx="1474335" cy="2825637"/>
          </a:xfrm>
          <a:prstGeom prst="roundRect">
            <a:avLst>
              <a:gd name="adj" fmla="val 10954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de cantos arredondados 13">
            <a:extLst>
              <a:ext uri="{FF2B5EF4-FFF2-40B4-BE49-F238E27FC236}">
                <a16:creationId xmlns:a16="http://schemas.microsoft.com/office/drawing/2014/main" id="{88A2BB53-FEA3-4BC5-BCCC-55B7DC439589}"/>
              </a:ext>
            </a:extLst>
          </p:cNvPr>
          <p:cNvSpPr/>
          <p:nvPr/>
        </p:nvSpPr>
        <p:spPr>
          <a:xfrm>
            <a:off x="3857898" y="5215909"/>
            <a:ext cx="5847284" cy="783173"/>
          </a:xfrm>
          <a:prstGeom prst="roundRect">
            <a:avLst>
              <a:gd name="adj" fmla="val 2793"/>
            </a:avLst>
          </a:prstGeom>
          <a:solidFill>
            <a:srgbClr val="FFFFCC"/>
          </a:solidFill>
          <a:ln w="635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ATRIBUTOS DE USABILIDADE, DE UX E DEMAIS ASPECTOS DA </a:t>
            </a:r>
            <a:r>
              <a:rPr lang="pt-BR" sz="1600" b="1" dirty="0">
                <a:solidFill>
                  <a:schemeClr val="tx1"/>
                </a:solidFill>
              </a:rPr>
              <a:t>IHC</a:t>
            </a:r>
            <a:r>
              <a:rPr lang="pt-BR" sz="1600" dirty="0">
                <a:solidFill>
                  <a:schemeClr val="tx1"/>
                </a:solidFill>
              </a:rPr>
              <a:t> PRECISAM SER CONSIDERADOS E GARANTIDOS DESDE O PROCESSO DE ANÁLISE DOS REQUISITOS DO SISTEMA</a:t>
            </a:r>
          </a:p>
        </p:txBody>
      </p:sp>
    </p:spTree>
    <p:extLst>
      <p:ext uri="{BB962C8B-B14F-4D97-AF65-F5344CB8AC3E}">
        <p14:creationId xmlns:p14="http://schemas.microsoft.com/office/powerpoint/2010/main" val="371295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3FBB-B3B5-3CEA-59D6-3AE321E5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66D3815-C73D-899A-E417-DD631455CC68}"/>
              </a:ext>
            </a:extLst>
          </p:cNvPr>
          <p:cNvSpPr/>
          <p:nvPr/>
        </p:nvSpPr>
        <p:spPr>
          <a:xfrm>
            <a:off x="1186509" y="703901"/>
            <a:ext cx="478575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CONTEXTO DA DISCIPLINA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3FADFEC-95B0-36A9-674D-E212E40E151D}"/>
              </a:ext>
            </a:extLst>
          </p:cNvPr>
          <p:cNvSpPr txBox="1"/>
          <p:nvPr/>
        </p:nvSpPr>
        <p:spPr>
          <a:xfrm>
            <a:off x="958130" y="3674674"/>
            <a:ext cx="3255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QUALIDADE DE SOFTWARE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EC4B02-4A7A-E39D-4842-2CDA977FBC6D}"/>
              </a:ext>
            </a:extLst>
          </p:cNvPr>
          <p:cNvSpPr txBox="1"/>
          <p:nvPr/>
        </p:nvSpPr>
        <p:spPr>
          <a:xfrm>
            <a:off x="7829317" y="3680056"/>
            <a:ext cx="3467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ENGENHARIA DE SOFTWARE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8563BC-89F7-C48D-701E-1A823BBA0150}"/>
              </a:ext>
            </a:extLst>
          </p:cNvPr>
          <p:cNvSpPr txBox="1"/>
          <p:nvPr/>
        </p:nvSpPr>
        <p:spPr>
          <a:xfrm>
            <a:off x="2907081" y="1949862"/>
            <a:ext cx="6377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INTERAÇÃO HOMEM-COMPUTADOR</a:t>
            </a:r>
          </a:p>
        </p:txBody>
      </p:sp>
      <p:sp>
        <p:nvSpPr>
          <p:cNvPr id="10" name="Seta: de Cima para Baixo 9">
            <a:extLst>
              <a:ext uri="{FF2B5EF4-FFF2-40B4-BE49-F238E27FC236}">
                <a16:creationId xmlns:a16="http://schemas.microsoft.com/office/drawing/2014/main" id="{F875930C-F7E5-9A78-86E6-EEEBF3843523}"/>
              </a:ext>
            </a:extLst>
          </p:cNvPr>
          <p:cNvSpPr/>
          <p:nvPr/>
        </p:nvSpPr>
        <p:spPr>
          <a:xfrm rot="5400000">
            <a:off x="5796940" y="2163983"/>
            <a:ext cx="437446" cy="4003088"/>
          </a:xfrm>
          <a:prstGeom prst="up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de Cima para Baixo 10">
            <a:extLst>
              <a:ext uri="{FF2B5EF4-FFF2-40B4-BE49-F238E27FC236}">
                <a16:creationId xmlns:a16="http://schemas.microsoft.com/office/drawing/2014/main" id="{B05107E2-7A68-847D-F7E6-3DD10D76B262}"/>
              </a:ext>
            </a:extLst>
          </p:cNvPr>
          <p:cNvSpPr/>
          <p:nvPr/>
        </p:nvSpPr>
        <p:spPr>
          <a:xfrm rot="20022309">
            <a:off x="8455489" y="2782286"/>
            <a:ext cx="373876" cy="882282"/>
          </a:xfrm>
          <a:prstGeom prst="up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C5318E-2266-570B-CAB7-12612D210B33}"/>
              </a:ext>
            </a:extLst>
          </p:cNvPr>
          <p:cNvSpPr txBox="1"/>
          <p:nvPr/>
        </p:nvSpPr>
        <p:spPr>
          <a:xfrm>
            <a:off x="4012585" y="5538268"/>
            <a:ext cx="40046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75000"/>
                  </a:schemeClr>
                </a:solidFill>
              </a:rPr>
              <a:t>USER EXPERIENCE</a:t>
            </a:r>
          </a:p>
        </p:txBody>
      </p:sp>
      <p:sp>
        <p:nvSpPr>
          <p:cNvPr id="15" name="Seta: de Cima para Baixo 14">
            <a:extLst>
              <a:ext uri="{FF2B5EF4-FFF2-40B4-BE49-F238E27FC236}">
                <a16:creationId xmlns:a16="http://schemas.microsoft.com/office/drawing/2014/main" id="{55BB5782-AA43-1D6C-7520-76F8FE4BE314}"/>
              </a:ext>
            </a:extLst>
          </p:cNvPr>
          <p:cNvSpPr/>
          <p:nvPr/>
        </p:nvSpPr>
        <p:spPr>
          <a:xfrm rot="1577691" flipH="1">
            <a:off x="3151895" y="2786051"/>
            <a:ext cx="373876" cy="809539"/>
          </a:xfrm>
          <a:prstGeom prst="up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de Cima para Baixo 17">
            <a:extLst>
              <a:ext uri="{FF2B5EF4-FFF2-40B4-BE49-F238E27FC236}">
                <a16:creationId xmlns:a16="http://schemas.microsoft.com/office/drawing/2014/main" id="{D3018A4F-97A5-074A-B841-6ACCB3692836}"/>
              </a:ext>
            </a:extLst>
          </p:cNvPr>
          <p:cNvSpPr/>
          <p:nvPr/>
        </p:nvSpPr>
        <p:spPr>
          <a:xfrm rot="1577691" flipV="1">
            <a:off x="8468813" y="4722966"/>
            <a:ext cx="373876" cy="882282"/>
          </a:xfrm>
          <a:prstGeom prst="up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de Cima para Baixo 18">
            <a:extLst>
              <a:ext uri="{FF2B5EF4-FFF2-40B4-BE49-F238E27FC236}">
                <a16:creationId xmlns:a16="http://schemas.microsoft.com/office/drawing/2014/main" id="{EE3B55D5-8520-B413-8973-58D834202631}"/>
              </a:ext>
            </a:extLst>
          </p:cNvPr>
          <p:cNvSpPr/>
          <p:nvPr/>
        </p:nvSpPr>
        <p:spPr>
          <a:xfrm rot="20022309" flipH="1" flipV="1">
            <a:off x="3254030" y="4709456"/>
            <a:ext cx="373876" cy="809539"/>
          </a:xfrm>
          <a:prstGeom prst="up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6685187-E81E-6E69-7EC5-7B268CF8A201}"/>
              </a:ext>
            </a:extLst>
          </p:cNvPr>
          <p:cNvGrpSpPr/>
          <p:nvPr/>
        </p:nvGrpSpPr>
        <p:grpSpPr>
          <a:xfrm>
            <a:off x="4351801" y="2877042"/>
            <a:ext cx="3337674" cy="2422970"/>
            <a:chOff x="4351801" y="2877042"/>
            <a:chExt cx="3337674" cy="242297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BD113715-B87E-8878-D5DB-CD6DC6DDCC0A}"/>
                </a:ext>
              </a:extLst>
            </p:cNvPr>
            <p:cNvSpPr/>
            <p:nvPr/>
          </p:nvSpPr>
          <p:spPr>
            <a:xfrm>
              <a:off x="4351801" y="2877042"/>
              <a:ext cx="3337674" cy="2422970"/>
            </a:xfrm>
            <a:prstGeom prst="ellipse">
              <a:avLst/>
            </a:prstGeom>
            <a:blipFill dpi="0" rotWithShape="1">
              <a:blip r:embed="rId2" cstate="email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0A962EAF-B279-BEA3-11B6-CB592787A2EA}"/>
                </a:ext>
              </a:extLst>
            </p:cNvPr>
            <p:cNvSpPr txBox="1"/>
            <p:nvPr/>
          </p:nvSpPr>
          <p:spPr>
            <a:xfrm>
              <a:off x="4450775" y="3688474"/>
              <a:ext cx="313972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HUMAN-CENTERED 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41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9" grpId="0"/>
      <p:bldP spid="10" grpId="0" animBg="1"/>
      <p:bldP spid="11" grpId="0" animBg="1"/>
      <p:bldP spid="12" grpId="0"/>
      <p:bldP spid="15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2483904" y="703901"/>
            <a:ext cx="590873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Conceitos e Prática de Marketing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22172B-B0D0-4097-89E9-DE2E2F4DF69B}"/>
              </a:ext>
            </a:extLst>
          </p:cNvPr>
          <p:cNvSpPr/>
          <p:nvPr/>
        </p:nvSpPr>
        <p:spPr>
          <a:xfrm>
            <a:off x="1156138" y="703901"/>
            <a:ext cx="723649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TRANSFORMAÇÃO DIGITAL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E11C676-5A88-4537-99C1-755630178C34}"/>
              </a:ext>
            </a:extLst>
          </p:cNvPr>
          <p:cNvSpPr txBox="1"/>
          <p:nvPr/>
        </p:nvSpPr>
        <p:spPr>
          <a:xfrm>
            <a:off x="1650672" y="1587106"/>
            <a:ext cx="52050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C00000"/>
                </a:solidFill>
                <a:latin typeface="Calibri Light" panose="020F0302020204030204"/>
              </a:rPr>
              <a:t>TRANSFORMAÇÃO CONSTANTE E  ACELERADA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FFA4657-21D7-4DB0-AF61-A311850C423E}"/>
              </a:ext>
            </a:extLst>
          </p:cNvPr>
          <p:cNvSpPr txBox="1"/>
          <p:nvPr/>
        </p:nvSpPr>
        <p:spPr>
          <a:xfrm>
            <a:off x="7058467" y="3633071"/>
            <a:ext cx="2014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INDÚSTRIA 4.0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8DD4BE2-1C56-46F2-87A3-4D8D0407BD93}"/>
              </a:ext>
            </a:extLst>
          </p:cNvPr>
          <p:cNvSpPr txBox="1"/>
          <p:nvPr/>
        </p:nvSpPr>
        <p:spPr>
          <a:xfrm>
            <a:off x="8065859" y="2546705"/>
            <a:ext cx="2180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MARKETING 4.0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94E533-C2F0-4DFE-A909-F1049BCEE881}"/>
              </a:ext>
            </a:extLst>
          </p:cNvPr>
          <p:cNvSpPr txBox="1"/>
          <p:nvPr/>
        </p:nvSpPr>
        <p:spPr>
          <a:xfrm>
            <a:off x="8313395" y="2184582"/>
            <a:ext cx="1994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INOVAÇÃO 4.0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7990A75-BDC2-402D-984C-9F915C8AF55F}"/>
              </a:ext>
            </a:extLst>
          </p:cNvPr>
          <p:cNvSpPr txBox="1"/>
          <p:nvPr/>
        </p:nvSpPr>
        <p:spPr>
          <a:xfrm>
            <a:off x="8648192" y="1822459"/>
            <a:ext cx="2079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SOCIEDADE 5.0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C639288-BCBB-4ED4-8D90-7F8F3B89C6C6}"/>
              </a:ext>
            </a:extLst>
          </p:cNvPr>
          <p:cNvSpPr txBox="1"/>
          <p:nvPr/>
        </p:nvSpPr>
        <p:spPr>
          <a:xfrm>
            <a:off x="7360056" y="3270951"/>
            <a:ext cx="1906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 kern="0" dirty="0">
                <a:solidFill>
                  <a:schemeClr val="accent3">
                    <a:lumMod val="50000"/>
                  </a:schemeClr>
                </a:solidFill>
              </a:rPr>
              <a:t>SMART CITIES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BD310F3C-2D36-4684-9D17-AB3F57FCF0B5}"/>
              </a:ext>
            </a:extLst>
          </p:cNvPr>
          <p:cNvSpPr txBox="1"/>
          <p:nvPr/>
        </p:nvSpPr>
        <p:spPr>
          <a:xfrm>
            <a:off x="7728810" y="2908828"/>
            <a:ext cx="1793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BIOHACKING</a:t>
            </a:r>
          </a:p>
        </p:txBody>
      </p: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43C93144-0B68-4611-B6AF-32549C00D1EC}"/>
              </a:ext>
            </a:extLst>
          </p:cNvPr>
          <p:cNvCxnSpPr>
            <a:cxnSpLocks/>
          </p:cNvCxnSpPr>
          <p:nvPr/>
        </p:nvCxnSpPr>
        <p:spPr>
          <a:xfrm>
            <a:off x="1823539" y="4065021"/>
            <a:ext cx="8713832" cy="0"/>
          </a:xfrm>
          <a:prstGeom prst="line">
            <a:avLst/>
          </a:prstGeom>
          <a:noFill/>
          <a:ln w="63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A31A8E68-EC54-4E79-96E1-C00B6BC3F85B}"/>
              </a:ext>
            </a:extLst>
          </p:cNvPr>
          <p:cNvSpPr txBox="1"/>
          <p:nvPr/>
        </p:nvSpPr>
        <p:spPr>
          <a:xfrm>
            <a:off x="8968701" y="1460336"/>
            <a:ext cx="2014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INDÚSTRIA 5.0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D107C3C2-42FD-49B3-B41E-3DB7B2236080}"/>
              </a:ext>
            </a:extLst>
          </p:cNvPr>
          <p:cNvSpPr txBox="1"/>
          <p:nvPr/>
        </p:nvSpPr>
        <p:spPr>
          <a:xfrm>
            <a:off x="9356757" y="1098213"/>
            <a:ext cx="898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3">
                    <a:lumMod val="50000"/>
                  </a:schemeClr>
                </a:solidFill>
              </a:rPr>
              <a:t>?????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4C218FB7-5FAC-421C-BC49-BD752306A016}"/>
              </a:ext>
            </a:extLst>
          </p:cNvPr>
          <p:cNvSpPr txBox="1"/>
          <p:nvPr/>
        </p:nvSpPr>
        <p:spPr>
          <a:xfrm>
            <a:off x="3943319" y="4622325"/>
            <a:ext cx="2546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INTELIGÊNCIA ARTIFICIAL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B4107557-4B76-4B7D-B324-6D086E597696}"/>
              </a:ext>
            </a:extLst>
          </p:cNvPr>
          <p:cNvSpPr txBox="1"/>
          <p:nvPr/>
        </p:nvSpPr>
        <p:spPr>
          <a:xfrm>
            <a:off x="2734037" y="5806527"/>
            <a:ext cx="2085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VOICE RECOGNITION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A9E11F3F-BA12-44C2-BCC5-4CAAAAE974E1}"/>
              </a:ext>
            </a:extLst>
          </p:cNvPr>
          <p:cNvSpPr txBox="1"/>
          <p:nvPr/>
        </p:nvSpPr>
        <p:spPr>
          <a:xfrm>
            <a:off x="2043820" y="4966863"/>
            <a:ext cx="2522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REALIDADE AUMENTADA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4A5C77B-4625-4068-B298-62F3272F6A63}"/>
              </a:ext>
            </a:extLst>
          </p:cNvPr>
          <p:cNvSpPr txBox="1"/>
          <p:nvPr/>
        </p:nvSpPr>
        <p:spPr>
          <a:xfrm>
            <a:off x="4316827" y="5531248"/>
            <a:ext cx="1526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BLOCKCHAIN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D022D44-0242-4C22-A1F6-CD105EDACE63}"/>
              </a:ext>
            </a:extLst>
          </p:cNvPr>
          <p:cNvSpPr txBox="1"/>
          <p:nvPr/>
        </p:nvSpPr>
        <p:spPr>
          <a:xfrm>
            <a:off x="4637040" y="5126598"/>
            <a:ext cx="227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INTERNET DAS COISAS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4D954EDB-6694-46A4-B287-2FDB786B61E6}"/>
              </a:ext>
            </a:extLst>
          </p:cNvPr>
          <p:cNvSpPr txBox="1"/>
          <p:nvPr/>
        </p:nvSpPr>
        <p:spPr>
          <a:xfrm>
            <a:off x="3199910" y="4191584"/>
            <a:ext cx="2043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CONECTIVIDADE 6G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27F5574D-2E49-4C8B-BFF1-AFEB1C202AB3}"/>
              </a:ext>
            </a:extLst>
          </p:cNvPr>
          <p:cNvSpPr txBox="1"/>
          <p:nvPr/>
        </p:nvSpPr>
        <p:spPr>
          <a:xfrm>
            <a:off x="1650672" y="4504006"/>
            <a:ext cx="1990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REALIDADE VIRTUAL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F9D12BEE-861A-4643-AC8C-4BCAB57AB0CA}"/>
              </a:ext>
            </a:extLst>
          </p:cNvPr>
          <p:cNvSpPr txBox="1"/>
          <p:nvPr/>
        </p:nvSpPr>
        <p:spPr>
          <a:xfrm>
            <a:off x="1701815" y="5429720"/>
            <a:ext cx="2489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VISÃO COMPUTACIONAL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0D5BB1A6-B5AC-44F3-885E-58C0FEDF9276}"/>
              </a:ext>
            </a:extLst>
          </p:cNvPr>
          <p:cNvSpPr txBox="1"/>
          <p:nvPr/>
        </p:nvSpPr>
        <p:spPr>
          <a:xfrm>
            <a:off x="1762200" y="6145081"/>
            <a:ext cx="187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NANOTECNOLOGIA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EFA27700-C5CD-4560-A391-DADC47FF35AB}"/>
              </a:ext>
            </a:extLst>
          </p:cNvPr>
          <p:cNvSpPr txBox="1"/>
          <p:nvPr/>
        </p:nvSpPr>
        <p:spPr>
          <a:xfrm>
            <a:off x="4427781" y="6101617"/>
            <a:ext cx="2272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ROBÔS HUMANÓIDES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EC118F-8980-44C6-95D6-0E732034477B}"/>
              </a:ext>
            </a:extLst>
          </p:cNvPr>
          <p:cNvSpPr/>
          <p:nvPr/>
        </p:nvSpPr>
        <p:spPr>
          <a:xfrm>
            <a:off x="9368632" y="5975805"/>
            <a:ext cx="1311244" cy="7100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3" name="Imagem 82" descr="Uma imagem contendo pessoa, no interior, homem, segurando&#10;&#10;Descrição gerada automaticamente">
            <a:extLst>
              <a:ext uri="{FF2B5EF4-FFF2-40B4-BE49-F238E27FC236}">
                <a16:creationId xmlns:a16="http://schemas.microsoft.com/office/drawing/2014/main" id="{4069258F-ADA4-466A-A5E3-D8E039C633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721" y="4230409"/>
            <a:ext cx="3697465" cy="2079824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CF89CB-B7FF-46D8-880D-5D9EFE8D918C}"/>
              </a:ext>
            </a:extLst>
          </p:cNvPr>
          <p:cNvSpPr txBox="1"/>
          <p:nvPr/>
        </p:nvSpPr>
        <p:spPr>
          <a:xfrm>
            <a:off x="3728759" y="6454744"/>
            <a:ext cx="1398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600" b="1" kern="0" dirty="0">
                <a:solidFill>
                  <a:schemeClr val="accent1">
                    <a:lumMod val="50000"/>
                  </a:schemeClr>
                </a:solidFill>
              </a:rPr>
              <a:t>BIO HACKING</a:t>
            </a:r>
          </a:p>
        </p:txBody>
      </p:sp>
    </p:spTree>
    <p:extLst>
      <p:ext uri="{BB962C8B-B14F-4D97-AF65-F5344CB8AC3E}">
        <p14:creationId xmlns:p14="http://schemas.microsoft.com/office/powerpoint/2010/main" val="14670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7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2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7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2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75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81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122172B-B0D0-4097-89E9-DE2E2F4DF69B}"/>
              </a:ext>
            </a:extLst>
          </p:cNvPr>
          <p:cNvSpPr/>
          <p:nvPr/>
        </p:nvSpPr>
        <p:spPr>
          <a:xfrm>
            <a:off x="1219699" y="703901"/>
            <a:ext cx="607028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Diversidade de </a:t>
            </a:r>
            <a:r>
              <a:rPr lang="pt-BR" sz="2800" b="1" cap="all" dirty="0" err="1"/>
              <a:t>INTERfaces</a:t>
            </a:r>
            <a:endParaRPr lang="pt-BR" sz="2800" b="1" cap="all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B4AF3E0-5937-47F3-88B1-300DA1E17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830"/>
          <a:stretch/>
        </p:blipFill>
        <p:spPr>
          <a:xfrm>
            <a:off x="6216724" y="787675"/>
            <a:ext cx="1910457" cy="18274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1698D28-7ED6-4AF6-9173-1FA34B0C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32" y="3281511"/>
            <a:ext cx="1341720" cy="16100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7516723-62B3-408C-BBEC-1158DD32738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3765" y="3666872"/>
            <a:ext cx="1868284" cy="18682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36C5B8B-A0F1-4EF1-AF3F-2D5E65688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226" y="5039684"/>
            <a:ext cx="2206820" cy="147121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62B108B-DA72-4EBA-8A2C-89917AD40E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322" r="16437"/>
          <a:stretch/>
        </p:blipFill>
        <p:spPr>
          <a:xfrm>
            <a:off x="9148925" y="1153656"/>
            <a:ext cx="2158360" cy="34773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ABCDC0-F80F-4BBE-90A2-E7CED1AB8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52" y="1324412"/>
            <a:ext cx="2521624" cy="16989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1B7EEF1-8CEB-4F2C-9D1D-9059E7FA65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044" y="2929573"/>
            <a:ext cx="2236764" cy="13790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E4C255A-775A-4FBC-8B21-5D2B99BC709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H="1">
            <a:off x="7555436" y="1153656"/>
            <a:ext cx="1484800" cy="1131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A53CD70-B0B3-47F7-B751-9B2858D2DC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6702" y="1467031"/>
            <a:ext cx="2036075" cy="763528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5D7BE6B2-5531-23CB-354F-78EDD18D9DDB}"/>
              </a:ext>
            </a:extLst>
          </p:cNvPr>
          <p:cNvGrpSpPr/>
          <p:nvPr/>
        </p:nvGrpSpPr>
        <p:grpSpPr>
          <a:xfrm>
            <a:off x="3790996" y="2392155"/>
            <a:ext cx="2100901" cy="3143001"/>
            <a:chOff x="3937949" y="3320073"/>
            <a:chExt cx="2100901" cy="3143001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E05E8592-80B4-FBFB-5D0F-81BEEE2D4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6F8FA"/>
                </a:clrFrom>
                <a:clrTo>
                  <a:srgbClr val="F6F8FA">
                    <a:alpha val="0"/>
                  </a:srgbClr>
                </a:clrTo>
              </a:clrChange>
            </a:blip>
            <a:srcRect r="35662"/>
            <a:stretch>
              <a:fillRect/>
            </a:stretch>
          </p:blipFill>
          <p:spPr>
            <a:xfrm>
              <a:off x="3937949" y="3320073"/>
              <a:ext cx="2036075" cy="3143001"/>
            </a:xfrm>
            <a:prstGeom prst="rect">
              <a:avLst/>
            </a:prstGeom>
          </p:spPr>
        </p:pic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58C64851-5553-D999-F3EC-4AFA9CBCBA2D}"/>
                </a:ext>
              </a:extLst>
            </p:cNvPr>
            <p:cNvSpPr/>
            <p:nvPr/>
          </p:nvSpPr>
          <p:spPr>
            <a:xfrm>
              <a:off x="5343525" y="3371850"/>
              <a:ext cx="695325" cy="2000250"/>
            </a:xfrm>
            <a:custGeom>
              <a:avLst/>
              <a:gdLst>
                <a:gd name="csX0" fmla="*/ 114300 w 695325"/>
                <a:gd name="csY0" fmla="*/ 0 h 2000250"/>
                <a:gd name="csX1" fmla="*/ 0 w 695325"/>
                <a:gd name="csY1" fmla="*/ 1095375 h 2000250"/>
                <a:gd name="csX2" fmla="*/ 228600 w 695325"/>
                <a:gd name="csY2" fmla="*/ 1895475 h 2000250"/>
                <a:gd name="csX3" fmla="*/ 695325 w 695325"/>
                <a:gd name="csY3" fmla="*/ 2000250 h 2000250"/>
                <a:gd name="csX4" fmla="*/ 628650 w 695325"/>
                <a:gd name="csY4" fmla="*/ 0 h 2000250"/>
                <a:gd name="csX5" fmla="*/ 114300 w 695325"/>
                <a:gd name="csY5" fmla="*/ 0 h 2000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95325" h="2000250">
                  <a:moveTo>
                    <a:pt x="114300" y="0"/>
                  </a:moveTo>
                  <a:lnTo>
                    <a:pt x="0" y="1095375"/>
                  </a:lnTo>
                  <a:lnTo>
                    <a:pt x="228600" y="1895475"/>
                  </a:lnTo>
                  <a:lnTo>
                    <a:pt x="695325" y="2000250"/>
                  </a:lnTo>
                  <a:lnTo>
                    <a:pt x="62865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55BB5685-AF04-483B-832B-02AA4DFF1E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2993" y="5263511"/>
            <a:ext cx="2721508" cy="1307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479C87D-B48D-4301-8D71-46065C2804B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9110"/>
          <a:stretch/>
        </p:blipFill>
        <p:spPr>
          <a:xfrm>
            <a:off x="7479426" y="4750063"/>
            <a:ext cx="2636069" cy="12379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4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2483904" y="703901"/>
            <a:ext cx="590873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Conceitos e Prática de Marketing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22172B-B0D0-4097-89E9-DE2E2F4DF69B}"/>
              </a:ext>
            </a:extLst>
          </p:cNvPr>
          <p:cNvSpPr/>
          <p:nvPr/>
        </p:nvSpPr>
        <p:spPr>
          <a:xfrm>
            <a:off x="1147251" y="703901"/>
            <a:ext cx="607028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INTERAÇÕES PASSIVAS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195E891-24C2-E88E-2424-B4D886D01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52" y="2259865"/>
            <a:ext cx="6106301" cy="346427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A322A74-6D4A-2070-E5DE-98630DA1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031" y="792984"/>
            <a:ext cx="3118977" cy="20826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124330-50C4-532A-DDD2-09351F20C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106" y="3017243"/>
            <a:ext cx="3165895" cy="197560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4B9A53D-44BE-DD00-B03D-9C9A1310D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872" y="5134422"/>
            <a:ext cx="2399214" cy="172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9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0798-9C03-366B-6C8A-BAD62C45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07761920-3C82-3A48-B50E-B257FFBF31EF}"/>
              </a:ext>
            </a:extLst>
          </p:cNvPr>
          <p:cNvSpPr/>
          <p:nvPr/>
        </p:nvSpPr>
        <p:spPr>
          <a:xfrm>
            <a:off x="9931154" y="5910259"/>
            <a:ext cx="736847" cy="872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A4860B3-3B5D-3AA8-A680-3A97D5907DBC}"/>
              </a:ext>
            </a:extLst>
          </p:cNvPr>
          <p:cNvSpPr/>
          <p:nvPr/>
        </p:nvSpPr>
        <p:spPr>
          <a:xfrm>
            <a:off x="2483904" y="703901"/>
            <a:ext cx="590873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Conceitos e Prática de Marketing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A54FEAD-0D67-3BA5-C962-C2369A095BF7}"/>
              </a:ext>
            </a:extLst>
          </p:cNvPr>
          <p:cNvSpPr/>
          <p:nvPr/>
        </p:nvSpPr>
        <p:spPr>
          <a:xfrm>
            <a:off x="2390901" y="703901"/>
            <a:ext cx="590873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NOVAS “realidades”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D97CB4F-5908-0DDA-6928-91C0E8B97F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3529" y="1057035"/>
            <a:ext cx="8766048" cy="572550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2B30D7D-4D10-D421-E33D-F0AC769FADAE}"/>
              </a:ext>
            </a:extLst>
          </p:cNvPr>
          <p:cNvSpPr/>
          <p:nvPr/>
        </p:nvSpPr>
        <p:spPr>
          <a:xfrm>
            <a:off x="1190751" y="703901"/>
            <a:ext cx="524815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diferentes “universos” 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2FF4D1-06D8-1BB3-BA2A-5236FA862F98}"/>
              </a:ext>
            </a:extLst>
          </p:cNvPr>
          <p:cNvSpPr txBox="1"/>
          <p:nvPr/>
        </p:nvSpPr>
        <p:spPr>
          <a:xfrm>
            <a:off x="4259937" y="3647333"/>
            <a:ext cx="329417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C00000"/>
                </a:solidFill>
              </a:rPr>
              <a:t>METAVERSOS ??</a:t>
            </a:r>
          </a:p>
        </p:txBody>
      </p:sp>
    </p:spTree>
    <p:extLst>
      <p:ext uri="{BB962C8B-B14F-4D97-AF65-F5344CB8AC3E}">
        <p14:creationId xmlns:p14="http://schemas.microsoft.com/office/powerpoint/2010/main" val="320335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0768-F620-0AC1-9CEF-64B329E0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7E016138-EBED-9C47-F6CE-D3A31C5678CE}"/>
              </a:ext>
            </a:extLst>
          </p:cNvPr>
          <p:cNvSpPr/>
          <p:nvPr/>
        </p:nvSpPr>
        <p:spPr>
          <a:xfrm>
            <a:off x="9931154" y="5910259"/>
            <a:ext cx="736847" cy="872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EFE543B-8A5C-EA10-19DD-141097AFBEA9}"/>
              </a:ext>
            </a:extLst>
          </p:cNvPr>
          <p:cNvSpPr/>
          <p:nvPr/>
        </p:nvSpPr>
        <p:spPr>
          <a:xfrm>
            <a:off x="2483904" y="703901"/>
            <a:ext cx="590873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Conceitos e Prática de Marketing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EECA327-54AF-CA71-22D2-6D18EF33ADE3}"/>
              </a:ext>
            </a:extLst>
          </p:cNvPr>
          <p:cNvSpPr/>
          <p:nvPr/>
        </p:nvSpPr>
        <p:spPr>
          <a:xfrm>
            <a:off x="1209800" y="703901"/>
            <a:ext cx="73912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NOVAS “realidades”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B622A4-E2EB-7836-1A0B-55FD0C23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31" y="1482225"/>
            <a:ext cx="4290134" cy="429013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EF0A9EC-57B3-434E-9867-1CF749A5E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36" y="4343369"/>
            <a:ext cx="4671874" cy="23476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0EE9887-6AF6-27CF-890D-A8591976E337}"/>
              </a:ext>
            </a:extLst>
          </p:cNvPr>
          <p:cNvSpPr txBox="1"/>
          <p:nvPr/>
        </p:nvSpPr>
        <p:spPr>
          <a:xfrm>
            <a:off x="6804974" y="1198852"/>
            <a:ext cx="344799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rgbClr val="C00000"/>
                </a:solidFill>
              </a:rPr>
              <a:t>IA</a:t>
            </a:r>
          </a:p>
          <a:p>
            <a:pPr algn="ctr"/>
            <a:r>
              <a:rPr lang="pt-BR" sz="4400" b="1" dirty="0">
                <a:solidFill>
                  <a:srgbClr val="C00000"/>
                </a:solidFill>
              </a:rPr>
              <a:t>GENERATIVA</a:t>
            </a:r>
          </a:p>
          <a:p>
            <a:pPr algn="ctr"/>
            <a:r>
              <a:rPr lang="pt-BR" sz="4400" b="1" dirty="0">
                <a:solidFill>
                  <a:srgbClr val="C00000"/>
                </a:solidFill>
              </a:rPr>
              <a:t>E</a:t>
            </a:r>
          </a:p>
          <a:p>
            <a:pPr algn="ctr"/>
            <a:r>
              <a:rPr lang="pt-BR" sz="4400" b="1" dirty="0">
                <a:solidFill>
                  <a:srgbClr val="C00000"/>
                </a:solidFill>
              </a:rPr>
              <a:t>INTERATIVA !!</a:t>
            </a:r>
          </a:p>
        </p:txBody>
      </p:sp>
    </p:spTree>
    <p:extLst>
      <p:ext uri="{BB962C8B-B14F-4D97-AF65-F5344CB8AC3E}">
        <p14:creationId xmlns:p14="http://schemas.microsoft.com/office/powerpoint/2010/main" val="107218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8A52-CAB5-47A9-8A6B-8CFBDEFB9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1C0299D-6E70-9330-7A3D-CB9DD4CAB931}"/>
              </a:ext>
            </a:extLst>
          </p:cNvPr>
          <p:cNvSpPr/>
          <p:nvPr/>
        </p:nvSpPr>
        <p:spPr>
          <a:xfrm>
            <a:off x="1228850" y="703901"/>
            <a:ext cx="73150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Abrangência da disciplina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34D8EB-8DC3-E005-F4FA-DD01DAB2436A}"/>
              </a:ext>
            </a:extLst>
          </p:cNvPr>
          <p:cNvSpPr txBox="1"/>
          <p:nvPr/>
        </p:nvSpPr>
        <p:spPr>
          <a:xfrm>
            <a:off x="3957971" y="1296294"/>
            <a:ext cx="41891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tx2">
                    <a:lumMod val="75000"/>
                  </a:schemeClr>
                </a:solidFill>
              </a:rPr>
              <a:t>O</a:t>
            </a:r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 DUPLO PAPEL DA </a:t>
            </a:r>
            <a:r>
              <a:rPr lang="pt-BR" sz="4800" b="1" dirty="0">
                <a:solidFill>
                  <a:schemeClr val="tx2">
                    <a:lumMod val="75000"/>
                  </a:schemeClr>
                </a:solidFill>
              </a:rPr>
              <a:t>IA</a:t>
            </a:r>
            <a:endParaRPr lang="pt-BR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49D1193-3BC0-7F49-76A3-1C0A60F3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2183" r="-22183"/>
          <a:stretch>
            <a:fillRect/>
          </a:stretch>
        </p:blipFill>
        <p:spPr>
          <a:xfrm>
            <a:off x="91440" y="2205512"/>
            <a:ext cx="11954256" cy="4226588"/>
          </a:xfrm>
          <a:prstGeom prst="rect">
            <a:avLst/>
          </a:prstGeom>
          <a:solidFill>
            <a:srgbClr val="061113"/>
          </a:solidFill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B2A64D9-2DD1-6E91-8896-2582A8E36E3F}"/>
              </a:ext>
            </a:extLst>
          </p:cNvPr>
          <p:cNvSpPr txBox="1"/>
          <p:nvPr/>
        </p:nvSpPr>
        <p:spPr>
          <a:xfrm>
            <a:off x="238499" y="4121694"/>
            <a:ext cx="3119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FERRAMENTA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7A191C-1070-D0F9-3787-932E10671F9B}"/>
              </a:ext>
            </a:extLst>
          </p:cNvPr>
          <p:cNvSpPr txBox="1"/>
          <p:nvPr/>
        </p:nvSpPr>
        <p:spPr>
          <a:xfrm>
            <a:off x="9272595" y="4191798"/>
            <a:ext cx="24835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</a:t>
            </a:r>
            <a:endParaRPr lang="pt-BR" sz="2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659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3F31-66BF-7523-13BF-C7841EED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021299C-47F6-7A66-8E81-2899F355B1CC}"/>
              </a:ext>
            </a:extLst>
          </p:cNvPr>
          <p:cNvSpPr/>
          <p:nvPr/>
        </p:nvSpPr>
        <p:spPr>
          <a:xfrm>
            <a:off x="2483904" y="703901"/>
            <a:ext cx="590873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Conceitos e Prática de Marketing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200C80-8F2C-7A48-5031-DBAE7A74D63E}"/>
              </a:ext>
            </a:extLst>
          </p:cNvPr>
          <p:cNvSpPr/>
          <p:nvPr/>
        </p:nvSpPr>
        <p:spPr>
          <a:xfrm>
            <a:off x="1228850" y="703901"/>
            <a:ext cx="73150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Abrangência da disciplina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6A93D7-5C8D-471D-C362-0E0F6804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94818"/>
            <a:ext cx="9144000" cy="541441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76CA643-91A5-0815-70E1-B375A2F12025}"/>
              </a:ext>
            </a:extLst>
          </p:cNvPr>
          <p:cNvSpPr/>
          <p:nvPr/>
        </p:nvSpPr>
        <p:spPr>
          <a:xfrm>
            <a:off x="9931154" y="5910259"/>
            <a:ext cx="736847" cy="872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98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CE7C1AD1-2B7B-4CC7-9A9C-873D539D70AC}"/>
              </a:ext>
            </a:extLst>
          </p:cNvPr>
          <p:cNvSpPr txBox="1"/>
          <p:nvPr/>
        </p:nvSpPr>
        <p:spPr>
          <a:xfrm>
            <a:off x="4163976" y="4146379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ACESSÍVEL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62C5D4-C682-476A-9C9F-7CFC65773F7E}"/>
              </a:ext>
            </a:extLst>
          </p:cNvPr>
          <p:cNvSpPr txBox="1"/>
          <p:nvPr/>
        </p:nvSpPr>
        <p:spPr>
          <a:xfrm>
            <a:off x="1281957" y="1465942"/>
            <a:ext cx="9628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DESIGN DAS INTERAÇÕES CENTRADO NO SER HUMANO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AEF74C-A2FD-4D13-B22D-1D7A23D6551C}"/>
              </a:ext>
            </a:extLst>
          </p:cNvPr>
          <p:cNvSpPr txBox="1"/>
          <p:nvPr/>
        </p:nvSpPr>
        <p:spPr>
          <a:xfrm>
            <a:off x="4059900" y="2598778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USÁVEL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AA09D0-27E8-418A-A761-49F63A60B806}"/>
              </a:ext>
            </a:extLst>
          </p:cNvPr>
          <p:cNvSpPr txBox="1"/>
          <p:nvPr/>
        </p:nvSpPr>
        <p:spPr>
          <a:xfrm>
            <a:off x="5344127" y="3181070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ENVOLVENTE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53CD433-61BE-494F-BBBA-C8A3340EEF5F}"/>
              </a:ext>
            </a:extLst>
          </p:cNvPr>
          <p:cNvSpPr txBox="1"/>
          <p:nvPr/>
        </p:nvSpPr>
        <p:spPr>
          <a:xfrm>
            <a:off x="816251" y="5161225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APREENSÍVEL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512363A-11D9-4656-9E11-AF5A31033061}"/>
              </a:ext>
            </a:extLst>
          </p:cNvPr>
          <p:cNvSpPr txBox="1"/>
          <p:nvPr/>
        </p:nvSpPr>
        <p:spPr>
          <a:xfrm>
            <a:off x="6748414" y="2618703"/>
            <a:ext cx="4015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ESTÉTICAMENTE AGRADÁVEL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1CB4CB-F438-4CD6-872D-121B19D44551}"/>
              </a:ext>
            </a:extLst>
          </p:cNvPr>
          <p:cNvSpPr txBox="1"/>
          <p:nvPr/>
        </p:nvSpPr>
        <p:spPr>
          <a:xfrm>
            <a:off x="121624" y="5933955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ERGONÔMICO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C4F27F8-FAE7-46A1-9CB5-24BD0959609F}"/>
              </a:ext>
            </a:extLst>
          </p:cNvPr>
          <p:cNvSpPr txBox="1"/>
          <p:nvPr/>
        </p:nvSpPr>
        <p:spPr>
          <a:xfrm>
            <a:off x="3512238" y="5209939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“INTUITIVO”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A2C2431-5936-417B-B740-C340124A7F8F}"/>
              </a:ext>
            </a:extLst>
          </p:cNvPr>
          <p:cNvSpPr txBox="1"/>
          <p:nvPr/>
        </p:nvSpPr>
        <p:spPr>
          <a:xfrm>
            <a:off x="5554971" y="6164788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.....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D70625-7B97-C7B6-6046-7A45052D6A37}"/>
              </a:ext>
            </a:extLst>
          </p:cNvPr>
          <p:cNvSpPr/>
          <p:nvPr/>
        </p:nvSpPr>
        <p:spPr>
          <a:xfrm>
            <a:off x="1228850" y="703901"/>
            <a:ext cx="73150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Abrangência da disciplina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4B08EB-0852-740E-46B3-7F892A9B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6" y="2155421"/>
            <a:ext cx="4288860" cy="2859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D0269AD-E92C-8E1B-1E3B-5C1E49C93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389" y="3642735"/>
            <a:ext cx="5190832" cy="2726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4F6F82E-882E-0C91-8E62-FCCC7C867644}"/>
              </a:ext>
            </a:extLst>
          </p:cNvPr>
          <p:cNvSpPr txBox="1"/>
          <p:nvPr/>
        </p:nvSpPr>
        <p:spPr>
          <a:xfrm>
            <a:off x="2934263" y="6042666"/>
            <a:ext cx="2579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INSTIGANTE</a:t>
            </a:r>
          </a:p>
        </p:txBody>
      </p:sp>
    </p:spTree>
    <p:extLst>
      <p:ext uri="{BB962C8B-B14F-4D97-AF65-F5344CB8AC3E}">
        <p14:creationId xmlns:p14="http://schemas.microsoft.com/office/powerpoint/2010/main" val="17391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7" grpId="0"/>
      <p:bldP spid="20" grpId="0"/>
      <p:bldP spid="21" grpId="0"/>
      <p:bldP spid="22" grpId="0"/>
      <p:bldP spid="23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D80965F-A21E-8266-314A-5892157CFBA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D151"/>
              </a:clrFrom>
              <a:clrTo>
                <a:srgbClr val="FAD151">
                  <a:alpha val="0"/>
                </a:srgbClr>
              </a:clrTo>
            </a:clrChange>
          </a:blip>
          <a:srcRect l="-34688" t="-12809" r="-35803" b="-15811"/>
          <a:stretch>
            <a:fillRect/>
          </a:stretch>
        </p:blipFill>
        <p:spPr>
          <a:xfrm>
            <a:off x="377824" y="2074896"/>
            <a:ext cx="11113450" cy="4561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E7C1AD1-2B7B-4CC7-9A9C-873D539D70AC}"/>
              </a:ext>
            </a:extLst>
          </p:cNvPr>
          <p:cNvSpPr txBox="1"/>
          <p:nvPr/>
        </p:nvSpPr>
        <p:spPr>
          <a:xfrm>
            <a:off x="2818209" y="2366958"/>
            <a:ext cx="2686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PESSOAS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62C5D4-C682-476A-9C9F-7CFC65773F7E}"/>
              </a:ext>
            </a:extLst>
          </p:cNvPr>
          <p:cNvSpPr txBox="1"/>
          <p:nvPr/>
        </p:nvSpPr>
        <p:spPr>
          <a:xfrm>
            <a:off x="3750581" y="1437870"/>
            <a:ext cx="4690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75000"/>
                  </a:schemeClr>
                </a:solidFill>
              </a:rPr>
              <a:t>DESIGNER DE INTERAÇÕES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AEF74C-A2FD-4D13-B22D-1D7A23D6551C}"/>
              </a:ext>
            </a:extLst>
          </p:cNvPr>
          <p:cNvSpPr txBox="1"/>
          <p:nvPr/>
        </p:nvSpPr>
        <p:spPr>
          <a:xfrm>
            <a:off x="6715550" y="2366646"/>
            <a:ext cx="2579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CONTEXTO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AA09D0-27E8-418A-A761-49F63A60B806}"/>
              </a:ext>
            </a:extLst>
          </p:cNvPr>
          <p:cNvSpPr txBox="1"/>
          <p:nvPr/>
        </p:nvSpPr>
        <p:spPr>
          <a:xfrm>
            <a:off x="377823" y="3928960"/>
            <a:ext cx="2920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TECNOLOGIAS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53CD433-61BE-494F-BBBA-C8A3340EEF5F}"/>
              </a:ext>
            </a:extLst>
          </p:cNvPr>
          <p:cNvSpPr txBox="1"/>
          <p:nvPr/>
        </p:nvSpPr>
        <p:spPr>
          <a:xfrm>
            <a:off x="2199551" y="5904961"/>
            <a:ext cx="324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SENSO ESTÉTICO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1CB4CB-F438-4CD6-872D-121B19D44551}"/>
              </a:ext>
            </a:extLst>
          </p:cNvPr>
          <p:cNvSpPr txBox="1"/>
          <p:nvPr/>
        </p:nvSpPr>
        <p:spPr>
          <a:xfrm>
            <a:off x="8353097" y="3921616"/>
            <a:ext cx="324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VERSATILIDADE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C4F27F8-FAE7-46A1-9CB5-24BD0959609F}"/>
              </a:ext>
            </a:extLst>
          </p:cNvPr>
          <p:cNvSpPr txBox="1"/>
          <p:nvPr/>
        </p:nvSpPr>
        <p:spPr>
          <a:xfrm>
            <a:off x="6715550" y="5861711"/>
            <a:ext cx="288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FLEXIBILIDADE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18E7FC-22B4-EE21-907A-BD1834D7A888}"/>
              </a:ext>
            </a:extLst>
          </p:cNvPr>
          <p:cNvSpPr/>
          <p:nvPr/>
        </p:nvSpPr>
        <p:spPr>
          <a:xfrm>
            <a:off x="1228850" y="703901"/>
            <a:ext cx="73150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Abrangência da disciplina</a:t>
            </a:r>
          </a:p>
        </p:txBody>
      </p:sp>
    </p:spTree>
    <p:extLst>
      <p:ext uri="{BB962C8B-B14F-4D97-AF65-F5344CB8AC3E}">
        <p14:creationId xmlns:p14="http://schemas.microsoft.com/office/powerpoint/2010/main" val="3199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7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8C47-6486-A513-A27F-27B8F93C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0ABE50D-EF5C-3631-AEC5-349D9C6C4AB2}"/>
              </a:ext>
            </a:extLst>
          </p:cNvPr>
          <p:cNvSpPr/>
          <p:nvPr/>
        </p:nvSpPr>
        <p:spPr>
          <a:xfrm>
            <a:off x="1228850" y="703901"/>
            <a:ext cx="73150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800" b="1" cap="all" dirty="0"/>
              <a:t>Abrangência da disciplina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A89893-572C-2881-D12B-7F6E9EA0EF42}"/>
              </a:ext>
            </a:extLst>
          </p:cNvPr>
          <p:cNvSpPr txBox="1"/>
          <p:nvPr/>
        </p:nvSpPr>
        <p:spPr>
          <a:xfrm>
            <a:off x="2263284" y="3125094"/>
            <a:ext cx="7665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tx2">
                    <a:lumMod val="75000"/>
                  </a:schemeClr>
                </a:solidFill>
              </a:rPr>
              <a:t>APOIO AO STARTUP ONE !</a:t>
            </a:r>
            <a:endParaRPr lang="pt-BR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81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0D3C-244E-9786-CEE9-BEBE48BC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>
            <a:extLst>
              <a:ext uri="{FF2B5EF4-FFF2-40B4-BE49-F238E27FC236}">
                <a16:creationId xmlns:a16="http://schemas.microsoft.com/office/drawing/2014/main" id="{8A6511E0-1343-FF92-1409-A7B0AB60B35F}"/>
              </a:ext>
            </a:extLst>
          </p:cNvPr>
          <p:cNvSpPr txBox="1"/>
          <p:nvPr/>
        </p:nvSpPr>
        <p:spPr>
          <a:xfrm>
            <a:off x="1345273" y="3912102"/>
            <a:ext cx="7223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cap="all" dirty="0">
                <a:solidFill>
                  <a:schemeClr val="bg1"/>
                </a:solidFill>
              </a:rPr>
              <a:t>Human-COMPUTER interaction</a:t>
            </a: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327BF248-AAA0-D7AA-03FF-058E23BA81D9}"/>
              </a:ext>
            </a:extLst>
          </p:cNvPr>
          <p:cNvSpPr txBox="1"/>
          <p:nvPr/>
        </p:nvSpPr>
        <p:spPr>
          <a:xfrm>
            <a:off x="1393759" y="4541324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HENRIQUE </a:t>
            </a:r>
            <a:r>
              <a:rPr lang="en-US" b="1" u="sng" dirty="0">
                <a:solidFill>
                  <a:srgbClr val="FFFFFF"/>
                </a:solidFill>
                <a:latin typeface="Gotham-Bold"/>
                <a:cs typeface="Gotham-Bold"/>
              </a:rPr>
              <a:t>CORDEIRO</a:t>
            </a:r>
          </a:p>
        </p:txBody>
      </p:sp>
    </p:spTree>
    <p:extLst>
      <p:ext uri="{BB962C8B-B14F-4D97-AF65-F5344CB8AC3E}">
        <p14:creationId xmlns:p14="http://schemas.microsoft.com/office/powerpoint/2010/main" val="35531076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3003</TotalTime>
  <Words>428</Words>
  <Application>Microsoft Office PowerPoint</Application>
  <PresentationFormat>Widescreen</PresentationFormat>
  <Paragraphs>130</Paragraphs>
  <Slides>27</Slides>
  <Notes>5</Notes>
  <HiddenSlides>1</HiddenSlides>
  <MMClips>1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27</vt:i4>
      </vt:variant>
    </vt:vector>
  </HeadingPairs>
  <TitlesOfParts>
    <vt:vector size="42" baseType="lpstr">
      <vt:lpstr>Aptos</vt:lpstr>
      <vt:lpstr>Arial</vt:lpstr>
      <vt:lpstr>Calibri</vt:lpstr>
      <vt:lpstr>Calibri Light</vt:lpstr>
      <vt:lpstr>Gotham HTF</vt:lpstr>
      <vt:lpstr>Gotham HTF Book</vt:lpstr>
      <vt:lpstr>Gotham HTF Light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Dell'Osso Cordeiro</cp:lastModifiedBy>
  <cp:revision>301</cp:revision>
  <dcterms:created xsi:type="dcterms:W3CDTF">2015-01-30T10:46:50Z</dcterms:created>
  <dcterms:modified xsi:type="dcterms:W3CDTF">2026-02-12T14:56:58Z</dcterms:modified>
</cp:coreProperties>
</file>