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739" r:id="rId3"/>
    <p:sldMasterId id="2147483751" r:id="rId4"/>
  </p:sldMasterIdLst>
  <p:notesMasterIdLst>
    <p:notesMasterId r:id="rId31"/>
  </p:notesMasterIdLst>
  <p:handoutMasterIdLst>
    <p:handoutMasterId r:id="rId32"/>
  </p:handoutMasterIdLst>
  <p:sldIdLst>
    <p:sldId id="256" r:id="rId5"/>
    <p:sldId id="257" r:id="rId6"/>
    <p:sldId id="529" r:id="rId7"/>
    <p:sldId id="589" r:id="rId8"/>
    <p:sldId id="263" r:id="rId9"/>
    <p:sldId id="267" r:id="rId10"/>
    <p:sldId id="639" r:id="rId11"/>
    <p:sldId id="536" r:id="rId12"/>
    <p:sldId id="538" r:id="rId13"/>
    <p:sldId id="533" r:id="rId14"/>
    <p:sldId id="545" r:id="rId15"/>
    <p:sldId id="541" r:id="rId16"/>
    <p:sldId id="532" r:id="rId17"/>
    <p:sldId id="535" r:id="rId18"/>
    <p:sldId id="539" r:id="rId19"/>
    <p:sldId id="296" r:id="rId20"/>
    <p:sldId id="590" r:id="rId21"/>
    <p:sldId id="269" r:id="rId22"/>
    <p:sldId id="537" r:id="rId23"/>
    <p:sldId id="268" r:id="rId24"/>
    <p:sldId id="540" r:id="rId25"/>
    <p:sldId id="273" r:id="rId26"/>
    <p:sldId id="275" r:id="rId27"/>
    <p:sldId id="276" r:id="rId28"/>
    <p:sldId id="277" r:id="rId29"/>
    <p:sldId id="509" r:id="rId30"/>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000000"/>
    <a:srgbClr val="F0265D"/>
    <a:srgbClr val="0033CC"/>
    <a:srgbClr val="F5F4EE"/>
    <a:srgbClr val="FFCC99"/>
    <a:srgbClr val="F6F6F6"/>
    <a:srgbClr val="EBAFB5"/>
    <a:srgbClr val="F4D3D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94660"/>
  </p:normalViewPr>
  <p:slideViewPr>
    <p:cSldViewPr snapToGrid="0" snapToObjects="1">
      <p:cViewPr varScale="1">
        <p:scale>
          <a:sx n="68" d="100"/>
          <a:sy n="68" d="100"/>
        </p:scale>
        <p:origin x="1397" y="58"/>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5" d="100"/>
          <a:sy n="75" d="100"/>
        </p:scale>
        <p:origin x="2094"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1A63A9-F13B-46F1-A93F-27AA737FD7E7}" type="datetimeFigureOut">
              <a:rPr lang="pt-BR" smtClean="0"/>
              <a:t>23/04/2026</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2F50FE-E718-42E3-9D8A-946F780C799B}" type="slidenum">
              <a:rPr lang="pt-BR" smtClean="0"/>
              <a:t>‹nº›</a:t>
            </a:fld>
            <a:endParaRPr lang="pt-BR"/>
          </a:p>
        </p:txBody>
      </p:sp>
    </p:spTree>
    <p:extLst>
      <p:ext uri="{BB962C8B-B14F-4D97-AF65-F5344CB8AC3E}">
        <p14:creationId xmlns:p14="http://schemas.microsoft.com/office/powerpoint/2010/main" val="3157139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t>4/23/2026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1DC6CD5E-26BD-9B45-BB2F-78648736C277}" type="slidenum">
              <a:rPr lang="en-US" smtClean="0"/>
              <a:t>10</a:t>
            </a:fld>
            <a:endParaRPr lang="en-US"/>
          </a:p>
        </p:txBody>
      </p:sp>
    </p:spTree>
    <p:extLst>
      <p:ext uri="{BB962C8B-B14F-4D97-AF65-F5344CB8AC3E}">
        <p14:creationId xmlns:p14="http://schemas.microsoft.com/office/powerpoint/2010/main" val="363059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1DC6CD5E-26BD-9B45-BB2F-78648736C277}" type="slidenum">
              <a:rPr lang="en-US" smtClean="0"/>
              <a:t>11</a:t>
            </a:fld>
            <a:endParaRPr lang="en-US"/>
          </a:p>
        </p:txBody>
      </p:sp>
    </p:spTree>
    <p:extLst>
      <p:ext uri="{BB962C8B-B14F-4D97-AF65-F5344CB8AC3E}">
        <p14:creationId xmlns:p14="http://schemas.microsoft.com/office/powerpoint/2010/main" val="1920396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1DC6CD5E-26BD-9B45-BB2F-78648736C277}" type="slidenum">
              <a:rPr lang="en-US" smtClean="0"/>
              <a:t>12</a:t>
            </a:fld>
            <a:endParaRPr lang="en-US"/>
          </a:p>
        </p:txBody>
      </p:sp>
    </p:spTree>
    <p:extLst>
      <p:ext uri="{BB962C8B-B14F-4D97-AF65-F5344CB8AC3E}">
        <p14:creationId xmlns:p14="http://schemas.microsoft.com/office/powerpoint/2010/main" val="3444287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t>26</a:t>
            </a:fld>
            <a:endParaRPr lang="en-US"/>
          </a:p>
        </p:txBody>
      </p:sp>
    </p:spTree>
    <p:extLst>
      <p:ext uri="{BB962C8B-B14F-4D97-AF65-F5344CB8AC3E}">
        <p14:creationId xmlns:p14="http://schemas.microsoft.com/office/powerpoint/2010/main" val="31488429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tretch>
            <a:fillRect/>
          </a:stretch>
        </p:blipFill>
        <p:spPr>
          <a:xfrm>
            <a:off x="1674039" y="3081534"/>
            <a:ext cx="5783223" cy="682232"/>
          </a:xfrm>
          <a:prstGeom prst="rect">
            <a:avLst/>
          </a:prstGeom>
        </p:spPr>
      </p:pic>
    </p:spTree>
    <p:extLst>
      <p:ext uri="{BB962C8B-B14F-4D97-AF65-F5344CB8AC3E}">
        <p14:creationId xmlns:p14="http://schemas.microsoft.com/office/powerpoint/2010/main" val="348958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4" name="Holder 4"/>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77470">
              <a:lnSpc>
                <a:spcPts val="1240"/>
              </a:lnSpc>
            </a:pPr>
            <a:fld id="{81D60167-4931-47E6-BA6A-407CBD079E47}" type="slidenum">
              <a:rPr spc="-50" dirty="0"/>
              <a:t>‹nº›</a:t>
            </a:fld>
            <a:endParaRPr spc="-50" dirty="0"/>
          </a:p>
        </p:txBody>
      </p:sp>
    </p:spTree>
    <p:extLst>
      <p:ext uri="{BB962C8B-B14F-4D97-AF65-F5344CB8AC3E}">
        <p14:creationId xmlns:p14="http://schemas.microsoft.com/office/powerpoint/2010/main" val="1706643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9" name="Title 1"/>
          <p:cNvSpPr>
            <a:spLocks noGrp="1"/>
          </p:cNvSpPr>
          <p:nvPr>
            <p:ph type="title" hasCustomPrompt="1"/>
          </p:nvPr>
        </p:nvSpPr>
        <p:spPr>
          <a:xfrm>
            <a:off x="914400" y="749902"/>
            <a:ext cx="7392202"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10"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Espaço Reservado para Imagem 10"/>
          <p:cNvSpPr>
            <a:spLocks noGrp="1"/>
          </p:cNvSpPr>
          <p:nvPr>
            <p:ph type="pic" sz="quarter" idx="13"/>
          </p:nvPr>
        </p:nvSpPr>
        <p:spPr>
          <a:xfrm>
            <a:off x="914400" y="1600199"/>
            <a:ext cx="2875280" cy="4249172"/>
          </a:xfrm>
        </p:spPr>
        <p:txBody>
          <a:bodyPr/>
          <a:lstStyle/>
          <a:p>
            <a:endParaRPr lang="pt-BR"/>
          </a:p>
        </p:txBody>
      </p:sp>
      <p:sp>
        <p:nvSpPr>
          <p:cNvPr id="3" name="Content Placeholder 2"/>
          <p:cNvSpPr>
            <a:spLocks noGrp="1"/>
          </p:cNvSpPr>
          <p:nvPr>
            <p:ph idx="1"/>
          </p:nvPr>
        </p:nvSpPr>
        <p:spPr>
          <a:xfrm>
            <a:off x="4158114" y="1600200"/>
            <a:ext cx="4207871" cy="2933299"/>
          </a:xfrm>
        </p:spPr>
        <p:txBody>
          <a:bodyPr>
            <a:normAutofit/>
          </a:bodyPr>
          <a:lstStyle>
            <a:lvl1pPr>
              <a:defRPr sz="1600">
                <a:latin typeface="Gotham-Book"/>
              </a:defRPr>
            </a:lvl1pPr>
            <a:lvl2pPr>
              <a:defRPr sz="1600">
                <a:latin typeface="Gotham-Book"/>
              </a:defRPr>
            </a:lvl2pPr>
            <a:lvl3pPr>
              <a:defRPr sz="1600">
                <a:latin typeface="Gotham-Book"/>
              </a:defRPr>
            </a:lvl3pPr>
            <a:lvl4pPr>
              <a:defRPr sz="1600">
                <a:latin typeface="Gotham-Book"/>
              </a:defRPr>
            </a:lvl4pPr>
            <a:lvl5pPr>
              <a:defRPr sz="1600">
                <a:latin typeface="Gotham-Book"/>
              </a:defRPr>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9"/>
          <p:cNvSpPr txBox="1"/>
          <p:nvPr userDrawn="1"/>
        </p:nvSpPr>
        <p:spPr>
          <a:xfrm>
            <a:off x="947124" y="748343"/>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SHORT </a:t>
            </a:r>
            <a:r>
              <a:rPr lang="en-US" sz="2800" b="1" dirty="0">
                <a:solidFill>
                  <a:srgbClr val="303030"/>
                </a:solidFill>
                <a:latin typeface="Gotham HTF" pitchFamily="2" charset="0"/>
                <a:cs typeface="Gotham-Book"/>
              </a:rPr>
              <a:t>BIO</a:t>
            </a:r>
          </a:p>
        </p:txBody>
      </p:sp>
      <p:sp>
        <p:nvSpPr>
          <p:cNvPr id="8" name="Rectangle 19"/>
          <p:cNvSpPr/>
          <p:nvPr userDrawn="1"/>
        </p:nvSpPr>
        <p:spPr>
          <a:xfrm>
            <a:off x="3789680" y="4911963"/>
            <a:ext cx="4576305" cy="9566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
        <p:nvSpPr>
          <p:cNvPr id="10" name="Espaço Reservado para Texto 9"/>
          <p:cNvSpPr>
            <a:spLocks noGrp="1"/>
          </p:cNvSpPr>
          <p:nvPr userDrawn="1">
            <p:ph type="body" sz="quarter" idx="14" hasCustomPrompt="1"/>
          </p:nvPr>
        </p:nvSpPr>
        <p:spPr>
          <a:xfrm>
            <a:off x="4090988" y="5039803"/>
            <a:ext cx="3868737" cy="828675"/>
          </a:xfrm>
        </p:spPr>
        <p:txBody>
          <a:bodyPr/>
          <a:lstStyle>
            <a:lvl1pPr marL="0" indent="0">
              <a:buNone/>
              <a:defRPr sz="2000" baseline="0">
                <a:solidFill>
                  <a:schemeClr val="bg1"/>
                </a:solidFill>
                <a:latin typeface="Gotham-Bold"/>
              </a:defRPr>
            </a:lvl1pPr>
            <a:lvl2pPr>
              <a:defRPr sz="1800">
                <a:solidFill>
                  <a:schemeClr val="bg1"/>
                </a:solidFill>
                <a:latin typeface="Gotham-Bold"/>
              </a:defRPr>
            </a:lvl2pPr>
          </a:lstStyle>
          <a:p>
            <a:pPr lvl="0"/>
            <a:r>
              <a:rPr lang="pt-BR" dirty="0"/>
              <a:t>Prof. nome</a:t>
            </a:r>
          </a:p>
          <a:p>
            <a:pPr lvl="0"/>
            <a:r>
              <a:rPr lang="pt-BR" dirty="0" err="1"/>
              <a:t>Email</a:t>
            </a:r>
            <a:endParaRPr lang="pt-BR" dirty="0"/>
          </a:p>
        </p:txBody>
      </p:sp>
      <p:sp>
        <p:nvSpPr>
          <p:cNvPr id="13" name="Isosceles Triangle 2"/>
          <p:cNvSpPr/>
          <p:nvPr userDrawn="1"/>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2458548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Espaço Reservado para Texto 9"/>
          <p:cNvSpPr>
            <a:spLocks noGrp="1"/>
          </p:cNvSpPr>
          <p:nvPr>
            <p:ph type="body" sz="quarter" idx="13" hasCustomPrompt="1"/>
          </p:nvPr>
        </p:nvSpPr>
        <p:spPr>
          <a:xfrm>
            <a:off x="914400" y="1750228"/>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2" name="Espaço Reservado para Texto 11"/>
          <p:cNvSpPr>
            <a:spLocks noGrp="1"/>
          </p:cNvSpPr>
          <p:nvPr>
            <p:ph type="body" sz="quarter" idx="14"/>
          </p:nvPr>
        </p:nvSpPr>
        <p:spPr>
          <a:xfrm>
            <a:off x="914400" y="2319338"/>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5" name="Espaço Reservado para Texto 9"/>
          <p:cNvSpPr>
            <a:spLocks noGrp="1"/>
          </p:cNvSpPr>
          <p:nvPr>
            <p:ph type="body" sz="quarter" idx="15" hasCustomPrompt="1"/>
          </p:nvPr>
        </p:nvSpPr>
        <p:spPr>
          <a:xfrm>
            <a:off x="914400" y="4215012"/>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6" name="Espaço Reservado para Texto 11"/>
          <p:cNvSpPr>
            <a:spLocks noGrp="1"/>
          </p:cNvSpPr>
          <p:nvPr>
            <p:ph type="body" sz="quarter" idx="16"/>
          </p:nvPr>
        </p:nvSpPr>
        <p:spPr>
          <a:xfrm>
            <a:off x="914400" y="4784122"/>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9" name="TextBox 15"/>
          <p:cNvSpPr txBox="1"/>
          <p:nvPr userDrawn="1"/>
        </p:nvSpPr>
        <p:spPr>
          <a:xfrm>
            <a:off x="947124" y="745668"/>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CONTEÚDO </a:t>
            </a:r>
            <a:r>
              <a:rPr lang="en-US" sz="2800" b="1" dirty="0">
                <a:solidFill>
                  <a:srgbClr val="303030"/>
                </a:solidFill>
                <a:latin typeface="Gotham HTF" pitchFamily="2" charset="0"/>
                <a:cs typeface="Gotham-Book"/>
              </a:rPr>
              <a:t>DO CURSO</a:t>
            </a:r>
          </a:p>
        </p:txBody>
      </p:sp>
      <p:sp>
        <p:nvSpPr>
          <p:cNvPr id="11"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4539" y="2857500"/>
            <a:ext cx="6294922" cy="1143000"/>
          </a:xfrm>
        </p:spPr>
        <p:txBody>
          <a:bodyPr>
            <a:noAutofit/>
          </a:bodyPr>
          <a:lstStyle>
            <a:lvl1pPr>
              <a:defRPr sz="3600" b="1">
                <a:solidFill>
                  <a:schemeClr val="tx1"/>
                </a:solidFill>
                <a:latin typeface="Gotham HTF" pitchFamily="2" charset="0"/>
              </a:defRPr>
            </a:lvl1pPr>
          </a:lstStyle>
          <a:p>
            <a:r>
              <a:rPr lang="x-none" dirty="0"/>
              <a:t>CLICK TO EDIT MASTER TITLE STYLE</a:t>
            </a:r>
            <a:endParaRPr lang="en-US" dirty="0"/>
          </a:p>
        </p:txBody>
      </p:sp>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292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3654" y="749165"/>
            <a:ext cx="7315197" cy="397308"/>
          </a:xfrm>
        </p:spPr>
        <p:txBody>
          <a:bodyPr>
            <a:noAutofit/>
          </a:bodyPr>
          <a:lstStyle>
            <a:lvl1pPr algn="l">
              <a:defRPr sz="2800" b="1">
                <a:latin typeface="Gotham HTF" pitchFamily="2" charset="0"/>
              </a:defRPr>
            </a:lvl1pPr>
          </a:lstStyle>
          <a:p>
            <a:r>
              <a:rPr lang="x-none" dirty="0"/>
              <a:t>CLICK TO EDIT MASTER TITLE STYLE</a:t>
            </a:r>
            <a:endParaRPr lang="en-US" dirty="0"/>
          </a:p>
        </p:txBody>
      </p:sp>
      <p:sp>
        <p:nvSpPr>
          <p:cNvPr id="3" name="Text Placeholder 2"/>
          <p:cNvSpPr>
            <a:spLocks noGrp="1"/>
          </p:cNvSpPr>
          <p:nvPr>
            <p:ph type="body" idx="1" hasCustomPrompt="1"/>
          </p:nvPr>
        </p:nvSpPr>
        <p:spPr>
          <a:xfrm>
            <a:off x="765379" y="1316730"/>
            <a:ext cx="7483472" cy="639762"/>
          </a:xfrm>
        </p:spPr>
        <p:txBody>
          <a:bodyPr anchor="b">
            <a:normAutofit/>
          </a:bodyPr>
          <a:lstStyle>
            <a:lvl1pPr marL="0" indent="0">
              <a:buNone/>
              <a:defRPr sz="2000" b="1">
                <a:latin typeface="Gotham HTF"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765379" y="2174875"/>
            <a:ext cx="7618230" cy="3951288"/>
          </a:xfrm>
        </p:spPr>
        <p:txBody>
          <a:bodyPr>
            <a:normAutofit/>
          </a:bodyPr>
          <a:lstStyle>
            <a:lvl1pPr marL="342900" indent="-342900">
              <a:buFont typeface="Wingdings" panose="05000000000000000000" pitchFamily="2" charset="2"/>
              <a:buChar char="§"/>
              <a:defRPr sz="1600">
                <a:latin typeface="Gotham-Book"/>
              </a:defRPr>
            </a:lvl1pPr>
            <a:lvl2pPr>
              <a:defRPr sz="1600">
                <a:latin typeface="Gotham-Book"/>
              </a:defRPr>
            </a:lvl2pPr>
            <a:lvl3pPr marL="1143000" indent="-228600">
              <a:buFont typeface="Wingdings" panose="05000000000000000000" pitchFamily="2" charset="2"/>
              <a:buChar char="§"/>
              <a:defRPr sz="1600">
                <a:latin typeface="Gotham-Book"/>
              </a:defRPr>
            </a:lvl3pPr>
            <a:lvl4pPr>
              <a:defRPr sz="1600">
                <a:latin typeface="Gotham-Book"/>
              </a:defRPr>
            </a:lvl4pPr>
            <a:lvl5pPr>
              <a:defRPr sz="1600">
                <a:latin typeface="Gotham-Book"/>
              </a:defRPr>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6"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823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914400" y="740277"/>
            <a:ext cx="7469188"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8" name="Content Placeholder 3"/>
          <p:cNvSpPr>
            <a:spLocks noGrp="1"/>
          </p:cNvSpPr>
          <p:nvPr>
            <p:ph sz="half" idx="2"/>
          </p:nvPr>
        </p:nvSpPr>
        <p:spPr>
          <a:xfrm>
            <a:off x="914400" y="4677443"/>
            <a:ext cx="7469188" cy="1251719"/>
          </a:xfrm>
        </p:spPr>
        <p:txBody>
          <a:bodyPr>
            <a:normAutofit/>
          </a:bodyPr>
          <a:lstStyle>
            <a:lvl1pPr>
              <a:buFont typeface="Wingdings" panose="05000000000000000000" pitchFamily="2" charset="2"/>
              <a:buChar char="§"/>
              <a:defRPr sz="1200">
                <a:latin typeface="Gotham-Book"/>
              </a:defRPr>
            </a:lvl1pPr>
            <a:lvl2pPr>
              <a:buFont typeface="Wingdings" panose="05000000000000000000" pitchFamily="2" charset="2"/>
              <a:buChar char="§"/>
              <a:defRPr sz="1200">
                <a:latin typeface="Gotham-Book"/>
              </a:defRPr>
            </a:lvl2pPr>
            <a:lvl3pPr>
              <a:buFont typeface="Wingdings" panose="05000000000000000000" pitchFamily="2" charset="2"/>
              <a:buChar char="§"/>
              <a:defRPr sz="1200">
                <a:latin typeface="Gotham-Book"/>
              </a:defRPr>
            </a:lvl3pPr>
            <a:lvl4pPr>
              <a:buFont typeface="Wingdings" panose="05000000000000000000" pitchFamily="2" charset="2"/>
              <a:buChar char="§"/>
              <a:defRPr sz="1200">
                <a:latin typeface="Gotham-Book"/>
              </a:defRPr>
            </a:lvl4pPr>
            <a:lvl5pPr>
              <a:buFont typeface="Wingdings" panose="05000000000000000000" pitchFamily="2" charset="2"/>
              <a:buChar char="§"/>
              <a:defRPr sz="1200">
                <a:latin typeface="Gotham-Book"/>
              </a:defRPr>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10" name="Espaço Reservado para Tabela 9"/>
          <p:cNvSpPr>
            <a:spLocks noGrp="1"/>
          </p:cNvSpPr>
          <p:nvPr>
            <p:ph type="tbl" sz="quarter" idx="13"/>
          </p:nvPr>
        </p:nvSpPr>
        <p:spPr>
          <a:xfrm>
            <a:off x="914400" y="1568450"/>
            <a:ext cx="7469188" cy="2589213"/>
          </a:xfrm>
        </p:spPr>
        <p:txBody>
          <a:bodyPr>
            <a:normAutofit/>
          </a:bodyPr>
          <a:lstStyle>
            <a:lvl1pPr>
              <a:defRPr sz="1200">
                <a:latin typeface="Gotham HTF Book" pitchFamily="2" charset="0"/>
              </a:defRPr>
            </a:lvl1pPr>
          </a:lstStyle>
          <a:p>
            <a:endParaRPr lang="pt-BR"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14399" y="721027"/>
            <a:ext cx="7305575"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4"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339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7524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4500"/>
            </a:lvl1pPr>
          </a:lstStyle>
          <a:p>
            <a:r>
              <a:rPr lang="pt-BR"/>
              <a:t>Clique para editar o título mestre</a:t>
            </a:r>
          </a:p>
        </p:txBody>
      </p:sp>
      <p:sp>
        <p:nvSpPr>
          <p:cNvPr id="3" name="Subtítulo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64B0878A-18DF-4207-9845-788BF4B96186}" type="datetimeFigureOut">
              <a:rPr lang="pt-BR" smtClean="0"/>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490A326-AC6F-4090-9ECC-4AA76160E747}" type="slidenum">
              <a:rPr lang="pt-BR" smtClean="0"/>
              <a:t>‹nº›</a:t>
            </a:fld>
            <a:endParaRPr lang="pt-BR"/>
          </a:p>
        </p:txBody>
      </p:sp>
    </p:spTree>
    <p:extLst>
      <p:ext uri="{BB962C8B-B14F-4D97-AF65-F5344CB8AC3E}">
        <p14:creationId xmlns:p14="http://schemas.microsoft.com/office/powerpoint/2010/main" val="1186913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4B0878A-18DF-4207-9845-788BF4B96186}" type="datetimeFigureOut">
              <a:rPr lang="pt-BR" smtClean="0"/>
              <a:t>23/04/2026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490A326-AC6F-4090-9ECC-4AA76160E747}" type="slidenum">
              <a:rPr lang="pt-BR" smtClean="0"/>
              <a:t>‹nº›</a:t>
            </a:fld>
            <a:endParaRPr lang="pt-BR"/>
          </a:p>
        </p:txBody>
      </p:sp>
    </p:spTree>
    <p:extLst>
      <p:ext uri="{BB962C8B-B14F-4D97-AF65-F5344CB8AC3E}">
        <p14:creationId xmlns:p14="http://schemas.microsoft.com/office/powerpoint/2010/main" val="2685236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9" name="Espaço Reservado para Título 11"/>
          <p:cNvSpPr>
            <a:spLocks noGrp="1"/>
          </p:cNvSpPr>
          <p:nvPr>
            <p:ph type="title" hasCustomPrompt="1"/>
          </p:nvPr>
        </p:nvSpPr>
        <p:spPr>
          <a:xfrm>
            <a:off x="628650" y="2766219"/>
            <a:ext cx="7886700" cy="1325563"/>
          </a:xfrm>
          <a:prstGeom prst="rect">
            <a:avLst/>
          </a:prstGeom>
        </p:spPr>
        <p:txBody>
          <a:bodyPr vert="horz" lIns="91440" tIns="45720" rIns="91440" bIns="45720" rtlCol="0" anchor="ctr">
            <a:normAutofit/>
          </a:bodyPr>
          <a:lstStyle>
            <a:lvl1pPr marL="0" indent="0">
              <a:buFont typeface="+mj-lt"/>
              <a:buNone/>
              <a:defRPr>
                <a:latin typeface="Gotham HTF" pitchFamily="2" charset="0"/>
              </a:defRPr>
            </a:lvl1pPr>
          </a:lstStyle>
          <a:p>
            <a:r>
              <a:rPr lang="pt-BR" dirty="0"/>
              <a:t>CLIQUE PARA EDITAR O TÍTULO MESTRE</a:t>
            </a:r>
          </a:p>
        </p:txBody>
      </p:sp>
    </p:spTree>
    <p:extLst>
      <p:ext uri="{BB962C8B-B14F-4D97-AF65-F5344CB8AC3E}">
        <p14:creationId xmlns:p14="http://schemas.microsoft.com/office/powerpoint/2010/main" val="1115298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3.emf"/><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7" name="Picture 2"/>
          <p:cNvPicPr>
            <a:picLocks noChangeAspect="1"/>
          </p:cNvPicPr>
          <p:nvPr userDrawn="1"/>
        </p:nvPicPr>
        <p:blipFill>
          <a:blip r:embed="rId3"/>
          <a:stretch>
            <a:fillRect/>
          </a:stretch>
        </p:blipFill>
        <p:spPr>
          <a:xfrm>
            <a:off x="1674039" y="3081534"/>
            <a:ext cx="5783223" cy="682232"/>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9" name="Picture 2"/>
          <p:cNvPicPr>
            <a:picLocks noChangeAspect="1"/>
          </p:cNvPicPr>
          <p:nvPr userDrawn="1"/>
        </p:nvPicPr>
        <p:blipFill rotWithShape="1">
          <a:blip r:embed="rId4"/>
          <a:srcRect l="21776" r="21705"/>
          <a:stretch/>
        </p:blipFill>
        <p:spPr>
          <a:xfrm>
            <a:off x="-11651" y="2329273"/>
            <a:ext cx="9155651" cy="2789855"/>
          </a:xfrm>
          <a:prstGeom prst="rect">
            <a:avLst/>
          </a:prstGeom>
        </p:spPr>
      </p:pic>
      <p:sp>
        <p:nvSpPr>
          <p:cNvPr id="13" name="Rectangle 3"/>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8" name="Rectangle 1"/>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18"/>
          <p:cNvPicPr>
            <a:picLocks noChangeAspect="1"/>
          </p:cNvPicPr>
          <p:nvPr userDrawn="1"/>
        </p:nvPicPr>
        <p:blipFill>
          <a:blip r:embed="rId5"/>
          <a:stretch>
            <a:fillRect/>
          </a:stretch>
        </p:blipFill>
        <p:spPr>
          <a:xfrm>
            <a:off x="7829017" y="329329"/>
            <a:ext cx="997107" cy="272893"/>
          </a:xfrm>
          <a:prstGeom prst="rect">
            <a:avLst/>
          </a:prstGeom>
        </p:spPr>
      </p:pic>
      <p:sp>
        <p:nvSpPr>
          <p:cNvPr id="12" name="TextBox 14"/>
          <p:cNvSpPr txBox="1"/>
          <p:nvPr userDrawn="1"/>
        </p:nvSpPr>
        <p:spPr>
          <a:xfrm>
            <a:off x="632919" y="6295596"/>
            <a:ext cx="3617077" cy="286232"/>
          </a:xfrm>
          <a:prstGeom prst="rect">
            <a:avLst/>
          </a:prstGeom>
          <a:noFill/>
        </p:spPr>
        <p:txBody>
          <a:bodyPr wrap="square" rtlCol="0">
            <a:spAutoFit/>
          </a:bodyPr>
          <a:lstStyle/>
          <a:p>
            <a:pPr>
              <a:lnSpc>
                <a:spcPct val="90000"/>
              </a:lnSpc>
            </a:pPr>
            <a:r>
              <a:rPr lang="en-US" sz="1400" dirty="0" err="1">
                <a:solidFill>
                  <a:srgbClr val="303030"/>
                </a:solidFill>
                <a:latin typeface="Gotham-Bold"/>
                <a:cs typeface="Gotham-Bold"/>
              </a:rPr>
              <a:t>Versão</a:t>
            </a:r>
            <a:r>
              <a:rPr lang="en-US" sz="1400" dirty="0">
                <a:solidFill>
                  <a:srgbClr val="303030"/>
                </a:solidFill>
                <a:latin typeface="Gotham-Bold"/>
                <a:cs typeface="Gotham-Bold"/>
              </a:rPr>
              <a:t> 4.0 – MAIO/2025</a:t>
            </a:r>
          </a:p>
        </p:txBody>
      </p:sp>
      <p:sp>
        <p:nvSpPr>
          <p:cNvPr id="14" name="TextBox 15"/>
          <p:cNvSpPr txBox="1"/>
          <p:nvPr userDrawn="1"/>
        </p:nvSpPr>
        <p:spPr>
          <a:xfrm>
            <a:off x="1006056" y="3024439"/>
            <a:ext cx="7166918" cy="543739"/>
          </a:xfrm>
          <a:prstGeom prst="rect">
            <a:avLst/>
          </a:prstGeom>
          <a:noFill/>
        </p:spPr>
        <p:txBody>
          <a:bodyPr wrap="square" rtlCol="0">
            <a:spAutoFit/>
          </a:bodyPr>
          <a:lstStyle/>
          <a:p>
            <a:pPr>
              <a:lnSpc>
                <a:spcPct val="90000"/>
              </a:lnSpc>
            </a:pPr>
            <a:r>
              <a:rPr lang="en-US" sz="3200" b="1" dirty="0">
                <a:solidFill>
                  <a:srgbClr val="FFFFFF"/>
                </a:solidFill>
                <a:latin typeface="Gotham HTF" pitchFamily="2" charset="0"/>
                <a:cs typeface="Gotham-Bold"/>
              </a:rPr>
              <a:t>ADMINISTRAÇÃO</a:t>
            </a:r>
          </a:p>
        </p:txBody>
      </p:sp>
      <p:sp>
        <p:nvSpPr>
          <p:cNvPr id="17"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5" name="Rectangle 22"/>
          <p:cNvSpPr/>
          <p:nvPr userDrawn="1"/>
        </p:nvSpPr>
        <p:spPr>
          <a:xfrm flipH="1">
            <a:off x="754365" y="3141713"/>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3" r:id="rId1"/>
    <p:sldLayoutId id="2147483768"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bg1"/>
          </a:solidFill>
          <a:latin typeface="Gotham-Bold"/>
          <a:ea typeface="+mn-ea"/>
          <a:cs typeface="+mn-cs"/>
        </a:defRPr>
      </a:lvl1pPr>
      <a:lvl2pPr marL="4572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2pPr>
      <a:lvl3pPr marL="9144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4pPr>
      <a:lvl5pPr marL="20574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3652" y="697656"/>
            <a:ext cx="7443468" cy="585229"/>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933651" y="1600200"/>
            <a:ext cx="7443468" cy="4525963"/>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15" name="Rectangle 14"/>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7"/>
          <p:cNvPicPr>
            <a:picLocks noChangeAspect="1"/>
          </p:cNvPicPr>
          <p:nvPr userDrawn="1"/>
        </p:nvPicPr>
        <p:blipFill>
          <a:blip r:embed="rId13"/>
          <a:stretch>
            <a:fillRect/>
          </a:stretch>
        </p:blipFill>
        <p:spPr>
          <a:xfrm>
            <a:off x="7829017" y="329329"/>
            <a:ext cx="997107" cy="272893"/>
          </a:xfrm>
          <a:prstGeom prst="rect">
            <a:avLst/>
          </a:prstGeom>
        </p:spPr>
      </p:pic>
      <p:sp>
        <p:nvSpPr>
          <p:cNvPr id="19"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1"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53" r:id="rId10"/>
    <p:sldLayoutId id="2147483754" r:id="rId11"/>
  </p:sldLayoutIdLst>
  <p:hf hdr="0" ftr="0" dt="0"/>
  <p:txStyles>
    <p:titleStyle>
      <a:lvl1pPr algn="l" defTabSz="457200" rtl="0" eaLnBrk="1" latinLnBrk="0" hangingPunct="1">
        <a:spcBef>
          <a:spcPct val="0"/>
        </a:spcBef>
        <a:buNone/>
        <a:defRPr sz="2800" b="1" kern="1200">
          <a:solidFill>
            <a:schemeClr val="tx1"/>
          </a:solidFill>
          <a:latin typeface="Gotham HTF" pitchFamily="2" charset="0"/>
          <a:ea typeface="+mj-ea"/>
          <a:cs typeface="+mj-cs"/>
        </a:defRPr>
      </a:lvl1pPr>
    </p:titleStyle>
    <p:bodyStyle>
      <a:lvl1pPr marL="342900" indent="-342900" algn="l" defTabSz="457200" rtl="0" eaLnBrk="1" latinLnBrk="0" hangingPunct="1">
        <a:spcBef>
          <a:spcPct val="20000"/>
        </a:spcBef>
        <a:buFont typeface="Wingdings" panose="05000000000000000000" pitchFamily="2" charset="2"/>
        <a:buChar char="§"/>
        <a:defRPr sz="2800" kern="1200">
          <a:solidFill>
            <a:schemeClr val="tx1"/>
          </a:solidFill>
          <a:latin typeface="Gotham HTF Book" pitchFamily="2"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otham HTF Book" pitchFamily="2" charset="0"/>
          <a:ea typeface="+mn-ea"/>
          <a:cs typeface="+mn-cs"/>
        </a:defRPr>
      </a:lvl2pPr>
      <a:lvl3pPr marL="1257300" indent="-342900" algn="l" defTabSz="457200" rtl="0" eaLnBrk="1" latinLnBrk="0" hangingPunct="1">
        <a:spcBef>
          <a:spcPct val="20000"/>
        </a:spcBef>
        <a:buFont typeface="Wingdings" panose="05000000000000000000" pitchFamily="2" charset="2"/>
        <a:buChar char="§"/>
        <a:defRPr sz="2000" kern="1200">
          <a:solidFill>
            <a:schemeClr val="tx1"/>
          </a:solidFill>
          <a:latin typeface="Gotham HTF Book" pitchFamily="2"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8" name="Picture 15"/>
          <p:cNvPicPr>
            <a:picLocks noChangeAspect="1"/>
          </p:cNvPicPr>
          <p:nvPr userDrawn="1"/>
        </p:nvPicPr>
        <p:blipFill>
          <a:blip r:embed="rId3"/>
          <a:stretch>
            <a:fillRect/>
          </a:stretch>
        </p:blipFill>
        <p:spPr>
          <a:xfrm>
            <a:off x="7837508" y="333716"/>
            <a:ext cx="975616" cy="267011"/>
          </a:xfrm>
          <a:prstGeom prst="rect">
            <a:avLst/>
          </a:prstGeom>
        </p:spPr>
      </p:pic>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2" name="Espaço Reservado para Título 11"/>
          <p:cNvSpPr>
            <a:spLocks noGrp="1"/>
          </p:cNvSpPr>
          <p:nvPr>
            <p:ph type="title"/>
          </p:nvPr>
        </p:nvSpPr>
        <p:spPr>
          <a:xfrm>
            <a:off x="628650" y="2766219"/>
            <a:ext cx="7886700" cy="1325563"/>
          </a:xfrm>
          <a:prstGeom prst="rect">
            <a:avLst/>
          </a:prstGeom>
        </p:spPr>
        <p:txBody>
          <a:bodyPr vert="horz" lIns="91440" tIns="45720" rIns="91440" bIns="45720" rtlCol="0" anchor="ctr">
            <a:normAutofit/>
          </a:bodyPr>
          <a:lstStyle/>
          <a:p>
            <a:r>
              <a:rPr lang="pt-BR"/>
              <a:t>Clique para editar o título mestre</a:t>
            </a:r>
          </a:p>
        </p:txBody>
      </p:sp>
    </p:spTree>
    <p:extLst>
      <p:ext uri="{BB962C8B-B14F-4D97-AF65-F5344CB8AC3E}">
        <p14:creationId xmlns:p14="http://schemas.microsoft.com/office/powerpoint/2010/main" val="540331082"/>
      </p:ext>
    </p:extLst>
  </p:cSld>
  <p:clrMap bg1="lt1" tx1="dk1" bg2="lt2" tx2="dk2" accent1="accent1" accent2="accent2" accent3="accent3" accent4="accent4" accent5="accent5" accent6="accent6" hlink="hlink" folHlink="folHlink"/>
  <p:sldLayoutIdLst>
    <p:sldLayoutId id="2147483752" r:id="rId1"/>
  </p:sldLayoutIdLst>
  <p:txStyles>
    <p:titleStyle>
      <a:lvl1pPr algn="ctr" defTabSz="914400" rtl="0" eaLnBrk="1" latinLnBrk="0" hangingPunct="1">
        <a:lnSpc>
          <a:spcPct val="90000"/>
        </a:lnSpc>
        <a:spcBef>
          <a:spcPct val="0"/>
        </a:spcBef>
        <a:buNone/>
        <a:defRPr sz="4400" b="1" kern="1200">
          <a:solidFill>
            <a:schemeClr val="bg1"/>
          </a:solidFill>
          <a:latin typeface="Gotham HTF"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4.xml"/><Relationship Id="rId5" Type="http://schemas.microsoft.com/office/2007/relationships/hdphoto" Target="../media/hdphoto2.wdp"/><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nKAe64oW3QY" TargetMode="Externa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198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328672"/>
            <a:ext cx="9143998" cy="2790444"/>
          </a:xfrm>
          <a:prstGeom prst="rect">
            <a:avLst/>
          </a:prstGeom>
        </p:spPr>
      </p:pic>
      <p:sp>
        <p:nvSpPr>
          <p:cNvPr id="3" name="object 3"/>
          <p:cNvSpPr/>
          <p:nvPr/>
        </p:nvSpPr>
        <p:spPr>
          <a:xfrm>
            <a:off x="0" y="0"/>
            <a:ext cx="9144000" cy="79375"/>
          </a:xfrm>
          <a:custGeom>
            <a:avLst/>
            <a:gdLst/>
            <a:ahLst/>
            <a:cxnLst/>
            <a:rect l="l" t="t" r="r" b="b"/>
            <a:pathLst>
              <a:path w="9144000" h="79375">
                <a:moveTo>
                  <a:pt x="9144000" y="0"/>
                </a:moveTo>
                <a:lnTo>
                  <a:pt x="0" y="0"/>
                </a:lnTo>
                <a:lnTo>
                  <a:pt x="0" y="79248"/>
                </a:lnTo>
                <a:lnTo>
                  <a:pt x="9144000" y="79248"/>
                </a:lnTo>
                <a:lnTo>
                  <a:pt x="9144000" y="0"/>
                </a:lnTo>
                <a:close/>
              </a:path>
            </a:pathLst>
          </a:custGeom>
          <a:solidFill>
            <a:srgbClr val="000000"/>
          </a:solidFill>
        </p:spPr>
        <p:txBody>
          <a:bodyPr wrap="square" lIns="0" tIns="0" rIns="0" bIns="0" rtlCol="0"/>
          <a:lstStyle/>
          <a:p>
            <a:endParaRPr/>
          </a:p>
        </p:txBody>
      </p:sp>
      <p:sp>
        <p:nvSpPr>
          <p:cNvPr id="4" name="object 4"/>
          <p:cNvSpPr/>
          <p:nvPr/>
        </p:nvSpPr>
        <p:spPr>
          <a:xfrm>
            <a:off x="8113495" y="327562"/>
            <a:ext cx="20320" cy="274955"/>
          </a:xfrm>
          <a:custGeom>
            <a:avLst/>
            <a:gdLst/>
            <a:ahLst/>
            <a:cxnLst/>
            <a:rect l="l" t="t" r="r" b="b"/>
            <a:pathLst>
              <a:path w="20320" h="274955">
                <a:moveTo>
                  <a:pt x="19827" y="0"/>
                </a:moveTo>
                <a:lnTo>
                  <a:pt x="0" y="0"/>
                </a:lnTo>
                <a:lnTo>
                  <a:pt x="0" y="274624"/>
                </a:lnTo>
                <a:lnTo>
                  <a:pt x="19827" y="274624"/>
                </a:lnTo>
                <a:lnTo>
                  <a:pt x="19827" y="0"/>
                </a:lnTo>
                <a:close/>
              </a:path>
            </a:pathLst>
          </a:custGeom>
          <a:solidFill>
            <a:srgbClr val="2F2F2F"/>
          </a:solidFill>
        </p:spPr>
        <p:txBody>
          <a:bodyPr wrap="square" lIns="0" tIns="0" rIns="0" bIns="0" rtlCol="0"/>
          <a:lstStyle/>
          <a:p>
            <a:endParaRPr/>
          </a:p>
        </p:txBody>
      </p:sp>
      <p:sp>
        <p:nvSpPr>
          <p:cNvPr id="5" name="object 5"/>
          <p:cNvSpPr/>
          <p:nvPr/>
        </p:nvSpPr>
        <p:spPr>
          <a:xfrm>
            <a:off x="7902541" y="457940"/>
            <a:ext cx="97790" cy="19685"/>
          </a:xfrm>
          <a:custGeom>
            <a:avLst/>
            <a:gdLst/>
            <a:ahLst/>
            <a:cxnLst/>
            <a:rect l="l" t="t" r="r" b="b"/>
            <a:pathLst>
              <a:path w="97790" h="19684">
                <a:moveTo>
                  <a:pt x="97548" y="0"/>
                </a:moveTo>
                <a:lnTo>
                  <a:pt x="0" y="0"/>
                </a:lnTo>
                <a:lnTo>
                  <a:pt x="0" y="19564"/>
                </a:lnTo>
                <a:lnTo>
                  <a:pt x="97548" y="19564"/>
                </a:lnTo>
                <a:lnTo>
                  <a:pt x="97548" y="0"/>
                </a:lnTo>
                <a:close/>
              </a:path>
            </a:pathLst>
          </a:custGeom>
          <a:solidFill>
            <a:srgbClr val="2F2F2F"/>
          </a:solidFill>
        </p:spPr>
        <p:txBody>
          <a:bodyPr wrap="square" lIns="0" tIns="0" rIns="0" bIns="0" rtlCol="0"/>
          <a:lstStyle/>
          <a:p>
            <a:endParaRPr/>
          </a:p>
        </p:txBody>
      </p:sp>
      <p:sp>
        <p:nvSpPr>
          <p:cNvPr id="6" name="object 6"/>
          <p:cNvSpPr/>
          <p:nvPr/>
        </p:nvSpPr>
        <p:spPr>
          <a:xfrm>
            <a:off x="7828788" y="328129"/>
            <a:ext cx="226060" cy="274320"/>
          </a:xfrm>
          <a:custGeom>
            <a:avLst/>
            <a:gdLst/>
            <a:ahLst/>
            <a:cxnLst/>
            <a:rect l="l" t="t" r="r" b="b"/>
            <a:pathLst>
              <a:path w="226059" h="274320">
                <a:moveTo>
                  <a:pt x="226009" y="0"/>
                </a:moveTo>
                <a:lnTo>
                  <a:pt x="0" y="0"/>
                </a:lnTo>
                <a:lnTo>
                  <a:pt x="0" y="16725"/>
                </a:lnTo>
                <a:lnTo>
                  <a:pt x="0" y="273850"/>
                </a:lnTo>
                <a:lnTo>
                  <a:pt x="19824" y="273862"/>
                </a:lnTo>
                <a:lnTo>
                  <a:pt x="19824" y="16725"/>
                </a:lnTo>
                <a:lnTo>
                  <a:pt x="226009" y="16725"/>
                </a:lnTo>
                <a:lnTo>
                  <a:pt x="226009" y="0"/>
                </a:lnTo>
                <a:close/>
              </a:path>
            </a:pathLst>
          </a:custGeom>
          <a:solidFill>
            <a:srgbClr val="2F2F2F"/>
          </a:solidFill>
        </p:spPr>
        <p:txBody>
          <a:bodyPr wrap="square" lIns="0" tIns="0" rIns="0" bIns="0" rtlCol="0"/>
          <a:lstStyle/>
          <a:p>
            <a:endParaRPr/>
          </a:p>
        </p:txBody>
      </p:sp>
      <p:sp>
        <p:nvSpPr>
          <p:cNvPr id="7" name="object 7"/>
          <p:cNvSpPr/>
          <p:nvPr/>
        </p:nvSpPr>
        <p:spPr>
          <a:xfrm>
            <a:off x="8573468" y="329187"/>
            <a:ext cx="252095" cy="271780"/>
          </a:xfrm>
          <a:custGeom>
            <a:avLst/>
            <a:gdLst/>
            <a:ahLst/>
            <a:cxnLst/>
            <a:rect l="l" t="t" r="r" b="b"/>
            <a:pathLst>
              <a:path w="252095" h="271780">
                <a:moveTo>
                  <a:pt x="175803" y="0"/>
                </a:moveTo>
                <a:lnTo>
                  <a:pt x="0" y="0"/>
                </a:lnTo>
                <a:lnTo>
                  <a:pt x="0" y="271369"/>
                </a:lnTo>
                <a:lnTo>
                  <a:pt x="19827" y="271369"/>
                </a:lnTo>
                <a:lnTo>
                  <a:pt x="19827" y="15480"/>
                </a:lnTo>
                <a:lnTo>
                  <a:pt x="222712" y="15480"/>
                </a:lnTo>
                <a:lnTo>
                  <a:pt x="198518" y="3091"/>
                </a:lnTo>
                <a:lnTo>
                  <a:pt x="175803" y="0"/>
                </a:lnTo>
                <a:close/>
              </a:path>
              <a:path w="252095" h="271780">
                <a:moveTo>
                  <a:pt x="222712" y="15480"/>
                </a:moveTo>
                <a:lnTo>
                  <a:pt x="156230" y="15480"/>
                </a:lnTo>
                <a:lnTo>
                  <a:pt x="189400" y="19722"/>
                </a:lnTo>
                <a:lnTo>
                  <a:pt x="215209" y="32291"/>
                </a:lnTo>
                <a:lnTo>
                  <a:pt x="231948" y="52957"/>
                </a:lnTo>
                <a:lnTo>
                  <a:pt x="237908" y="81488"/>
                </a:lnTo>
                <a:lnTo>
                  <a:pt x="237908" y="82311"/>
                </a:lnTo>
                <a:lnTo>
                  <a:pt x="231812" y="110067"/>
                </a:lnTo>
                <a:lnTo>
                  <a:pt x="214714" y="131406"/>
                </a:lnTo>
                <a:lnTo>
                  <a:pt x="188397" y="145105"/>
                </a:lnTo>
                <a:lnTo>
                  <a:pt x="154645" y="149943"/>
                </a:lnTo>
                <a:lnTo>
                  <a:pt x="91199" y="149943"/>
                </a:lnTo>
                <a:lnTo>
                  <a:pt x="91199" y="168689"/>
                </a:lnTo>
                <a:lnTo>
                  <a:pt x="153060" y="168689"/>
                </a:lnTo>
                <a:lnTo>
                  <a:pt x="193167" y="163201"/>
                </a:lnTo>
                <a:lnTo>
                  <a:pt x="249297" y="119523"/>
                </a:lnTo>
                <a:lnTo>
                  <a:pt x="252015" y="107271"/>
                </a:lnTo>
                <a:lnTo>
                  <a:pt x="252015" y="52796"/>
                </a:lnTo>
                <a:lnTo>
                  <a:pt x="250486" y="45343"/>
                </a:lnTo>
                <a:lnTo>
                  <a:pt x="230077" y="19252"/>
                </a:lnTo>
                <a:lnTo>
                  <a:pt x="222712" y="15480"/>
                </a:lnTo>
                <a:close/>
              </a:path>
            </a:pathLst>
          </a:custGeom>
          <a:solidFill>
            <a:srgbClr val="2F2F2F"/>
          </a:solidFill>
        </p:spPr>
        <p:txBody>
          <a:bodyPr wrap="square" lIns="0" tIns="0" rIns="0" bIns="0" rtlCol="0"/>
          <a:lstStyle/>
          <a:p>
            <a:endParaRPr/>
          </a:p>
        </p:txBody>
      </p:sp>
      <p:sp>
        <p:nvSpPr>
          <p:cNvPr id="8" name="object 8"/>
          <p:cNvSpPr/>
          <p:nvPr/>
        </p:nvSpPr>
        <p:spPr>
          <a:xfrm>
            <a:off x="8180108" y="329196"/>
            <a:ext cx="351155" cy="272415"/>
          </a:xfrm>
          <a:custGeom>
            <a:avLst/>
            <a:gdLst/>
            <a:ahLst/>
            <a:cxnLst/>
            <a:rect l="l" t="t" r="r" b="b"/>
            <a:pathLst>
              <a:path w="351154" h="272415">
                <a:moveTo>
                  <a:pt x="277558" y="149936"/>
                </a:moveTo>
                <a:lnTo>
                  <a:pt x="198031" y="17932"/>
                </a:lnTo>
                <a:lnTo>
                  <a:pt x="187223" y="0"/>
                </a:lnTo>
                <a:lnTo>
                  <a:pt x="162509" y="0"/>
                </a:lnTo>
                <a:lnTo>
                  <a:pt x="0" y="272186"/>
                </a:lnTo>
                <a:lnTo>
                  <a:pt x="20612" y="272186"/>
                </a:lnTo>
                <a:lnTo>
                  <a:pt x="174472" y="17932"/>
                </a:lnTo>
                <a:lnTo>
                  <a:pt x="254558" y="149936"/>
                </a:lnTo>
                <a:lnTo>
                  <a:pt x="277558" y="149936"/>
                </a:lnTo>
                <a:close/>
              </a:path>
              <a:path w="351154" h="272415">
                <a:moveTo>
                  <a:pt x="350532" y="272186"/>
                </a:moveTo>
                <a:lnTo>
                  <a:pt x="307708" y="201282"/>
                </a:lnTo>
                <a:lnTo>
                  <a:pt x="285496" y="201282"/>
                </a:lnTo>
                <a:lnTo>
                  <a:pt x="329120" y="272186"/>
                </a:lnTo>
                <a:lnTo>
                  <a:pt x="350532" y="272186"/>
                </a:lnTo>
                <a:close/>
              </a:path>
            </a:pathLst>
          </a:custGeom>
          <a:solidFill>
            <a:srgbClr val="2F2F2F"/>
          </a:solidFill>
        </p:spPr>
        <p:txBody>
          <a:bodyPr wrap="square" lIns="0" tIns="0" rIns="0" bIns="0" rtlCol="0"/>
          <a:lstStyle/>
          <a:p>
            <a:endParaRPr/>
          </a:p>
        </p:txBody>
      </p:sp>
      <p:sp>
        <p:nvSpPr>
          <p:cNvPr id="9" name="object 9"/>
          <p:cNvSpPr txBox="1"/>
          <p:nvPr/>
        </p:nvSpPr>
        <p:spPr>
          <a:xfrm>
            <a:off x="711809" y="6296659"/>
            <a:ext cx="2092325" cy="228268"/>
          </a:xfrm>
          <a:prstGeom prst="rect">
            <a:avLst/>
          </a:prstGeom>
        </p:spPr>
        <p:txBody>
          <a:bodyPr vert="horz" wrap="square" lIns="0" tIns="12700" rIns="0" bIns="0" rtlCol="0">
            <a:spAutoFit/>
          </a:bodyPr>
          <a:lstStyle/>
          <a:p>
            <a:pPr marL="12700">
              <a:lnSpc>
                <a:spcPct val="100000"/>
              </a:lnSpc>
              <a:spcBef>
                <a:spcPts val="100"/>
              </a:spcBef>
            </a:pPr>
            <a:r>
              <a:rPr sz="1400" b="1" spc="-10" dirty="0" err="1">
                <a:solidFill>
                  <a:srgbClr val="2F2F2F"/>
                </a:solidFill>
                <a:latin typeface="Calibri"/>
                <a:cs typeface="Calibri"/>
              </a:rPr>
              <a:t>Versão</a:t>
            </a:r>
            <a:r>
              <a:rPr sz="1400" b="1" spc="-60" dirty="0">
                <a:solidFill>
                  <a:srgbClr val="2F2F2F"/>
                </a:solidFill>
                <a:latin typeface="Calibri"/>
                <a:cs typeface="Calibri"/>
              </a:rPr>
              <a:t> </a:t>
            </a:r>
            <a:r>
              <a:rPr lang="pt-BR" sz="1400" b="1" spc="-60" dirty="0">
                <a:solidFill>
                  <a:srgbClr val="2F2F2F"/>
                </a:solidFill>
                <a:latin typeface="Calibri"/>
                <a:cs typeface="Calibri"/>
              </a:rPr>
              <a:t>3</a:t>
            </a:r>
            <a:r>
              <a:rPr sz="1400" b="1" dirty="0">
                <a:solidFill>
                  <a:srgbClr val="2F2F2F"/>
                </a:solidFill>
                <a:latin typeface="Calibri"/>
                <a:cs typeface="Calibri"/>
              </a:rPr>
              <a:t>.0</a:t>
            </a:r>
            <a:r>
              <a:rPr sz="1400" b="1" spc="-20" dirty="0">
                <a:solidFill>
                  <a:srgbClr val="2F2F2F"/>
                </a:solidFill>
                <a:latin typeface="Calibri"/>
                <a:cs typeface="Calibri"/>
              </a:rPr>
              <a:t> </a:t>
            </a:r>
            <a:r>
              <a:rPr sz="1400" b="1" dirty="0">
                <a:solidFill>
                  <a:srgbClr val="2F2F2F"/>
                </a:solidFill>
                <a:latin typeface="Calibri"/>
                <a:cs typeface="Calibri"/>
              </a:rPr>
              <a:t>–</a:t>
            </a:r>
            <a:r>
              <a:rPr sz="1400" b="1" spc="-30" dirty="0">
                <a:solidFill>
                  <a:srgbClr val="2F2F2F"/>
                </a:solidFill>
                <a:latin typeface="Calibri"/>
                <a:cs typeface="Calibri"/>
              </a:rPr>
              <a:t> </a:t>
            </a:r>
            <a:r>
              <a:rPr lang="pt-BR" sz="1400" b="1" spc="-30" dirty="0">
                <a:solidFill>
                  <a:srgbClr val="2F2F2F"/>
                </a:solidFill>
                <a:latin typeface="Calibri"/>
                <a:cs typeface="Calibri"/>
              </a:rPr>
              <a:t>Março</a:t>
            </a:r>
            <a:r>
              <a:rPr sz="1400" b="1" spc="-10" dirty="0">
                <a:solidFill>
                  <a:srgbClr val="2F2F2F"/>
                </a:solidFill>
                <a:latin typeface="Calibri"/>
                <a:cs typeface="Calibri"/>
              </a:rPr>
              <a:t>/202</a:t>
            </a:r>
            <a:r>
              <a:rPr lang="pt-BR" sz="1400" b="1" spc="-10" dirty="0">
                <a:solidFill>
                  <a:srgbClr val="2F2F2F"/>
                </a:solidFill>
                <a:latin typeface="Calibri"/>
                <a:cs typeface="Calibri"/>
              </a:rPr>
              <a:t>6</a:t>
            </a:r>
            <a:endParaRPr sz="1400" dirty="0">
              <a:latin typeface="Calibri"/>
              <a:cs typeface="Calibri"/>
            </a:endParaRPr>
          </a:p>
        </p:txBody>
      </p:sp>
      <p:sp>
        <p:nvSpPr>
          <p:cNvPr id="10" name="object 10"/>
          <p:cNvSpPr txBox="1"/>
          <p:nvPr/>
        </p:nvSpPr>
        <p:spPr>
          <a:xfrm>
            <a:off x="8365235" y="6141720"/>
            <a:ext cx="779145" cy="410209"/>
          </a:xfrm>
          <a:prstGeom prst="rect">
            <a:avLst/>
          </a:prstGeom>
          <a:solidFill>
            <a:srgbClr val="EF255D"/>
          </a:solidFill>
        </p:spPr>
        <p:txBody>
          <a:bodyPr vert="horz" wrap="square" lIns="0" tIns="95885" rIns="0" bIns="0" rtlCol="0">
            <a:spAutoFit/>
          </a:bodyPr>
          <a:lstStyle/>
          <a:p>
            <a:pPr marL="194310">
              <a:lnSpc>
                <a:spcPct val="100000"/>
              </a:lnSpc>
              <a:spcBef>
                <a:spcPts val="755"/>
              </a:spcBef>
            </a:pPr>
            <a:r>
              <a:rPr sz="1200" b="1" spc="-50" dirty="0">
                <a:solidFill>
                  <a:srgbClr val="FFFFFF"/>
                </a:solidFill>
                <a:latin typeface="Calibri"/>
                <a:cs typeface="Calibri"/>
              </a:rPr>
              <a:t>2</a:t>
            </a:r>
            <a:endParaRPr sz="1200">
              <a:latin typeface="Calibri"/>
              <a:cs typeface="Calibri"/>
            </a:endParaRPr>
          </a:p>
        </p:txBody>
      </p:sp>
      <p:sp>
        <p:nvSpPr>
          <p:cNvPr id="11" name="object 11"/>
          <p:cNvSpPr/>
          <p:nvPr/>
        </p:nvSpPr>
        <p:spPr>
          <a:xfrm>
            <a:off x="754380" y="3140964"/>
            <a:ext cx="45720" cy="1290955"/>
          </a:xfrm>
          <a:custGeom>
            <a:avLst/>
            <a:gdLst/>
            <a:ahLst/>
            <a:cxnLst/>
            <a:rect l="l" t="t" r="r" b="b"/>
            <a:pathLst>
              <a:path w="45720" h="1290954">
                <a:moveTo>
                  <a:pt x="45720" y="0"/>
                </a:moveTo>
                <a:lnTo>
                  <a:pt x="0" y="0"/>
                </a:lnTo>
                <a:lnTo>
                  <a:pt x="0" y="1290828"/>
                </a:lnTo>
                <a:lnTo>
                  <a:pt x="45720" y="1290828"/>
                </a:lnTo>
                <a:lnTo>
                  <a:pt x="45720" y="0"/>
                </a:lnTo>
                <a:close/>
              </a:path>
            </a:pathLst>
          </a:custGeom>
          <a:solidFill>
            <a:srgbClr val="EF255D"/>
          </a:solidFill>
        </p:spPr>
        <p:txBody>
          <a:bodyPr wrap="square" lIns="0" tIns="0" rIns="0" bIns="0" rtlCol="0"/>
          <a:lstStyle/>
          <a:p>
            <a:endParaRPr/>
          </a:p>
        </p:txBody>
      </p:sp>
      <p:sp>
        <p:nvSpPr>
          <p:cNvPr id="12" name="object 12"/>
          <p:cNvSpPr txBox="1"/>
          <p:nvPr/>
        </p:nvSpPr>
        <p:spPr>
          <a:xfrm>
            <a:off x="1081227" y="3287516"/>
            <a:ext cx="5451475" cy="1029969"/>
          </a:xfrm>
          <a:prstGeom prst="rect">
            <a:avLst/>
          </a:prstGeom>
        </p:spPr>
        <p:txBody>
          <a:bodyPr vert="horz" wrap="square" lIns="0" tIns="99060" rIns="0" bIns="0" rtlCol="0">
            <a:spAutoFit/>
          </a:bodyPr>
          <a:lstStyle/>
          <a:p>
            <a:pPr marL="15875">
              <a:lnSpc>
                <a:spcPct val="100000"/>
              </a:lnSpc>
              <a:spcBef>
                <a:spcPts val="780"/>
              </a:spcBef>
            </a:pPr>
            <a:r>
              <a:rPr sz="3200" b="1" dirty="0">
                <a:solidFill>
                  <a:srgbClr val="FFFFFF"/>
                </a:solidFill>
                <a:latin typeface="Calibri"/>
                <a:cs typeface="Calibri"/>
              </a:rPr>
              <a:t>ENGENHARIA</a:t>
            </a:r>
            <a:r>
              <a:rPr sz="3200" b="1" spc="-70" dirty="0">
                <a:solidFill>
                  <a:srgbClr val="FFFFFF"/>
                </a:solidFill>
                <a:latin typeface="Calibri"/>
                <a:cs typeface="Calibri"/>
              </a:rPr>
              <a:t> </a:t>
            </a:r>
            <a:r>
              <a:rPr sz="3200" b="1" dirty="0">
                <a:solidFill>
                  <a:srgbClr val="FFFFFF"/>
                </a:solidFill>
                <a:latin typeface="Calibri"/>
                <a:cs typeface="Calibri"/>
              </a:rPr>
              <a:t>DA</a:t>
            </a:r>
            <a:r>
              <a:rPr sz="3200" b="1" spc="-55" dirty="0">
                <a:solidFill>
                  <a:srgbClr val="FFFFFF"/>
                </a:solidFill>
                <a:latin typeface="Calibri"/>
                <a:cs typeface="Calibri"/>
              </a:rPr>
              <a:t> </a:t>
            </a:r>
            <a:r>
              <a:rPr sz="3200" b="1" spc="-30" dirty="0">
                <a:solidFill>
                  <a:srgbClr val="FFFFFF"/>
                </a:solidFill>
                <a:latin typeface="Calibri"/>
                <a:cs typeface="Calibri"/>
              </a:rPr>
              <a:t>COMPUTAÇÃO</a:t>
            </a:r>
            <a:endParaRPr sz="3200" dirty="0">
              <a:latin typeface="Calibri"/>
              <a:cs typeface="Calibri"/>
            </a:endParaRPr>
          </a:p>
          <a:p>
            <a:pPr marL="12700">
              <a:lnSpc>
                <a:spcPct val="100000"/>
              </a:lnSpc>
              <a:spcBef>
                <a:spcPts val="509"/>
              </a:spcBef>
            </a:pPr>
            <a:r>
              <a:rPr sz="2400" b="1" spc="-10" dirty="0">
                <a:solidFill>
                  <a:srgbClr val="FFFFFF"/>
                </a:solidFill>
                <a:latin typeface="Calibri"/>
                <a:cs typeface="Calibri"/>
              </a:rPr>
              <a:t>HUMAN-</a:t>
            </a:r>
            <a:r>
              <a:rPr sz="2400" b="1" dirty="0">
                <a:solidFill>
                  <a:srgbClr val="FFFFFF"/>
                </a:solidFill>
                <a:latin typeface="Calibri"/>
                <a:cs typeface="Calibri"/>
              </a:rPr>
              <a:t>COMPUTER </a:t>
            </a:r>
            <a:r>
              <a:rPr sz="2400" b="1" spc="-10" dirty="0">
                <a:solidFill>
                  <a:srgbClr val="FFFFFF"/>
                </a:solidFill>
                <a:latin typeface="Calibri"/>
                <a:cs typeface="Calibri"/>
              </a:rPr>
              <a:t>INTERACTION</a:t>
            </a:r>
            <a:endParaRPr sz="2400" dirty="0">
              <a:latin typeface="Calibri"/>
              <a:cs typeface="Calibri"/>
            </a:endParaRPr>
          </a:p>
        </p:txBody>
      </p:sp>
      <p:sp>
        <p:nvSpPr>
          <p:cNvPr id="13" name="object 13"/>
          <p:cNvSpPr txBox="1"/>
          <p:nvPr/>
        </p:nvSpPr>
        <p:spPr>
          <a:xfrm>
            <a:off x="1129690" y="4532757"/>
            <a:ext cx="2653665" cy="299720"/>
          </a:xfrm>
          <a:prstGeom prst="rect">
            <a:avLst/>
          </a:prstGeom>
        </p:spPr>
        <p:txBody>
          <a:bodyPr vert="horz" wrap="square" lIns="0" tIns="12700" rIns="0" bIns="0" rtlCol="0">
            <a:spAutoFit/>
          </a:bodyPr>
          <a:lstStyle/>
          <a:p>
            <a:pPr marL="12700">
              <a:lnSpc>
                <a:spcPct val="100000"/>
              </a:lnSpc>
              <a:spcBef>
                <a:spcPts val="100"/>
              </a:spcBef>
            </a:pPr>
            <a:r>
              <a:rPr sz="1800" spc="-30" dirty="0">
                <a:solidFill>
                  <a:srgbClr val="FFFFFF"/>
                </a:solidFill>
                <a:latin typeface="Calibri"/>
                <a:cs typeface="Calibri"/>
              </a:rPr>
              <a:t>PROF.</a:t>
            </a:r>
            <a:r>
              <a:rPr sz="1800" spc="-65" dirty="0">
                <a:solidFill>
                  <a:srgbClr val="FFFFFF"/>
                </a:solidFill>
                <a:latin typeface="Calibri"/>
                <a:cs typeface="Calibri"/>
              </a:rPr>
              <a:t> </a:t>
            </a:r>
            <a:r>
              <a:rPr sz="1800" dirty="0">
                <a:solidFill>
                  <a:srgbClr val="FFFFFF"/>
                </a:solidFill>
                <a:latin typeface="Calibri"/>
                <a:cs typeface="Calibri"/>
              </a:rPr>
              <a:t>HENRIQUE</a:t>
            </a:r>
            <a:r>
              <a:rPr sz="1800" spc="-40" dirty="0">
                <a:solidFill>
                  <a:srgbClr val="FFFFFF"/>
                </a:solidFill>
                <a:latin typeface="Calibri"/>
                <a:cs typeface="Calibri"/>
              </a:rPr>
              <a:t> </a:t>
            </a:r>
            <a:r>
              <a:rPr sz="1800" b="1" u="sng" spc="-10" dirty="0">
                <a:solidFill>
                  <a:srgbClr val="FFFFFF"/>
                </a:solidFill>
                <a:uFill>
                  <a:solidFill>
                    <a:srgbClr val="FFFFFF"/>
                  </a:solidFill>
                </a:uFill>
                <a:latin typeface="Calibri"/>
                <a:cs typeface="Calibri"/>
              </a:rPr>
              <a:t>CORDEIRO</a:t>
            </a:r>
            <a:endParaRPr sz="1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aixaDeTexto 28">
            <a:extLst>
              <a:ext uri="{FF2B5EF4-FFF2-40B4-BE49-F238E27FC236}">
                <a16:creationId xmlns:a16="http://schemas.microsoft.com/office/drawing/2014/main" id="{C4E0000B-2BEB-4E62-A9D0-1334AAEAD4E9}"/>
              </a:ext>
            </a:extLst>
          </p:cNvPr>
          <p:cNvSpPr txBox="1"/>
          <p:nvPr/>
        </p:nvSpPr>
        <p:spPr>
          <a:xfrm>
            <a:off x="2093437" y="1262102"/>
            <a:ext cx="4957126" cy="769441"/>
          </a:xfrm>
          <a:prstGeom prst="rect">
            <a:avLst/>
          </a:prstGeom>
          <a:noFill/>
        </p:spPr>
        <p:txBody>
          <a:bodyPr wrap="none" rtlCol="0">
            <a:spAutoFit/>
          </a:bodyPr>
          <a:lstStyle/>
          <a:p>
            <a:r>
              <a:rPr lang="pt-BR" sz="4400" b="1" cap="small" dirty="0"/>
              <a:t>Da ideia ao protótipo</a:t>
            </a:r>
          </a:p>
        </p:txBody>
      </p:sp>
      <p:sp>
        <p:nvSpPr>
          <p:cNvPr id="30" name="Retângulo 29">
            <a:extLst>
              <a:ext uri="{FF2B5EF4-FFF2-40B4-BE49-F238E27FC236}">
                <a16:creationId xmlns:a16="http://schemas.microsoft.com/office/drawing/2014/main" id="{E51C8079-6790-497D-B108-754D7BA405A7}"/>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pic>
        <p:nvPicPr>
          <p:cNvPr id="17" name="Imagem 16">
            <a:extLst>
              <a:ext uri="{FF2B5EF4-FFF2-40B4-BE49-F238E27FC236}">
                <a16:creationId xmlns:a16="http://schemas.microsoft.com/office/drawing/2014/main" id="{5B5FF2CE-1505-46CE-AFC8-515F9C948CB9}"/>
              </a:ext>
            </a:extLst>
          </p:cNvPr>
          <p:cNvPicPr>
            <a:picLocks noChangeAspect="1"/>
          </p:cNvPicPr>
          <p:nvPr/>
        </p:nvPicPr>
        <p:blipFill>
          <a:blip r:embed="rId2"/>
          <a:stretch>
            <a:fillRect/>
          </a:stretch>
        </p:blipFill>
        <p:spPr>
          <a:xfrm>
            <a:off x="2990352" y="4617102"/>
            <a:ext cx="2903076" cy="2054063"/>
          </a:xfrm>
          <a:prstGeom prst="rect">
            <a:avLst/>
          </a:prstGeom>
          <a:ln>
            <a:noFill/>
          </a:ln>
          <a:effectLst>
            <a:outerShdw blurRad="292100" dist="139700" dir="2700000" algn="tl" rotWithShape="0">
              <a:srgbClr val="333333">
                <a:alpha val="65000"/>
              </a:srgbClr>
            </a:outerShdw>
          </a:effectLst>
        </p:spPr>
      </p:pic>
      <p:pic>
        <p:nvPicPr>
          <p:cNvPr id="15" name="Imagem 14">
            <a:extLst>
              <a:ext uri="{FF2B5EF4-FFF2-40B4-BE49-F238E27FC236}">
                <a16:creationId xmlns:a16="http://schemas.microsoft.com/office/drawing/2014/main" id="{4C8F312A-8F01-4E7A-B5C8-77901C080EE6}"/>
              </a:ext>
            </a:extLst>
          </p:cNvPr>
          <p:cNvPicPr>
            <a:picLocks noChangeAspect="1"/>
          </p:cNvPicPr>
          <p:nvPr/>
        </p:nvPicPr>
        <p:blipFill>
          <a:blip r:embed="rId3"/>
          <a:stretch>
            <a:fillRect/>
          </a:stretch>
        </p:blipFill>
        <p:spPr>
          <a:xfrm>
            <a:off x="6182076" y="4619783"/>
            <a:ext cx="1357656" cy="2054070"/>
          </a:xfrm>
          <a:prstGeom prst="rect">
            <a:avLst/>
          </a:prstGeom>
          <a:ln>
            <a:noFill/>
          </a:ln>
          <a:effectLst/>
        </p:spPr>
      </p:pic>
      <p:pic>
        <p:nvPicPr>
          <p:cNvPr id="40" name="Imagem 39">
            <a:extLst>
              <a:ext uri="{FF2B5EF4-FFF2-40B4-BE49-F238E27FC236}">
                <a16:creationId xmlns:a16="http://schemas.microsoft.com/office/drawing/2014/main" id="{BD588198-F2A1-47C8-B524-8AFF52C59FBC}"/>
              </a:ext>
            </a:extLst>
          </p:cNvPr>
          <p:cNvPicPr>
            <a:picLocks noChangeAspect="1"/>
          </p:cNvPicPr>
          <p:nvPr/>
        </p:nvPicPr>
        <p:blipFill>
          <a:blip r:embed="rId4"/>
          <a:stretch>
            <a:fillRect/>
          </a:stretch>
        </p:blipFill>
        <p:spPr>
          <a:xfrm>
            <a:off x="3464498" y="2381249"/>
            <a:ext cx="4386055" cy="1800794"/>
          </a:xfrm>
          <a:prstGeom prst="rect">
            <a:avLst/>
          </a:prstGeom>
        </p:spPr>
      </p:pic>
      <p:sp>
        <p:nvSpPr>
          <p:cNvPr id="41" name="CaixaDeTexto 40">
            <a:extLst>
              <a:ext uri="{FF2B5EF4-FFF2-40B4-BE49-F238E27FC236}">
                <a16:creationId xmlns:a16="http://schemas.microsoft.com/office/drawing/2014/main" id="{CD530AC0-7245-4B22-90A8-766DAEB8DBEC}"/>
              </a:ext>
            </a:extLst>
          </p:cNvPr>
          <p:cNvSpPr txBox="1"/>
          <p:nvPr/>
        </p:nvSpPr>
        <p:spPr>
          <a:xfrm>
            <a:off x="545303" y="2359316"/>
            <a:ext cx="2017526" cy="1815882"/>
          </a:xfrm>
          <a:prstGeom prst="rect">
            <a:avLst/>
          </a:prstGeom>
          <a:solidFill>
            <a:schemeClr val="bg2">
              <a:lumMod val="90000"/>
            </a:schemeClr>
          </a:solidFill>
          <a:ln w="3810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pt-BR" sz="1400" cap="small" dirty="0"/>
              <a:t>Seguir o processo proposto pelo método de </a:t>
            </a:r>
            <a:r>
              <a:rPr lang="pt-BR" sz="1400" b="1" cap="small" dirty="0"/>
              <a:t>DESIGN THINKING </a:t>
            </a:r>
            <a:r>
              <a:rPr lang="pt-BR" sz="1400" cap="small" dirty="0"/>
              <a:t>para partir das necessidades do consumidor e chegar a um protótipo validado de solução agregadora de valor</a:t>
            </a:r>
          </a:p>
        </p:txBody>
      </p:sp>
      <p:cxnSp>
        <p:nvCxnSpPr>
          <p:cNvPr id="43" name="Conector de Seta Reta 42">
            <a:extLst>
              <a:ext uri="{FF2B5EF4-FFF2-40B4-BE49-F238E27FC236}">
                <a16:creationId xmlns:a16="http://schemas.microsoft.com/office/drawing/2014/main" id="{7128C077-84D2-448C-B87B-56FEE3A1C784}"/>
              </a:ext>
            </a:extLst>
          </p:cNvPr>
          <p:cNvCxnSpPr>
            <a:cxnSpLocks/>
            <a:stCxn id="41" idx="3"/>
            <a:endCxn id="46" idx="1"/>
          </p:cNvCxnSpPr>
          <p:nvPr/>
        </p:nvCxnSpPr>
        <p:spPr>
          <a:xfrm>
            <a:off x="2562829" y="3267257"/>
            <a:ext cx="719150" cy="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Retângulo 45">
            <a:extLst>
              <a:ext uri="{FF2B5EF4-FFF2-40B4-BE49-F238E27FC236}">
                <a16:creationId xmlns:a16="http://schemas.microsoft.com/office/drawing/2014/main" id="{48BC0790-3906-4C1D-A140-9DB8EEE2F35E}"/>
              </a:ext>
            </a:extLst>
          </p:cNvPr>
          <p:cNvSpPr/>
          <p:nvPr/>
        </p:nvSpPr>
        <p:spPr>
          <a:xfrm>
            <a:off x="3281979" y="2197571"/>
            <a:ext cx="4750130" cy="2139373"/>
          </a:xfrm>
          <a:prstGeom prst="rect">
            <a:avLst/>
          </a:prstGeom>
          <a:noFill/>
          <a:ln>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47" name="CaixaDeTexto 46">
            <a:extLst>
              <a:ext uri="{FF2B5EF4-FFF2-40B4-BE49-F238E27FC236}">
                <a16:creationId xmlns:a16="http://schemas.microsoft.com/office/drawing/2014/main" id="{E70E7764-58DF-4EB8-8B78-A2323BE9AFC3}"/>
              </a:ext>
            </a:extLst>
          </p:cNvPr>
          <p:cNvSpPr txBox="1"/>
          <p:nvPr/>
        </p:nvSpPr>
        <p:spPr>
          <a:xfrm>
            <a:off x="59379" y="4737328"/>
            <a:ext cx="2338160" cy="1815882"/>
          </a:xfrm>
          <a:prstGeom prst="rect">
            <a:avLst/>
          </a:prstGeom>
          <a:solidFill>
            <a:schemeClr val="bg2">
              <a:lumMod val="90000"/>
            </a:schemeClr>
          </a:solidFill>
          <a:ln w="3810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pt-BR" sz="1400" cap="small" dirty="0"/>
              <a:t>Utilizando o </a:t>
            </a:r>
            <a:r>
              <a:rPr lang="pt-BR" sz="1400" b="1" cap="all" dirty="0"/>
              <a:t>Canvas de Proposição de Valor </a:t>
            </a:r>
            <a:r>
              <a:rPr lang="pt-BR" sz="1400" cap="small" dirty="0"/>
              <a:t>como método para conhecer melhor o consumidor e suas necessidades e dores e assim desenhar uma solução que realmente gere valor para esse consumidor</a:t>
            </a:r>
          </a:p>
        </p:txBody>
      </p:sp>
      <p:cxnSp>
        <p:nvCxnSpPr>
          <p:cNvPr id="48" name="Conector de Seta Reta 47">
            <a:extLst>
              <a:ext uri="{FF2B5EF4-FFF2-40B4-BE49-F238E27FC236}">
                <a16:creationId xmlns:a16="http://schemas.microsoft.com/office/drawing/2014/main" id="{90AE4449-E115-41E4-AC40-BBA8DBAE9D90}"/>
              </a:ext>
            </a:extLst>
          </p:cNvPr>
          <p:cNvCxnSpPr>
            <a:cxnSpLocks/>
            <a:stCxn id="47" idx="3"/>
            <a:endCxn id="17" idx="1"/>
          </p:cNvCxnSpPr>
          <p:nvPr/>
        </p:nvCxnSpPr>
        <p:spPr>
          <a:xfrm flipV="1">
            <a:off x="2397539" y="5644134"/>
            <a:ext cx="592813" cy="113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3" name="CaixaDeTexto 52">
            <a:extLst>
              <a:ext uri="{FF2B5EF4-FFF2-40B4-BE49-F238E27FC236}">
                <a16:creationId xmlns:a16="http://schemas.microsoft.com/office/drawing/2014/main" id="{795B5411-2929-4C5C-BEA2-7D45D2B5F7A1}"/>
              </a:ext>
            </a:extLst>
          </p:cNvPr>
          <p:cNvSpPr txBox="1"/>
          <p:nvPr/>
        </p:nvSpPr>
        <p:spPr>
          <a:xfrm>
            <a:off x="7726965" y="4736193"/>
            <a:ext cx="1357656" cy="1815882"/>
          </a:xfrm>
          <a:prstGeom prst="rect">
            <a:avLst/>
          </a:prstGeom>
          <a:solidFill>
            <a:schemeClr val="bg2">
              <a:lumMod val="90000"/>
            </a:schemeClr>
          </a:solidFill>
          <a:ln w="3810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pt-BR" sz="1400" cap="small" dirty="0"/>
              <a:t>Usando ainda a técnica de elaboração de </a:t>
            </a:r>
            <a:r>
              <a:rPr lang="pt-BR" sz="1400" b="1" cap="small" dirty="0"/>
              <a:t>PERSONAS</a:t>
            </a:r>
            <a:r>
              <a:rPr lang="pt-BR" sz="1400" cap="small" dirty="0"/>
              <a:t> para dar “cara” e personalidade aos consumidores </a:t>
            </a:r>
          </a:p>
        </p:txBody>
      </p:sp>
      <p:cxnSp>
        <p:nvCxnSpPr>
          <p:cNvPr id="68" name="Conector de Seta Reta 67">
            <a:extLst>
              <a:ext uri="{FF2B5EF4-FFF2-40B4-BE49-F238E27FC236}">
                <a16:creationId xmlns:a16="http://schemas.microsoft.com/office/drawing/2014/main" id="{0EDC656D-9232-4B74-A58C-95405D456C27}"/>
              </a:ext>
            </a:extLst>
          </p:cNvPr>
          <p:cNvCxnSpPr>
            <a:cxnSpLocks/>
            <a:stCxn id="53" idx="1"/>
          </p:cNvCxnSpPr>
          <p:nvPr/>
        </p:nvCxnSpPr>
        <p:spPr>
          <a:xfrm flipH="1">
            <a:off x="7323894" y="5644134"/>
            <a:ext cx="403071" cy="113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 name="Forma Livre: Forma 3">
            <a:extLst>
              <a:ext uri="{FF2B5EF4-FFF2-40B4-BE49-F238E27FC236}">
                <a16:creationId xmlns:a16="http://schemas.microsoft.com/office/drawing/2014/main" id="{A49AAA0F-C112-DA7B-A87C-02DEDEB6257D}"/>
              </a:ext>
            </a:extLst>
          </p:cNvPr>
          <p:cNvSpPr/>
          <p:nvPr/>
        </p:nvSpPr>
        <p:spPr>
          <a:xfrm>
            <a:off x="3984977" y="3081867"/>
            <a:ext cx="2167467" cy="530578"/>
          </a:xfrm>
          <a:custGeom>
            <a:avLst/>
            <a:gdLst>
              <a:gd name="csX0" fmla="*/ 0 w 2156178"/>
              <a:gd name="csY0" fmla="*/ 0 h 530578"/>
              <a:gd name="csX1" fmla="*/ 846666 w 2156178"/>
              <a:gd name="csY1" fmla="*/ 530578 h 530578"/>
              <a:gd name="csX2" fmla="*/ 1670755 w 2156178"/>
              <a:gd name="csY2" fmla="*/ 11289 h 530578"/>
              <a:gd name="csX3" fmla="*/ 2156178 w 2156178"/>
              <a:gd name="csY3" fmla="*/ 112889 h 530578"/>
              <a:gd name="csX0" fmla="*/ 0 w 2280356"/>
              <a:gd name="csY0" fmla="*/ 0 h 530578"/>
              <a:gd name="csX1" fmla="*/ 846666 w 2280356"/>
              <a:gd name="csY1" fmla="*/ 530578 h 530578"/>
              <a:gd name="csX2" fmla="*/ 1670755 w 2280356"/>
              <a:gd name="csY2" fmla="*/ 11289 h 530578"/>
              <a:gd name="csX3" fmla="*/ 2280356 w 2280356"/>
              <a:gd name="csY3" fmla="*/ 112889 h 530578"/>
              <a:gd name="csX0" fmla="*/ 0 w 2167467"/>
              <a:gd name="csY0" fmla="*/ 0 h 530578"/>
              <a:gd name="csX1" fmla="*/ 846666 w 2167467"/>
              <a:gd name="csY1" fmla="*/ 530578 h 530578"/>
              <a:gd name="csX2" fmla="*/ 1670755 w 2167467"/>
              <a:gd name="csY2" fmla="*/ 11289 h 530578"/>
              <a:gd name="csX3" fmla="*/ 2167467 w 2167467"/>
              <a:gd name="csY3" fmla="*/ 135467 h 530578"/>
            </a:gdLst>
            <a:ahLst/>
            <a:cxnLst>
              <a:cxn ang="0">
                <a:pos x="csX0" y="csY0"/>
              </a:cxn>
              <a:cxn ang="0">
                <a:pos x="csX1" y="csY1"/>
              </a:cxn>
              <a:cxn ang="0">
                <a:pos x="csX2" y="csY2"/>
              </a:cxn>
              <a:cxn ang="0">
                <a:pos x="csX3" y="csY3"/>
              </a:cxn>
            </a:cxnLst>
            <a:rect l="l" t="t" r="r" b="b"/>
            <a:pathLst>
              <a:path w="2167467" h="530578">
                <a:moveTo>
                  <a:pt x="0" y="0"/>
                </a:moveTo>
                <a:lnTo>
                  <a:pt x="846666" y="530578"/>
                </a:lnTo>
                <a:lnTo>
                  <a:pt x="1670755" y="11289"/>
                </a:lnTo>
                <a:cubicBezTo>
                  <a:pt x="1832563" y="45156"/>
                  <a:pt x="2005659" y="101600"/>
                  <a:pt x="2167467" y="135467"/>
                </a:cubicBezTo>
              </a:path>
            </a:pathLst>
          </a:custGeom>
          <a:noFill/>
          <a:ln w="38100">
            <a:solidFill>
              <a:schemeClr val="tx2">
                <a:lumMod val="75000"/>
              </a:schemeClr>
            </a:solidFill>
            <a:headEnd type="none" w="med" len="med"/>
            <a:tailEnd type="triangle" w="lg"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Fluxograma: Preparação 7">
            <a:extLst>
              <a:ext uri="{FF2B5EF4-FFF2-40B4-BE49-F238E27FC236}">
                <a16:creationId xmlns:a16="http://schemas.microsoft.com/office/drawing/2014/main" id="{5F8A5CD7-E329-8BF9-372F-98EDB35ED5E3}"/>
              </a:ext>
            </a:extLst>
          </p:cNvPr>
          <p:cNvSpPr/>
          <p:nvPr/>
        </p:nvSpPr>
        <p:spPr>
          <a:xfrm>
            <a:off x="5984874" y="2840037"/>
            <a:ext cx="996950" cy="914400"/>
          </a:xfrm>
          <a:prstGeom prst="flowChartPreparation">
            <a:avLst/>
          </a:prstGeom>
          <a:noFill/>
          <a:ln w="28575">
            <a:solidFill>
              <a:schemeClr val="tx2">
                <a:lumMod val="75000"/>
              </a:schemeClr>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9561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250"/>
                                        <p:tgtEl>
                                          <p:spTgt spid="43"/>
                                        </p:tgtEl>
                                      </p:cBhvr>
                                    </p:animEffect>
                                  </p:childTnLst>
                                </p:cTn>
                              </p:par>
                            </p:childTnLst>
                          </p:cTn>
                        </p:par>
                        <p:par>
                          <p:cTn id="12" fill="hold">
                            <p:stCondLst>
                              <p:cond delay="750"/>
                            </p:stCondLst>
                            <p:childTnLst>
                              <p:par>
                                <p:cTn id="13" presetID="10" presetClass="entr" presetSubtype="0"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par>
                                <p:cTn id="16" presetID="10" presetClass="entr" presetSubtype="0" fill="hold"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childTnLst>
                          </p:cTn>
                        </p:par>
                        <p:par>
                          <p:cTn id="19" fill="hold">
                            <p:stCondLst>
                              <p:cond delay="1250"/>
                            </p:stCondLst>
                            <p:childTnLst>
                              <p:par>
                                <p:cTn id="20" presetID="22" presetClass="entr" presetSubtype="8"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2000"/>
                                        <p:tgtEl>
                                          <p:spTgt spid="4"/>
                                        </p:tgtEl>
                                      </p:cBhvr>
                                    </p:animEffect>
                                  </p:childTnLst>
                                </p:cTn>
                              </p:par>
                            </p:childTnLst>
                          </p:cTn>
                        </p:par>
                        <p:par>
                          <p:cTn id="23" fill="hold">
                            <p:stCondLst>
                              <p:cond delay="3250"/>
                            </p:stCondLst>
                            <p:childTnLst>
                              <p:par>
                                <p:cTn id="24" presetID="21" presetClass="entr" presetSubtype="1"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heel(1)">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left)">
                                      <p:cBhvr>
                                        <p:cTn id="35" dur="250"/>
                                        <p:tgtEl>
                                          <p:spTgt spid="48"/>
                                        </p:tgtEl>
                                      </p:cBhvr>
                                    </p:animEffect>
                                  </p:childTnLst>
                                </p:cTn>
                              </p:par>
                            </p:childTnLst>
                          </p:cTn>
                        </p:par>
                        <p:par>
                          <p:cTn id="36" fill="hold">
                            <p:stCondLst>
                              <p:cond delay="750"/>
                            </p:stCondLst>
                            <p:childTnLst>
                              <p:par>
                                <p:cTn id="37" presetID="10" presetClass="entr" presetSubtype="0"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fade">
                                      <p:cBhvr>
                                        <p:cTn id="48" dur="250"/>
                                        <p:tgtEl>
                                          <p:spTgt spid="68"/>
                                        </p:tgtEl>
                                      </p:cBhvr>
                                    </p:animEffect>
                                  </p:childTnLst>
                                </p:cTn>
                              </p:par>
                            </p:childTnLst>
                          </p:cTn>
                        </p:par>
                        <p:par>
                          <p:cTn id="49" fill="hold">
                            <p:stCondLst>
                              <p:cond delay="750"/>
                            </p:stCondLst>
                            <p:childTnLst>
                              <p:par>
                                <p:cTn id="50" presetID="10" presetClass="entr" presetSubtype="0"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6" grpId="0" animBg="1"/>
      <p:bldP spid="47" grpId="0" animBg="1"/>
      <p:bldP spid="5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E2BC0658-655D-4776-87FA-B538C2C0D26F}"/>
              </a:ext>
            </a:extLst>
          </p:cNvPr>
          <p:cNvSpPr txBox="1"/>
          <p:nvPr/>
        </p:nvSpPr>
        <p:spPr>
          <a:xfrm>
            <a:off x="673088" y="750471"/>
            <a:ext cx="7797822" cy="461665"/>
          </a:xfrm>
          <a:prstGeom prst="rect">
            <a:avLst/>
          </a:prstGeom>
          <a:noFill/>
        </p:spPr>
        <p:txBody>
          <a:bodyPr wrap="square" rtlCol="0">
            <a:spAutoFit/>
          </a:bodyPr>
          <a:lstStyle/>
          <a:p>
            <a:pPr algn="ctr"/>
            <a:r>
              <a:rPr lang="pt-BR" sz="2400" b="1" cap="all" dirty="0">
                <a:latin typeface="Gotham HTF"/>
              </a:rPr>
              <a:t> PROCESSO DE DESIGN DA </a:t>
            </a:r>
            <a:r>
              <a:rPr lang="pt-BR" sz="2400" b="1" cap="all" dirty="0" err="1">
                <a:latin typeface="Gotham HTF"/>
              </a:rPr>
              <a:t>user</a:t>
            </a:r>
            <a:r>
              <a:rPr lang="pt-BR" sz="2400" b="1" cap="all" dirty="0">
                <a:latin typeface="Gotham HTF"/>
              </a:rPr>
              <a:t> </a:t>
            </a:r>
            <a:r>
              <a:rPr lang="pt-BR" sz="2400" b="1" cap="all" dirty="0" err="1">
                <a:latin typeface="Gotham HTF"/>
              </a:rPr>
              <a:t>experience</a:t>
            </a:r>
            <a:endParaRPr lang="pt-BR" sz="2400" b="1" cap="all" dirty="0">
              <a:latin typeface="Gotham HTF"/>
            </a:endParaRPr>
          </a:p>
        </p:txBody>
      </p:sp>
      <p:pic>
        <p:nvPicPr>
          <p:cNvPr id="7" name="Imagem 6">
            <a:extLst>
              <a:ext uri="{FF2B5EF4-FFF2-40B4-BE49-F238E27FC236}">
                <a16:creationId xmlns:a16="http://schemas.microsoft.com/office/drawing/2014/main" id="{55E1FEC8-ADBE-4B5D-9A23-05162DB74AD4}"/>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2361" t="3378" r="4152" b="3801"/>
          <a:stretch/>
        </p:blipFill>
        <p:spPr>
          <a:xfrm>
            <a:off x="4763729" y="2015615"/>
            <a:ext cx="4380272" cy="3347369"/>
          </a:xfrm>
          <a:prstGeom prst="rect">
            <a:avLst/>
          </a:prstGeom>
        </p:spPr>
      </p:pic>
      <p:pic>
        <p:nvPicPr>
          <p:cNvPr id="2" name="Imagem 1">
            <a:extLst>
              <a:ext uri="{FF2B5EF4-FFF2-40B4-BE49-F238E27FC236}">
                <a16:creationId xmlns:a16="http://schemas.microsoft.com/office/drawing/2014/main" id="{32057D24-C5A5-72F2-426B-83B28247FD5A}"/>
              </a:ext>
            </a:extLst>
          </p:cNvPr>
          <p:cNvPicPr>
            <a:picLocks noChangeAspect="1"/>
          </p:cNvPicPr>
          <p:nvPr/>
        </p:nvPicPr>
        <p:blipFill rotWithShape="1">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50000"/>
                    </a14:imgEffect>
                  </a14:imgLayer>
                </a14:imgProps>
              </a:ext>
            </a:extLst>
          </a:blip>
          <a:srcRect l="20804" r="21806"/>
          <a:stretch/>
        </p:blipFill>
        <p:spPr>
          <a:xfrm>
            <a:off x="219226" y="2152720"/>
            <a:ext cx="3958849" cy="3347369"/>
          </a:xfrm>
          <a:prstGeom prst="rect">
            <a:avLst/>
          </a:prstGeom>
        </p:spPr>
      </p:pic>
      <p:sp>
        <p:nvSpPr>
          <p:cNvPr id="3" name="Seta: para a Direita 2">
            <a:extLst>
              <a:ext uri="{FF2B5EF4-FFF2-40B4-BE49-F238E27FC236}">
                <a16:creationId xmlns:a16="http://schemas.microsoft.com/office/drawing/2014/main" id="{DA9F4745-BEE3-11D8-23E4-EF6646DF59C8}"/>
              </a:ext>
            </a:extLst>
          </p:cNvPr>
          <p:cNvSpPr/>
          <p:nvPr/>
        </p:nvSpPr>
        <p:spPr>
          <a:xfrm>
            <a:off x="4178074" y="3464811"/>
            <a:ext cx="787851" cy="929148"/>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DD40A522-9527-BD3A-321B-3944B2392493}"/>
              </a:ext>
            </a:extLst>
          </p:cNvPr>
          <p:cNvSpPr txBox="1"/>
          <p:nvPr/>
        </p:nvSpPr>
        <p:spPr>
          <a:xfrm>
            <a:off x="1237341" y="5765370"/>
            <a:ext cx="6831550" cy="584775"/>
          </a:xfrm>
          <a:prstGeom prst="rect">
            <a:avLst/>
          </a:prstGeom>
          <a:noFill/>
        </p:spPr>
        <p:txBody>
          <a:bodyPr wrap="none" rtlCol="0">
            <a:spAutoFit/>
          </a:bodyPr>
          <a:lstStyle/>
          <a:p>
            <a:r>
              <a:rPr lang="pt-BR" sz="3200" cap="small" dirty="0"/>
              <a:t>Aprendizagem por Experimentação Rápida</a:t>
            </a:r>
          </a:p>
        </p:txBody>
      </p:sp>
      <p:sp>
        <p:nvSpPr>
          <p:cNvPr id="4" name="CaixaDeTexto 3">
            <a:extLst>
              <a:ext uri="{FF2B5EF4-FFF2-40B4-BE49-F238E27FC236}">
                <a16:creationId xmlns:a16="http://schemas.microsoft.com/office/drawing/2014/main" id="{C0997B48-521E-DDC5-BFD9-368F38C55D8D}"/>
              </a:ext>
            </a:extLst>
          </p:cNvPr>
          <p:cNvSpPr txBox="1"/>
          <p:nvPr/>
        </p:nvSpPr>
        <p:spPr>
          <a:xfrm>
            <a:off x="2093437" y="1262102"/>
            <a:ext cx="4957126" cy="769441"/>
          </a:xfrm>
          <a:prstGeom prst="rect">
            <a:avLst/>
          </a:prstGeom>
          <a:noFill/>
        </p:spPr>
        <p:txBody>
          <a:bodyPr wrap="none" rtlCol="0">
            <a:spAutoFit/>
          </a:bodyPr>
          <a:lstStyle/>
          <a:p>
            <a:r>
              <a:rPr lang="pt-BR" sz="4400" b="1" cap="small" dirty="0"/>
              <a:t>Da ideia ao protótipo</a:t>
            </a:r>
          </a:p>
        </p:txBody>
      </p:sp>
    </p:spTree>
    <p:extLst>
      <p:ext uri="{BB962C8B-B14F-4D97-AF65-F5344CB8AC3E}">
        <p14:creationId xmlns:p14="http://schemas.microsoft.com/office/powerpoint/2010/main" val="184212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p:cNvSpPr/>
          <p:nvPr/>
        </p:nvSpPr>
        <p:spPr>
          <a:xfrm>
            <a:off x="5103776" y="3267037"/>
            <a:ext cx="1622502" cy="1398708"/>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0" name="Hexágono 9"/>
          <p:cNvSpPr/>
          <p:nvPr/>
        </p:nvSpPr>
        <p:spPr>
          <a:xfrm>
            <a:off x="6420317" y="3966232"/>
            <a:ext cx="1622502" cy="1398708"/>
          </a:xfrm>
          <a:prstGeom prst="hexag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11" name="CaixaDeTexto 10">
            <a:extLst>
              <a:ext uri="{FF2B5EF4-FFF2-40B4-BE49-F238E27FC236}">
                <a16:creationId xmlns:a16="http://schemas.microsoft.com/office/drawing/2014/main" id="{79F1D0F2-4DA8-4FF8-A224-E6B28B4D7921}"/>
              </a:ext>
            </a:extLst>
          </p:cNvPr>
          <p:cNvSpPr txBox="1"/>
          <p:nvPr/>
        </p:nvSpPr>
        <p:spPr>
          <a:xfrm>
            <a:off x="1699903" y="5620661"/>
            <a:ext cx="6251263" cy="461665"/>
          </a:xfrm>
          <a:prstGeom prst="rect">
            <a:avLst/>
          </a:prstGeom>
          <a:noFill/>
        </p:spPr>
        <p:txBody>
          <a:bodyPr wrap="none" rtlCol="0">
            <a:spAutoFit/>
          </a:bodyPr>
          <a:lstStyle/>
          <a:p>
            <a:r>
              <a:rPr lang="pt-BR" sz="2400" dirty="0"/>
              <a:t>PROCESSO INTERATIVO, ITERATIVO E EVOLUTIVO</a:t>
            </a:r>
          </a:p>
        </p:txBody>
      </p:sp>
      <p:sp>
        <p:nvSpPr>
          <p:cNvPr id="12" name="CaixaDeTexto 11">
            <a:extLst>
              <a:ext uri="{FF2B5EF4-FFF2-40B4-BE49-F238E27FC236}">
                <a16:creationId xmlns:a16="http://schemas.microsoft.com/office/drawing/2014/main" id="{62012F5E-E279-4143-9CF3-3D32E05F1663}"/>
              </a:ext>
            </a:extLst>
          </p:cNvPr>
          <p:cNvSpPr txBox="1"/>
          <p:nvPr/>
        </p:nvSpPr>
        <p:spPr>
          <a:xfrm>
            <a:off x="2680876" y="1328048"/>
            <a:ext cx="3666709" cy="646331"/>
          </a:xfrm>
          <a:prstGeom prst="rect">
            <a:avLst/>
          </a:prstGeom>
          <a:noFill/>
        </p:spPr>
        <p:txBody>
          <a:bodyPr wrap="none" rtlCol="0">
            <a:spAutoFit/>
          </a:bodyPr>
          <a:lstStyle/>
          <a:p>
            <a:r>
              <a:rPr lang="pt-BR" sz="3600" b="1" dirty="0"/>
              <a:t>DESIGN THINKING</a:t>
            </a:r>
          </a:p>
        </p:txBody>
      </p:sp>
      <p:sp>
        <p:nvSpPr>
          <p:cNvPr id="5" name="Retângulo 4">
            <a:extLst>
              <a:ext uri="{FF2B5EF4-FFF2-40B4-BE49-F238E27FC236}">
                <a16:creationId xmlns:a16="http://schemas.microsoft.com/office/drawing/2014/main" id="{A9323221-EB1A-4088-95CB-4E05C0E29CE6}"/>
              </a:ext>
            </a:extLst>
          </p:cNvPr>
          <p:cNvSpPr/>
          <p:nvPr/>
        </p:nvSpPr>
        <p:spPr>
          <a:xfrm>
            <a:off x="924278" y="727651"/>
            <a:ext cx="7180299" cy="523220"/>
          </a:xfrm>
          <a:prstGeom prst="rect">
            <a:avLst/>
          </a:prstGeom>
          <a:solidFill>
            <a:schemeClr val="bg1"/>
          </a:solidFill>
        </p:spPr>
        <p:txBody>
          <a:bodyPr wrap="none">
            <a:spAutoFit/>
          </a:bodyPr>
          <a:lstStyle/>
          <a:p>
            <a:pPr lvl="0">
              <a:defRPr/>
            </a:pPr>
            <a:r>
              <a:rPr lang="pt-BR" sz="2800" b="1" cap="all" dirty="0">
                <a:solidFill>
                  <a:prstClr val="black"/>
                </a:solidFill>
              </a:rPr>
              <a:t>Criando soluções inovadoras e de valor</a:t>
            </a:r>
          </a:p>
        </p:txBody>
      </p:sp>
    </p:spTree>
    <p:extLst>
      <p:ext uri="{BB962C8B-B14F-4D97-AF65-F5344CB8AC3E}">
        <p14:creationId xmlns:p14="http://schemas.microsoft.com/office/powerpoint/2010/main" val="1187594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right)">
                                      <p:cBhvr>
                                        <p:cTn id="1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rgbClr val="FF99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p:cNvSpPr/>
          <p:nvPr/>
        </p:nvSpPr>
        <p:spPr>
          <a:xfrm>
            <a:off x="5103776" y="3267037"/>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0" name="Hexágono 9"/>
          <p:cNvSpPr/>
          <p:nvPr/>
        </p:nvSpPr>
        <p:spPr>
          <a:xfrm>
            <a:off x="6420317" y="3966232"/>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3" name="Retângulo: Cantos Arredondados 2">
            <a:extLst>
              <a:ext uri="{FF2B5EF4-FFF2-40B4-BE49-F238E27FC236}">
                <a16:creationId xmlns:a16="http://schemas.microsoft.com/office/drawing/2014/main" id="{35DF778D-023A-4D84-AC8B-291A3C513E47}"/>
              </a:ext>
            </a:extLst>
          </p:cNvPr>
          <p:cNvSpPr/>
          <p:nvPr/>
        </p:nvSpPr>
        <p:spPr>
          <a:xfrm>
            <a:off x="342887" y="5073075"/>
            <a:ext cx="4110360" cy="799031"/>
          </a:xfrm>
          <a:prstGeom prst="roundRect">
            <a:avLst>
              <a:gd name="adj" fmla="val 8899"/>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startAt="2"/>
            </a:pPr>
            <a:r>
              <a:rPr lang="pt-BR" sz="1600" cap="small" dirty="0">
                <a:solidFill>
                  <a:schemeClr val="tx1"/>
                </a:solidFill>
              </a:rPr>
              <a:t>Avaliem e discutam a experiência própria ou a levantada junto aos entrevistados </a:t>
            </a:r>
          </a:p>
        </p:txBody>
      </p:sp>
      <p:sp>
        <p:nvSpPr>
          <p:cNvPr id="4" name="CaixaDeTexto 3">
            <a:extLst>
              <a:ext uri="{FF2B5EF4-FFF2-40B4-BE49-F238E27FC236}">
                <a16:creationId xmlns:a16="http://schemas.microsoft.com/office/drawing/2014/main" id="{34F7A701-04FC-499D-B9DB-33C18884E8C1}"/>
              </a:ext>
            </a:extLst>
          </p:cNvPr>
          <p:cNvSpPr txBox="1"/>
          <p:nvPr/>
        </p:nvSpPr>
        <p:spPr>
          <a:xfrm>
            <a:off x="2680876" y="1328048"/>
            <a:ext cx="3666709" cy="646331"/>
          </a:xfrm>
          <a:prstGeom prst="rect">
            <a:avLst/>
          </a:prstGeom>
          <a:noFill/>
        </p:spPr>
        <p:txBody>
          <a:bodyPr wrap="none" rtlCol="0">
            <a:spAutoFit/>
          </a:bodyPr>
          <a:lstStyle/>
          <a:p>
            <a:r>
              <a:rPr lang="pt-BR" sz="3600" b="1" dirty="0"/>
              <a:t>DESIGN THINKING</a:t>
            </a:r>
          </a:p>
        </p:txBody>
      </p:sp>
      <p:sp>
        <p:nvSpPr>
          <p:cNvPr id="5" name="Retângulo 4">
            <a:extLst>
              <a:ext uri="{FF2B5EF4-FFF2-40B4-BE49-F238E27FC236}">
                <a16:creationId xmlns:a16="http://schemas.microsoft.com/office/drawing/2014/main" id="{DB82C3E7-B126-425F-9C51-D7CBED3F7F9D}"/>
              </a:ext>
            </a:extLst>
          </p:cNvPr>
          <p:cNvSpPr/>
          <p:nvPr/>
        </p:nvSpPr>
        <p:spPr>
          <a:xfrm>
            <a:off x="924278" y="727651"/>
            <a:ext cx="6935938" cy="523220"/>
          </a:xfrm>
          <a:prstGeom prst="rect">
            <a:avLst/>
          </a:prstGeom>
          <a:solidFill>
            <a:schemeClr val="bg1"/>
          </a:solidFill>
        </p:spPr>
        <p:txBody>
          <a:bodyPr wrap="none">
            <a:spAutoFit/>
          </a:bodyPr>
          <a:lstStyle/>
          <a:p>
            <a:pPr lvl="0">
              <a:defRPr/>
            </a:pPr>
            <a:r>
              <a:rPr lang="pt-BR" sz="2800" b="1" cap="all" dirty="0">
                <a:solidFill>
                  <a:prstClr val="black"/>
                </a:solidFill>
              </a:rPr>
              <a:t>Empatia </a:t>
            </a:r>
            <a:r>
              <a:rPr lang="pt-BR" sz="2800" b="1" cap="all" dirty="0">
                <a:solidFill>
                  <a:prstClr val="black"/>
                </a:solidFill>
                <a:sym typeface="Wingdings" panose="05000000000000000000" pitchFamily="2" charset="2"/>
              </a:rPr>
              <a:t> insights  ideias de solução</a:t>
            </a:r>
            <a:endParaRPr lang="pt-BR" sz="2800" b="1" cap="all" dirty="0">
              <a:solidFill>
                <a:prstClr val="black"/>
              </a:solidFill>
            </a:endParaRPr>
          </a:p>
        </p:txBody>
      </p:sp>
      <p:sp>
        <p:nvSpPr>
          <p:cNvPr id="11" name="Hexágono 10">
            <a:extLst>
              <a:ext uri="{FF2B5EF4-FFF2-40B4-BE49-F238E27FC236}">
                <a16:creationId xmlns:a16="http://schemas.microsoft.com/office/drawing/2014/main" id="{A3A1B36D-659C-4386-88C7-171702663134}"/>
              </a:ext>
            </a:extLst>
          </p:cNvPr>
          <p:cNvSpPr/>
          <p:nvPr/>
        </p:nvSpPr>
        <p:spPr>
          <a:xfrm>
            <a:off x="1154153" y="2558196"/>
            <a:ext cx="1622502" cy="1398708"/>
          </a:xfrm>
          <a:prstGeom prst="hexagon">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13" name="Retângulo: Cantos Arredondados 12">
            <a:extLst>
              <a:ext uri="{FF2B5EF4-FFF2-40B4-BE49-F238E27FC236}">
                <a16:creationId xmlns:a16="http://schemas.microsoft.com/office/drawing/2014/main" id="{601EEF79-C99E-4947-A487-CB2A537C3260}"/>
              </a:ext>
            </a:extLst>
          </p:cNvPr>
          <p:cNvSpPr/>
          <p:nvPr/>
        </p:nvSpPr>
        <p:spPr>
          <a:xfrm>
            <a:off x="1154153" y="1385409"/>
            <a:ext cx="5947291" cy="871317"/>
          </a:xfrm>
          <a:prstGeom prst="roundRect">
            <a:avLst>
              <a:gd name="adj" fmla="val 8899"/>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pt-BR" sz="1600" cap="small" dirty="0">
                <a:solidFill>
                  <a:schemeClr val="tx1"/>
                </a:solidFill>
              </a:rPr>
              <a:t>Procurem assumir o papel do cliente para passar pela experiência ou entrevistem clientes potenciais para conhecer suas experiências</a:t>
            </a:r>
          </a:p>
        </p:txBody>
      </p:sp>
      <p:cxnSp>
        <p:nvCxnSpPr>
          <p:cNvPr id="16" name="Conector de Seta Reta 15">
            <a:extLst>
              <a:ext uri="{FF2B5EF4-FFF2-40B4-BE49-F238E27FC236}">
                <a16:creationId xmlns:a16="http://schemas.microsoft.com/office/drawing/2014/main" id="{CCEF5D6C-74D2-4877-92C1-C2D458CAED8E}"/>
              </a:ext>
            </a:extLst>
          </p:cNvPr>
          <p:cNvCxnSpPr>
            <a:cxnSpLocks/>
          </p:cNvCxnSpPr>
          <p:nvPr/>
        </p:nvCxnSpPr>
        <p:spPr>
          <a:xfrm flipH="1">
            <a:off x="1971304" y="2256727"/>
            <a:ext cx="320636" cy="73585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ector de Seta Reta 23">
            <a:extLst>
              <a:ext uri="{FF2B5EF4-FFF2-40B4-BE49-F238E27FC236}">
                <a16:creationId xmlns:a16="http://schemas.microsoft.com/office/drawing/2014/main" id="{94D7BA67-D055-4234-9A64-0CB764D0232D}"/>
              </a:ext>
            </a:extLst>
          </p:cNvPr>
          <p:cNvCxnSpPr>
            <a:cxnSpLocks/>
          </p:cNvCxnSpPr>
          <p:nvPr/>
        </p:nvCxnSpPr>
        <p:spPr>
          <a:xfrm flipV="1">
            <a:off x="2890350" y="4263615"/>
            <a:ext cx="244736" cy="80946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88B274CD-749B-4AA6-A350-6B94C894C261}"/>
              </a:ext>
            </a:extLst>
          </p:cNvPr>
          <p:cNvCxnSpPr>
            <a:cxnSpLocks/>
          </p:cNvCxnSpPr>
          <p:nvPr/>
        </p:nvCxnSpPr>
        <p:spPr>
          <a:xfrm flipH="1" flipV="1">
            <a:off x="4690755" y="3493793"/>
            <a:ext cx="413021" cy="10724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1" name="Retângulo: Cantos Arredondados 30">
            <a:extLst>
              <a:ext uri="{FF2B5EF4-FFF2-40B4-BE49-F238E27FC236}">
                <a16:creationId xmlns:a16="http://schemas.microsoft.com/office/drawing/2014/main" id="{7E3A05E4-A18A-4D77-9FC3-363E2968B8B2}"/>
              </a:ext>
            </a:extLst>
          </p:cNvPr>
          <p:cNvSpPr/>
          <p:nvPr/>
        </p:nvSpPr>
        <p:spPr>
          <a:xfrm>
            <a:off x="4690755" y="4575555"/>
            <a:ext cx="4003481" cy="799031"/>
          </a:xfrm>
          <a:prstGeom prst="roundRect">
            <a:avLst>
              <a:gd name="adj" fmla="val 8899"/>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startAt="3"/>
            </a:pPr>
            <a:r>
              <a:rPr lang="pt-BR" sz="1600" cap="small" dirty="0">
                <a:solidFill>
                  <a:schemeClr val="tx1"/>
                </a:solidFill>
              </a:rPr>
              <a:t>Com base na análise gerarem e discutam ideias de solução para pontos de fricção</a:t>
            </a:r>
          </a:p>
        </p:txBody>
      </p:sp>
    </p:spTree>
    <p:extLst>
      <p:ext uri="{BB962C8B-B14F-4D97-AF65-F5344CB8AC3E}">
        <p14:creationId xmlns:p14="http://schemas.microsoft.com/office/powerpoint/2010/main" val="18666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34FF-6D60-3A53-2B15-3A03C4A6EB81}"/>
            </a:ext>
          </a:extLst>
        </p:cNvPr>
        <p:cNvGrpSpPr/>
        <p:nvPr/>
      </p:nvGrpSpPr>
      <p:grpSpPr>
        <a:xfrm>
          <a:off x="0" y="0"/>
          <a:ext cx="0" cy="0"/>
          <a:chOff x="0" y="0"/>
          <a:chExt cx="0" cy="0"/>
        </a:xfrm>
      </p:grpSpPr>
      <p:sp>
        <p:nvSpPr>
          <p:cNvPr id="40" name="Seta para a direita 39">
            <a:extLst>
              <a:ext uri="{FF2B5EF4-FFF2-40B4-BE49-F238E27FC236}">
                <a16:creationId xmlns:a16="http://schemas.microsoft.com/office/drawing/2014/main" id="{EA760C4D-BDD1-A105-F50D-BE1421403506}"/>
              </a:ext>
            </a:extLst>
          </p:cNvPr>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a:extLst>
              <a:ext uri="{FF2B5EF4-FFF2-40B4-BE49-F238E27FC236}">
                <a16:creationId xmlns:a16="http://schemas.microsoft.com/office/drawing/2014/main" id="{D29C3BC2-7BE2-12F4-B060-B078985FD19F}"/>
              </a:ext>
            </a:extLst>
          </p:cNvPr>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a:extLst>
              <a:ext uri="{FF2B5EF4-FFF2-40B4-BE49-F238E27FC236}">
                <a16:creationId xmlns:a16="http://schemas.microsoft.com/office/drawing/2014/main" id="{FA909B4F-0601-5AAB-B0BF-5C4E30D8668E}"/>
              </a:ext>
            </a:extLst>
          </p:cNvPr>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a:extLst>
              <a:ext uri="{FF2B5EF4-FFF2-40B4-BE49-F238E27FC236}">
                <a16:creationId xmlns:a16="http://schemas.microsoft.com/office/drawing/2014/main" id="{D3E576C3-2C69-0B60-7345-B1C9E1D75990}"/>
              </a:ext>
            </a:extLst>
          </p:cNvPr>
          <p:cNvSpPr/>
          <p:nvPr/>
        </p:nvSpPr>
        <p:spPr>
          <a:xfrm>
            <a:off x="2470694" y="3258674"/>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a:extLst>
              <a:ext uri="{FF2B5EF4-FFF2-40B4-BE49-F238E27FC236}">
                <a16:creationId xmlns:a16="http://schemas.microsoft.com/office/drawing/2014/main" id="{B8206AC1-FC66-0E55-7111-19849233813E}"/>
              </a:ext>
            </a:extLst>
          </p:cNvPr>
          <p:cNvSpPr/>
          <p:nvPr/>
        </p:nvSpPr>
        <p:spPr>
          <a:xfrm>
            <a:off x="3787235"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a:extLst>
              <a:ext uri="{FF2B5EF4-FFF2-40B4-BE49-F238E27FC236}">
                <a16:creationId xmlns:a16="http://schemas.microsoft.com/office/drawing/2014/main" id="{AF899D70-57FA-3E70-11F8-A6DDB89834DB}"/>
              </a:ext>
            </a:extLst>
          </p:cNvPr>
          <p:cNvSpPr/>
          <p:nvPr/>
        </p:nvSpPr>
        <p:spPr>
          <a:xfrm>
            <a:off x="5103776" y="3267037"/>
            <a:ext cx="1622502" cy="1398708"/>
          </a:xfrm>
          <a:prstGeom prst="hexagon">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0" name="Hexágono 9">
            <a:extLst>
              <a:ext uri="{FF2B5EF4-FFF2-40B4-BE49-F238E27FC236}">
                <a16:creationId xmlns:a16="http://schemas.microsoft.com/office/drawing/2014/main" id="{97793908-7F0E-CA8B-A822-EAEC3E64ED64}"/>
              </a:ext>
            </a:extLst>
          </p:cNvPr>
          <p:cNvSpPr/>
          <p:nvPr/>
        </p:nvSpPr>
        <p:spPr>
          <a:xfrm>
            <a:off x="6420317" y="3966232"/>
            <a:ext cx="1622502" cy="1398708"/>
          </a:xfrm>
          <a:prstGeom prst="hexagon">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3" name="CaixaDeTexto 2">
            <a:extLst>
              <a:ext uri="{FF2B5EF4-FFF2-40B4-BE49-F238E27FC236}">
                <a16:creationId xmlns:a16="http://schemas.microsoft.com/office/drawing/2014/main" id="{F63F3978-52BA-0C1E-9D0B-F23DD6ED0E1E}"/>
              </a:ext>
            </a:extLst>
          </p:cNvPr>
          <p:cNvSpPr txBox="1"/>
          <p:nvPr/>
        </p:nvSpPr>
        <p:spPr>
          <a:xfrm>
            <a:off x="2680876" y="1328048"/>
            <a:ext cx="3666709" cy="646331"/>
          </a:xfrm>
          <a:prstGeom prst="rect">
            <a:avLst/>
          </a:prstGeom>
          <a:noFill/>
        </p:spPr>
        <p:txBody>
          <a:bodyPr wrap="none" rtlCol="0">
            <a:spAutoFit/>
          </a:bodyPr>
          <a:lstStyle/>
          <a:p>
            <a:r>
              <a:rPr lang="pt-BR" sz="3600" b="1" dirty="0"/>
              <a:t>DESIGN THINKING</a:t>
            </a:r>
          </a:p>
        </p:txBody>
      </p:sp>
      <p:sp>
        <p:nvSpPr>
          <p:cNvPr id="5" name="Retângulo 4">
            <a:extLst>
              <a:ext uri="{FF2B5EF4-FFF2-40B4-BE49-F238E27FC236}">
                <a16:creationId xmlns:a16="http://schemas.microsoft.com/office/drawing/2014/main" id="{7B888B29-8713-A58C-F3CC-21B3E678E86B}"/>
              </a:ext>
            </a:extLst>
          </p:cNvPr>
          <p:cNvSpPr/>
          <p:nvPr/>
        </p:nvSpPr>
        <p:spPr>
          <a:xfrm>
            <a:off x="924278" y="727651"/>
            <a:ext cx="6843989" cy="523220"/>
          </a:xfrm>
          <a:prstGeom prst="rect">
            <a:avLst/>
          </a:prstGeom>
          <a:solidFill>
            <a:schemeClr val="bg1"/>
          </a:solidFill>
        </p:spPr>
        <p:txBody>
          <a:bodyPr wrap="none">
            <a:spAutoFit/>
          </a:bodyPr>
          <a:lstStyle/>
          <a:p>
            <a:pPr lvl="0">
              <a:defRPr/>
            </a:pPr>
            <a:r>
              <a:rPr lang="pt-BR" sz="2800" b="1" cap="all" dirty="0">
                <a:solidFill>
                  <a:prstClr val="black"/>
                </a:solidFill>
              </a:rPr>
              <a:t>Desenvolvimento e TESTE DE protótipos</a:t>
            </a:r>
          </a:p>
        </p:txBody>
      </p:sp>
      <p:sp>
        <p:nvSpPr>
          <p:cNvPr id="15" name="Elipse 14">
            <a:extLst>
              <a:ext uri="{FF2B5EF4-FFF2-40B4-BE49-F238E27FC236}">
                <a16:creationId xmlns:a16="http://schemas.microsoft.com/office/drawing/2014/main" id="{4907CB79-40F0-1AF7-016F-FC27719C0164}"/>
              </a:ext>
            </a:extLst>
          </p:cNvPr>
          <p:cNvSpPr/>
          <p:nvPr/>
        </p:nvSpPr>
        <p:spPr>
          <a:xfrm>
            <a:off x="5777961" y="1972076"/>
            <a:ext cx="985603" cy="1030877"/>
          </a:xfrm>
          <a:prstGeom prst="ellipse">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cxnSp>
        <p:nvCxnSpPr>
          <p:cNvPr id="17" name="Conector de seta reta 54">
            <a:extLst>
              <a:ext uri="{FF2B5EF4-FFF2-40B4-BE49-F238E27FC236}">
                <a16:creationId xmlns:a16="http://schemas.microsoft.com/office/drawing/2014/main" id="{BFE218E3-3FD0-B7DA-8D68-FCD9A3ED15EE}"/>
              </a:ext>
            </a:extLst>
          </p:cNvPr>
          <p:cNvCxnSpPr/>
          <p:nvPr/>
        </p:nvCxnSpPr>
        <p:spPr>
          <a:xfrm flipV="1">
            <a:off x="5932857" y="3002953"/>
            <a:ext cx="212747" cy="8058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ixaDeTexto 12">
            <a:extLst>
              <a:ext uri="{FF2B5EF4-FFF2-40B4-BE49-F238E27FC236}">
                <a16:creationId xmlns:a16="http://schemas.microsoft.com/office/drawing/2014/main" id="{B3F487AE-A1DB-A432-C0FA-3045C66595F9}"/>
              </a:ext>
            </a:extLst>
          </p:cNvPr>
          <p:cNvSpPr txBox="1"/>
          <p:nvPr/>
        </p:nvSpPr>
        <p:spPr>
          <a:xfrm>
            <a:off x="5735561" y="2419669"/>
            <a:ext cx="1061456" cy="456087"/>
          </a:xfrm>
          <a:prstGeom prst="rect">
            <a:avLst/>
          </a:prstGeom>
          <a:noFill/>
        </p:spPr>
        <p:txBody>
          <a:bodyPr wrap="square" rtlCol="0">
            <a:spAutoFit/>
          </a:bodyPr>
          <a:lstStyle/>
          <a:p>
            <a:pPr algn="ctr"/>
            <a:r>
              <a:rPr lang="pt-BR" sz="788" b="1" dirty="0">
                <a:solidFill>
                  <a:schemeClr val="accent2">
                    <a:lumMod val="50000"/>
                  </a:schemeClr>
                </a:solidFill>
              </a:rPr>
              <a:t>CRIAR PROTÓTIPOS DAS MELHORES IDEIAS</a:t>
            </a:r>
          </a:p>
        </p:txBody>
      </p:sp>
      <p:sp>
        <p:nvSpPr>
          <p:cNvPr id="16" name="CaixaDeTexto 15">
            <a:extLst>
              <a:ext uri="{FF2B5EF4-FFF2-40B4-BE49-F238E27FC236}">
                <a16:creationId xmlns:a16="http://schemas.microsoft.com/office/drawing/2014/main" id="{84DAB382-7D4C-60D8-F8A0-10AF1117BDF6}"/>
              </a:ext>
            </a:extLst>
          </p:cNvPr>
          <p:cNvSpPr txBox="1"/>
          <p:nvPr/>
        </p:nvSpPr>
        <p:spPr>
          <a:xfrm>
            <a:off x="5790012" y="2211919"/>
            <a:ext cx="1011974" cy="230832"/>
          </a:xfrm>
          <a:prstGeom prst="rect">
            <a:avLst/>
          </a:prstGeom>
          <a:noFill/>
        </p:spPr>
        <p:txBody>
          <a:bodyPr wrap="square" rtlCol="0">
            <a:spAutoFit/>
          </a:bodyPr>
          <a:lstStyle/>
          <a:p>
            <a:pPr algn="ctr"/>
            <a:r>
              <a:rPr lang="pt-BR" sz="900" b="1" dirty="0"/>
              <a:t>PROTOTIPAÇÃO</a:t>
            </a:r>
          </a:p>
        </p:txBody>
      </p:sp>
    </p:spTree>
    <p:extLst>
      <p:ext uri="{BB962C8B-B14F-4D97-AF65-F5344CB8AC3E}">
        <p14:creationId xmlns:p14="http://schemas.microsoft.com/office/powerpoint/2010/main" val="344542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8</a:t>
            </a:fld>
            <a:endParaRPr lang="pt-BR"/>
          </a:p>
        </p:txBody>
      </p:sp>
      <p:sp>
        <p:nvSpPr>
          <p:cNvPr id="6" name="Retângulo 5">
            <a:extLst>
              <a:ext uri="{FF2B5EF4-FFF2-40B4-BE49-F238E27FC236}">
                <a16:creationId xmlns:a16="http://schemas.microsoft.com/office/drawing/2014/main" id="{85E81A8A-ED4D-4488-8311-5B01A71F9FEC}"/>
              </a:ext>
            </a:extLst>
          </p:cNvPr>
          <p:cNvSpPr/>
          <p:nvPr/>
        </p:nvSpPr>
        <p:spPr>
          <a:xfrm>
            <a:off x="438584" y="1443841"/>
            <a:ext cx="8479786" cy="4339650"/>
          </a:xfrm>
          <a:prstGeom prst="rect">
            <a:avLst/>
          </a:prstGeom>
          <a:solidFill>
            <a:schemeClr val="bg1"/>
          </a:solidFill>
        </p:spPr>
        <p:txBody>
          <a:bodyPr wrap="square">
            <a:spAutoFit/>
          </a:bodyPr>
          <a:lstStyle/>
          <a:p>
            <a:pPr lvl="0" algn="ctr">
              <a:defRPr/>
            </a:pPr>
            <a:r>
              <a:rPr lang="pt-BR" sz="3600" b="1" cap="all" dirty="0">
                <a:solidFill>
                  <a:prstClr val="black"/>
                </a:solidFill>
              </a:rPr>
              <a:t>Protótipo</a:t>
            </a:r>
          </a:p>
          <a:p>
            <a:pPr lvl="0" algn="ctr">
              <a:defRPr/>
            </a:pPr>
            <a:endParaRPr lang="pt-BR" sz="2400" b="1" cap="all" dirty="0">
              <a:solidFill>
                <a:prstClr val="black"/>
              </a:solidFill>
            </a:endParaRPr>
          </a:p>
          <a:p>
            <a:pPr marL="400050" lvl="0" indent="-400050">
              <a:buFont typeface="+mj-lt"/>
              <a:buAutoNum type="romanUcPeriod"/>
              <a:defRPr/>
            </a:pPr>
            <a:r>
              <a:rPr lang="pt-BR" sz="1600" cap="all" dirty="0">
                <a:solidFill>
                  <a:prstClr val="black"/>
                </a:solidFill>
              </a:rPr>
              <a:t>Protótipo é um Modelo construído para testar um produto ou serviço</a:t>
            </a:r>
          </a:p>
          <a:p>
            <a:pPr marL="400050" lvl="0" indent="-400050">
              <a:buFont typeface="+mj-lt"/>
              <a:buAutoNum type="romanUcPeriod"/>
              <a:defRPr/>
            </a:pPr>
            <a:endParaRPr lang="pt-BR" sz="800" cap="all" dirty="0">
              <a:solidFill>
                <a:prstClr val="black"/>
              </a:solidFill>
            </a:endParaRPr>
          </a:p>
          <a:p>
            <a:pPr marL="400050" indent="-400050">
              <a:buFont typeface="+mj-lt"/>
              <a:buAutoNum type="romanUcPeriod"/>
              <a:defRPr/>
            </a:pPr>
            <a:r>
              <a:rPr lang="pt-BR" sz="1600" cap="all" dirty="0">
                <a:solidFill>
                  <a:prstClr val="black"/>
                </a:solidFill>
              </a:rPr>
              <a:t>PODE SER PARCIAL, PARA TESTAR OU VALIDAR A VIABILIDADE DE PARTE DAS CARACTERÍSTICAS DO PRODUTO OU SERVIÇO</a:t>
            </a:r>
          </a:p>
          <a:p>
            <a:pPr marL="400050" indent="-400050">
              <a:buFont typeface="+mj-lt"/>
              <a:buAutoNum type="romanUcPeriod"/>
              <a:defRPr/>
            </a:pPr>
            <a:endParaRPr lang="pt-BR" sz="800" cap="all" dirty="0">
              <a:solidFill>
                <a:prstClr val="black"/>
              </a:solidFill>
            </a:endParaRPr>
          </a:p>
          <a:p>
            <a:pPr marL="400050" lvl="0" indent="-400050">
              <a:buFont typeface="+mj-lt"/>
              <a:buAutoNum type="romanUcPeriod"/>
              <a:defRPr/>
            </a:pPr>
            <a:r>
              <a:rPr lang="pt-BR" sz="1600" cap="all" dirty="0">
                <a:solidFill>
                  <a:prstClr val="black"/>
                </a:solidFill>
              </a:rPr>
              <a:t>Possibilita ver uma ideia, um sonho OU um projeto sendo apresentado na prática pela primeira vez – É A MATERIALIZAÇÃO DAS IDÉIAS</a:t>
            </a:r>
          </a:p>
          <a:p>
            <a:pPr marL="400050" lvl="0" indent="-400050">
              <a:buFont typeface="+mj-lt"/>
              <a:buAutoNum type="romanUcPeriod"/>
              <a:defRPr/>
            </a:pPr>
            <a:endParaRPr lang="pt-BR" sz="800" cap="all" dirty="0">
              <a:solidFill>
                <a:prstClr val="black"/>
              </a:solidFill>
            </a:endParaRPr>
          </a:p>
          <a:p>
            <a:pPr marL="400050" lvl="0" indent="-400050">
              <a:buFont typeface="+mj-lt"/>
              <a:buAutoNum type="romanUcPeriod"/>
              <a:defRPr/>
            </a:pPr>
            <a:r>
              <a:rPr lang="pt-BR" sz="1600" cap="all" dirty="0">
                <a:solidFill>
                  <a:prstClr val="black"/>
                </a:solidFill>
              </a:rPr>
              <a:t>é uma forma de aprender o máximo possível sobre o produto ou serviço TANTO EM TERMOS DE USABILIDADE QUANTO DA EXPERIÊNCIA DO USUÁRIO</a:t>
            </a:r>
          </a:p>
          <a:p>
            <a:pPr marL="400050" lvl="0" indent="-400050">
              <a:buFont typeface="+mj-lt"/>
              <a:buAutoNum type="romanUcPeriod"/>
              <a:defRPr/>
            </a:pPr>
            <a:endParaRPr lang="pt-BR" sz="800" cap="all" dirty="0">
              <a:solidFill>
                <a:prstClr val="black"/>
              </a:solidFill>
            </a:endParaRPr>
          </a:p>
          <a:p>
            <a:pPr marL="400050" lvl="0" indent="-400050">
              <a:buFont typeface="+mj-lt"/>
              <a:buAutoNum type="romanUcPeriod"/>
              <a:defRPr/>
            </a:pPr>
            <a:r>
              <a:rPr lang="pt-BR" sz="1600" cap="all" dirty="0">
                <a:solidFill>
                  <a:prstClr val="black"/>
                </a:solidFill>
              </a:rPr>
              <a:t>É base pra que novas mudanças, ajustes ou implementações dessa ideia possam ser realizadas ANTES DA IMPLEMENTAÇÃO OU LANÇAMENTO DO PRODUTO OU SERVIÇO</a:t>
            </a:r>
          </a:p>
          <a:p>
            <a:pPr marL="400050" lvl="0" indent="-400050">
              <a:buFont typeface="+mj-lt"/>
              <a:buAutoNum type="romanUcPeriod"/>
              <a:defRPr/>
            </a:pPr>
            <a:endParaRPr lang="pt-BR" sz="800" cap="all" dirty="0">
              <a:solidFill>
                <a:prstClr val="black"/>
              </a:solidFill>
            </a:endParaRPr>
          </a:p>
          <a:p>
            <a:pPr marL="400050" lvl="0" indent="-400050">
              <a:buFont typeface="+mj-lt"/>
              <a:buAutoNum type="romanUcPeriod"/>
              <a:defRPr/>
            </a:pPr>
            <a:r>
              <a:rPr lang="pt-BR" sz="1600" cap="all" dirty="0">
                <a:solidFill>
                  <a:prstClr val="black"/>
                </a:solidFill>
              </a:rPr>
              <a:t>É também uma representação de potenciais Modelos de negócio, servindo para a discussão, questionamento e prova de conceito</a:t>
            </a:r>
          </a:p>
        </p:txBody>
      </p:sp>
      <p:sp>
        <p:nvSpPr>
          <p:cNvPr id="2" name="Retângulo 1">
            <a:extLst>
              <a:ext uri="{FF2B5EF4-FFF2-40B4-BE49-F238E27FC236}">
                <a16:creationId xmlns:a16="http://schemas.microsoft.com/office/drawing/2014/main" id="{A303C953-3C1E-47B5-AFFA-112A3D97967A}"/>
              </a:ext>
            </a:extLst>
          </p:cNvPr>
          <p:cNvSpPr/>
          <p:nvPr/>
        </p:nvSpPr>
        <p:spPr>
          <a:xfrm>
            <a:off x="924278" y="727651"/>
            <a:ext cx="3959354" cy="523220"/>
          </a:xfrm>
          <a:prstGeom prst="rect">
            <a:avLst/>
          </a:prstGeom>
          <a:solidFill>
            <a:schemeClr val="bg1"/>
          </a:solidFill>
        </p:spPr>
        <p:txBody>
          <a:bodyPr wrap="none">
            <a:spAutoFit/>
          </a:bodyPr>
          <a:lstStyle/>
          <a:p>
            <a:pPr lvl="0">
              <a:defRPr/>
            </a:pPr>
            <a:r>
              <a:rPr lang="pt-BR" sz="2800" b="1" cap="all" dirty="0">
                <a:solidFill>
                  <a:prstClr val="black"/>
                </a:solidFill>
              </a:rPr>
              <a:t>Para que protótipos ?</a:t>
            </a:r>
          </a:p>
        </p:txBody>
      </p:sp>
    </p:spTree>
    <p:extLst>
      <p:ext uri="{BB962C8B-B14F-4D97-AF65-F5344CB8AC3E}">
        <p14:creationId xmlns:p14="http://schemas.microsoft.com/office/powerpoint/2010/main" val="90816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9</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sp>
        <p:nvSpPr>
          <p:cNvPr id="6" name="Retângulo 5">
            <a:extLst>
              <a:ext uri="{FF2B5EF4-FFF2-40B4-BE49-F238E27FC236}">
                <a16:creationId xmlns:a16="http://schemas.microsoft.com/office/drawing/2014/main" id="{85E81A8A-ED4D-4488-8311-5B01A71F9FEC}"/>
              </a:ext>
            </a:extLst>
          </p:cNvPr>
          <p:cNvSpPr/>
          <p:nvPr/>
        </p:nvSpPr>
        <p:spPr>
          <a:xfrm>
            <a:off x="201478" y="1433636"/>
            <a:ext cx="8741044" cy="5201424"/>
          </a:xfrm>
          <a:prstGeom prst="rect">
            <a:avLst/>
          </a:prstGeom>
          <a:solidFill>
            <a:schemeClr val="bg1"/>
          </a:solidFill>
        </p:spPr>
        <p:txBody>
          <a:bodyPr wrap="square">
            <a:spAutoFit/>
          </a:bodyPr>
          <a:lstStyle/>
          <a:p>
            <a:pPr lvl="0" algn="ctr">
              <a:defRPr/>
            </a:pPr>
            <a:r>
              <a:rPr lang="pt-BR" sz="3600" b="1" cap="all" dirty="0">
                <a:solidFill>
                  <a:prstClr val="black"/>
                </a:solidFill>
              </a:rPr>
              <a:t>Tipos de protótipos</a:t>
            </a:r>
          </a:p>
          <a:p>
            <a:pPr lvl="0" algn="ctr">
              <a:defRPr/>
            </a:pPr>
            <a:endParaRPr lang="pt-BR" sz="1400" b="1" cap="all" dirty="0">
              <a:solidFill>
                <a:prstClr val="black"/>
              </a:solidFill>
            </a:endParaRPr>
          </a:p>
          <a:p>
            <a:pPr algn="ctr"/>
            <a:r>
              <a:rPr lang="pt-BR" sz="2400" b="1" cap="small" dirty="0"/>
              <a:t>Protótipo de produtos físicos</a:t>
            </a:r>
          </a:p>
          <a:p>
            <a:pPr algn="ctr"/>
            <a:r>
              <a:rPr lang="pt-BR" sz="1600" cap="small" dirty="0">
                <a:solidFill>
                  <a:schemeClr val="tx2"/>
                </a:solidFill>
              </a:rPr>
              <a:t>são representações do objeto final feitas de material mais barato. Usados para testes de móveis, equipamentos, peças industriais, por exemplo. As dimensões destes modelos também variam de acordo com o objetivo da avaliação. Podem ser pequenos em escala ou até em tamanho real.</a:t>
            </a:r>
          </a:p>
          <a:p>
            <a:pPr algn="ctr"/>
            <a:endParaRPr lang="pt-BR" sz="1600" cap="small" dirty="0">
              <a:solidFill>
                <a:schemeClr val="tx2"/>
              </a:solidFill>
            </a:endParaRPr>
          </a:p>
          <a:p>
            <a:pPr algn="ctr"/>
            <a:r>
              <a:rPr lang="pt-BR" sz="2400" b="1" cap="small" dirty="0"/>
              <a:t>Protótipo de produtos ou serviços digitais</a:t>
            </a:r>
          </a:p>
          <a:p>
            <a:pPr algn="ctr"/>
            <a:r>
              <a:rPr lang="pt-BR" sz="1600" cap="small" dirty="0">
                <a:solidFill>
                  <a:schemeClr val="tx2"/>
                </a:solidFill>
              </a:rPr>
              <a:t>são versões bem simplificadas do produto ou serviço final. Podem ser, por exemplo, telas e links sem aplicação de layout, para testar se a navegação funciona. Ou conter apenas uma função, para se medir, por exemplo, a resposta do usuário àquela uma ação específica. </a:t>
            </a:r>
          </a:p>
          <a:p>
            <a:pPr algn="ctr"/>
            <a:endParaRPr lang="pt-BR" cap="small" dirty="0">
              <a:solidFill>
                <a:schemeClr val="tx2"/>
              </a:solidFill>
            </a:endParaRPr>
          </a:p>
          <a:p>
            <a:pPr algn="ctr"/>
            <a:r>
              <a:rPr lang="pt-BR" sz="2400" b="1" cap="small" dirty="0"/>
              <a:t>Protótipo de serviços</a:t>
            </a:r>
          </a:p>
          <a:p>
            <a:pPr algn="ctr"/>
            <a:r>
              <a:rPr lang="pt-BR" sz="1600" cap="small" dirty="0">
                <a:solidFill>
                  <a:schemeClr val="tx2"/>
                </a:solidFill>
              </a:rPr>
              <a:t>são simulações de processos, atendimentos ou fluxos de clientes, entre outros. Nesta opção, são usadas, por exemplo, representações de papéis no qual os especialistas vão representar o usuário e o funcionário da empresa. Durante a “cena”, é possível testar se as soluções propostas geram os resultados esperados, se surgem dúvidas e como respondê-las.</a:t>
            </a:r>
          </a:p>
          <a:p>
            <a:pPr algn="ctr"/>
            <a:endParaRPr lang="pt-BR" sz="1600" cap="small" dirty="0">
              <a:solidFill>
                <a:schemeClr val="tx2"/>
              </a:solidFill>
            </a:endParaRPr>
          </a:p>
        </p:txBody>
      </p:sp>
    </p:spTree>
    <p:extLst>
      <p:ext uri="{BB962C8B-B14F-4D97-AF65-F5344CB8AC3E}">
        <p14:creationId xmlns:p14="http://schemas.microsoft.com/office/powerpoint/2010/main" val="1273607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fade">
                                      <p:cBhvr>
                                        <p:cTn id="15" dur="500"/>
                                        <p:tgtEl>
                                          <p:spTgt spid="6">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fade">
                                      <p:cBhvr>
                                        <p:cTn id="18" dur="500"/>
                                        <p:tgtEl>
                                          <p:spTgt spid="6">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animEffect transition="in" filter="fade">
                                      <p:cBhvr>
                                        <p:cTn id="23" dur="500"/>
                                        <p:tgtEl>
                                          <p:spTgt spid="6">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9" end="9"/>
                                            </p:txEl>
                                          </p:spTgt>
                                        </p:tgtEl>
                                        <p:attrNameLst>
                                          <p:attrName>style.visibility</p:attrName>
                                        </p:attrNameLst>
                                      </p:cBhvr>
                                      <p:to>
                                        <p:strVal val="visible"/>
                                      </p:to>
                                    </p:set>
                                    <p:animEffect transition="in" filter="fade">
                                      <p:cBhvr>
                                        <p:cTn id="26"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Agrupar 24">
            <a:extLst>
              <a:ext uri="{FF2B5EF4-FFF2-40B4-BE49-F238E27FC236}">
                <a16:creationId xmlns:a16="http://schemas.microsoft.com/office/drawing/2014/main" id="{D01B5591-385F-4497-A972-7E71F6FCF29D}"/>
              </a:ext>
            </a:extLst>
          </p:cNvPr>
          <p:cNvGrpSpPr/>
          <p:nvPr/>
        </p:nvGrpSpPr>
        <p:grpSpPr>
          <a:xfrm>
            <a:off x="2307527" y="2135142"/>
            <a:ext cx="4618882" cy="4618882"/>
            <a:chOff x="2307527" y="2135142"/>
            <a:chExt cx="4618882" cy="4618882"/>
          </a:xfrm>
        </p:grpSpPr>
        <p:sp>
          <p:nvSpPr>
            <p:cNvPr id="2" name="Elipse 1">
              <a:extLst>
                <a:ext uri="{FF2B5EF4-FFF2-40B4-BE49-F238E27FC236}">
                  <a16:creationId xmlns:a16="http://schemas.microsoft.com/office/drawing/2014/main" id="{F15F7964-72E6-412B-ABB9-A806DFCDB0BA}"/>
                </a:ext>
              </a:extLst>
            </p:cNvPr>
            <p:cNvSpPr/>
            <p:nvPr/>
          </p:nvSpPr>
          <p:spPr>
            <a:xfrm>
              <a:off x="2307527" y="2135142"/>
              <a:ext cx="4618882" cy="4618882"/>
            </a:xfrm>
            <a:prstGeom prst="ellipse">
              <a:avLst/>
            </a:prstGeom>
            <a:solidFill>
              <a:schemeClr val="bg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0" name="CaixaDeTexto 19">
              <a:extLst>
                <a:ext uri="{FF2B5EF4-FFF2-40B4-BE49-F238E27FC236}">
                  <a16:creationId xmlns:a16="http://schemas.microsoft.com/office/drawing/2014/main" id="{F872BA41-56C7-411A-82EB-A759F6A76D75}"/>
                </a:ext>
              </a:extLst>
            </p:cNvPr>
            <p:cNvSpPr txBox="1"/>
            <p:nvPr/>
          </p:nvSpPr>
          <p:spPr>
            <a:xfrm>
              <a:off x="2628577" y="2438572"/>
              <a:ext cx="3976781" cy="3482541"/>
            </a:xfrm>
            <a:prstGeom prst="rect">
              <a:avLst/>
            </a:prstGeom>
            <a:noFill/>
          </p:spPr>
          <p:txBody>
            <a:bodyPr wrap="none" rtlCol="0">
              <a:prstTxWarp prst="textArchUp">
                <a:avLst>
                  <a:gd name="adj" fmla="val 11395994"/>
                </a:avLst>
              </a:prstTxWarp>
              <a:spAutoFit/>
            </a:bodyPr>
            <a:lstStyle/>
            <a:p>
              <a:pPr algn="ctr"/>
              <a:r>
                <a:rPr lang="pt-BR" sz="1050" b="1" dirty="0"/>
                <a:t>PRODUTO POTENCIAL</a:t>
              </a:r>
            </a:p>
          </p:txBody>
        </p:sp>
      </p:grpSp>
      <p:grpSp>
        <p:nvGrpSpPr>
          <p:cNvPr id="24" name="Agrupar 23">
            <a:extLst>
              <a:ext uri="{FF2B5EF4-FFF2-40B4-BE49-F238E27FC236}">
                <a16:creationId xmlns:a16="http://schemas.microsoft.com/office/drawing/2014/main" id="{78B6A040-8AB3-4A9D-9EC0-BFAAAED9EEF8}"/>
              </a:ext>
            </a:extLst>
          </p:cNvPr>
          <p:cNvGrpSpPr/>
          <p:nvPr/>
        </p:nvGrpSpPr>
        <p:grpSpPr>
          <a:xfrm>
            <a:off x="2795663" y="2623278"/>
            <a:ext cx="3642610" cy="3642610"/>
            <a:chOff x="2795663" y="2623278"/>
            <a:chExt cx="3642610" cy="3642610"/>
          </a:xfrm>
        </p:grpSpPr>
        <p:sp>
          <p:nvSpPr>
            <p:cNvPr id="7" name="Elipse 6">
              <a:extLst>
                <a:ext uri="{FF2B5EF4-FFF2-40B4-BE49-F238E27FC236}">
                  <a16:creationId xmlns:a16="http://schemas.microsoft.com/office/drawing/2014/main" id="{05F5868C-683E-492F-B6BF-02990C2BD20F}"/>
                </a:ext>
              </a:extLst>
            </p:cNvPr>
            <p:cNvSpPr/>
            <p:nvPr/>
          </p:nvSpPr>
          <p:spPr>
            <a:xfrm>
              <a:off x="2795663" y="2623278"/>
              <a:ext cx="3642610" cy="3642610"/>
            </a:xfrm>
            <a:prstGeom prst="ellips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CaixaDeTexto 18">
              <a:extLst>
                <a:ext uri="{FF2B5EF4-FFF2-40B4-BE49-F238E27FC236}">
                  <a16:creationId xmlns:a16="http://schemas.microsoft.com/office/drawing/2014/main" id="{57461D6C-B787-42ED-95FA-93BE45C842FE}"/>
                </a:ext>
              </a:extLst>
            </p:cNvPr>
            <p:cNvSpPr txBox="1"/>
            <p:nvPr/>
          </p:nvSpPr>
          <p:spPr>
            <a:xfrm>
              <a:off x="3151382" y="2915706"/>
              <a:ext cx="2964602" cy="2747584"/>
            </a:xfrm>
            <a:prstGeom prst="rect">
              <a:avLst/>
            </a:prstGeom>
            <a:noFill/>
          </p:spPr>
          <p:txBody>
            <a:bodyPr wrap="none" rtlCol="0">
              <a:prstTxWarp prst="textArchUp">
                <a:avLst>
                  <a:gd name="adj" fmla="val 11395994"/>
                </a:avLst>
              </a:prstTxWarp>
              <a:spAutoFit/>
            </a:bodyPr>
            <a:lstStyle/>
            <a:p>
              <a:pPr algn="ctr"/>
              <a:r>
                <a:rPr lang="pt-BR" sz="1050" b="1" dirty="0"/>
                <a:t>PRODUTO AMPLIADO</a:t>
              </a:r>
            </a:p>
          </p:txBody>
        </p:sp>
      </p:grpSp>
      <p:grpSp>
        <p:nvGrpSpPr>
          <p:cNvPr id="23" name="Agrupar 22">
            <a:extLst>
              <a:ext uri="{FF2B5EF4-FFF2-40B4-BE49-F238E27FC236}">
                <a16:creationId xmlns:a16="http://schemas.microsoft.com/office/drawing/2014/main" id="{B651A922-7F2F-4822-A948-E8CF5B4E57C6}"/>
              </a:ext>
            </a:extLst>
          </p:cNvPr>
          <p:cNvGrpSpPr/>
          <p:nvPr/>
        </p:nvGrpSpPr>
        <p:grpSpPr>
          <a:xfrm>
            <a:off x="3290339" y="3117954"/>
            <a:ext cx="2653258" cy="2653258"/>
            <a:chOff x="3290339" y="3117954"/>
            <a:chExt cx="2653258" cy="2653258"/>
          </a:xfrm>
        </p:grpSpPr>
        <p:sp>
          <p:nvSpPr>
            <p:cNvPr id="8" name="Elipse 7">
              <a:extLst>
                <a:ext uri="{FF2B5EF4-FFF2-40B4-BE49-F238E27FC236}">
                  <a16:creationId xmlns:a16="http://schemas.microsoft.com/office/drawing/2014/main" id="{717E1B07-7A1C-45E9-8716-7D5C8D2376F4}"/>
                </a:ext>
              </a:extLst>
            </p:cNvPr>
            <p:cNvSpPr/>
            <p:nvPr/>
          </p:nvSpPr>
          <p:spPr>
            <a:xfrm>
              <a:off x="3290339" y="3117954"/>
              <a:ext cx="2653258" cy="2653258"/>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9A468DC6-874D-496B-A4E3-C5591D5ED15D}"/>
                </a:ext>
              </a:extLst>
            </p:cNvPr>
            <p:cNvSpPr txBox="1"/>
            <p:nvPr/>
          </p:nvSpPr>
          <p:spPr>
            <a:xfrm>
              <a:off x="3515085" y="3408986"/>
              <a:ext cx="2237196" cy="2073426"/>
            </a:xfrm>
            <a:prstGeom prst="rect">
              <a:avLst/>
            </a:prstGeom>
            <a:noFill/>
          </p:spPr>
          <p:txBody>
            <a:bodyPr wrap="none" rtlCol="0">
              <a:prstTxWarp prst="textArchUp">
                <a:avLst>
                  <a:gd name="adj" fmla="val 11395994"/>
                </a:avLst>
              </a:prstTxWarp>
              <a:spAutoFit/>
            </a:bodyPr>
            <a:lstStyle/>
            <a:p>
              <a:pPr algn="ctr"/>
              <a:r>
                <a:rPr lang="pt-BR" sz="1050" b="1" dirty="0"/>
                <a:t>PRODUTO ESPERADO</a:t>
              </a:r>
            </a:p>
          </p:txBody>
        </p:sp>
      </p:grpSp>
      <p:grpSp>
        <p:nvGrpSpPr>
          <p:cNvPr id="22" name="Agrupar 21">
            <a:extLst>
              <a:ext uri="{FF2B5EF4-FFF2-40B4-BE49-F238E27FC236}">
                <a16:creationId xmlns:a16="http://schemas.microsoft.com/office/drawing/2014/main" id="{57DB4088-4323-4C3D-9275-AF8CB6388F35}"/>
              </a:ext>
            </a:extLst>
          </p:cNvPr>
          <p:cNvGrpSpPr/>
          <p:nvPr/>
        </p:nvGrpSpPr>
        <p:grpSpPr>
          <a:xfrm>
            <a:off x="3785014" y="3612629"/>
            <a:ext cx="1663908" cy="1663908"/>
            <a:chOff x="3785014" y="3612629"/>
            <a:chExt cx="1663908" cy="1663908"/>
          </a:xfrm>
        </p:grpSpPr>
        <p:sp>
          <p:nvSpPr>
            <p:cNvPr id="9" name="Elipse 8">
              <a:extLst>
                <a:ext uri="{FF2B5EF4-FFF2-40B4-BE49-F238E27FC236}">
                  <a16:creationId xmlns:a16="http://schemas.microsoft.com/office/drawing/2014/main" id="{D077EA72-73AD-467C-B597-43B899D4BB4F}"/>
                </a:ext>
              </a:extLst>
            </p:cNvPr>
            <p:cNvSpPr/>
            <p:nvPr/>
          </p:nvSpPr>
          <p:spPr>
            <a:xfrm>
              <a:off x="3785014" y="3612629"/>
              <a:ext cx="1663908" cy="1663908"/>
            </a:xfrm>
            <a:prstGeom prst="ellipse">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CaixaDeTexto 16">
              <a:extLst>
                <a:ext uri="{FF2B5EF4-FFF2-40B4-BE49-F238E27FC236}">
                  <a16:creationId xmlns:a16="http://schemas.microsoft.com/office/drawing/2014/main" id="{83C4064A-5F8C-401C-AE3C-E02F394723B6}"/>
                </a:ext>
              </a:extLst>
            </p:cNvPr>
            <p:cNvSpPr txBox="1"/>
            <p:nvPr/>
          </p:nvSpPr>
          <p:spPr>
            <a:xfrm>
              <a:off x="4047341" y="3840475"/>
              <a:ext cx="1172684" cy="1173542"/>
            </a:xfrm>
            <a:prstGeom prst="rect">
              <a:avLst/>
            </a:prstGeom>
            <a:noFill/>
          </p:spPr>
          <p:txBody>
            <a:bodyPr wrap="none" rtlCol="0">
              <a:prstTxWarp prst="textArchUp">
                <a:avLst/>
              </a:prstTxWarp>
              <a:spAutoFit/>
            </a:bodyPr>
            <a:lstStyle/>
            <a:p>
              <a:pPr algn="ctr"/>
              <a:r>
                <a:rPr lang="pt-BR" sz="1050" b="1" dirty="0"/>
                <a:t>PRODUTO BÁSICO</a:t>
              </a:r>
            </a:p>
          </p:txBody>
        </p:sp>
      </p:grpSp>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10</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sp>
        <p:nvSpPr>
          <p:cNvPr id="6" name="Retângulo 5">
            <a:extLst>
              <a:ext uri="{FF2B5EF4-FFF2-40B4-BE49-F238E27FC236}">
                <a16:creationId xmlns:a16="http://schemas.microsoft.com/office/drawing/2014/main" id="{85E81A8A-ED4D-4488-8311-5B01A71F9FEC}"/>
              </a:ext>
            </a:extLst>
          </p:cNvPr>
          <p:cNvSpPr/>
          <p:nvPr/>
        </p:nvSpPr>
        <p:spPr>
          <a:xfrm>
            <a:off x="402956" y="1443841"/>
            <a:ext cx="8493071" cy="646331"/>
          </a:xfrm>
          <a:prstGeom prst="rect">
            <a:avLst/>
          </a:prstGeom>
          <a:solidFill>
            <a:schemeClr val="bg1"/>
          </a:solidFill>
        </p:spPr>
        <p:txBody>
          <a:bodyPr wrap="square">
            <a:spAutoFit/>
          </a:bodyPr>
          <a:lstStyle/>
          <a:p>
            <a:pPr lvl="0" algn="ctr">
              <a:defRPr/>
            </a:pPr>
            <a:r>
              <a:rPr lang="pt-BR" sz="3600" b="1" cap="all" dirty="0">
                <a:solidFill>
                  <a:prstClr val="black"/>
                </a:solidFill>
              </a:rPr>
              <a:t>Níveis do PRODUTO / SERVIÇO</a:t>
            </a:r>
          </a:p>
        </p:txBody>
      </p:sp>
      <p:grpSp>
        <p:nvGrpSpPr>
          <p:cNvPr id="21" name="Agrupar 20">
            <a:extLst>
              <a:ext uri="{FF2B5EF4-FFF2-40B4-BE49-F238E27FC236}">
                <a16:creationId xmlns:a16="http://schemas.microsoft.com/office/drawing/2014/main" id="{598663B9-C4B3-4325-B42C-CFB0F7815A57}"/>
              </a:ext>
            </a:extLst>
          </p:cNvPr>
          <p:cNvGrpSpPr/>
          <p:nvPr/>
        </p:nvGrpSpPr>
        <p:grpSpPr>
          <a:xfrm>
            <a:off x="4204739" y="4032354"/>
            <a:ext cx="824458" cy="824458"/>
            <a:chOff x="4204739" y="4032354"/>
            <a:chExt cx="824458" cy="824458"/>
          </a:xfrm>
        </p:grpSpPr>
        <p:sp>
          <p:nvSpPr>
            <p:cNvPr id="10" name="Elipse 9">
              <a:extLst>
                <a:ext uri="{FF2B5EF4-FFF2-40B4-BE49-F238E27FC236}">
                  <a16:creationId xmlns:a16="http://schemas.microsoft.com/office/drawing/2014/main" id="{6A5B19DA-60F1-48E4-8193-7DC4F00BCCF1}"/>
                </a:ext>
              </a:extLst>
            </p:cNvPr>
            <p:cNvSpPr/>
            <p:nvPr/>
          </p:nvSpPr>
          <p:spPr>
            <a:xfrm>
              <a:off x="4204739" y="4032354"/>
              <a:ext cx="824458" cy="824458"/>
            </a:xfrm>
            <a:prstGeom prst="ellipse">
              <a:avLst/>
            </a:prstGeom>
            <a:solidFill>
              <a:srgbClr val="FFFF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700" b="1" dirty="0">
                <a:solidFill>
                  <a:schemeClr val="tx1"/>
                </a:solidFill>
              </a:endParaRPr>
            </a:p>
          </p:txBody>
        </p:sp>
        <p:sp>
          <p:nvSpPr>
            <p:cNvPr id="3" name="Retângulo 2">
              <a:extLst>
                <a:ext uri="{FF2B5EF4-FFF2-40B4-BE49-F238E27FC236}">
                  <a16:creationId xmlns:a16="http://schemas.microsoft.com/office/drawing/2014/main" id="{3DCF5381-519E-45F3-9634-1D8C9F0B6B2C}"/>
                </a:ext>
              </a:extLst>
            </p:cNvPr>
            <p:cNvSpPr/>
            <p:nvPr/>
          </p:nvSpPr>
          <p:spPr>
            <a:xfrm>
              <a:off x="4238169" y="4244528"/>
              <a:ext cx="791028" cy="400110"/>
            </a:xfrm>
            <a:prstGeom prst="rect">
              <a:avLst/>
            </a:prstGeom>
          </p:spPr>
          <p:txBody>
            <a:bodyPr wrap="square">
              <a:spAutoFit/>
            </a:bodyPr>
            <a:lstStyle/>
            <a:p>
              <a:pPr algn="ctr"/>
              <a:r>
                <a:rPr lang="pt-BR" sz="1000" b="1" dirty="0"/>
                <a:t>BENEFÍCIO CENTRAL</a:t>
              </a:r>
            </a:p>
          </p:txBody>
        </p:sp>
      </p:grpSp>
    </p:spTree>
    <p:extLst>
      <p:ext uri="{BB962C8B-B14F-4D97-AF65-F5344CB8AC3E}">
        <p14:creationId xmlns:p14="http://schemas.microsoft.com/office/powerpoint/2010/main" val="342291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500" fill="hold"/>
                                        <p:tgtEl>
                                          <p:spTgt spid="23"/>
                                        </p:tgtEl>
                                        <p:attrNameLst>
                                          <p:attrName>ppt_w</p:attrName>
                                        </p:attrNameLst>
                                      </p:cBhvr>
                                      <p:tavLst>
                                        <p:tav tm="0">
                                          <p:val>
                                            <p:fltVal val="0"/>
                                          </p:val>
                                        </p:tav>
                                        <p:tav tm="100000">
                                          <p:val>
                                            <p:strVal val="#ppt_w"/>
                                          </p:val>
                                        </p:tav>
                                      </p:tavLst>
                                    </p:anim>
                                    <p:anim calcmode="lin" valueType="num">
                                      <p:cBhvr>
                                        <p:cTn id="20" dur="500" fill="hold"/>
                                        <p:tgtEl>
                                          <p:spTgt spid="23"/>
                                        </p:tgtEl>
                                        <p:attrNameLst>
                                          <p:attrName>ppt_h</p:attrName>
                                        </p:attrNameLst>
                                      </p:cBhvr>
                                      <p:tavLst>
                                        <p:tav tm="0">
                                          <p:val>
                                            <p:fltVal val="0"/>
                                          </p:val>
                                        </p:tav>
                                        <p:tav tm="100000">
                                          <p:val>
                                            <p:strVal val="#ppt_h"/>
                                          </p:val>
                                        </p:tav>
                                      </p:tavLst>
                                    </p:anim>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p:cTn id="26" dur="500" fill="hold"/>
                                        <p:tgtEl>
                                          <p:spTgt spid="24"/>
                                        </p:tgtEl>
                                        <p:attrNameLst>
                                          <p:attrName>ppt_w</p:attrName>
                                        </p:attrNameLst>
                                      </p:cBhvr>
                                      <p:tavLst>
                                        <p:tav tm="0">
                                          <p:val>
                                            <p:fltVal val="0"/>
                                          </p:val>
                                        </p:tav>
                                        <p:tav tm="100000">
                                          <p:val>
                                            <p:strVal val="#ppt_w"/>
                                          </p:val>
                                        </p:tav>
                                      </p:tavLst>
                                    </p:anim>
                                    <p:anim calcmode="lin" valueType="num">
                                      <p:cBhvr>
                                        <p:cTn id="27" dur="500" fill="hold"/>
                                        <p:tgtEl>
                                          <p:spTgt spid="24"/>
                                        </p:tgtEl>
                                        <p:attrNameLst>
                                          <p:attrName>ppt_h</p:attrName>
                                        </p:attrNameLst>
                                      </p:cBhvr>
                                      <p:tavLst>
                                        <p:tav tm="0">
                                          <p:val>
                                            <p:fltVal val="0"/>
                                          </p:val>
                                        </p:tav>
                                        <p:tav tm="100000">
                                          <p:val>
                                            <p:strVal val="#ppt_h"/>
                                          </p:val>
                                        </p:tav>
                                      </p:tavLst>
                                    </p:anim>
                                    <p:animEffect transition="in" filter="fade">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p:cTn id="33" dur="500" fill="hold"/>
                                        <p:tgtEl>
                                          <p:spTgt spid="25"/>
                                        </p:tgtEl>
                                        <p:attrNameLst>
                                          <p:attrName>ppt_w</p:attrName>
                                        </p:attrNameLst>
                                      </p:cBhvr>
                                      <p:tavLst>
                                        <p:tav tm="0">
                                          <p:val>
                                            <p:fltVal val="0"/>
                                          </p:val>
                                        </p:tav>
                                        <p:tav tm="100000">
                                          <p:val>
                                            <p:strVal val="#ppt_w"/>
                                          </p:val>
                                        </p:tav>
                                      </p:tavLst>
                                    </p:anim>
                                    <p:anim calcmode="lin" valueType="num">
                                      <p:cBhvr>
                                        <p:cTn id="34" dur="500" fill="hold"/>
                                        <p:tgtEl>
                                          <p:spTgt spid="25"/>
                                        </p:tgtEl>
                                        <p:attrNameLst>
                                          <p:attrName>ppt_h</p:attrName>
                                        </p:attrNameLst>
                                      </p:cBhvr>
                                      <p:tavLst>
                                        <p:tav tm="0">
                                          <p:val>
                                            <p:fltVal val="0"/>
                                          </p:val>
                                        </p:tav>
                                        <p:tav tm="100000">
                                          <p:val>
                                            <p:strVal val="#ppt_h"/>
                                          </p:val>
                                        </p:tav>
                                      </p:tavLst>
                                    </p:anim>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Agrupar 24">
            <a:extLst>
              <a:ext uri="{FF2B5EF4-FFF2-40B4-BE49-F238E27FC236}">
                <a16:creationId xmlns:a16="http://schemas.microsoft.com/office/drawing/2014/main" id="{D01B5591-385F-4497-A972-7E71F6FCF29D}"/>
              </a:ext>
            </a:extLst>
          </p:cNvPr>
          <p:cNvGrpSpPr/>
          <p:nvPr/>
        </p:nvGrpSpPr>
        <p:grpSpPr>
          <a:xfrm>
            <a:off x="2188668" y="2026343"/>
            <a:ext cx="4618882" cy="4618882"/>
            <a:chOff x="2307527" y="2135142"/>
            <a:chExt cx="4618882" cy="4618882"/>
          </a:xfrm>
        </p:grpSpPr>
        <p:sp>
          <p:nvSpPr>
            <p:cNvPr id="2" name="Elipse 1">
              <a:extLst>
                <a:ext uri="{FF2B5EF4-FFF2-40B4-BE49-F238E27FC236}">
                  <a16:creationId xmlns:a16="http://schemas.microsoft.com/office/drawing/2014/main" id="{F15F7964-72E6-412B-ABB9-A806DFCDB0BA}"/>
                </a:ext>
              </a:extLst>
            </p:cNvPr>
            <p:cNvSpPr/>
            <p:nvPr/>
          </p:nvSpPr>
          <p:spPr>
            <a:xfrm>
              <a:off x="2307527" y="2135142"/>
              <a:ext cx="4618882" cy="4618882"/>
            </a:xfrm>
            <a:prstGeom prst="ellipse">
              <a:avLst/>
            </a:prstGeom>
            <a:solidFill>
              <a:schemeClr val="bg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0" name="CaixaDeTexto 19">
              <a:extLst>
                <a:ext uri="{FF2B5EF4-FFF2-40B4-BE49-F238E27FC236}">
                  <a16:creationId xmlns:a16="http://schemas.microsoft.com/office/drawing/2014/main" id="{F872BA41-56C7-411A-82EB-A759F6A76D75}"/>
                </a:ext>
              </a:extLst>
            </p:cNvPr>
            <p:cNvSpPr txBox="1"/>
            <p:nvPr/>
          </p:nvSpPr>
          <p:spPr>
            <a:xfrm>
              <a:off x="2628577" y="2438572"/>
              <a:ext cx="3976781" cy="3482541"/>
            </a:xfrm>
            <a:prstGeom prst="rect">
              <a:avLst/>
            </a:prstGeom>
            <a:noFill/>
          </p:spPr>
          <p:txBody>
            <a:bodyPr wrap="none" rtlCol="0">
              <a:prstTxWarp prst="textArchUp">
                <a:avLst>
                  <a:gd name="adj" fmla="val 11395994"/>
                </a:avLst>
              </a:prstTxWarp>
              <a:spAutoFit/>
            </a:bodyPr>
            <a:lstStyle/>
            <a:p>
              <a:pPr algn="ctr"/>
              <a:r>
                <a:rPr lang="pt-BR" sz="1050" b="1" dirty="0"/>
                <a:t>PRODUTO POTENCIAL</a:t>
              </a:r>
            </a:p>
          </p:txBody>
        </p:sp>
      </p:grpSp>
      <p:grpSp>
        <p:nvGrpSpPr>
          <p:cNvPr id="24" name="Agrupar 23">
            <a:extLst>
              <a:ext uri="{FF2B5EF4-FFF2-40B4-BE49-F238E27FC236}">
                <a16:creationId xmlns:a16="http://schemas.microsoft.com/office/drawing/2014/main" id="{78B6A040-8AB3-4A9D-9EC0-BFAAAED9EEF8}"/>
              </a:ext>
            </a:extLst>
          </p:cNvPr>
          <p:cNvGrpSpPr/>
          <p:nvPr/>
        </p:nvGrpSpPr>
        <p:grpSpPr>
          <a:xfrm>
            <a:off x="2676804" y="2514479"/>
            <a:ext cx="3642610" cy="3642610"/>
            <a:chOff x="2795663" y="2623278"/>
            <a:chExt cx="3642610" cy="3642610"/>
          </a:xfrm>
        </p:grpSpPr>
        <p:sp>
          <p:nvSpPr>
            <p:cNvPr id="7" name="Elipse 6">
              <a:extLst>
                <a:ext uri="{FF2B5EF4-FFF2-40B4-BE49-F238E27FC236}">
                  <a16:creationId xmlns:a16="http://schemas.microsoft.com/office/drawing/2014/main" id="{05F5868C-683E-492F-B6BF-02990C2BD20F}"/>
                </a:ext>
              </a:extLst>
            </p:cNvPr>
            <p:cNvSpPr/>
            <p:nvPr/>
          </p:nvSpPr>
          <p:spPr>
            <a:xfrm>
              <a:off x="2795663" y="2623278"/>
              <a:ext cx="3642610" cy="3642610"/>
            </a:xfrm>
            <a:prstGeom prst="ellips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CaixaDeTexto 18">
              <a:extLst>
                <a:ext uri="{FF2B5EF4-FFF2-40B4-BE49-F238E27FC236}">
                  <a16:creationId xmlns:a16="http://schemas.microsoft.com/office/drawing/2014/main" id="{57461D6C-B787-42ED-95FA-93BE45C842FE}"/>
                </a:ext>
              </a:extLst>
            </p:cNvPr>
            <p:cNvSpPr txBox="1"/>
            <p:nvPr/>
          </p:nvSpPr>
          <p:spPr>
            <a:xfrm>
              <a:off x="3151382" y="2915706"/>
              <a:ext cx="2964602" cy="2747584"/>
            </a:xfrm>
            <a:prstGeom prst="rect">
              <a:avLst/>
            </a:prstGeom>
            <a:noFill/>
          </p:spPr>
          <p:txBody>
            <a:bodyPr wrap="none" rtlCol="0">
              <a:prstTxWarp prst="textArchUp">
                <a:avLst>
                  <a:gd name="adj" fmla="val 11395994"/>
                </a:avLst>
              </a:prstTxWarp>
              <a:spAutoFit/>
            </a:bodyPr>
            <a:lstStyle/>
            <a:p>
              <a:pPr algn="ctr"/>
              <a:r>
                <a:rPr lang="pt-BR" sz="1050" b="1" dirty="0"/>
                <a:t>PRODUTO AMPLIADO</a:t>
              </a:r>
            </a:p>
          </p:txBody>
        </p:sp>
      </p:grpSp>
      <p:grpSp>
        <p:nvGrpSpPr>
          <p:cNvPr id="23" name="Agrupar 22">
            <a:extLst>
              <a:ext uri="{FF2B5EF4-FFF2-40B4-BE49-F238E27FC236}">
                <a16:creationId xmlns:a16="http://schemas.microsoft.com/office/drawing/2014/main" id="{B651A922-7F2F-4822-A948-E8CF5B4E57C6}"/>
              </a:ext>
            </a:extLst>
          </p:cNvPr>
          <p:cNvGrpSpPr/>
          <p:nvPr/>
        </p:nvGrpSpPr>
        <p:grpSpPr>
          <a:xfrm>
            <a:off x="3171480" y="3009155"/>
            <a:ext cx="2653258" cy="2653258"/>
            <a:chOff x="3290339" y="3117954"/>
            <a:chExt cx="2653258" cy="2653258"/>
          </a:xfrm>
        </p:grpSpPr>
        <p:sp>
          <p:nvSpPr>
            <p:cNvPr id="8" name="Elipse 7">
              <a:extLst>
                <a:ext uri="{FF2B5EF4-FFF2-40B4-BE49-F238E27FC236}">
                  <a16:creationId xmlns:a16="http://schemas.microsoft.com/office/drawing/2014/main" id="{717E1B07-7A1C-45E9-8716-7D5C8D2376F4}"/>
                </a:ext>
              </a:extLst>
            </p:cNvPr>
            <p:cNvSpPr/>
            <p:nvPr/>
          </p:nvSpPr>
          <p:spPr>
            <a:xfrm>
              <a:off x="3290339" y="3117954"/>
              <a:ext cx="2653258" cy="2653258"/>
            </a:xfrm>
            <a:prstGeom prst="ellipse">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9A468DC6-874D-496B-A4E3-C5591D5ED15D}"/>
                </a:ext>
              </a:extLst>
            </p:cNvPr>
            <p:cNvSpPr txBox="1"/>
            <p:nvPr/>
          </p:nvSpPr>
          <p:spPr>
            <a:xfrm>
              <a:off x="3515085" y="3408986"/>
              <a:ext cx="2237196" cy="2073426"/>
            </a:xfrm>
            <a:prstGeom prst="rect">
              <a:avLst/>
            </a:prstGeom>
            <a:noFill/>
          </p:spPr>
          <p:txBody>
            <a:bodyPr wrap="none" rtlCol="0">
              <a:prstTxWarp prst="textArchUp">
                <a:avLst>
                  <a:gd name="adj" fmla="val 11395994"/>
                </a:avLst>
              </a:prstTxWarp>
              <a:spAutoFit/>
            </a:bodyPr>
            <a:lstStyle/>
            <a:p>
              <a:pPr algn="ctr"/>
              <a:r>
                <a:rPr lang="pt-BR" sz="1050" b="1" dirty="0"/>
                <a:t>PRODUTO ESPERADO</a:t>
              </a:r>
            </a:p>
          </p:txBody>
        </p:sp>
      </p:grpSp>
      <p:grpSp>
        <p:nvGrpSpPr>
          <p:cNvPr id="22" name="Agrupar 21">
            <a:extLst>
              <a:ext uri="{FF2B5EF4-FFF2-40B4-BE49-F238E27FC236}">
                <a16:creationId xmlns:a16="http://schemas.microsoft.com/office/drawing/2014/main" id="{57DB4088-4323-4C3D-9275-AF8CB6388F35}"/>
              </a:ext>
            </a:extLst>
          </p:cNvPr>
          <p:cNvGrpSpPr/>
          <p:nvPr/>
        </p:nvGrpSpPr>
        <p:grpSpPr>
          <a:xfrm>
            <a:off x="3666155" y="3503830"/>
            <a:ext cx="1663908" cy="1663908"/>
            <a:chOff x="3785014" y="3612629"/>
            <a:chExt cx="1663908" cy="1663908"/>
          </a:xfrm>
        </p:grpSpPr>
        <p:sp>
          <p:nvSpPr>
            <p:cNvPr id="9" name="Elipse 8">
              <a:extLst>
                <a:ext uri="{FF2B5EF4-FFF2-40B4-BE49-F238E27FC236}">
                  <a16:creationId xmlns:a16="http://schemas.microsoft.com/office/drawing/2014/main" id="{D077EA72-73AD-467C-B597-43B899D4BB4F}"/>
                </a:ext>
              </a:extLst>
            </p:cNvPr>
            <p:cNvSpPr/>
            <p:nvPr/>
          </p:nvSpPr>
          <p:spPr>
            <a:xfrm>
              <a:off x="3785014" y="3612629"/>
              <a:ext cx="1663908" cy="1663908"/>
            </a:xfrm>
            <a:prstGeom prst="ellipse">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CaixaDeTexto 16">
              <a:extLst>
                <a:ext uri="{FF2B5EF4-FFF2-40B4-BE49-F238E27FC236}">
                  <a16:creationId xmlns:a16="http://schemas.microsoft.com/office/drawing/2014/main" id="{83C4064A-5F8C-401C-AE3C-E02F394723B6}"/>
                </a:ext>
              </a:extLst>
            </p:cNvPr>
            <p:cNvSpPr txBox="1"/>
            <p:nvPr/>
          </p:nvSpPr>
          <p:spPr>
            <a:xfrm>
              <a:off x="4047341" y="3840475"/>
              <a:ext cx="1172684" cy="1173542"/>
            </a:xfrm>
            <a:prstGeom prst="rect">
              <a:avLst/>
            </a:prstGeom>
            <a:noFill/>
          </p:spPr>
          <p:txBody>
            <a:bodyPr wrap="none" rtlCol="0">
              <a:prstTxWarp prst="textArchUp">
                <a:avLst/>
              </a:prstTxWarp>
              <a:spAutoFit/>
            </a:bodyPr>
            <a:lstStyle/>
            <a:p>
              <a:pPr algn="ctr"/>
              <a:r>
                <a:rPr lang="pt-BR" sz="1050" b="1" dirty="0"/>
                <a:t>PRODUTO BÁSICO</a:t>
              </a:r>
            </a:p>
          </p:txBody>
        </p:sp>
      </p:grpSp>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11</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6361742" cy="523220"/>
          </a:xfrm>
          <a:prstGeom prst="rect">
            <a:avLst/>
          </a:prstGeom>
          <a:solidFill>
            <a:schemeClr val="bg1"/>
          </a:solidFill>
        </p:spPr>
        <p:txBody>
          <a:bodyPr wrap="none">
            <a:spAutoFit/>
          </a:bodyPr>
          <a:lstStyle/>
          <a:p>
            <a:pPr lvl="0">
              <a:defRPr/>
            </a:pPr>
            <a:r>
              <a:rPr lang="pt-BR" sz="2800" b="1" cap="all" dirty="0">
                <a:solidFill>
                  <a:prstClr val="black"/>
                </a:solidFill>
              </a:rPr>
              <a:t>Os Níveis de um PRODUTO ou serviço </a:t>
            </a:r>
          </a:p>
        </p:txBody>
      </p:sp>
      <p:grpSp>
        <p:nvGrpSpPr>
          <p:cNvPr id="21" name="Agrupar 20">
            <a:extLst>
              <a:ext uri="{FF2B5EF4-FFF2-40B4-BE49-F238E27FC236}">
                <a16:creationId xmlns:a16="http://schemas.microsoft.com/office/drawing/2014/main" id="{598663B9-C4B3-4325-B42C-CFB0F7815A57}"/>
              </a:ext>
            </a:extLst>
          </p:cNvPr>
          <p:cNvGrpSpPr/>
          <p:nvPr/>
        </p:nvGrpSpPr>
        <p:grpSpPr>
          <a:xfrm>
            <a:off x="4085880" y="3923555"/>
            <a:ext cx="824458" cy="824458"/>
            <a:chOff x="4204739" y="4032354"/>
            <a:chExt cx="824458" cy="824458"/>
          </a:xfrm>
        </p:grpSpPr>
        <p:sp>
          <p:nvSpPr>
            <p:cNvPr id="10" name="Elipse 9">
              <a:extLst>
                <a:ext uri="{FF2B5EF4-FFF2-40B4-BE49-F238E27FC236}">
                  <a16:creationId xmlns:a16="http://schemas.microsoft.com/office/drawing/2014/main" id="{6A5B19DA-60F1-48E4-8193-7DC4F00BCCF1}"/>
                </a:ext>
              </a:extLst>
            </p:cNvPr>
            <p:cNvSpPr/>
            <p:nvPr/>
          </p:nvSpPr>
          <p:spPr>
            <a:xfrm>
              <a:off x="4204739" y="4032354"/>
              <a:ext cx="824458" cy="824458"/>
            </a:xfrm>
            <a:prstGeom prst="ellipse">
              <a:avLst/>
            </a:prstGeom>
            <a:solidFill>
              <a:srgbClr val="FFFF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700" b="1" dirty="0">
                <a:solidFill>
                  <a:schemeClr val="tx1"/>
                </a:solidFill>
              </a:endParaRPr>
            </a:p>
          </p:txBody>
        </p:sp>
        <p:sp>
          <p:nvSpPr>
            <p:cNvPr id="3" name="Retângulo 2">
              <a:extLst>
                <a:ext uri="{FF2B5EF4-FFF2-40B4-BE49-F238E27FC236}">
                  <a16:creationId xmlns:a16="http://schemas.microsoft.com/office/drawing/2014/main" id="{3DCF5381-519E-45F3-9634-1D8C9F0B6B2C}"/>
                </a:ext>
              </a:extLst>
            </p:cNvPr>
            <p:cNvSpPr/>
            <p:nvPr/>
          </p:nvSpPr>
          <p:spPr>
            <a:xfrm>
              <a:off x="4238169" y="4244528"/>
              <a:ext cx="791028" cy="400110"/>
            </a:xfrm>
            <a:prstGeom prst="rect">
              <a:avLst/>
            </a:prstGeom>
          </p:spPr>
          <p:txBody>
            <a:bodyPr wrap="square">
              <a:spAutoFit/>
            </a:bodyPr>
            <a:lstStyle/>
            <a:p>
              <a:pPr algn="ctr"/>
              <a:r>
                <a:rPr lang="pt-BR" sz="1000" b="1" dirty="0"/>
                <a:t>BENEFÍCIO CENTRAL</a:t>
              </a:r>
            </a:p>
          </p:txBody>
        </p:sp>
      </p:grpSp>
      <p:sp>
        <p:nvSpPr>
          <p:cNvPr id="6" name="Retângulo: Cantos Arredondados 5">
            <a:extLst>
              <a:ext uri="{FF2B5EF4-FFF2-40B4-BE49-F238E27FC236}">
                <a16:creationId xmlns:a16="http://schemas.microsoft.com/office/drawing/2014/main" id="{02D0D4DB-01B8-09C3-8F44-DAC4C637B876}"/>
              </a:ext>
            </a:extLst>
          </p:cNvPr>
          <p:cNvSpPr/>
          <p:nvPr/>
        </p:nvSpPr>
        <p:spPr>
          <a:xfrm>
            <a:off x="390519" y="2161310"/>
            <a:ext cx="1514112" cy="928278"/>
          </a:xfrm>
          <a:prstGeom prst="roundRect">
            <a:avLst>
              <a:gd name="adj" fmla="val 8673"/>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200" cap="small" dirty="0">
                <a:solidFill>
                  <a:schemeClr val="tx1"/>
                </a:solidFill>
              </a:rPr>
              <a:t>Objetivo do produto ou serviço:</a:t>
            </a:r>
          </a:p>
          <a:p>
            <a:pPr algn="ctr"/>
            <a:r>
              <a:rPr lang="pt-BR" sz="1200" cap="small" dirty="0">
                <a:solidFill>
                  <a:srgbClr val="C00000"/>
                </a:solidFill>
              </a:rPr>
              <a:t>Hospedagem</a:t>
            </a:r>
          </a:p>
          <a:p>
            <a:pPr algn="ctr"/>
            <a:r>
              <a:rPr lang="pt-BR" sz="1200" cap="small" dirty="0">
                <a:solidFill>
                  <a:srgbClr val="C00000"/>
                </a:solidFill>
              </a:rPr>
              <a:t>(pernoite e higiene)</a:t>
            </a:r>
          </a:p>
        </p:txBody>
      </p:sp>
      <p:cxnSp>
        <p:nvCxnSpPr>
          <p:cNvPr id="12" name="Conector de Seta Reta 11">
            <a:extLst>
              <a:ext uri="{FF2B5EF4-FFF2-40B4-BE49-F238E27FC236}">
                <a16:creationId xmlns:a16="http://schemas.microsoft.com/office/drawing/2014/main" id="{58FBCF6A-6E7E-DE26-6D13-2587F4704D61}"/>
              </a:ext>
            </a:extLst>
          </p:cNvPr>
          <p:cNvCxnSpPr>
            <a:cxnSpLocks/>
            <a:endCxn id="6" idx="3"/>
          </p:cNvCxnSpPr>
          <p:nvPr/>
        </p:nvCxnSpPr>
        <p:spPr>
          <a:xfrm flipH="1" flipV="1">
            <a:off x="1904631" y="2625449"/>
            <a:ext cx="2214679" cy="1552681"/>
          </a:xfrm>
          <a:prstGeom prst="straightConnector1">
            <a:avLst/>
          </a:prstGeom>
          <a:ln>
            <a:solidFill>
              <a:srgbClr val="FF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9" name="Retângulo: Cantos Arredondados 28">
            <a:extLst>
              <a:ext uri="{FF2B5EF4-FFF2-40B4-BE49-F238E27FC236}">
                <a16:creationId xmlns:a16="http://schemas.microsoft.com/office/drawing/2014/main" id="{AB00990A-A573-C0F6-E007-F29C1D138999}"/>
              </a:ext>
            </a:extLst>
          </p:cNvPr>
          <p:cNvSpPr/>
          <p:nvPr/>
        </p:nvSpPr>
        <p:spPr>
          <a:xfrm>
            <a:off x="390519" y="3992174"/>
            <a:ext cx="1401502" cy="668626"/>
          </a:xfrm>
          <a:prstGeom prst="roundRect">
            <a:avLst>
              <a:gd name="adj" fmla="val 8673"/>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200" cap="small" dirty="0">
                <a:solidFill>
                  <a:schemeClr val="tx1"/>
                </a:solidFill>
              </a:rPr>
              <a:t>Viabiliza o benefício central: </a:t>
            </a:r>
          </a:p>
          <a:p>
            <a:pPr algn="ctr"/>
            <a:r>
              <a:rPr lang="pt-BR" sz="1200" cap="small" dirty="0">
                <a:solidFill>
                  <a:srgbClr val="C00000"/>
                </a:solidFill>
              </a:rPr>
              <a:t>Cama e banheiro</a:t>
            </a:r>
          </a:p>
        </p:txBody>
      </p:sp>
      <p:cxnSp>
        <p:nvCxnSpPr>
          <p:cNvPr id="30" name="Conector de Seta Reta 29">
            <a:extLst>
              <a:ext uri="{FF2B5EF4-FFF2-40B4-BE49-F238E27FC236}">
                <a16:creationId xmlns:a16="http://schemas.microsoft.com/office/drawing/2014/main" id="{764D6718-007B-4C82-9A8C-C1D8F31CB890}"/>
              </a:ext>
            </a:extLst>
          </p:cNvPr>
          <p:cNvCxnSpPr>
            <a:cxnSpLocks/>
            <a:stCxn id="9" idx="2"/>
            <a:endCxn id="29" idx="3"/>
          </p:cNvCxnSpPr>
          <p:nvPr/>
        </p:nvCxnSpPr>
        <p:spPr>
          <a:xfrm flipH="1" flipV="1">
            <a:off x="1792021" y="4326487"/>
            <a:ext cx="1874134" cy="9297"/>
          </a:xfrm>
          <a:prstGeom prst="straightConnector1">
            <a:avLst/>
          </a:prstGeom>
          <a:ln>
            <a:solidFill>
              <a:srgbClr val="FF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9" name="Retângulo: Cantos Arredondados 38">
            <a:extLst>
              <a:ext uri="{FF2B5EF4-FFF2-40B4-BE49-F238E27FC236}">
                <a16:creationId xmlns:a16="http://schemas.microsoft.com/office/drawing/2014/main" id="{78BF7E20-CEEF-DECC-1173-5376C2572B6F}"/>
              </a:ext>
            </a:extLst>
          </p:cNvPr>
          <p:cNvSpPr/>
          <p:nvPr/>
        </p:nvSpPr>
        <p:spPr>
          <a:xfrm>
            <a:off x="411688" y="5133669"/>
            <a:ext cx="1815424" cy="1502259"/>
          </a:xfrm>
          <a:prstGeom prst="roundRect">
            <a:avLst>
              <a:gd name="adj" fmla="val 8673"/>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200" cap="small" dirty="0">
                <a:solidFill>
                  <a:schemeClr val="tx1"/>
                </a:solidFill>
              </a:rPr>
              <a:t>equipara sua oferta com a concorrência: </a:t>
            </a:r>
          </a:p>
          <a:p>
            <a:pPr algn="ctr"/>
            <a:r>
              <a:rPr lang="pt-BR" sz="1200" cap="small" dirty="0">
                <a:solidFill>
                  <a:srgbClr val="C00000"/>
                </a:solidFill>
              </a:rPr>
              <a:t>Quarto individual, Roupa de cama, arrumação, produtos de higiene básica, TV, frigobar, café da manhã</a:t>
            </a:r>
          </a:p>
        </p:txBody>
      </p:sp>
      <p:cxnSp>
        <p:nvCxnSpPr>
          <p:cNvPr id="40" name="Conector de Seta Reta 39">
            <a:extLst>
              <a:ext uri="{FF2B5EF4-FFF2-40B4-BE49-F238E27FC236}">
                <a16:creationId xmlns:a16="http://schemas.microsoft.com/office/drawing/2014/main" id="{59CAEDA8-99EE-227E-0BA8-8AE80AFE0059}"/>
              </a:ext>
            </a:extLst>
          </p:cNvPr>
          <p:cNvCxnSpPr>
            <a:cxnSpLocks/>
            <a:endCxn id="39" idx="3"/>
          </p:cNvCxnSpPr>
          <p:nvPr/>
        </p:nvCxnSpPr>
        <p:spPr>
          <a:xfrm flipH="1">
            <a:off x="2227112" y="5133669"/>
            <a:ext cx="1169114" cy="751130"/>
          </a:xfrm>
          <a:prstGeom prst="straightConnector1">
            <a:avLst/>
          </a:prstGeom>
          <a:ln>
            <a:solidFill>
              <a:srgbClr val="FF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0" name="Retângulo: Cantos Arredondados 49">
            <a:extLst>
              <a:ext uri="{FF2B5EF4-FFF2-40B4-BE49-F238E27FC236}">
                <a16:creationId xmlns:a16="http://schemas.microsoft.com/office/drawing/2014/main" id="{40D8CF7D-5AA0-A127-FCF4-FFBC97260C41}"/>
              </a:ext>
            </a:extLst>
          </p:cNvPr>
          <p:cNvSpPr/>
          <p:nvPr/>
        </p:nvSpPr>
        <p:spPr>
          <a:xfrm>
            <a:off x="7077479" y="2514478"/>
            <a:ext cx="1815424" cy="1217197"/>
          </a:xfrm>
          <a:prstGeom prst="roundRect">
            <a:avLst>
              <a:gd name="adj" fmla="val 8673"/>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200" cap="small" dirty="0">
                <a:solidFill>
                  <a:schemeClr val="tx1"/>
                </a:solidFill>
              </a:rPr>
              <a:t>Cria seus diferenciais:</a:t>
            </a:r>
          </a:p>
          <a:p>
            <a:pPr algn="ctr"/>
            <a:r>
              <a:rPr lang="pt-BR" sz="1200" cap="small" dirty="0">
                <a:solidFill>
                  <a:srgbClr val="C00000"/>
                </a:solidFill>
              </a:rPr>
              <a:t>Canais por assinatura, produtos de higiene de marca, produtos no frigobar, serviço de quarto 24h...</a:t>
            </a:r>
          </a:p>
        </p:txBody>
      </p:sp>
      <p:sp>
        <p:nvSpPr>
          <p:cNvPr id="51" name="CaixaDeTexto 50">
            <a:extLst>
              <a:ext uri="{FF2B5EF4-FFF2-40B4-BE49-F238E27FC236}">
                <a16:creationId xmlns:a16="http://schemas.microsoft.com/office/drawing/2014/main" id="{EF160647-E3D8-B65A-8680-81A48894AD14}"/>
              </a:ext>
            </a:extLst>
          </p:cNvPr>
          <p:cNvSpPr txBox="1"/>
          <p:nvPr/>
        </p:nvSpPr>
        <p:spPr>
          <a:xfrm>
            <a:off x="2847207" y="1435741"/>
            <a:ext cx="3301801" cy="400110"/>
          </a:xfrm>
          <a:prstGeom prst="rect">
            <a:avLst/>
          </a:prstGeom>
          <a:noFill/>
        </p:spPr>
        <p:txBody>
          <a:bodyPr wrap="none" rtlCol="0">
            <a:spAutoFit/>
          </a:bodyPr>
          <a:lstStyle/>
          <a:p>
            <a:r>
              <a:rPr lang="pt-BR" sz="2000" b="1" dirty="0">
                <a:solidFill>
                  <a:srgbClr val="C00000"/>
                </a:solidFill>
              </a:rPr>
              <a:t>EXEMPLO: HOTEL 3 ESTRELAS</a:t>
            </a:r>
          </a:p>
        </p:txBody>
      </p:sp>
      <p:cxnSp>
        <p:nvCxnSpPr>
          <p:cNvPr id="56" name="Conector de Seta Reta 55">
            <a:extLst>
              <a:ext uri="{FF2B5EF4-FFF2-40B4-BE49-F238E27FC236}">
                <a16:creationId xmlns:a16="http://schemas.microsoft.com/office/drawing/2014/main" id="{50FD1DC6-D46C-8B2B-2D0B-B59B0399D25A}"/>
              </a:ext>
            </a:extLst>
          </p:cNvPr>
          <p:cNvCxnSpPr>
            <a:cxnSpLocks/>
            <a:endCxn id="50" idx="1"/>
          </p:cNvCxnSpPr>
          <p:nvPr/>
        </p:nvCxnSpPr>
        <p:spPr>
          <a:xfrm flipV="1">
            <a:off x="6188251" y="3123077"/>
            <a:ext cx="889228" cy="448781"/>
          </a:xfrm>
          <a:prstGeom prst="straightConnector1">
            <a:avLst/>
          </a:prstGeom>
          <a:ln>
            <a:solidFill>
              <a:srgbClr val="FF000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67" name="Retângulo: Cantos Arredondados 66">
            <a:extLst>
              <a:ext uri="{FF2B5EF4-FFF2-40B4-BE49-F238E27FC236}">
                <a16:creationId xmlns:a16="http://schemas.microsoft.com/office/drawing/2014/main" id="{F483BA23-F85A-C8F1-6CC3-5DFBB5915937}"/>
              </a:ext>
            </a:extLst>
          </p:cNvPr>
          <p:cNvSpPr/>
          <p:nvPr/>
        </p:nvSpPr>
        <p:spPr>
          <a:xfrm>
            <a:off x="7257242" y="4535840"/>
            <a:ext cx="1815424" cy="1431500"/>
          </a:xfrm>
          <a:prstGeom prst="roundRect">
            <a:avLst>
              <a:gd name="adj" fmla="val 8673"/>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100" cap="small" dirty="0">
                <a:solidFill>
                  <a:schemeClr val="tx1"/>
                </a:solidFill>
              </a:rPr>
              <a:t>Extras que podem ser contratados, ou expansões previstas para o futuro:</a:t>
            </a:r>
          </a:p>
          <a:p>
            <a:pPr algn="ctr"/>
            <a:r>
              <a:rPr lang="pt-BR" sz="1100" cap="small" dirty="0">
                <a:solidFill>
                  <a:srgbClr val="C00000"/>
                </a:solidFill>
              </a:rPr>
              <a:t>Café da manhã no quarto, SPA, transporte, restaurante, eventos especiais ..</a:t>
            </a:r>
          </a:p>
        </p:txBody>
      </p:sp>
      <p:cxnSp>
        <p:nvCxnSpPr>
          <p:cNvPr id="68" name="Conector de Seta Reta 67">
            <a:extLst>
              <a:ext uri="{FF2B5EF4-FFF2-40B4-BE49-F238E27FC236}">
                <a16:creationId xmlns:a16="http://schemas.microsoft.com/office/drawing/2014/main" id="{F9E9B722-8C30-1A65-F46F-C91977A47E62}"/>
              </a:ext>
            </a:extLst>
          </p:cNvPr>
          <p:cNvCxnSpPr>
            <a:cxnSpLocks/>
            <a:endCxn id="67" idx="1"/>
          </p:cNvCxnSpPr>
          <p:nvPr/>
        </p:nvCxnSpPr>
        <p:spPr>
          <a:xfrm>
            <a:off x="6691377" y="5133669"/>
            <a:ext cx="565865" cy="117921"/>
          </a:xfrm>
          <a:prstGeom prst="straightConnector1">
            <a:avLst/>
          </a:prstGeom>
          <a:ln>
            <a:solidFill>
              <a:srgbClr val="FF0000"/>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206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bg/>
                                          </p:spTgt>
                                        </p:tgtEl>
                                        <p:attrNameLst>
                                          <p:attrName>style.visibility</p:attrName>
                                        </p:attrNameLst>
                                      </p:cBhvr>
                                      <p:to>
                                        <p:strVal val="visible"/>
                                      </p:to>
                                    </p:set>
                                    <p:animEffect transition="in" filter="fade">
                                      <p:cBhvr>
                                        <p:cTn id="14" dur="500"/>
                                        <p:tgtEl>
                                          <p:spTgt spid="6">
                                            <p:bg/>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fade">
                                      <p:cBhvr>
                                        <p:cTn id="27" dur="500"/>
                                        <p:tgtEl>
                                          <p:spTgt spid="6">
                                            <p:txEl>
                                              <p:pRg st="1" end="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500"/>
                                        <p:tgtEl>
                                          <p:spTgt spid="6">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p:cTn id="35" dur="500" fill="hold"/>
                                        <p:tgtEl>
                                          <p:spTgt spid="22"/>
                                        </p:tgtEl>
                                        <p:attrNameLst>
                                          <p:attrName>ppt_w</p:attrName>
                                        </p:attrNameLst>
                                      </p:cBhvr>
                                      <p:tavLst>
                                        <p:tav tm="0">
                                          <p:val>
                                            <p:fltVal val="0"/>
                                          </p:val>
                                        </p:tav>
                                        <p:tav tm="100000">
                                          <p:val>
                                            <p:strVal val="#ppt_w"/>
                                          </p:val>
                                        </p:tav>
                                      </p:tavLst>
                                    </p:anim>
                                    <p:anim calcmode="lin" valueType="num">
                                      <p:cBhvr>
                                        <p:cTn id="36" dur="500" fill="hold"/>
                                        <p:tgtEl>
                                          <p:spTgt spid="22"/>
                                        </p:tgtEl>
                                        <p:attrNameLst>
                                          <p:attrName>ppt_h</p:attrName>
                                        </p:attrNameLst>
                                      </p:cBhvr>
                                      <p:tavLst>
                                        <p:tav tm="0">
                                          <p:val>
                                            <p:fltVal val="0"/>
                                          </p:val>
                                        </p:tav>
                                        <p:tav tm="100000">
                                          <p:val>
                                            <p:strVal val="#ppt_h"/>
                                          </p:val>
                                        </p:tav>
                                      </p:tavLst>
                                    </p:anim>
                                    <p:animEffect transition="in" filter="fade">
                                      <p:cBhvr>
                                        <p:cTn id="37" dur="500"/>
                                        <p:tgtEl>
                                          <p:spTgt spid="22"/>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9">
                                            <p:bg/>
                                          </p:spTgt>
                                        </p:tgtEl>
                                        <p:attrNameLst>
                                          <p:attrName>style.visibility</p:attrName>
                                        </p:attrNameLst>
                                      </p:cBhvr>
                                      <p:to>
                                        <p:strVal val="visible"/>
                                      </p:to>
                                    </p:set>
                                    <p:animEffect transition="in" filter="fade">
                                      <p:cBhvr>
                                        <p:cTn id="44" dur="500"/>
                                        <p:tgtEl>
                                          <p:spTgt spid="29">
                                            <p:bg/>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xEl>
                                              <p:pRg st="0" end="0"/>
                                            </p:txEl>
                                          </p:spTgt>
                                        </p:tgtEl>
                                        <p:attrNameLst>
                                          <p:attrName>style.visibility</p:attrName>
                                        </p:attrNameLst>
                                      </p:cBhvr>
                                      <p:to>
                                        <p:strVal val="visible"/>
                                      </p:to>
                                    </p:set>
                                    <p:animEffect transition="in" filter="fade">
                                      <p:cBhvr>
                                        <p:cTn id="47" dur="500"/>
                                        <p:tgtEl>
                                          <p:spTgt spid="2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9">
                                            <p:txEl>
                                              <p:pRg st="1" end="1"/>
                                            </p:txEl>
                                          </p:spTgt>
                                        </p:tgtEl>
                                        <p:attrNameLst>
                                          <p:attrName>style.visibility</p:attrName>
                                        </p:attrNameLst>
                                      </p:cBhvr>
                                      <p:to>
                                        <p:strVal val="visible"/>
                                      </p:to>
                                    </p:set>
                                    <p:animEffect transition="in" filter="fade">
                                      <p:cBhvr>
                                        <p:cTn id="52" dur="500"/>
                                        <p:tgtEl>
                                          <p:spTgt spid="29">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animEffect transition="in" filter="fade">
                                      <p:cBhvr>
                                        <p:cTn id="59" dur="500"/>
                                        <p:tgtEl>
                                          <p:spTgt spid="23"/>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50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bg/>
                                          </p:spTgt>
                                        </p:tgtEl>
                                        <p:attrNameLst>
                                          <p:attrName>style.visibility</p:attrName>
                                        </p:attrNameLst>
                                      </p:cBhvr>
                                      <p:to>
                                        <p:strVal val="visible"/>
                                      </p:to>
                                    </p:set>
                                    <p:animEffect transition="in" filter="fade">
                                      <p:cBhvr>
                                        <p:cTn id="66" dur="500"/>
                                        <p:tgtEl>
                                          <p:spTgt spid="39">
                                            <p:bg/>
                                          </p:spTgt>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xEl>
                                              <p:pRg st="0" end="0"/>
                                            </p:txEl>
                                          </p:spTgt>
                                        </p:tgtEl>
                                        <p:attrNameLst>
                                          <p:attrName>style.visibility</p:attrName>
                                        </p:attrNameLst>
                                      </p:cBhvr>
                                      <p:to>
                                        <p:strVal val="visible"/>
                                      </p:to>
                                    </p:set>
                                    <p:animEffect transition="in" filter="fade">
                                      <p:cBhvr>
                                        <p:cTn id="69" dur="500"/>
                                        <p:tgtEl>
                                          <p:spTgt spid="39">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9">
                                            <p:txEl>
                                              <p:pRg st="1" end="1"/>
                                            </p:txEl>
                                          </p:spTgt>
                                        </p:tgtEl>
                                        <p:attrNameLst>
                                          <p:attrName>style.visibility</p:attrName>
                                        </p:attrNameLst>
                                      </p:cBhvr>
                                      <p:to>
                                        <p:strVal val="visible"/>
                                      </p:to>
                                    </p:set>
                                    <p:animEffect transition="in" filter="fade">
                                      <p:cBhvr>
                                        <p:cTn id="74" dur="500"/>
                                        <p:tgtEl>
                                          <p:spTgt spid="39">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p:cTn id="79" dur="500" fill="hold"/>
                                        <p:tgtEl>
                                          <p:spTgt spid="24"/>
                                        </p:tgtEl>
                                        <p:attrNameLst>
                                          <p:attrName>ppt_w</p:attrName>
                                        </p:attrNameLst>
                                      </p:cBhvr>
                                      <p:tavLst>
                                        <p:tav tm="0">
                                          <p:val>
                                            <p:fltVal val="0"/>
                                          </p:val>
                                        </p:tav>
                                        <p:tav tm="100000">
                                          <p:val>
                                            <p:strVal val="#ppt_w"/>
                                          </p:val>
                                        </p:tav>
                                      </p:tavLst>
                                    </p:anim>
                                    <p:anim calcmode="lin" valueType="num">
                                      <p:cBhvr>
                                        <p:cTn id="80" dur="500" fill="hold"/>
                                        <p:tgtEl>
                                          <p:spTgt spid="24"/>
                                        </p:tgtEl>
                                        <p:attrNameLst>
                                          <p:attrName>ppt_h</p:attrName>
                                        </p:attrNameLst>
                                      </p:cBhvr>
                                      <p:tavLst>
                                        <p:tav tm="0">
                                          <p:val>
                                            <p:fltVal val="0"/>
                                          </p:val>
                                        </p:tav>
                                        <p:tav tm="100000">
                                          <p:val>
                                            <p:strVal val="#ppt_h"/>
                                          </p:val>
                                        </p:tav>
                                      </p:tavLst>
                                    </p:anim>
                                    <p:animEffect transition="in" filter="fade">
                                      <p:cBhvr>
                                        <p:cTn id="81" dur="500"/>
                                        <p:tgtEl>
                                          <p:spTgt spid="24"/>
                                        </p:tgtEl>
                                      </p:cBhvr>
                                    </p:animEffect>
                                  </p:childTnLst>
                                </p:cTn>
                              </p:par>
                            </p:childTnLst>
                          </p:cTn>
                        </p:par>
                        <p:par>
                          <p:cTn id="82" fill="hold">
                            <p:stCondLst>
                              <p:cond delay="500"/>
                            </p:stCondLst>
                            <p:childTnLst>
                              <p:par>
                                <p:cTn id="83" presetID="10" presetClass="entr" presetSubtype="0" fill="hold" nodeType="afterEffect">
                                  <p:stCondLst>
                                    <p:cond delay="0"/>
                                  </p:stCondLst>
                                  <p:childTnLst>
                                    <p:set>
                                      <p:cBhvr>
                                        <p:cTn id="84" dur="1" fill="hold">
                                          <p:stCondLst>
                                            <p:cond delay="0"/>
                                          </p:stCondLst>
                                        </p:cTn>
                                        <p:tgtEl>
                                          <p:spTgt spid="56"/>
                                        </p:tgtEl>
                                        <p:attrNameLst>
                                          <p:attrName>style.visibility</p:attrName>
                                        </p:attrNameLst>
                                      </p:cBhvr>
                                      <p:to>
                                        <p:strVal val="visible"/>
                                      </p:to>
                                    </p:set>
                                    <p:animEffect transition="in" filter="fade">
                                      <p:cBhvr>
                                        <p:cTn id="85" dur="500"/>
                                        <p:tgtEl>
                                          <p:spTgt spid="5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bg/>
                                          </p:spTgt>
                                        </p:tgtEl>
                                        <p:attrNameLst>
                                          <p:attrName>style.visibility</p:attrName>
                                        </p:attrNameLst>
                                      </p:cBhvr>
                                      <p:to>
                                        <p:strVal val="visible"/>
                                      </p:to>
                                    </p:set>
                                    <p:animEffect transition="in" filter="fade">
                                      <p:cBhvr>
                                        <p:cTn id="88" dur="500"/>
                                        <p:tgtEl>
                                          <p:spTgt spid="50">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0">
                                            <p:txEl>
                                              <p:pRg st="0" end="0"/>
                                            </p:txEl>
                                          </p:spTgt>
                                        </p:tgtEl>
                                        <p:attrNameLst>
                                          <p:attrName>style.visibility</p:attrName>
                                        </p:attrNameLst>
                                      </p:cBhvr>
                                      <p:to>
                                        <p:strVal val="visible"/>
                                      </p:to>
                                    </p:set>
                                    <p:animEffect transition="in" filter="fade">
                                      <p:cBhvr>
                                        <p:cTn id="91" dur="500"/>
                                        <p:tgtEl>
                                          <p:spTgt spid="50">
                                            <p:txEl>
                                              <p:pRg st="0" end="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0">
                                            <p:txEl>
                                              <p:pRg st="1" end="1"/>
                                            </p:txEl>
                                          </p:spTgt>
                                        </p:tgtEl>
                                        <p:attrNameLst>
                                          <p:attrName>style.visibility</p:attrName>
                                        </p:attrNameLst>
                                      </p:cBhvr>
                                      <p:to>
                                        <p:strVal val="visible"/>
                                      </p:to>
                                    </p:set>
                                    <p:animEffect transition="in" filter="fade">
                                      <p:cBhvr>
                                        <p:cTn id="96" dur="500"/>
                                        <p:tgtEl>
                                          <p:spTgt spid="50">
                                            <p:txEl>
                                              <p:pRg st="1" end="1"/>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nodeType="click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00" fill="hold"/>
                                        <p:tgtEl>
                                          <p:spTgt spid="25"/>
                                        </p:tgtEl>
                                        <p:attrNameLst>
                                          <p:attrName>ppt_w</p:attrName>
                                        </p:attrNameLst>
                                      </p:cBhvr>
                                      <p:tavLst>
                                        <p:tav tm="0">
                                          <p:val>
                                            <p:fltVal val="0"/>
                                          </p:val>
                                        </p:tav>
                                        <p:tav tm="100000">
                                          <p:val>
                                            <p:strVal val="#ppt_w"/>
                                          </p:val>
                                        </p:tav>
                                      </p:tavLst>
                                    </p:anim>
                                    <p:anim calcmode="lin" valueType="num">
                                      <p:cBhvr>
                                        <p:cTn id="102" dur="500" fill="hold"/>
                                        <p:tgtEl>
                                          <p:spTgt spid="25"/>
                                        </p:tgtEl>
                                        <p:attrNameLst>
                                          <p:attrName>ppt_h</p:attrName>
                                        </p:attrNameLst>
                                      </p:cBhvr>
                                      <p:tavLst>
                                        <p:tav tm="0">
                                          <p:val>
                                            <p:fltVal val="0"/>
                                          </p:val>
                                        </p:tav>
                                        <p:tav tm="100000">
                                          <p:val>
                                            <p:strVal val="#ppt_h"/>
                                          </p:val>
                                        </p:tav>
                                      </p:tavLst>
                                    </p:anim>
                                    <p:animEffect transition="in" filter="fade">
                                      <p:cBhvr>
                                        <p:cTn id="103" dur="500"/>
                                        <p:tgtEl>
                                          <p:spTgt spid="25"/>
                                        </p:tgtEl>
                                      </p:cBhvr>
                                    </p:animEffect>
                                  </p:childTnLst>
                                </p:cTn>
                              </p:par>
                            </p:childTnLst>
                          </p:cTn>
                        </p:par>
                        <p:par>
                          <p:cTn id="104" fill="hold">
                            <p:stCondLst>
                              <p:cond delay="500"/>
                            </p:stCondLst>
                            <p:childTnLst>
                              <p:par>
                                <p:cTn id="105" presetID="10" presetClass="entr" presetSubtype="0" fill="hold" nodeType="after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fade">
                                      <p:cBhvr>
                                        <p:cTn id="107" dur="500"/>
                                        <p:tgtEl>
                                          <p:spTgt spid="68"/>
                                        </p:tgtEl>
                                      </p:cBhvr>
                                    </p:animEffect>
                                  </p:childTnLst>
                                </p:cTn>
                              </p:par>
                            </p:childTnLst>
                          </p:cTn>
                        </p:par>
                        <p:par>
                          <p:cTn id="108" fill="hold">
                            <p:stCondLst>
                              <p:cond delay="1000"/>
                            </p:stCondLst>
                            <p:childTnLst>
                              <p:par>
                                <p:cTn id="109" presetID="10" presetClass="entr" presetSubtype="0" fill="hold" grpId="0" nodeType="afterEffect">
                                  <p:stCondLst>
                                    <p:cond delay="0"/>
                                  </p:stCondLst>
                                  <p:childTnLst>
                                    <p:set>
                                      <p:cBhvr>
                                        <p:cTn id="110" dur="1" fill="hold">
                                          <p:stCondLst>
                                            <p:cond delay="0"/>
                                          </p:stCondLst>
                                        </p:cTn>
                                        <p:tgtEl>
                                          <p:spTgt spid="67">
                                            <p:bg/>
                                          </p:spTgt>
                                        </p:tgtEl>
                                        <p:attrNameLst>
                                          <p:attrName>style.visibility</p:attrName>
                                        </p:attrNameLst>
                                      </p:cBhvr>
                                      <p:to>
                                        <p:strVal val="visible"/>
                                      </p:to>
                                    </p:set>
                                    <p:animEffect transition="in" filter="fade">
                                      <p:cBhvr>
                                        <p:cTn id="111" dur="500"/>
                                        <p:tgtEl>
                                          <p:spTgt spid="67">
                                            <p:bg/>
                                          </p:spTgt>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7">
                                            <p:txEl>
                                              <p:pRg st="0" end="0"/>
                                            </p:txEl>
                                          </p:spTgt>
                                        </p:tgtEl>
                                        <p:attrNameLst>
                                          <p:attrName>style.visibility</p:attrName>
                                        </p:attrNameLst>
                                      </p:cBhvr>
                                      <p:to>
                                        <p:strVal val="visible"/>
                                      </p:to>
                                    </p:set>
                                    <p:animEffect transition="in" filter="fade">
                                      <p:cBhvr>
                                        <p:cTn id="114" dur="500"/>
                                        <p:tgtEl>
                                          <p:spTgt spid="67">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67">
                                            <p:txEl>
                                              <p:pRg st="1" end="1"/>
                                            </p:txEl>
                                          </p:spTgt>
                                        </p:tgtEl>
                                        <p:attrNameLst>
                                          <p:attrName>style.visibility</p:attrName>
                                        </p:attrNameLst>
                                      </p:cBhvr>
                                      <p:to>
                                        <p:strVal val="visible"/>
                                      </p:to>
                                    </p:set>
                                    <p:animEffect transition="in" filter="fade">
                                      <p:cBhvr>
                                        <p:cTn id="119" dur="500"/>
                                        <p:tgtEl>
                                          <p:spTgt spid="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29" grpId="0" uiExpand="1" build="p" animBg="1"/>
      <p:bldP spid="39" grpId="0" uiExpand="1" build="p" animBg="1"/>
      <p:bldP spid="50" grpId="0" uiExpand="1" build="p" animBg="1"/>
      <p:bldP spid="51" grpId="0"/>
      <p:bldP spid="67"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Seta: para Baixo 1038">
            <a:extLst>
              <a:ext uri="{FF2B5EF4-FFF2-40B4-BE49-F238E27FC236}">
                <a16:creationId xmlns:a16="http://schemas.microsoft.com/office/drawing/2014/main" id="{161086AC-A736-A834-7CCA-3818DACC674A}"/>
              </a:ext>
            </a:extLst>
          </p:cNvPr>
          <p:cNvSpPr/>
          <p:nvPr/>
        </p:nvSpPr>
        <p:spPr>
          <a:xfrm>
            <a:off x="7195557" y="4387273"/>
            <a:ext cx="412063" cy="1348509"/>
          </a:xfrm>
          <a:prstGeom prst="downArrow">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12</a:t>
            </a:fld>
            <a:endParaRPr lang="pt-BR"/>
          </a:p>
        </p:txBody>
      </p:sp>
      <p:sp>
        <p:nvSpPr>
          <p:cNvPr id="6" name="Retângulo 5">
            <a:extLst>
              <a:ext uri="{FF2B5EF4-FFF2-40B4-BE49-F238E27FC236}">
                <a16:creationId xmlns:a16="http://schemas.microsoft.com/office/drawing/2014/main" id="{85E81A8A-ED4D-4488-8311-5B01A71F9FEC}"/>
              </a:ext>
            </a:extLst>
          </p:cNvPr>
          <p:cNvSpPr/>
          <p:nvPr/>
        </p:nvSpPr>
        <p:spPr>
          <a:xfrm>
            <a:off x="2517746" y="1323953"/>
            <a:ext cx="3976778" cy="584775"/>
          </a:xfrm>
          <a:prstGeom prst="rect">
            <a:avLst/>
          </a:prstGeom>
          <a:solidFill>
            <a:schemeClr val="bg1"/>
          </a:solidFill>
        </p:spPr>
        <p:txBody>
          <a:bodyPr wrap="square">
            <a:spAutoFit/>
          </a:bodyPr>
          <a:lstStyle/>
          <a:p>
            <a:pPr lvl="0" algn="ctr">
              <a:defRPr/>
            </a:pPr>
            <a:r>
              <a:rPr lang="pt-BR" sz="3200" b="1" cap="small" dirty="0"/>
              <a:t>MÉTODO </a:t>
            </a:r>
            <a:r>
              <a:rPr lang="pt-BR" sz="3200" b="1" cap="small" dirty="0" err="1"/>
              <a:t>MoSCoW</a:t>
            </a:r>
            <a:endParaRPr lang="pt-BR" sz="3200" b="1" cap="small" dirty="0"/>
          </a:p>
        </p:txBody>
      </p:sp>
      <p:sp>
        <p:nvSpPr>
          <p:cNvPr id="11" name="Retângulo 10">
            <a:extLst>
              <a:ext uri="{FF2B5EF4-FFF2-40B4-BE49-F238E27FC236}">
                <a16:creationId xmlns:a16="http://schemas.microsoft.com/office/drawing/2014/main" id="{ABAA5A75-852F-FC44-3395-0FFBFDEB5214}"/>
              </a:ext>
            </a:extLst>
          </p:cNvPr>
          <p:cNvSpPr/>
          <p:nvPr/>
        </p:nvSpPr>
        <p:spPr>
          <a:xfrm>
            <a:off x="924278" y="727651"/>
            <a:ext cx="4360104" cy="523220"/>
          </a:xfrm>
          <a:prstGeom prst="rect">
            <a:avLst/>
          </a:prstGeom>
          <a:solidFill>
            <a:schemeClr val="bg1"/>
          </a:solidFill>
        </p:spPr>
        <p:txBody>
          <a:bodyPr wrap="none">
            <a:spAutoFit/>
          </a:bodyPr>
          <a:lstStyle/>
          <a:p>
            <a:pPr lvl="0">
              <a:defRPr/>
            </a:pPr>
            <a:r>
              <a:rPr lang="pt-BR" sz="2800" b="1" cap="all" dirty="0">
                <a:solidFill>
                  <a:prstClr val="black"/>
                </a:solidFill>
              </a:rPr>
              <a:t>Os Níveis e a priorização</a:t>
            </a:r>
          </a:p>
        </p:txBody>
      </p:sp>
      <p:pic>
        <p:nvPicPr>
          <p:cNvPr id="15" name="Imagem 14">
            <a:extLst>
              <a:ext uri="{FF2B5EF4-FFF2-40B4-BE49-F238E27FC236}">
                <a16:creationId xmlns:a16="http://schemas.microsoft.com/office/drawing/2014/main" id="{393AED21-924F-BBEC-0C65-3D641A589A1E}"/>
              </a:ext>
            </a:extLst>
          </p:cNvPr>
          <p:cNvPicPr>
            <a:picLocks noChangeAspect="1"/>
          </p:cNvPicPr>
          <p:nvPr/>
        </p:nvPicPr>
        <p:blipFill>
          <a:blip r:embed="rId3"/>
          <a:stretch>
            <a:fillRect/>
          </a:stretch>
        </p:blipFill>
        <p:spPr>
          <a:xfrm>
            <a:off x="2146778" y="2000282"/>
            <a:ext cx="4718713" cy="4718713"/>
          </a:xfrm>
          <a:prstGeom prst="rect">
            <a:avLst/>
          </a:prstGeom>
        </p:spPr>
      </p:pic>
      <p:sp>
        <p:nvSpPr>
          <p:cNvPr id="33" name="CaixaDeTexto 32">
            <a:extLst>
              <a:ext uri="{FF2B5EF4-FFF2-40B4-BE49-F238E27FC236}">
                <a16:creationId xmlns:a16="http://schemas.microsoft.com/office/drawing/2014/main" id="{A389A39C-487F-6100-4B96-9FA5AB57CEB4}"/>
              </a:ext>
            </a:extLst>
          </p:cNvPr>
          <p:cNvSpPr txBox="1"/>
          <p:nvPr/>
        </p:nvSpPr>
        <p:spPr>
          <a:xfrm>
            <a:off x="4892435" y="4052445"/>
            <a:ext cx="2188338" cy="523220"/>
          </a:xfrm>
          <a:prstGeom prst="rect">
            <a:avLst/>
          </a:prstGeom>
          <a:noFill/>
        </p:spPr>
        <p:txBody>
          <a:bodyPr wrap="square">
            <a:spAutoFit/>
          </a:bodyPr>
          <a:lstStyle/>
          <a:p>
            <a:r>
              <a:rPr lang="pt-BR" sz="2800" b="1" cap="small" dirty="0">
                <a:solidFill>
                  <a:srgbClr val="C00000"/>
                </a:solidFill>
              </a:rPr>
              <a:t>M</a:t>
            </a:r>
            <a:r>
              <a:rPr lang="pt-BR" b="1" cap="small" dirty="0">
                <a:solidFill>
                  <a:srgbClr val="C00000"/>
                </a:solidFill>
              </a:rPr>
              <a:t> </a:t>
            </a:r>
            <a:r>
              <a:rPr lang="pt-BR" sz="2800" b="1" cap="small" dirty="0">
                <a:solidFill>
                  <a:schemeClr val="bg1"/>
                </a:solidFill>
              </a:rPr>
              <a:t>o</a:t>
            </a:r>
            <a:r>
              <a:rPr lang="pt-BR" b="1" cap="small" dirty="0">
                <a:solidFill>
                  <a:schemeClr val="tx1">
                    <a:lumMod val="50000"/>
                    <a:lumOff val="50000"/>
                  </a:schemeClr>
                </a:solidFill>
              </a:rPr>
              <a:t> </a:t>
            </a:r>
            <a:r>
              <a:rPr lang="pt-BR" sz="2800" b="1" cap="small" dirty="0">
                <a:solidFill>
                  <a:srgbClr val="C00000"/>
                </a:solidFill>
              </a:rPr>
              <a:t>S </a:t>
            </a:r>
            <a:r>
              <a:rPr lang="pt-BR" b="1" cap="small" dirty="0">
                <a:solidFill>
                  <a:srgbClr val="C00000"/>
                </a:solidFill>
              </a:rPr>
              <a:t> </a:t>
            </a:r>
            <a:r>
              <a:rPr lang="pt-BR" sz="2800" b="1" cap="small" dirty="0"/>
              <a:t>C</a:t>
            </a:r>
            <a:r>
              <a:rPr lang="pt-BR" sz="2400" b="1" cap="small" dirty="0"/>
              <a:t> </a:t>
            </a:r>
            <a:r>
              <a:rPr lang="pt-BR" sz="2800" b="1" cap="small" dirty="0">
                <a:solidFill>
                  <a:schemeClr val="bg1"/>
                </a:solidFill>
              </a:rPr>
              <a:t>o</a:t>
            </a:r>
            <a:r>
              <a:rPr lang="pt-BR" sz="2000" b="1" cap="small" dirty="0">
                <a:solidFill>
                  <a:schemeClr val="tx1">
                    <a:lumMod val="50000"/>
                    <a:lumOff val="50000"/>
                  </a:schemeClr>
                </a:solidFill>
              </a:rPr>
              <a:t> </a:t>
            </a:r>
            <a:r>
              <a:rPr lang="pt-BR" sz="2800" b="1" cap="small" dirty="0"/>
              <a:t>W</a:t>
            </a:r>
            <a:endParaRPr lang="pt-BR" sz="2800" dirty="0"/>
          </a:p>
        </p:txBody>
      </p:sp>
      <p:sp>
        <p:nvSpPr>
          <p:cNvPr id="34" name="CaixaDeTexto 33">
            <a:extLst>
              <a:ext uri="{FF2B5EF4-FFF2-40B4-BE49-F238E27FC236}">
                <a16:creationId xmlns:a16="http://schemas.microsoft.com/office/drawing/2014/main" id="{9C1AB71F-FC74-975B-F3B1-33D62F84C797}"/>
              </a:ext>
            </a:extLst>
          </p:cNvPr>
          <p:cNvSpPr txBox="1"/>
          <p:nvPr/>
        </p:nvSpPr>
        <p:spPr>
          <a:xfrm>
            <a:off x="6865491" y="5194814"/>
            <a:ext cx="1700722" cy="338554"/>
          </a:xfrm>
          <a:prstGeom prst="rect">
            <a:avLst/>
          </a:prstGeom>
          <a:noFill/>
        </p:spPr>
        <p:txBody>
          <a:bodyPr wrap="none" rtlCol="0">
            <a:spAutoFit/>
          </a:bodyPr>
          <a:lstStyle/>
          <a:p>
            <a:r>
              <a:rPr lang="pt-BR" sz="1600" b="1" cap="small" dirty="0">
                <a:solidFill>
                  <a:srgbClr val="C00000"/>
                </a:solidFill>
              </a:rPr>
              <a:t>Must </a:t>
            </a:r>
            <a:r>
              <a:rPr lang="pt-BR" sz="1600" b="1" cap="small" dirty="0" err="1">
                <a:solidFill>
                  <a:srgbClr val="C00000"/>
                </a:solidFill>
              </a:rPr>
              <a:t>have</a:t>
            </a:r>
            <a:r>
              <a:rPr lang="pt-BR" sz="1600" b="1" cap="small" dirty="0">
                <a:solidFill>
                  <a:srgbClr val="C00000"/>
                </a:solidFill>
              </a:rPr>
              <a:t> </a:t>
            </a:r>
            <a:r>
              <a:rPr lang="pt-BR" sz="1100" cap="small" dirty="0">
                <a:solidFill>
                  <a:srgbClr val="C00000"/>
                </a:solidFill>
              </a:rPr>
              <a:t>(essencial) </a:t>
            </a:r>
            <a:endParaRPr lang="pt-BR" cap="small" dirty="0">
              <a:solidFill>
                <a:srgbClr val="C00000"/>
              </a:solidFill>
            </a:endParaRPr>
          </a:p>
        </p:txBody>
      </p:sp>
      <p:sp>
        <p:nvSpPr>
          <p:cNvPr id="35" name="CaixaDeTexto 34">
            <a:extLst>
              <a:ext uri="{FF2B5EF4-FFF2-40B4-BE49-F238E27FC236}">
                <a16:creationId xmlns:a16="http://schemas.microsoft.com/office/drawing/2014/main" id="{C50AC784-4D47-7AA5-F454-93F0E4E09A73}"/>
              </a:ext>
            </a:extLst>
          </p:cNvPr>
          <p:cNvSpPr txBox="1"/>
          <p:nvPr/>
        </p:nvSpPr>
        <p:spPr>
          <a:xfrm>
            <a:off x="6865491" y="4934644"/>
            <a:ext cx="1937966" cy="338554"/>
          </a:xfrm>
          <a:prstGeom prst="rect">
            <a:avLst/>
          </a:prstGeom>
          <a:noFill/>
        </p:spPr>
        <p:txBody>
          <a:bodyPr wrap="none" rtlCol="0">
            <a:spAutoFit/>
          </a:bodyPr>
          <a:lstStyle/>
          <a:p>
            <a:r>
              <a:rPr lang="pt-BR" sz="1600" b="1" cap="small" dirty="0" err="1">
                <a:solidFill>
                  <a:srgbClr val="C00000"/>
                </a:solidFill>
              </a:rPr>
              <a:t>Should</a:t>
            </a:r>
            <a:r>
              <a:rPr lang="pt-BR" sz="1600" b="1" cap="small" dirty="0">
                <a:solidFill>
                  <a:srgbClr val="C00000"/>
                </a:solidFill>
              </a:rPr>
              <a:t> </a:t>
            </a:r>
            <a:r>
              <a:rPr lang="pt-BR" sz="1600" b="1" cap="small" dirty="0" err="1">
                <a:solidFill>
                  <a:srgbClr val="C00000"/>
                </a:solidFill>
              </a:rPr>
              <a:t>have</a:t>
            </a:r>
            <a:r>
              <a:rPr lang="pt-BR" sz="1600" b="1" cap="small" dirty="0">
                <a:solidFill>
                  <a:srgbClr val="C00000"/>
                </a:solidFill>
              </a:rPr>
              <a:t> </a:t>
            </a:r>
            <a:r>
              <a:rPr lang="pt-BR" sz="1100" cap="small" dirty="0">
                <a:solidFill>
                  <a:srgbClr val="C00000"/>
                </a:solidFill>
              </a:rPr>
              <a:t>(necessário) </a:t>
            </a:r>
            <a:endParaRPr lang="pt-BR" cap="small" dirty="0">
              <a:solidFill>
                <a:srgbClr val="C00000"/>
              </a:solidFill>
            </a:endParaRPr>
          </a:p>
        </p:txBody>
      </p:sp>
      <p:sp>
        <p:nvSpPr>
          <p:cNvPr id="36" name="CaixaDeTexto 35">
            <a:extLst>
              <a:ext uri="{FF2B5EF4-FFF2-40B4-BE49-F238E27FC236}">
                <a16:creationId xmlns:a16="http://schemas.microsoft.com/office/drawing/2014/main" id="{635AAC56-6367-7656-DA94-ACC447FEC758}"/>
              </a:ext>
            </a:extLst>
          </p:cNvPr>
          <p:cNvSpPr txBox="1"/>
          <p:nvPr/>
        </p:nvSpPr>
        <p:spPr>
          <a:xfrm>
            <a:off x="6865491" y="4688913"/>
            <a:ext cx="1764970" cy="338554"/>
          </a:xfrm>
          <a:prstGeom prst="rect">
            <a:avLst/>
          </a:prstGeom>
          <a:noFill/>
        </p:spPr>
        <p:txBody>
          <a:bodyPr wrap="none" rtlCol="0">
            <a:spAutoFit/>
          </a:bodyPr>
          <a:lstStyle/>
          <a:p>
            <a:r>
              <a:rPr lang="pt-BR" sz="1600" b="1" cap="small" dirty="0" err="1"/>
              <a:t>Could</a:t>
            </a:r>
            <a:r>
              <a:rPr lang="pt-BR" sz="1600" b="1" cap="small" dirty="0"/>
              <a:t> </a:t>
            </a:r>
            <a:r>
              <a:rPr lang="pt-BR" sz="1600" b="1" cap="small" dirty="0" err="1"/>
              <a:t>have</a:t>
            </a:r>
            <a:r>
              <a:rPr lang="pt-BR" sz="1600" b="1" cap="small" dirty="0"/>
              <a:t> </a:t>
            </a:r>
            <a:r>
              <a:rPr lang="pt-BR" sz="1100" cap="small" dirty="0"/>
              <a:t>(desejável) </a:t>
            </a:r>
            <a:endParaRPr lang="pt-BR" cap="small" dirty="0"/>
          </a:p>
        </p:txBody>
      </p:sp>
      <p:sp>
        <p:nvSpPr>
          <p:cNvPr id="37" name="CaixaDeTexto 36">
            <a:extLst>
              <a:ext uri="{FF2B5EF4-FFF2-40B4-BE49-F238E27FC236}">
                <a16:creationId xmlns:a16="http://schemas.microsoft.com/office/drawing/2014/main" id="{D1B02527-3A4E-8C87-DDC2-EA62501766C1}"/>
              </a:ext>
            </a:extLst>
          </p:cNvPr>
          <p:cNvSpPr txBox="1"/>
          <p:nvPr/>
        </p:nvSpPr>
        <p:spPr>
          <a:xfrm>
            <a:off x="6865491" y="4452064"/>
            <a:ext cx="2312171" cy="338554"/>
          </a:xfrm>
          <a:prstGeom prst="rect">
            <a:avLst/>
          </a:prstGeom>
          <a:noFill/>
        </p:spPr>
        <p:txBody>
          <a:bodyPr wrap="none" rtlCol="0">
            <a:spAutoFit/>
          </a:bodyPr>
          <a:lstStyle/>
          <a:p>
            <a:r>
              <a:rPr lang="pt-BR" sz="1600" b="1" cap="small" dirty="0" err="1"/>
              <a:t>Would</a:t>
            </a:r>
            <a:r>
              <a:rPr lang="pt-BR" sz="1600" b="1" cap="small" dirty="0"/>
              <a:t> </a:t>
            </a:r>
            <a:r>
              <a:rPr lang="pt-BR" sz="1600" b="1" cap="small" dirty="0" err="1"/>
              <a:t>have</a:t>
            </a:r>
            <a:r>
              <a:rPr lang="pt-BR" sz="1600" b="1" cap="small" dirty="0"/>
              <a:t> </a:t>
            </a:r>
            <a:r>
              <a:rPr lang="pt-BR" sz="1100" cap="small" dirty="0"/>
              <a:t>(seria interessante) </a:t>
            </a:r>
            <a:endParaRPr lang="pt-BR" cap="small" dirty="0"/>
          </a:p>
        </p:txBody>
      </p:sp>
      <p:grpSp>
        <p:nvGrpSpPr>
          <p:cNvPr id="1034" name="Agrupar 1033">
            <a:extLst>
              <a:ext uri="{FF2B5EF4-FFF2-40B4-BE49-F238E27FC236}">
                <a16:creationId xmlns:a16="http://schemas.microsoft.com/office/drawing/2014/main" id="{EDD160DF-2796-4DB7-B98A-CEB495636F1F}"/>
              </a:ext>
            </a:extLst>
          </p:cNvPr>
          <p:cNvGrpSpPr/>
          <p:nvPr/>
        </p:nvGrpSpPr>
        <p:grpSpPr>
          <a:xfrm>
            <a:off x="4995510" y="4463977"/>
            <a:ext cx="1869981" cy="900114"/>
            <a:chOff x="4995510" y="4463977"/>
            <a:chExt cx="1869981" cy="900114"/>
          </a:xfrm>
        </p:grpSpPr>
        <p:cxnSp>
          <p:nvCxnSpPr>
            <p:cNvPr id="39" name="Conector: Angulado 38">
              <a:extLst>
                <a:ext uri="{FF2B5EF4-FFF2-40B4-BE49-F238E27FC236}">
                  <a16:creationId xmlns:a16="http://schemas.microsoft.com/office/drawing/2014/main" id="{2ADB4B17-2C79-060A-C238-8E801911A36D}"/>
                </a:ext>
              </a:extLst>
            </p:cNvPr>
            <p:cNvCxnSpPr>
              <a:endCxn id="34" idx="1"/>
            </p:cNvCxnSpPr>
            <p:nvPr/>
          </p:nvCxnSpPr>
          <p:spPr>
            <a:xfrm>
              <a:off x="5144703" y="4470939"/>
              <a:ext cx="1720788" cy="893152"/>
            </a:xfrm>
            <a:prstGeom prst="bentConnector3">
              <a:avLst>
                <a:gd name="adj1" fmla="val -90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ector reto 56">
              <a:extLst>
                <a:ext uri="{FF2B5EF4-FFF2-40B4-BE49-F238E27FC236}">
                  <a16:creationId xmlns:a16="http://schemas.microsoft.com/office/drawing/2014/main" id="{6C198B0B-BB45-213E-8E61-F024195A2AEE}"/>
                </a:ext>
              </a:extLst>
            </p:cNvPr>
            <p:cNvCxnSpPr>
              <a:cxnSpLocks/>
            </p:cNvCxnSpPr>
            <p:nvPr/>
          </p:nvCxnSpPr>
          <p:spPr>
            <a:xfrm>
              <a:off x="4995510" y="4463977"/>
              <a:ext cx="26962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1035" name="Agrupar 1034">
            <a:extLst>
              <a:ext uri="{FF2B5EF4-FFF2-40B4-BE49-F238E27FC236}">
                <a16:creationId xmlns:a16="http://schemas.microsoft.com/office/drawing/2014/main" id="{6AB5B045-E173-0689-3037-190C67102C89}"/>
              </a:ext>
            </a:extLst>
          </p:cNvPr>
          <p:cNvGrpSpPr/>
          <p:nvPr/>
        </p:nvGrpSpPr>
        <p:grpSpPr>
          <a:xfrm>
            <a:off x="5539283" y="4468223"/>
            <a:ext cx="1326208" cy="635698"/>
            <a:chOff x="5539283" y="4468223"/>
            <a:chExt cx="1326208" cy="635698"/>
          </a:xfrm>
        </p:grpSpPr>
        <p:cxnSp>
          <p:nvCxnSpPr>
            <p:cNvPr id="41" name="Conector: Angulado 40">
              <a:extLst>
                <a:ext uri="{FF2B5EF4-FFF2-40B4-BE49-F238E27FC236}">
                  <a16:creationId xmlns:a16="http://schemas.microsoft.com/office/drawing/2014/main" id="{107AFE93-332A-A047-B79A-FAC08DE43D82}"/>
                </a:ext>
              </a:extLst>
            </p:cNvPr>
            <p:cNvCxnSpPr>
              <a:cxnSpLocks/>
              <a:endCxn id="35" idx="1"/>
            </p:cNvCxnSpPr>
            <p:nvPr/>
          </p:nvCxnSpPr>
          <p:spPr>
            <a:xfrm>
              <a:off x="5674093" y="4477849"/>
              <a:ext cx="1191398" cy="626072"/>
            </a:xfrm>
            <a:prstGeom prst="bentConnector3">
              <a:avLst>
                <a:gd name="adj1" fmla="val 112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ector reto 58">
              <a:extLst>
                <a:ext uri="{FF2B5EF4-FFF2-40B4-BE49-F238E27FC236}">
                  <a16:creationId xmlns:a16="http://schemas.microsoft.com/office/drawing/2014/main" id="{F3041F82-821E-59BF-8F0F-8AB1C09F3465}"/>
                </a:ext>
              </a:extLst>
            </p:cNvPr>
            <p:cNvCxnSpPr>
              <a:cxnSpLocks/>
            </p:cNvCxnSpPr>
            <p:nvPr/>
          </p:nvCxnSpPr>
          <p:spPr>
            <a:xfrm>
              <a:off x="5539283" y="4468223"/>
              <a:ext cx="26962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1036" name="Agrupar 1035">
            <a:extLst>
              <a:ext uri="{FF2B5EF4-FFF2-40B4-BE49-F238E27FC236}">
                <a16:creationId xmlns:a16="http://schemas.microsoft.com/office/drawing/2014/main" id="{CE0AAC32-2340-20AD-5495-B17B95F98C17}"/>
              </a:ext>
            </a:extLst>
          </p:cNvPr>
          <p:cNvGrpSpPr/>
          <p:nvPr/>
        </p:nvGrpSpPr>
        <p:grpSpPr>
          <a:xfrm>
            <a:off x="5872444" y="4466134"/>
            <a:ext cx="993047" cy="392056"/>
            <a:chOff x="5872444" y="4466134"/>
            <a:chExt cx="993047" cy="392056"/>
          </a:xfrm>
        </p:grpSpPr>
        <p:cxnSp>
          <p:nvCxnSpPr>
            <p:cNvPr id="45" name="Conector: Angulado 44">
              <a:extLst>
                <a:ext uri="{FF2B5EF4-FFF2-40B4-BE49-F238E27FC236}">
                  <a16:creationId xmlns:a16="http://schemas.microsoft.com/office/drawing/2014/main" id="{BDA7EE73-027D-3287-A964-D65A7EC8FC1B}"/>
                </a:ext>
              </a:extLst>
            </p:cNvPr>
            <p:cNvCxnSpPr>
              <a:cxnSpLocks/>
              <a:endCxn id="36" idx="1"/>
            </p:cNvCxnSpPr>
            <p:nvPr/>
          </p:nvCxnSpPr>
          <p:spPr>
            <a:xfrm>
              <a:off x="5997506" y="4477848"/>
              <a:ext cx="867985" cy="380342"/>
            </a:xfrm>
            <a:prstGeom prst="bentConnector3">
              <a:avLst>
                <a:gd name="adj1" fmla="val 5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ector reto 59">
              <a:extLst>
                <a:ext uri="{FF2B5EF4-FFF2-40B4-BE49-F238E27FC236}">
                  <a16:creationId xmlns:a16="http://schemas.microsoft.com/office/drawing/2014/main" id="{970A99BE-50B8-9766-98AB-61EA260C8E3D}"/>
                </a:ext>
              </a:extLst>
            </p:cNvPr>
            <p:cNvCxnSpPr>
              <a:cxnSpLocks/>
            </p:cNvCxnSpPr>
            <p:nvPr/>
          </p:nvCxnSpPr>
          <p:spPr>
            <a:xfrm flipV="1">
              <a:off x="5872444" y="4466134"/>
              <a:ext cx="254467" cy="30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37" name="Agrupar 1036">
            <a:extLst>
              <a:ext uri="{FF2B5EF4-FFF2-40B4-BE49-F238E27FC236}">
                <a16:creationId xmlns:a16="http://schemas.microsoft.com/office/drawing/2014/main" id="{1C0A4EF3-F2D7-DBC5-7974-82BD2CF588BD}"/>
              </a:ext>
            </a:extLst>
          </p:cNvPr>
          <p:cNvGrpSpPr/>
          <p:nvPr/>
        </p:nvGrpSpPr>
        <p:grpSpPr>
          <a:xfrm>
            <a:off x="6436920" y="4465695"/>
            <a:ext cx="428571" cy="155646"/>
            <a:chOff x="6436920" y="4465695"/>
            <a:chExt cx="428571" cy="155646"/>
          </a:xfrm>
        </p:grpSpPr>
        <p:cxnSp>
          <p:nvCxnSpPr>
            <p:cNvPr id="51" name="Conector: Angulado 50">
              <a:extLst>
                <a:ext uri="{FF2B5EF4-FFF2-40B4-BE49-F238E27FC236}">
                  <a16:creationId xmlns:a16="http://schemas.microsoft.com/office/drawing/2014/main" id="{9ED71209-BEE9-1F88-3B93-C0615CDD2B48}"/>
                </a:ext>
              </a:extLst>
            </p:cNvPr>
            <p:cNvCxnSpPr>
              <a:cxnSpLocks/>
              <a:endCxn id="37" idx="1"/>
            </p:cNvCxnSpPr>
            <p:nvPr/>
          </p:nvCxnSpPr>
          <p:spPr>
            <a:xfrm>
              <a:off x="6557203" y="4468223"/>
              <a:ext cx="308288" cy="153118"/>
            </a:xfrm>
            <a:prstGeom prst="bentConnector3">
              <a:avLst>
                <a:gd name="adj1" fmla="val 383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31" name="Conector reto 1030">
              <a:extLst>
                <a:ext uri="{FF2B5EF4-FFF2-40B4-BE49-F238E27FC236}">
                  <a16:creationId xmlns:a16="http://schemas.microsoft.com/office/drawing/2014/main" id="{220BB2A4-4B89-011F-CBDE-7887BC76CAA0}"/>
                </a:ext>
              </a:extLst>
            </p:cNvPr>
            <p:cNvCxnSpPr>
              <a:cxnSpLocks/>
            </p:cNvCxnSpPr>
            <p:nvPr/>
          </p:nvCxnSpPr>
          <p:spPr>
            <a:xfrm flipV="1">
              <a:off x="6436920" y="4465695"/>
              <a:ext cx="254467" cy="30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038" name="CaixaDeTexto 1037">
            <a:extLst>
              <a:ext uri="{FF2B5EF4-FFF2-40B4-BE49-F238E27FC236}">
                <a16:creationId xmlns:a16="http://schemas.microsoft.com/office/drawing/2014/main" id="{65699D65-36C4-FB1F-48A8-191ED549045F}"/>
              </a:ext>
            </a:extLst>
          </p:cNvPr>
          <p:cNvSpPr txBox="1"/>
          <p:nvPr/>
        </p:nvSpPr>
        <p:spPr>
          <a:xfrm>
            <a:off x="6816331" y="5716961"/>
            <a:ext cx="1170513" cy="261610"/>
          </a:xfrm>
          <a:prstGeom prst="rect">
            <a:avLst/>
          </a:prstGeom>
          <a:noFill/>
        </p:spPr>
        <p:txBody>
          <a:bodyPr wrap="none" rtlCol="0">
            <a:spAutoFit/>
          </a:bodyPr>
          <a:lstStyle/>
          <a:p>
            <a:r>
              <a:rPr lang="pt-BR" sz="1100" b="1" cap="small" dirty="0">
                <a:solidFill>
                  <a:srgbClr val="819E43"/>
                </a:solidFill>
              </a:rPr>
              <a:t>Maior prioridade</a:t>
            </a:r>
          </a:p>
        </p:txBody>
      </p:sp>
      <p:sp>
        <p:nvSpPr>
          <p:cNvPr id="1040" name="CaixaDeTexto 1039">
            <a:extLst>
              <a:ext uri="{FF2B5EF4-FFF2-40B4-BE49-F238E27FC236}">
                <a16:creationId xmlns:a16="http://schemas.microsoft.com/office/drawing/2014/main" id="{17357D41-2F35-C307-8185-4C8D4EC7EB48}"/>
              </a:ext>
            </a:extLst>
          </p:cNvPr>
          <p:cNvSpPr txBox="1"/>
          <p:nvPr/>
        </p:nvSpPr>
        <p:spPr>
          <a:xfrm>
            <a:off x="6843850" y="4112118"/>
            <a:ext cx="1199367" cy="261610"/>
          </a:xfrm>
          <a:prstGeom prst="rect">
            <a:avLst/>
          </a:prstGeom>
          <a:noFill/>
        </p:spPr>
        <p:txBody>
          <a:bodyPr wrap="none" rtlCol="0">
            <a:spAutoFit/>
          </a:bodyPr>
          <a:lstStyle/>
          <a:p>
            <a:r>
              <a:rPr lang="pt-BR" sz="1100" b="1" cap="small" dirty="0">
                <a:solidFill>
                  <a:srgbClr val="819E43"/>
                </a:solidFill>
              </a:rPr>
              <a:t>Menor prioridade</a:t>
            </a:r>
          </a:p>
        </p:txBody>
      </p:sp>
    </p:spTree>
    <p:extLst>
      <p:ext uri="{BB962C8B-B14F-4D97-AF65-F5344CB8AC3E}">
        <p14:creationId xmlns:p14="http://schemas.microsoft.com/office/powerpoint/2010/main" val="252541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34"/>
                                        </p:tgtEl>
                                        <p:attrNameLst>
                                          <p:attrName>style.visibility</p:attrName>
                                        </p:attrNameLst>
                                      </p:cBhvr>
                                      <p:to>
                                        <p:strVal val="visible"/>
                                      </p:to>
                                    </p:set>
                                    <p:animEffect transition="in" filter="wipe(up)">
                                      <p:cBhvr>
                                        <p:cTn id="12" dur="500"/>
                                        <p:tgtEl>
                                          <p:spTgt spid="103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035"/>
                                        </p:tgtEl>
                                        <p:attrNameLst>
                                          <p:attrName>style.visibility</p:attrName>
                                        </p:attrNameLst>
                                      </p:cBhvr>
                                      <p:to>
                                        <p:strVal val="visible"/>
                                      </p:to>
                                    </p:set>
                                    <p:animEffect transition="in" filter="wipe(up)">
                                      <p:cBhvr>
                                        <p:cTn id="21" dur="500"/>
                                        <p:tgtEl>
                                          <p:spTgt spid="103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36"/>
                                        </p:tgtEl>
                                        <p:attrNameLst>
                                          <p:attrName>style.visibility</p:attrName>
                                        </p:attrNameLst>
                                      </p:cBhvr>
                                      <p:to>
                                        <p:strVal val="visible"/>
                                      </p:to>
                                    </p:set>
                                    <p:animEffect transition="in" filter="wipe(up)">
                                      <p:cBhvr>
                                        <p:cTn id="30" dur="500"/>
                                        <p:tgtEl>
                                          <p:spTgt spid="1036"/>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037"/>
                                        </p:tgtEl>
                                        <p:attrNameLst>
                                          <p:attrName>style.visibility</p:attrName>
                                        </p:attrNameLst>
                                      </p:cBhvr>
                                      <p:to>
                                        <p:strVal val="visible"/>
                                      </p:to>
                                    </p:set>
                                    <p:animEffect transition="in" filter="wipe(up)">
                                      <p:cBhvr>
                                        <p:cTn id="39" dur="500"/>
                                        <p:tgtEl>
                                          <p:spTgt spid="1037"/>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040"/>
                                        </p:tgtEl>
                                        <p:attrNameLst>
                                          <p:attrName>style.visibility</p:attrName>
                                        </p:attrNameLst>
                                      </p:cBhvr>
                                      <p:to>
                                        <p:strVal val="visible"/>
                                      </p:to>
                                    </p:set>
                                    <p:animEffect transition="in" filter="fade">
                                      <p:cBhvr>
                                        <p:cTn id="48" dur="500"/>
                                        <p:tgtEl>
                                          <p:spTgt spid="1040"/>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1039"/>
                                        </p:tgtEl>
                                        <p:attrNameLst>
                                          <p:attrName>style.visibility</p:attrName>
                                        </p:attrNameLst>
                                      </p:cBhvr>
                                      <p:to>
                                        <p:strVal val="visible"/>
                                      </p:to>
                                    </p:set>
                                    <p:animEffect transition="in" filter="wipe(up)">
                                      <p:cBhvr>
                                        <p:cTn id="52" dur="500"/>
                                        <p:tgtEl>
                                          <p:spTgt spid="1039"/>
                                        </p:tgtEl>
                                      </p:cBhvr>
                                    </p:animEffect>
                                  </p:childTnLst>
                                </p:cTn>
                              </p:par>
                            </p:childTnLst>
                          </p:cTn>
                        </p:par>
                        <p:par>
                          <p:cTn id="53" fill="hold">
                            <p:stCondLst>
                              <p:cond delay="1000"/>
                            </p:stCondLst>
                            <p:childTnLst>
                              <p:par>
                                <p:cTn id="54" presetID="10" presetClass="entr" presetSubtype="0" fill="hold" grpId="0" nodeType="afterEffect">
                                  <p:stCondLst>
                                    <p:cond delay="0"/>
                                  </p:stCondLst>
                                  <p:childTnLst>
                                    <p:set>
                                      <p:cBhvr>
                                        <p:cTn id="55" dur="1" fill="hold">
                                          <p:stCondLst>
                                            <p:cond delay="0"/>
                                          </p:stCondLst>
                                        </p:cTn>
                                        <p:tgtEl>
                                          <p:spTgt spid="1038"/>
                                        </p:tgtEl>
                                        <p:attrNameLst>
                                          <p:attrName>style.visibility</p:attrName>
                                        </p:attrNameLst>
                                      </p:cBhvr>
                                      <p:to>
                                        <p:strVal val="visible"/>
                                      </p:to>
                                    </p:set>
                                    <p:animEffect transition="in" filter="fade">
                                      <p:cBhvr>
                                        <p:cTn id="56" dur="500"/>
                                        <p:tgtEl>
                                          <p:spTgt spid="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 grpId="0" animBg="1"/>
      <p:bldP spid="33" grpId="0"/>
      <p:bldP spid="34" grpId="0"/>
      <p:bldP spid="35" grpId="0"/>
      <p:bldP spid="36" grpId="0"/>
      <p:bldP spid="37" grpId="0"/>
      <p:bldP spid="1038" grpId="0"/>
      <p:bldP spid="10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13</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pic>
        <p:nvPicPr>
          <p:cNvPr id="2" name="Imagem 1">
            <a:extLst>
              <a:ext uri="{FF2B5EF4-FFF2-40B4-BE49-F238E27FC236}">
                <a16:creationId xmlns:a16="http://schemas.microsoft.com/office/drawing/2014/main" id="{E744FB45-14F7-46D1-B002-2931AE5B508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0" y="1394848"/>
            <a:ext cx="8874213" cy="5323668"/>
          </a:xfrm>
          <a:prstGeom prst="rect">
            <a:avLst/>
          </a:prstGeom>
        </p:spPr>
      </p:pic>
      <p:pic>
        <p:nvPicPr>
          <p:cNvPr id="6" name="Imagem 5">
            <a:extLst>
              <a:ext uri="{FF2B5EF4-FFF2-40B4-BE49-F238E27FC236}">
                <a16:creationId xmlns:a16="http://schemas.microsoft.com/office/drawing/2014/main" id="{0E7D097C-AEF7-466A-B1F8-A5908239A4A7}"/>
              </a:ext>
            </a:extLst>
          </p:cNvPr>
          <p:cNvPicPr>
            <a:picLocks noChangeAspect="1"/>
          </p:cNvPicPr>
          <p:nvPr/>
        </p:nvPicPr>
        <p:blipFill>
          <a:blip r:embed="rId4"/>
          <a:stretch>
            <a:fillRect/>
          </a:stretch>
        </p:blipFill>
        <p:spPr>
          <a:xfrm>
            <a:off x="6701297" y="3867461"/>
            <a:ext cx="2172916" cy="2175727"/>
          </a:xfrm>
          <a:prstGeom prst="rect">
            <a:avLst/>
          </a:prstGeom>
        </p:spPr>
      </p:pic>
    </p:spTree>
    <p:extLst>
      <p:ext uri="{BB962C8B-B14F-4D97-AF65-F5344CB8AC3E}">
        <p14:creationId xmlns:p14="http://schemas.microsoft.com/office/powerpoint/2010/main" val="1255319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14</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sp>
        <p:nvSpPr>
          <p:cNvPr id="6" name="Retângulo 5">
            <a:extLst>
              <a:ext uri="{FF2B5EF4-FFF2-40B4-BE49-F238E27FC236}">
                <a16:creationId xmlns:a16="http://schemas.microsoft.com/office/drawing/2014/main" id="{85E81A8A-ED4D-4488-8311-5B01A71F9FEC}"/>
              </a:ext>
            </a:extLst>
          </p:cNvPr>
          <p:cNvSpPr/>
          <p:nvPr/>
        </p:nvSpPr>
        <p:spPr>
          <a:xfrm>
            <a:off x="495301" y="2172723"/>
            <a:ext cx="3242234" cy="3493264"/>
          </a:xfrm>
          <a:prstGeom prst="rect">
            <a:avLst/>
          </a:prstGeom>
          <a:noFill/>
        </p:spPr>
        <p:txBody>
          <a:bodyPr wrap="square">
            <a:spAutoFit/>
          </a:bodyPr>
          <a:lstStyle/>
          <a:p>
            <a:pPr lvl="0">
              <a:defRPr/>
            </a:pPr>
            <a:r>
              <a:rPr lang="pt-BR" sz="2400" b="1" cap="all" dirty="0">
                <a:solidFill>
                  <a:prstClr val="black"/>
                </a:solidFill>
              </a:rPr>
              <a:t>de Produtos:</a:t>
            </a:r>
          </a:p>
          <a:p>
            <a:pPr lvl="0" algn="ctr">
              <a:defRPr/>
            </a:pPr>
            <a:endParaRPr lang="pt-BR" sz="1100" b="1" cap="all" dirty="0">
              <a:solidFill>
                <a:prstClr val="black"/>
              </a:solidFill>
            </a:endParaRPr>
          </a:p>
          <a:p>
            <a:pPr marL="177800" lvl="0" indent="-177800">
              <a:spcAft>
                <a:spcPts val="600"/>
              </a:spcAft>
              <a:buFont typeface="Arial" panose="020B0604020202020204" pitchFamily="34" charset="0"/>
              <a:buChar char="•"/>
              <a:defRPr/>
            </a:pPr>
            <a:r>
              <a:rPr lang="pt-BR" sz="1600" cap="all" dirty="0">
                <a:solidFill>
                  <a:prstClr val="black"/>
                </a:solidFill>
              </a:rPr>
              <a:t>forma</a:t>
            </a:r>
          </a:p>
          <a:p>
            <a:pPr marL="177800" lvl="0" indent="-177800">
              <a:spcAft>
                <a:spcPts val="600"/>
              </a:spcAft>
              <a:buFont typeface="Arial" panose="020B0604020202020204" pitchFamily="34" charset="0"/>
              <a:buChar char="•"/>
              <a:defRPr/>
            </a:pPr>
            <a:r>
              <a:rPr lang="pt-BR" sz="1600" cap="all" dirty="0">
                <a:solidFill>
                  <a:prstClr val="black"/>
                </a:solidFill>
              </a:rPr>
              <a:t>Características</a:t>
            </a:r>
          </a:p>
          <a:p>
            <a:pPr marL="177800" lvl="0" indent="-177800">
              <a:spcAft>
                <a:spcPts val="600"/>
              </a:spcAft>
              <a:buFont typeface="Arial" panose="020B0604020202020204" pitchFamily="34" charset="0"/>
              <a:buChar char="•"/>
              <a:defRPr/>
            </a:pPr>
            <a:r>
              <a:rPr lang="pt-BR" sz="1600" cap="all" dirty="0">
                <a:solidFill>
                  <a:prstClr val="black"/>
                </a:solidFill>
              </a:rPr>
              <a:t>Customização</a:t>
            </a:r>
          </a:p>
          <a:p>
            <a:pPr marL="177800" lvl="0" indent="-177800">
              <a:spcAft>
                <a:spcPts val="600"/>
              </a:spcAft>
              <a:buFont typeface="Arial" panose="020B0604020202020204" pitchFamily="34" charset="0"/>
              <a:buChar char="•"/>
              <a:defRPr/>
            </a:pPr>
            <a:r>
              <a:rPr lang="pt-BR" sz="1600" cap="all" dirty="0">
                <a:solidFill>
                  <a:prstClr val="black"/>
                </a:solidFill>
              </a:rPr>
              <a:t>desempenho</a:t>
            </a:r>
          </a:p>
          <a:p>
            <a:pPr marL="177800" lvl="0" indent="-177800">
              <a:spcAft>
                <a:spcPts val="600"/>
              </a:spcAft>
              <a:buFont typeface="Arial" panose="020B0604020202020204" pitchFamily="34" charset="0"/>
              <a:buChar char="•"/>
              <a:defRPr/>
            </a:pPr>
            <a:r>
              <a:rPr lang="pt-BR" sz="1600" cap="all" dirty="0">
                <a:solidFill>
                  <a:prstClr val="black"/>
                </a:solidFill>
              </a:rPr>
              <a:t>conformidade</a:t>
            </a:r>
          </a:p>
          <a:p>
            <a:pPr marL="177800" lvl="0" indent="-177800">
              <a:spcAft>
                <a:spcPts val="600"/>
              </a:spcAft>
              <a:buFont typeface="Arial" panose="020B0604020202020204" pitchFamily="34" charset="0"/>
              <a:buChar char="•"/>
              <a:defRPr/>
            </a:pPr>
            <a:r>
              <a:rPr lang="pt-BR" sz="1600" cap="all" dirty="0">
                <a:solidFill>
                  <a:prstClr val="black"/>
                </a:solidFill>
              </a:rPr>
              <a:t>Durabilidade</a:t>
            </a:r>
          </a:p>
          <a:p>
            <a:pPr marL="177800" lvl="0" indent="-177800">
              <a:spcAft>
                <a:spcPts val="600"/>
              </a:spcAft>
              <a:buFont typeface="Arial" panose="020B0604020202020204" pitchFamily="34" charset="0"/>
              <a:buChar char="•"/>
              <a:defRPr/>
            </a:pPr>
            <a:r>
              <a:rPr lang="pt-BR" sz="1600" cap="all" dirty="0">
                <a:solidFill>
                  <a:prstClr val="black"/>
                </a:solidFill>
              </a:rPr>
              <a:t>Confiabilidade</a:t>
            </a:r>
          </a:p>
          <a:p>
            <a:pPr marL="177800" lvl="0" indent="-177800">
              <a:spcAft>
                <a:spcPts val="600"/>
              </a:spcAft>
              <a:buFont typeface="Arial" panose="020B0604020202020204" pitchFamily="34" charset="0"/>
              <a:buChar char="•"/>
              <a:defRPr/>
            </a:pPr>
            <a:r>
              <a:rPr lang="pt-BR" sz="1600" cap="all" dirty="0">
                <a:solidFill>
                  <a:prstClr val="black"/>
                </a:solidFill>
              </a:rPr>
              <a:t>Facilidade de reparo</a:t>
            </a:r>
          </a:p>
          <a:p>
            <a:pPr marL="177800" lvl="0" indent="-177800">
              <a:spcAft>
                <a:spcPts val="600"/>
              </a:spcAft>
              <a:buFont typeface="Arial" panose="020B0604020202020204" pitchFamily="34" charset="0"/>
              <a:buChar char="•"/>
              <a:defRPr/>
            </a:pPr>
            <a:r>
              <a:rPr lang="pt-BR" sz="1600" cap="all" dirty="0">
                <a:solidFill>
                  <a:prstClr val="black"/>
                </a:solidFill>
              </a:rPr>
              <a:t>Estilos ...</a:t>
            </a:r>
          </a:p>
        </p:txBody>
      </p:sp>
      <p:sp>
        <p:nvSpPr>
          <p:cNvPr id="3" name="Retângulo 2">
            <a:extLst>
              <a:ext uri="{FF2B5EF4-FFF2-40B4-BE49-F238E27FC236}">
                <a16:creationId xmlns:a16="http://schemas.microsoft.com/office/drawing/2014/main" id="{6C8BFD0B-6B26-4AE1-BA2D-7242A12CE122}"/>
              </a:ext>
            </a:extLst>
          </p:cNvPr>
          <p:cNvSpPr/>
          <p:nvPr/>
        </p:nvSpPr>
        <p:spPr>
          <a:xfrm>
            <a:off x="1840754" y="1428143"/>
            <a:ext cx="5789405" cy="646331"/>
          </a:xfrm>
          <a:prstGeom prst="rect">
            <a:avLst/>
          </a:prstGeom>
        </p:spPr>
        <p:txBody>
          <a:bodyPr wrap="none">
            <a:spAutoFit/>
          </a:bodyPr>
          <a:lstStyle/>
          <a:p>
            <a:r>
              <a:rPr lang="pt-BR" sz="3600" b="1" cap="all" dirty="0">
                <a:solidFill>
                  <a:prstClr val="black"/>
                </a:solidFill>
              </a:rPr>
              <a:t>Paridade e diferenciação </a:t>
            </a:r>
            <a:endParaRPr lang="pt-BR" dirty="0"/>
          </a:p>
        </p:txBody>
      </p:sp>
      <p:sp>
        <p:nvSpPr>
          <p:cNvPr id="7" name="Retângulo 6">
            <a:extLst>
              <a:ext uri="{FF2B5EF4-FFF2-40B4-BE49-F238E27FC236}">
                <a16:creationId xmlns:a16="http://schemas.microsoft.com/office/drawing/2014/main" id="{B078B193-84D9-42C0-8194-D404E96C1AC6}"/>
              </a:ext>
            </a:extLst>
          </p:cNvPr>
          <p:cNvSpPr/>
          <p:nvPr/>
        </p:nvSpPr>
        <p:spPr>
          <a:xfrm>
            <a:off x="6152444" y="2172723"/>
            <a:ext cx="2889527" cy="3493264"/>
          </a:xfrm>
          <a:prstGeom prst="rect">
            <a:avLst/>
          </a:prstGeom>
          <a:noFill/>
        </p:spPr>
        <p:txBody>
          <a:bodyPr wrap="square">
            <a:spAutoFit/>
          </a:bodyPr>
          <a:lstStyle/>
          <a:p>
            <a:pPr lvl="0">
              <a:defRPr/>
            </a:pPr>
            <a:r>
              <a:rPr lang="pt-BR" sz="2400" b="1" cap="all" dirty="0">
                <a:solidFill>
                  <a:prstClr val="black"/>
                </a:solidFill>
              </a:rPr>
              <a:t>de serviços:</a:t>
            </a:r>
          </a:p>
          <a:p>
            <a:pPr lvl="0" algn="ctr">
              <a:defRPr/>
            </a:pPr>
            <a:endParaRPr lang="pt-BR" sz="1100" b="1" cap="all" dirty="0">
              <a:solidFill>
                <a:prstClr val="black"/>
              </a:solidFill>
            </a:endParaRPr>
          </a:p>
          <a:p>
            <a:pPr marL="177800" lvl="0" indent="-177800">
              <a:spcAft>
                <a:spcPts val="600"/>
              </a:spcAft>
              <a:buFont typeface="Arial" panose="020B0604020202020204" pitchFamily="34" charset="0"/>
              <a:buChar char="•"/>
              <a:defRPr/>
            </a:pPr>
            <a:r>
              <a:rPr lang="pt-BR" sz="1600" cap="all" dirty="0">
                <a:solidFill>
                  <a:prstClr val="black"/>
                </a:solidFill>
              </a:rPr>
              <a:t>Padrão DE ATENDIMENTO</a:t>
            </a:r>
          </a:p>
          <a:p>
            <a:pPr marL="177800" lvl="0" indent="-177800">
              <a:spcAft>
                <a:spcPts val="600"/>
              </a:spcAft>
              <a:buFont typeface="Arial" panose="020B0604020202020204" pitchFamily="34" charset="0"/>
              <a:buChar char="•"/>
              <a:defRPr/>
            </a:pPr>
            <a:r>
              <a:rPr lang="pt-BR" sz="1600" cap="all" dirty="0">
                <a:solidFill>
                  <a:prstClr val="black"/>
                </a:solidFill>
              </a:rPr>
              <a:t>Facilidade de pedido</a:t>
            </a:r>
          </a:p>
          <a:p>
            <a:pPr marL="177800" lvl="0" indent="-177800">
              <a:spcAft>
                <a:spcPts val="600"/>
              </a:spcAft>
              <a:buFont typeface="Arial" panose="020B0604020202020204" pitchFamily="34" charset="0"/>
              <a:buChar char="•"/>
              <a:defRPr/>
            </a:pPr>
            <a:r>
              <a:rPr lang="pt-BR" sz="1600" cap="all" dirty="0">
                <a:solidFill>
                  <a:prstClr val="black"/>
                </a:solidFill>
              </a:rPr>
              <a:t>Entrega</a:t>
            </a:r>
          </a:p>
          <a:p>
            <a:pPr marL="177800" lvl="0" indent="-177800">
              <a:spcAft>
                <a:spcPts val="600"/>
              </a:spcAft>
              <a:buFont typeface="Arial" panose="020B0604020202020204" pitchFamily="34" charset="0"/>
              <a:buChar char="•"/>
              <a:defRPr/>
            </a:pPr>
            <a:r>
              <a:rPr lang="pt-BR" sz="1600" cap="all" dirty="0">
                <a:solidFill>
                  <a:prstClr val="black"/>
                </a:solidFill>
              </a:rPr>
              <a:t>Instalação/ativação</a:t>
            </a:r>
          </a:p>
          <a:p>
            <a:pPr marL="177800" lvl="0" indent="-177800">
              <a:spcAft>
                <a:spcPts val="600"/>
              </a:spcAft>
              <a:buFont typeface="Arial" panose="020B0604020202020204" pitchFamily="34" charset="0"/>
              <a:buChar char="•"/>
              <a:defRPr/>
            </a:pPr>
            <a:r>
              <a:rPr lang="pt-BR" sz="1600" cap="all" dirty="0">
                <a:solidFill>
                  <a:prstClr val="black"/>
                </a:solidFill>
              </a:rPr>
              <a:t>Treinamento ao cliente</a:t>
            </a:r>
          </a:p>
          <a:p>
            <a:pPr marL="177800" lvl="0" indent="-177800">
              <a:spcAft>
                <a:spcPts val="600"/>
              </a:spcAft>
              <a:buFont typeface="Arial" panose="020B0604020202020204" pitchFamily="34" charset="0"/>
              <a:buChar char="•"/>
              <a:defRPr/>
            </a:pPr>
            <a:r>
              <a:rPr lang="pt-BR" sz="1600" cap="all" dirty="0">
                <a:solidFill>
                  <a:prstClr val="black"/>
                </a:solidFill>
              </a:rPr>
              <a:t>Orientação ao cliente</a:t>
            </a:r>
          </a:p>
          <a:p>
            <a:pPr marL="177800" lvl="0" indent="-177800">
              <a:spcAft>
                <a:spcPts val="600"/>
              </a:spcAft>
              <a:buFont typeface="Arial" panose="020B0604020202020204" pitchFamily="34" charset="0"/>
              <a:buChar char="•"/>
              <a:defRPr/>
            </a:pPr>
            <a:r>
              <a:rPr lang="pt-BR" sz="1600" cap="all" dirty="0">
                <a:solidFill>
                  <a:prstClr val="black"/>
                </a:solidFill>
              </a:rPr>
              <a:t>RESOLUÇÃO DE PROBLEMAS</a:t>
            </a:r>
          </a:p>
          <a:p>
            <a:pPr marL="177800" lvl="0" indent="-177800">
              <a:spcAft>
                <a:spcPts val="600"/>
              </a:spcAft>
              <a:buFont typeface="Arial" panose="020B0604020202020204" pitchFamily="34" charset="0"/>
              <a:buChar char="•"/>
              <a:defRPr/>
            </a:pPr>
            <a:r>
              <a:rPr lang="pt-BR" sz="1600" cap="all" dirty="0">
                <a:solidFill>
                  <a:prstClr val="black"/>
                </a:solidFill>
              </a:rPr>
              <a:t>Manutenção e reparo</a:t>
            </a:r>
          </a:p>
          <a:p>
            <a:pPr marL="177800" lvl="0" indent="-177800">
              <a:spcAft>
                <a:spcPts val="600"/>
              </a:spcAft>
              <a:buFont typeface="Arial" panose="020B0604020202020204" pitchFamily="34" charset="0"/>
              <a:buChar char="•"/>
              <a:defRPr/>
            </a:pPr>
            <a:r>
              <a:rPr lang="pt-BR" sz="1600" cap="all" dirty="0">
                <a:solidFill>
                  <a:prstClr val="black"/>
                </a:solidFill>
              </a:rPr>
              <a:t>Devoluções ...</a:t>
            </a:r>
          </a:p>
        </p:txBody>
      </p:sp>
      <p:sp>
        <p:nvSpPr>
          <p:cNvPr id="2" name="Retângulo 1">
            <a:extLst>
              <a:ext uri="{FF2B5EF4-FFF2-40B4-BE49-F238E27FC236}">
                <a16:creationId xmlns:a16="http://schemas.microsoft.com/office/drawing/2014/main" id="{61A8196B-D242-A23C-B409-3F1983285570}"/>
              </a:ext>
            </a:extLst>
          </p:cNvPr>
          <p:cNvSpPr/>
          <p:nvPr/>
        </p:nvSpPr>
        <p:spPr>
          <a:xfrm>
            <a:off x="3114340" y="2188620"/>
            <a:ext cx="3242234" cy="4108817"/>
          </a:xfrm>
          <a:prstGeom prst="rect">
            <a:avLst/>
          </a:prstGeom>
          <a:noFill/>
        </p:spPr>
        <p:txBody>
          <a:bodyPr wrap="square">
            <a:spAutoFit/>
          </a:bodyPr>
          <a:lstStyle/>
          <a:p>
            <a:pPr lvl="0">
              <a:defRPr/>
            </a:pPr>
            <a:r>
              <a:rPr lang="pt-BR" sz="2400" b="1" cap="all" dirty="0">
                <a:solidFill>
                  <a:prstClr val="black"/>
                </a:solidFill>
              </a:rPr>
              <a:t>de softwares:</a:t>
            </a:r>
          </a:p>
          <a:p>
            <a:pPr lvl="0" algn="ctr">
              <a:defRPr/>
            </a:pPr>
            <a:endParaRPr lang="pt-BR" sz="1100" b="1" cap="all" dirty="0">
              <a:solidFill>
                <a:prstClr val="black"/>
              </a:solidFill>
            </a:endParaRPr>
          </a:p>
          <a:p>
            <a:pPr marL="177800" lvl="0" indent="-177800">
              <a:spcAft>
                <a:spcPts val="600"/>
              </a:spcAft>
              <a:buFont typeface="Arial" panose="020B0604020202020204" pitchFamily="34" charset="0"/>
              <a:buChar char="•"/>
              <a:defRPr/>
            </a:pPr>
            <a:r>
              <a:rPr lang="pt-BR" sz="1600" cap="all" dirty="0">
                <a:solidFill>
                  <a:prstClr val="black"/>
                </a:solidFill>
              </a:rPr>
              <a:t>Utilidade</a:t>
            </a:r>
          </a:p>
          <a:p>
            <a:pPr marL="177800" lvl="0" indent="-177800">
              <a:spcAft>
                <a:spcPts val="600"/>
              </a:spcAft>
              <a:buFont typeface="Arial" panose="020B0604020202020204" pitchFamily="34" charset="0"/>
              <a:buChar char="•"/>
              <a:defRPr/>
            </a:pPr>
            <a:r>
              <a:rPr lang="pt-BR" sz="1600" cap="all" dirty="0">
                <a:solidFill>
                  <a:prstClr val="black"/>
                </a:solidFill>
              </a:rPr>
              <a:t>Funcionalidades</a:t>
            </a:r>
          </a:p>
          <a:p>
            <a:pPr marL="177800" lvl="0" indent="-177800">
              <a:spcAft>
                <a:spcPts val="600"/>
              </a:spcAft>
              <a:buFont typeface="Arial" panose="020B0604020202020204" pitchFamily="34" charset="0"/>
              <a:buChar char="•"/>
              <a:defRPr/>
            </a:pPr>
            <a:r>
              <a:rPr lang="pt-BR" sz="1600" cap="all" dirty="0">
                <a:solidFill>
                  <a:prstClr val="black"/>
                </a:solidFill>
              </a:rPr>
              <a:t>Experiência do usuário</a:t>
            </a:r>
          </a:p>
          <a:p>
            <a:pPr marL="177800" lvl="0" indent="-177800">
              <a:spcAft>
                <a:spcPts val="600"/>
              </a:spcAft>
              <a:buFont typeface="Arial" panose="020B0604020202020204" pitchFamily="34" charset="0"/>
              <a:buChar char="•"/>
              <a:defRPr/>
            </a:pPr>
            <a:r>
              <a:rPr lang="pt-BR" sz="1600" cap="all" dirty="0">
                <a:solidFill>
                  <a:prstClr val="black"/>
                </a:solidFill>
              </a:rPr>
              <a:t>Especialização/nicho</a:t>
            </a:r>
          </a:p>
          <a:p>
            <a:pPr marL="177800" indent="-177800">
              <a:spcAft>
                <a:spcPts val="600"/>
              </a:spcAft>
              <a:buFont typeface="Arial" panose="020B0604020202020204" pitchFamily="34" charset="0"/>
              <a:buChar char="•"/>
              <a:defRPr/>
            </a:pPr>
            <a:r>
              <a:rPr lang="pt-BR" sz="1600" cap="all" dirty="0">
                <a:solidFill>
                  <a:prstClr val="black"/>
                </a:solidFill>
              </a:rPr>
              <a:t>personalização</a:t>
            </a:r>
          </a:p>
          <a:p>
            <a:pPr marL="177800" lvl="0" indent="-177800">
              <a:spcAft>
                <a:spcPts val="600"/>
              </a:spcAft>
              <a:buFont typeface="Arial" panose="020B0604020202020204" pitchFamily="34" charset="0"/>
              <a:buChar char="•"/>
              <a:defRPr/>
            </a:pPr>
            <a:r>
              <a:rPr lang="pt-BR" sz="1600" cap="all" dirty="0">
                <a:solidFill>
                  <a:prstClr val="black"/>
                </a:solidFill>
              </a:rPr>
              <a:t>Modelo de negócios</a:t>
            </a:r>
          </a:p>
          <a:p>
            <a:pPr marL="177800" lvl="0" indent="-177800">
              <a:spcAft>
                <a:spcPts val="600"/>
              </a:spcAft>
              <a:buFont typeface="Arial" panose="020B0604020202020204" pitchFamily="34" charset="0"/>
              <a:buChar char="•"/>
              <a:defRPr/>
            </a:pPr>
            <a:r>
              <a:rPr lang="pt-BR" sz="1600" cap="all" dirty="0">
                <a:solidFill>
                  <a:prstClr val="black"/>
                </a:solidFill>
              </a:rPr>
              <a:t>Integração</a:t>
            </a:r>
          </a:p>
          <a:p>
            <a:pPr marL="177800" lvl="0" indent="-177800">
              <a:spcAft>
                <a:spcPts val="600"/>
              </a:spcAft>
              <a:buFont typeface="Arial" panose="020B0604020202020204" pitchFamily="34" charset="0"/>
              <a:buChar char="•"/>
              <a:defRPr/>
            </a:pPr>
            <a:r>
              <a:rPr lang="pt-BR" sz="1600" cap="all" dirty="0">
                <a:solidFill>
                  <a:prstClr val="black"/>
                </a:solidFill>
              </a:rPr>
              <a:t>Qualidade técnica</a:t>
            </a:r>
          </a:p>
          <a:p>
            <a:pPr marL="177800" lvl="0" indent="-177800">
              <a:spcAft>
                <a:spcPts val="600"/>
              </a:spcAft>
              <a:buFont typeface="Arial" panose="020B0604020202020204" pitchFamily="34" charset="0"/>
              <a:buChar char="•"/>
              <a:defRPr/>
            </a:pPr>
            <a:r>
              <a:rPr lang="pt-BR" sz="1600" cap="all" dirty="0">
                <a:solidFill>
                  <a:prstClr val="black"/>
                </a:solidFill>
              </a:rPr>
              <a:t>Tecnologias aplicadas</a:t>
            </a:r>
          </a:p>
          <a:p>
            <a:pPr marL="177800" lvl="0" indent="-177800">
              <a:spcAft>
                <a:spcPts val="600"/>
              </a:spcAft>
              <a:buFont typeface="Arial" panose="020B0604020202020204" pitchFamily="34" charset="0"/>
              <a:buChar char="•"/>
              <a:defRPr/>
            </a:pPr>
            <a:r>
              <a:rPr lang="pt-BR" sz="1600" cap="all" dirty="0">
                <a:solidFill>
                  <a:prstClr val="black"/>
                </a:solidFill>
              </a:rPr>
              <a:t>Serviços e suporte ...</a:t>
            </a:r>
          </a:p>
          <a:p>
            <a:pPr marL="177800" lvl="0" indent="-177800">
              <a:spcAft>
                <a:spcPts val="600"/>
              </a:spcAft>
              <a:buFont typeface="Arial" panose="020B0604020202020204" pitchFamily="34" charset="0"/>
              <a:buChar char="•"/>
              <a:defRPr/>
            </a:pPr>
            <a:endParaRPr lang="pt-BR" sz="1600" cap="all" dirty="0">
              <a:solidFill>
                <a:prstClr val="black"/>
              </a:solidFill>
            </a:endParaRPr>
          </a:p>
        </p:txBody>
      </p:sp>
    </p:spTree>
    <p:extLst>
      <p:ext uri="{BB962C8B-B14F-4D97-AF65-F5344CB8AC3E}">
        <p14:creationId xmlns:p14="http://schemas.microsoft.com/office/powerpoint/2010/main" val="98609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15</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sp>
        <p:nvSpPr>
          <p:cNvPr id="6" name="Retângulo 5">
            <a:extLst>
              <a:ext uri="{FF2B5EF4-FFF2-40B4-BE49-F238E27FC236}">
                <a16:creationId xmlns:a16="http://schemas.microsoft.com/office/drawing/2014/main" id="{85E81A8A-ED4D-4488-8311-5B01A71F9FEC}"/>
              </a:ext>
            </a:extLst>
          </p:cNvPr>
          <p:cNvSpPr/>
          <p:nvPr/>
        </p:nvSpPr>
        <p:spPr>
          <a:xfrm>
            <a:off x="201478" y="1433636"/>
            <a:ext cx="8741044" cy="4431983"/>
          </a:xfrm>
          <a:prstGeom prst="rect">
            <a:avLst/>
          </a:prstGeom>
          <a:solidFill>
            <a:schemeClr val="bg1"/>
          </a:solidFill>
        </p:spPr>
        <p:txBody>
          <a:bodyPr wrap="square">
            <a:spAutoFit/>
          </a:bodyPr>
          <a:lstStyle/>
          <a:p>
            <a:pPr lvl="0" algn="ctr">
              <a:defRPr/>
            </a:pPr>
            <a:r>
              <a:rPr lang="pt-BR" sz="3600" b="1" cap="all" dirty="0">
                <a:solidFill>
                  <a:prstClr val="black"/>
                </a:solidFill>
              </a:rPr>
              <a:t>FIDELIDADE </a:t>
            </a:r>
            <a:r>
              <a:rPr lang="pt-BR" sz="3600" b="1" cap="all" dirty="0" err="1">
                <a:solidFill>
                  <a:prstClr val="black"/>
                </a:solidFill>
              </a:rPr>
              <a:t>dOS</a:t>
            </a:r>
            <a:r>
              <a:rPr lang="pt-BR" sz="3600" b="1" cap="all" dirty="0">
                <a:solidFill>
                  <a:prstClr val="black"/>
                </a:solidFill>
              </a:rPr>
              <a:t> protótipos</a:t>
            </a:r>
          </a:p>
          <a:p>
            <a:pPr lvl="0" algn="ctr">
              <a:defRPr/>
            </a:pPr>
            <a:endParaRPr lang="pt-BR" sz="1400" b="1" cap="all" dirty="0">
              <a:solidFill>
                <a:prstClr val="black"/>
              </a:solidFill>
            </a:endParaRPr>
          </a:p>
          <a:p>
            <a:pPr algn="ctr"/>
            <a:r>
              <a:rPr lang="pt-BR" sz="2400" b="1" cap="small" dirty="0"/>
              <a:t>Baixa fidelidade / complexidade</a:t>
            </a:r>
          </a:p>
          <a:p>
            <a:pPr algn="ctr"/>
            <a:r>
              <a:rPr lang="pt-BR" sz="1600" cap="small" dirty="0">
                <a:solidFill>
                  <a:schemeClr val="tx2"/>
                </a:solidFill>
              </a:rPr>
              <a:t>são baratos e mais rápidos de fazer. Um exemplo são telas de um aplicativo desenhadas em papel mesmo. Geralmente, estes são usados no início do processo, como primeiro passo para construção de um protótipo um pouco mais complexo. Mesmo nessa etapa, já dá para perceber possíveis problemas e soluções.</a:t>
            </a:r>
          </a:p>
          <a:p>
            <a:pPr algn="ctr"/>
            <a:endParaRPr lang="pt-BR" sz="1600" cap="small" dirty="0">
              <a:solidFill>
                <a:schemeClr val="tx2"/>
              </a:solidFill>
            </a:endParaRPr>
          </a:p>
          <a:p>
            <a:pPr algn="ctr"/>
            <a:r>
              <a:rPr lang="pt-BR" sz="2400" b="1" cap="small" dirty="0"/>
              <a:t>Média fidelidade / complexidade</a:t>
            </a:r>
          </a:p>
          <a:p>
            <a:pPr algn="ctr"/>
            <a:r>
              <a:rPr lang="pt-BR" sz="1600" cap="small" dirty="0">
                <a:solidFill>
                  <a:schemeClr val="tx2"/>
                </a:solidFill>
              </a:rPr>
              <a:t>são os modelos em escala, por exemplo. Com essas simulações, dá para testar materiais ou acabamentos. No caso de soluções digitais, são protótipos com layout e/ou navegação simplificados, que já podem ser suficientes para testar alguns aspectos da interação do usuário com a ferramenta.</a:t>
            </a:r>
          </a:p>
          <a:p>
            <a:pPr algn="ctr"/>
            <a:endParaRPr lang="pt-BR" sz="1600" cap="small" dirty="0">
              <a:solidFill>
                <a:schemeClr val="tx2"/>
              </a:solidFill>
            </a:endParaRPr>
          </a:p>
          <a:p>
            <a:pPr algn="ctr"/>
            <a:r>
              <a:rPr lang="pt-BR" sz="2400" b="1" cap="small" dirty="0"/>
              <a:t>Alta fidelidade / complexidade</a:t>
            </a:r>
          </a:p>
          <a:p>
            <a:pPr algn="ctr"/>
            <a:r>
              <a:rPr lang="pt-BR" sz="1600" cap="small" dirty="0">
                <a:solidFill>
                  <a:schemeClr val="tx2"/>
                </a:solidFill>
              </a:rPr>
              <a:t>podem ser os modelos em tamanho real ou os </a:t>
            </a:r>
            <a:r>
              <a:rPr lang="pt-BR" sz="1600" b="1" cap="small" dirty="0" err="1">
                <a:solidFill>
                  <a:schemeClr val="tx2"/>
                </a:solidFill>
              </a:rPr>
              <a:t>MVPs</a:t>
            </a:r>
            <a:r>
              <a:rPr lang="pt-BR" sz="1600" cap="small" dirty="0">
                <a:solidFill>
                  <a:schemeClr val="tx2"/>
                </a:solidFill>
              </a:rPr>
              <a:t>. Eles representam bem o produto final, mas, em geral têm apenas uma ou poucas funções realmente funcionando.</a:t>
            </a:r>
            <a:endParaRPr lang="pt-BR" sz="1200" cap="small" dirty="0">
              <a:solidFill>
                <a:schemeClr val="tx2"/>
              </a:solidFill>
            </a:endParaRPr>
          </a:p>
        </p:txBody>
      </p:sp>
    </p:spTree>
    <p:extLst>
      <p:ext uri="{BB962C8B-B14F-4D97-AF65-F5344CB8AC3E}">
        <p14:creationId xmlns:p14="http://schemas.microsoft.com/office/powerpoint/2010/main" val="456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fade">
                                      <p:cBhvr>
                                        <p:cTn id="15" dur="500"/>
                                        <p:tgtEl>
                                          <p:spTgt spid="6">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fade">
                                      <p:cBhvr>
                                        <p:cTn id="18" dur="500"/>
                                        <p:tgtEl>
                                          <p:spTgt spid="6">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animEffect transition="in" filter="fade">
                                      <p:cBhvr>
                                        <p:cTn id="23" dur="500"/>
                                        <p:tgtEl>
                                          <p:spTgt spid="6">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9" end="9"/>
                                            </p:txEl>
                                          </p:spTgt>
                                        </p:tgtEl>
                                        <p:attrNameLst>
                                          <p:attrName>style.visibility</p:attrName>
                                        </p:attrNameLst>
                                      </p:cBhvr>
                                      <p:to>
                                        <p:strVal val="visible"/>
                                      </p:to>
                                    </p:set>
                                    <p:animEffect transition="in" filter="fade">
                                      <p:cBhvr>
                                        <p:cTn id="26"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Cantos Arredondados 10">
            <a:extLst>
              <a:ext uri="{FF2B5EF4-FFF2-40B4-BE49-F238E27FC236}">
                <a16:creationId xmlns:a16="http://schemas.microsoft.com/office/drawing/2014/main" id="{905C4BA6-4712-4182-9E6F-D819D57FBEBE}"/>
              </a:ext>
            </a:extLst>
          </p:cNvPr>
          <p:cNvSpPr/>
          <p:nvPr/>
        </p:nvSpPr>
        <p:spPr>
          <a:xfrm>
            <a:off x="253566" y="2346087"/>
            <a:ext cx="8636867" cy="4133735"/>
          </a:xfrm>
          <a:prstGeom prst="roundRect">
            <a:avLst>
              <a:gd name="adj" fmla="val 8899"/>
            </a:avLst>
          </a:prstGeom>
          <a:solidFill>
            <a:schemeClr val="accent3">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pt-BR" sz="1350" b="1" cap="small" dirty="0">
              <a:solidFill>
                <a:schemeClr val="tx1"/>
              </a:solidFill>
            </a:endParaRPr>
          </a:p>
        </p:txBody>
      </p:sp>
      <p:sp>
        <p:nvSpPr>
          <p:cNvPr id="12" name="CaixaDeTexto 11">
            <a:extLst>
              <a:ext uri="{FF2B5EF4-FFF2-40B4-BE49-F238E27FC236}">
                <a16:creationId xmlns:a16="http://schemas.microsoft.com/office/drawing/2014/main" id="{9852E5F2-24DB-4C20-89C3-61E30706E4EC}"/>
              </a:ext>
            </a:extLst>
          </p:cNvPr>
          <p:cNvSpPr txBox="1"/>
          <p:nvPr/>
        </p:nvSpPr>
        <p:spPr>
          <a:xfrm>
            <a:off x="-754882" y="742523"/>
            <a:ext cx="8262257" cy="461665"/>
          </a:xfrm>
          <a:prstGeom prst="rect">
            <a:avLst/>
          </a:prstGeom>
          <a:noFill/>
        </p:spPr>
        <p:txBody>
          <a:bodyPr wrap="square" rtlCol="0">
            <a:spAutoFit/>
          </a:bodyPr>
          <a:lstStyle/>
          <a:p>
            <a:pPr algn="ctr"/>
            <a:r>
              <a:rPr lang="pt-BR" sz="2400" dirty="0"/>
              <a:t>DIFERENTES NÍVEIS DE PROTOTIPAGEM</a:t>
            </a:r>
          </a:p>
        </p:txBody>
      </p:sp>
      <p:pic>
        <p:nvPicPr>
          <p:cNvPr id="5" name="Imagem 4">
            <a:extLst>
              <a:ext uri="{FF2B5EF4-FFF2-40B4-BE49-F238E27FC236}">
                <a16:creationId xmlns:a16="http://schemas.microsoft.com/office/drawing/2014/main" id="{4CBE222B-10EC-C83B-A05D-3ABCE9323690}"/>
              </a:ext>
            </a:extLst>
          </p:cNvPr>
          <p:cNvPicPr>
            <a:picLocks noChangeAspect="1"/>
          </p:cNvPicPr>
          <p:nvPr/>
        </p:nvPicPr>
        <p:blipFill rotWithShape="1">
          <a:blip r:embed="rId2"/>
          <a:srcRect b="9453"/>
          <a:stretch/>
        </p:blipFill>
        <p:spPr>
          <a:xfrm>
            <a:off x="1269461" y="3047384"/>
            <a:ext cx="6621471" cy="3330838"/>
          </a:xfrm>
          <a:prstGeom prst="rect">
            <a:avLst/>
          </a:prstGeom>
        </p:spPr>
      </p:pic>
      <p:sp>
        <p:nvSpPr>
          <p:cNvPr id="3" name="TextBox 2">
            <a:extLst>
              <a:ext uri="{FF2B5EF4-FFF2-40B4-BE49-F238E27FC236}">
                <a16:creationId xmlns:a16="http://schemas.microsoft.com/office/drawing/2014/main" id="{C7024BBF-E1D2-4929-ADD6-03DACCC75B32}"/>
              </a:ext>
            </a:extLst>
          </p:cNvPr>
          <p:cNvSpPr txBox="1"/>
          <p:nvPr/>
        </p:nvSpPr>
        <p:spPr>
          <a:xfrm>
            <a:off x="1574829" y="2534329"/>
            <a:ext cx="1521570" cy="400110"/>
          </a:xfrm>
          <a:prstGeom prst="rect">
            <a:avLst/>
          </a:prstGeom>
          <a:noFill/>
        </p:spPr>
        <p:txBody>
          <a:bodyPr wrap="none" rtlCol="0">
            <a:spAutoFit/>
          </a:bodyPr>
          <a:lstStyle/>
          <a:p>
            <a:r>
              <a:rPr lang="pt-BR" sz="2000" b="1" dirty="0"/>
              <a:t>WIREFRAME</a:t>
            </a:r>
          </a:p>
        </p:txBody>
      </p:sp>
      <p:sp>
        <p:nvSpPr>
          <p:cNvPr id="9" name="TextBox 8">
            <a:extLst>
              <a:ext uri="{FF2B5EF4-FFF2-40B4-BE49-F238E27FC236}">
                <a16:creationId xmlns:a16="http://schemas.microsoft.com/office/drawing/2014/main" id="{ADC537AE-0F10-43AA-BB10-00B81A6755C2}"/>
              </a:ext>
            </a:extLst>
          </p:cNvPr>
          <p:cNvSpPr txBox="1"/>
          <p:nvPr/>
        </p:nvSpPr>
        <p:spPr>
          <a:xfrm>
            <a:off x="3994673" y="2534329"/>
            <a:ext cx="1159228" cy="400110"/>
          </a:xfrm>
          <a:prstGeom prst="rect">
            <a:avLst/>
          </a:prstGeom>
          <a:noFill/>
        </p:spPr>
        <p:txBody>
          <a:bodyPr wrap="none" rtlCol="0">
            <a:spAutoFit/>
          </a:bodyPr>
          <a:lstStyle/>
          <a:p>
            <a:r>
              <a:rPr lang="pt-BR" sz="2000" b="1" dirty="0"/>
              <a:t>MOCKUP</a:t>
            </a:r>
          </a:p>
        </p:txBody>
      </p:sp>
      <p:sp>
        <p:nvSpPr>
          <p:cNvPr id="10" name="TextBox 9">
            <a:extLst>
              <a:ext uri="{FF2B5EF4-FFF2-40B4-BE49-F238E27FC236}">
                <a16:creationId xmlns:a16="http://schemas.microsoft.com/office/drawing/2014/main" id="{EEDCADD0-1688-4666-8381-E1A5AC2616C5}"/>
              </a:ext>
            </a:extLst>
          </p:cNvPr>
          <p:cNvSpPr txBox="1"/>
          <p:nvPr/>
        </p:nvSpPr>
        <p:spPr>
          <a:xfrm>
            <a:off x="6190760" y="2531523"/>
            <a:ext cx="1422377" cy="400110"/>
          </a:xfrm>
          <a:prstGeom prst="rect">
            <a:avLst/>
          </a:prstGeom>
          <a:noFill/>
        </p:spPr>
        <p:txBody>
          <a:bodyPr wrap="none" rtlCol="0">
            <a:spAutoFit/>
          </a:bodyPr>
          <a:lstStyle/>
          <a:p>
            <a:r>
              <a:rPr lang="pt-BR" sz="2000" b="1" dirty="0"/>
              <a:t>PROTÓTIPO</a:t>
            </a:r>
          </a:p>
        </p:txBody>
      </p:sp>
      <p:sp>
        <p:nvSpPr>
          <p:cNvPr id="7" name="CaixaDeTexto 6">
            <a:extLst>
              <a:ext uri="{FF2B5EF4-FFF2-40B4-BE49-F238E27FC236}">
                <a16:creationId xmlns:a16="http://schemas.microsoft.com/office/drawing/2014/main" id="{553F6E5E-1207-64AE-0154-BB54A4855C80}"/>
              </a:ext>
            </a:extLst>
          </p:cNvPr>
          <p:cNvSpPr txBox="1"/>
          <p:nvPr/>
        </p:nvSpPr>
        <p:spPr>
          <a:xfrm>
            <a:off x="133909" y="1412144"/>
            <a:ext cx="892915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3600" b="1" i="0" u="none" strike="noStrike" kern="1200" cap="all" spc="0" normalizeH="0" baseline="0" noProof="0" dirty="0">
                <a:ln>
                  <a:noFill/>
                </a:ln>
                <a:solidFill>
                  <a:prstClr val="black"/>
                </a:solidFill>
                <a:effectLst/>
                <a:uLnTx/>
                <a:uFillTx/>
                <a:latin typeface="Calibri"/>
                <a:ea typeface="+mn-ea"/>
                <a:cs typeface="+mn-cs"/>
              </a:rPr>
              <a:t>FIDELIDADE de protótipos de software</a:t>
            </a:r>
          </a:p>
        </p:txBody>
      </p:sp>
    </p:spTree>
    <p:extLst>
      <p:ext uri="{BB962C8B-B14F-4D97-AF65-F5344CB8AC3E}">
        <p14:creationId xmlns:p14="http://schemas.microsoft.com/office/powerpoint/2010/main" val="40028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AEAB-1CA2-4247-D195-2FEE09CECE37}"/>
            </a:ext>
          </a:extLst>
        </p:cNvPr>
        <p:cNvGrpSpPr/>
        <p:nvPr/>
      </p:nvGrpSpPr>
      <p:grpSpPr>
        <a:xfrm>
          <a:off x="0" y="0"/>
          <a:ext cx="0" cy="0"/>
          <a:chOff x="0" y="0"/>
          <a:chExt cx="0" cy="0"/>
        </a:xfrm>
      </p:grpSpPr>
      <p:sp>
        <p:nvSpPr>
          <p:cNvPr id="32" name="Retângulo: Cantos Arredondados 31">
            <a:extLst>
              <a:ext uri="{FF2B5EF4-FFF2-40B4-BE49-F238E27FC236}">
                <a16:creationId xmlns:a16="http://schemas.microsoft.com/office/drawing/2014/main" id="{9B8CFA6A-A90B-C5BF-D8F9-E726B5893373}"/>
              </a:ext>
            </a:extLst>
          </p:cNvPr>
          <p:cNvSpPr/>
          <p:nvPr/>
        </p:nvSpPr>
        <p:spPr>
          <a:xfrm>
            <a:off x="253566" y="2346087"/>
            <a:ext cx="8636867" cy="4133735"/>
          </a:xfrm>
          <a:prstGeom prst="roundRect">
            <a:avLst>
              <a:gd name="adj" fmla="val 8899"/>
            </a:avLst>
          </a:prstGeom>
          <a:solidFill>
            <a:schemeClr val="accent3">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pt-BR" sz="1350" b="1" cap="small" dirty="0">
              <a:solidFill>
                <a:schemeClr val="tx1"/>
              </a:solidFill>
            </a:endParaRPr>
          </a:p>
        </p:txBody>
      </p:sp>
      <p:sp>
        <p:nvSpPr>
          <p:cNvPr id="12" name="CaixaDeTexto 11">
            <a:extLst>
              <a:ext uri="{FF2B5EF4-FFF2-40B4-BE49-F238E27FC236}">
                <a16:creationId xmlns:a16="http://schemas.microsoft.com/office/drawing/2014/main" id="{B6D74591-589B-44EB-376F-A5876F2456A8}"/>
              </a:ext>
            </a:extLst>
          </p:cNvPr>
          <p:cNvSpPr txBox="1"/>
          <p:nvPr/>
        </p:nvSpPr>
        <p:spPr>
          <a:xfrm>
            <a:off x="-754882" y="742523"/>
            <a:ext cx="8262257" cy="461665"/>
          </a:xfrm>
          <a:prstGeom prst="rect">
            <a:avLst/>
          </a:prstGeom>
          <a:noFill/>
        </p:spPr>
        <p:txBody>
          <a:bodyPr wrap="square" rtlCol="0">
            <a:spAutoFit/>
          </a:bodyPr>
          <a:lstStyle/>
          <a:p>
            <a:pPr algn="ctr"/>
            <a:r>
              <a:rPr lang="pt-BR" sz="2400" dirty="0"/>
              <a:t>DIFERENTES NÍVEIS DE PROTOTIPAGEM</a:t>
            </a:r>
          </a:p>
        </p:txBody>
      </p:sp>
      <p:sp>
        <p:nvSpPr>
          <p:cNvPr id="3" name="TextBox 2">
            <a:extLst>
              <a:ext uri="{FF2B5EF4-FFF2-40B4-BE49-F238E27FC236}">
                <a16:creationId xmlns:a16="http://schemas.microsoft.com/office/drawing/2014/main" id="{AD5AF3E6-5729-D610-CBCA-AB23563685B0}"/>
              </a:ext>
            </a:extLst>
          </p:cNvPr>
          <p:cNvSpPr txBox="1"/>
          <p:nvPr/>
        </p:nvSpPr>
        <p:spPr>
          <a:xfrm>
            <a:off x="1102833" y="2580894"/>
            <a:ext cx="1541704" cy="400110"/>
          </a:xfrm>
          <a:prstGeom prst="rect">
            <a:avLst/>
          </a:prstGeom>
          <a:noFill/>
        </p:spPr>
        <p:txBody>
          <a:bodyPr wrap="none" rtlCol="0">
            <a:spAutoFit/>
          </a:bodyPr>
          <a:lstStyle/>
          <a:p>
            <a:r>
              <a:rPr lang="pt-BR" sz="2000" b="1" dirty="0"/>
              <a:t>CONCEITUAL</a:t>
            </a:r>
          </a:p>
        </p:txBody>
      </p:sp>
      <p:sp>
        <p:nvSpPr>
          <p:cNvPr id="9" name="TextBox 8">
            <a:extLst>
              <a:ext uri="{FF2B5EF4-FFF2-40B4-BE49-F238E27FC236}">
                <a16:creationId xmlns:a16="http://schemas.microsoft.com/office/drawing/2014/main" id="{F5ECD4B9-0010-7408-0524-E0E74C2723E4}"/>
              </a:ext>
            </a:extLst>
          </p:cNvPr>
          <p:cNvSpPr txBox="1"/>
          <p:nvPr/>
        </p:nvSpPr>
        <p:spPr>
          <a:xfrm>
            <a:off x="3842567" y="2605905"/>
            <a:ext cx="1489382" cy="400110"/>
          </a:xfrm>
          <a:prstGeom prst="rect">
            <a:avLst/>
          </a:prstGeom>
          <a:noFill/>
        </p:spPr>
        <p:txBody>
          <a:bodyPr wrap="none" rtlCol="0">
            <a:spAutoFit/>
          </a:bodyPr>
          <a:lstStyle/>
          <a:p>
            <a:r>
              <a:rPr lang="pt-BR" sz="2000" b="1" dirty="0"/>
              <a:t>SIMULAÇÃO</a:t>
            </a:r>
          </a:p>
        </p:txBody>
      </p:sp>
      <p:sp>
        <p:nvSpPr>
          <p:cNvPr id="10" name="TextBox 9">
            <a:extLst>
              <a:ext uri="{FF2B5EF4-FFF2-40B4-BE49-F238E27FC236}">
                <a16:creationId xmlns:a16="http://schemas.microsoft.com/office/drawing/2014/main" id="{AD8C3187-32FF-1EAB-C452-1D0448318E37}"/>
              </a:ext>
            </a:extLst>
          </p:cNvPr>
          <p:cNvSpPr txBox="1"/>
          <p:nvPr/>
        </p:nvSpPr>
        <p:spPr>
          <a:xfrm>
            <a:off x="6394254" y="4485473"/>
            <a:ext cx="1648207" cy="261610"/>
          </a:xfrm>
          <a:prstGeom prst="rect">
            <a:avLst/>
          </a:prstGeom>
          <a:noFill/>
        </p:spPr>
        <p:txBody>
          <a:bodyPr wrap="none" rtlCol="0">
            <a:spAutoFit/>
          </a:bodyPr>
          <a:lstStyle/>
          <a:p>
            <a:pPr algn="ctr"/>
            <a:r>
              <a:rPr lang="pt-BR" sz="1100" dirty="0">
                <a:solidFill>
                  <a:srgbClr val="C00000"/>
                </a:solidFill>
              </a:rPr>
              <a:t>AMBIENTE CONTROLADO</a:t>
            </a:r>
          </a:p>
        </p:txBody>
      </p:sp>
      <p:sp>
        <p:nvSpPr>
          <p:cNvPr id="7" name="CaixaDeTexto 6">
            <a:extLst>
              <a:ext uri="{FF2B5EF4-FFF2-40B4-BE49-F238E27FC236}">
                <a16:creationId xmlns:a16="http://schemas.microsoft.com/office/drawing/2014/main" id="{34E26EA9-85E7-4CE5-C966-24990F3643C6}"/>
              </a:ext>
            </a:extLst>
          </p:cNvPr>
          <p:cNvSpPr txBox="1"/>
          <p:nvPr/>
        </p:nvSpPr>
        <p:spPr>
          <a:xfrm>
            <a:off x="133909" y="1412144"/>
            <a:ext cx="892915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3600" b="1" i="0" u="none" strike="noStrike" kern="1200" cap="all" spc="0" normalizeH="0" baseline="0" noProof="0" dirty="0">
                <a:ln>
                  <a:noFill/>
                </a:ln>
                <a:solidFill>
                  <a:prstClr val="black"/>
                </a:solidFill>
                <a:effectLst/>
                <a:uLnTx/>
                <a:uFillTx/>
                <a:latin typeface="Calibri"/>
                <a:ea typeface="+mn-ea"/>
                <a:cs typeface="+mn-cs"/>
              </a:rPr>
              <a:t>FIDELIDADE de protótipos de serviços</a:t>
            </a:r>
          </a:p>
        </p:txBody>
      </p:sp>
      <p:sp>
        <p:nvSpPr>
          <p:cNvPr id="4" name="TextBox 2">
            <a:extLst>
              <a:ext uri="{FF2B5EF4-FFF2-40B4-BE49-F238E27FC236}">
                <a16:creationId xmlns:a16="http://schemas.microsoft.com/office/drawing/2014/main" id="{9B2CA297-2F93-7CFE-ED90-BC869C779B92}"/>
              </a:ext>
            </a:extLst>
          </p:cNvPr>
          <p:cNvSpPr txBox="1"/>
          <p:nvPr/>
        </p:nvSpPr>
        <p:spPr>
          <a:xfrm>
            <a:off x="6446351" y="2611767"/>
            <a:ext cx="1579278" cy="400110"/>
          </a:xfrm>
          <a:prstGeom prst="rect">
            <a:avLst/>
          </a:prstGeom>
          <a:noFill/>
        </p:spPr>
        <p:txBody>
          <a:bodyPr wrap="none" rtlCol="0">
            <a:spAutoFit/>
          </a:bodyPr>
          <a:lstStyle/>
          <a:p>
            <a:r>
              <a:rPr lang="pt-BR" sz="2000" b="1" dirty="0"/>
              <a:t>EXPERIÊNCIA</a:t>
            </a:r>
          </a:p>
        </p:txBody>
      </p:sp>
      <p:pic>
        <p:nvPicPr>
          <p:cNvPr id="15" name="Imagem 14">
            <a:extLst>
              <a:ext uri="{FF2B5EF4-FFF2-40B4-BE49-F238E27FC236}">
                <a16:creationId xmlns:a16="http://schemas.microsoft.com/office/drawing/2014/main" id="{B8E25DC9-E294-CD42-F883-C09C5654B477}"/>
              </a:ext>
            </a:extLst>
          </p:cNvPr>
          <p:cNvPicPr>
            <a:picLocks noChangeAspect="1"/>
          </p:cNvPicPr>
          <p:nvPr/>
        </p:nvPicPr>
        <p:blipFill>
          <a:blip r:embed="rId2"/>
          <a:stretch>
            <a:fillRect/>
          </a:stretch>
        </p:blipFill>
        <p:spPr>
          <a:xfrm>
            <a:off x="802966" y="3211729"/>
            <a:ext cx="2119830" cy="1208650"/>
          </a:xfrm>
          <a:prstGeom prst="rect">
            <a:avLst/>
          </a:prstGeom>
        </p:spPr>
      </p:pic>
      <p:pic>
        <p:nvPicPr>
          <p:cNvPr id="17" name="Imagem 16">
            <a:extLst>
              <a:ext uri="{FF2B5EF4-FFF2-40B4-BE49-F238E27FC236}">
                <a16:creationId xmlns:a16="http://schemas.microsoft.com/office/drawing/2014/main" id="{D23BC907-AC57-BA42-7BC2-FD22F9C2A49C}"/>
              </a:ext>
            </a:extLst>
          </p:cNvPr>
          <p:cNvPicPr>
            <a:picLocks noChangeAspect="1"/>
          </p:cNvPicPr>
          <p:nvPr/>
        </p:nvPicPr>
        <p:blipFill>
          <a:blip r:embed="rId3"/>
          <a:stretch>
            <a:fillRect/>
          </a:stretch>
        </p:blipFill>
        <p:spPr>
          <a:xfrm>
            <a:off x="802412" y="4852694"/>
            <a:ext cx="2120938" cy="1198706"/>
          </a:xfrm>
          <a:prstGeom prst="rect">
            <a:avLst/>
          </a:prstGeom>
        </p:spPr>
      </p:pic>
      <p:pic>
        <p:nvPicPr>
          <p:cNvPr id="21" name="Imagem 20">
            <a:extLst>
              <a:ext uri="{FF2B5EF4-FFF2-40B4-BE49-F238E27FC236}">
                <a16:creationId xmlns:a16="http://schemas.microsoft.com/office/drawing/2014/main" id="{D947D684-17B1-C9BC-2DFE-B6712C27BAD8}"/>
              </a:ext>
            </a:extLst>
          </p:cNvPr>
          <p:cNvPicPr>
            <a:picLocks noChangeAspect="1"/>
          </p:cNvPicPr>
          <p:nvPr/>
        </p:nvPicPr>
        <p:blipFill>
          <a:blip r:embed="rId4"/>
          <a:stretch>
            <a:fillRect/>
          </a:stretch>
        </p:blipFill>
        <p:spPr>
          <a:xfrm>
            <a:off x="3503940" y="3265833"/>
            <a:ext cx="2136370" cy="1121594"/>
          </a:xfrm>
          <a:prstGeom prst="rect">
            <a:avLst/>
          </a:prstGeom>
        </p:spPr>
      </p:pic>
      <p:pic>
        <p:nvPicPr>
          <p:cNvPr id="23" name="Imagem 22">
            <a:extLst>
              <a:ext uri="{FF2B5EF4-FFF2-40B4-BE49-F238E27FC236}">
                <a16:creationId xmlns:a16="http://schemas.microsoft.com/office/drawing/2014/main" id="{81ED9301-99CA-60BF-E411-37634CA84690}"/>
              </a:ext>
            </a:extLst>
          </p:cNvPr>
          <p:cNvPicPr>
            <a:picLocks noChangeAspect="1"/>
          </p:cNvPicPr>
          <p:nvPr/>
        </p:nvPicPr>
        <p:blipFill>
          <a:blip r:embed="rId5"/>
          <a:stretch>
            <a:fillRect/>
          </a:stretch>
        </p:blipFill>
        <p:spPr>
          <a:xfrm>
            <a:off x="6246271" y="3197839"/>
            <a:ext cx="1944172" cy="1294410"/>
          </a:xfrm>
          <a:prstGeom prst="rect">
            <a:avLst/>
          </a:prstGeom>
        </p:spPr>
      </p:pic>
      <p:pic>
        <p:nvPicPr>
          <p:cNvPr id="25" name="Imagem 24">
            <a:extLst>
              <a:ext uri="{FF2B5EF4-FFF2-40B4-BE49-F238E27FC236}">
                <a16:creationId xmlns:a16="http://schemas.microsoft.com/office/drawing/2014/main" id="{4B637F99-8C32-B09B-4BDE-4B8625E68BCB}"/>
              </a:ext>
            </a:extLst>
          </p:cNvPr>
          <p:cNvPicPr>
            <a:picLocks noChangeAspect="1"/>
          </p:cNvPicPr>
          <p:nvPr/>
        </p:nvPicPr>
        <p:blipFill>
          <a:blip r:embed="rId6"/>
          <a:stretch>
            <a:fillRect/>
          </a:stretch>
        </p:blipFill>
        <p:spPr>
          <a:xfrm>
            <a:off x="6052721" y="4779861"/>
            <a:ext cx="2331272" cy="1223918"/>
          </a:xfrm>
          <a:prstGeom prst="rect">
            <a:avLst/>
          </a:prstGeom>
        </p:spPr>
      </p:pic>
      <p:sp>
        <p:nvSpPr>
          <p:cNvPr id="26" name="TextBox 9">
            <a:extLst>
              <a:ext uri="{FF2B5EF4-FFF2-40B4-BE49-F238E27FC236}">
                <a16:creationId xmlns:a16="http://schemas.microsoft.com/office/drawing/2014/main" id="{E9D2CB8F-8A59-EEC9-34D6-5F654BCD37C4}"/>
              </a:ext>
            </a:extLst>
          </p:cNvPr>
          <p:cNvSpPr txBox="1"/>
          <p:nvPr/>
        </p:nvSpPr>
        <p:spPr>
          <a:xfrm>
            <a:off x="6660352" y="6051400"/>
            <a:ext cx="1116011" cy="261610"/>
          </a:xfrm>
          <a:prstGeom prst="rect">
            <a:avLst/>
          </a:prstGeom>
          <a:noFill/>
        </p:spPr>
        <p:txBody>
          <a:bodyPr wrap="none" rtlCol="0">
            <a:spAutoFit/>
          </a:bodyPr>
          <a:lstStyle/>
          <a:p>
            <a:pPr algn="ctr"/>
            <a:r>
              <a:rPr lang="pt-BR" sz="1100" dirty="0">
                <a:solidFill>
                  <a:srgbClr val="C00000"/>
                </a:solidFill>
              </a:rPr>
              <a:t>AMBIENTE REAL</a:t>
            </a:r>
          </a:p>
        </p:txBody>
      </p:sp>
      <p:sp>
        <p:nvSpPr>
          <p:cNvPr id="27" name="TextBox 9">
            <a:extLst>
              <a:ext uri="{FF2B5EF4-FFF2-40B4-BE49-F238E27FC236}">
                <a16:creationId xmlns:a16="http://schemas.microsoft.com/office/drawing/2014/main" id="{4E11F005-0F0D-85CA-EC95-A4044607E3A3}"/>
              </a:ext>
            </a:extLst>
          </p:cNvPr>
          <p:cNvSpPr txBox="1"/>
          <p:nvPr/>
        </p:nvSpPr>
        <p:spPr>
          <a:xfrm>
            <a:off x="1130148" y="4476100"/>
            <a:ext cx="1465466" cy="261610"/>
          </a:xfrm>
          <a:prstGeom prst="rect">
            <a:avLst/>
          </a:prstGeom>
          <a:noFill/>
        </p:spPr>
        <p:txBody>
          <a:bodyPr wrap="none" rtlCol="0">
            <a:spAutoFit/>
          </a:bodyPr>
          <a:lstStyle/>
          <a:p>
            <a:pPr algn="ctr"/>
            <a:r>
              <a:rPr lang="pt-BR" sz="1100" dirty="0">
                <a:solidFill>
                  <a:srgbClr val="C00000"/>
                </a:solidFill>
              </a:rPr>
              <a:t>FLUXOS / DIAGRAMAS</a:t>
            </a:r>
          </a:p>
        </p:txBody>
      </p:sp>
      <p:sp>
        <p:nvSpPr>
          <p:cNvPr id="28" name="TextBox 9">
            <a:extLst>
              <a:ext uri="{FF2B5EF4-FFF2-40B4-BE49-F238E27FC236}">
                <a16:creationId xmlns:a16="http://schemas.microsoft.com/office/drawing/2014/main" id="{3DE788D2-B034-9F08-F470-9FC9371E8956}"/>
              </a:ext>
            </a:extLst>
          </p:cNvPr>
          <p:cNvSpPr txBox="1"/>
          <p:nvPr/>
        </p:nvSpPr>
        <p:spPr>
          <a:xfrm>
            <a:off x="1090073" y="6051400"/>
            <a:ext cx="1545616" cy="261610"/>
          </a:xfrm>
          <a:prstGeom prst="rect">
            <a:avLst/>
          </a:prstGeom>
          <a:noFill/>
        </p:spPr>
        <p:txBody>
          <a:bodyPr wrap="none" rtlCol="0">
            <a:spAutoFit/>
          </a:bodyPr>
          <a:lstStyle/>
          <a:p>
            <a:pPr algn="ctr"/>
            <a:r>
              <a:rPr lang="pt-BR" sz="1100" dirty="0">
                <a:solidFill>
                  <a:srgbClr val="C00000"/>
                </a:solidFill>
              </a:rPr>
              <a:t>JORNADAS ILUSTRADAS</a:t>
            </a:r>
          </a:p>
        </p:txBody>
      </p:sp>
      <p:sp>
        <p:nvSpPr>
          <p:cNvPr id="29" name="TextBox 9">
            <a:extLst>
              <a:ext uri="{FF2B5EF4-FFF2-40B4-BE49-F238E27FC236}">
                <a16:creationId xmlns:a16="http://schemas.microsoft.com/office/drawing/2014/main" id="{C9DD8B06-2459-6A61-FFA1-D897A2B85BBE}"/>
              </a:ext>
            </a:extLst>
          </p:cNvPr>
          <p:cNvSpPr txBox="1"/>
          <p:nvPr/>
        </p:nvSpPr>
        <p:spPr>
          <a:xfrm>
            <a:off x="4000494" y="4535460"/>
            <a:ext cx="1143263" cy="261610"/>
          </a:xfrm>
          <a:prstGeom prst="rect">
            <a:avLst/>
          </a:prstGeom>
          <a:noFill/>
        </p:spPr>
        <p:txBody>
          <a:bodyPr wrap="none" rtlCol="0">
            <a:spAutoFit/>
          </a:bodyPr>
          <a:lstStyle/>
          <a:p>
            <a:pPr algn="ctr"/>
            <a:r>
              <a:rPr lang="pt-BR" sz="1100" dirty="0">
                <a:solidFill>
                  <a:srgbClr val="C00000"/>
                </a:solidFill>
              </a:rPr>
              <a:t>“ROLE-PLAYING”</a:t>
            </a:r>
          </a:p>
        </p:txBody>
      </p:sp>
      <p:pic>
        <p:nvPicPr>
          <p:cNvPr id="31" name="Imagem 30">
            <a:extLst>
              <a:ext uri="{FF2B5EF4-FFF2-40B4-BE49-F238E27FC236}">
                <a16:creationId xmlns:a16="http://schemas.microsoft.com/office/drawing/2014/main" id="{478F5A40-8DCA-B42B-2CA2-E691F7DD5168}"/>
              </a:ext>
            </a:extLst>
          </p:cNvPr>
          <p:cNvPicPr>
            <a:picLocks noChangeAspect="1"/>
          </p:cNvPicPr>
          <p:nvPr/>
        </p:nvPicPr>
        <p:blipFill>
          <a:blip r:embed="rId7"/>
          <a:srcRect b="8270"/>
          <a:stretch>
            <a:fillRect/>
          </a:stretch>
        </p:blipFill>
        <p:spPr>
          <a:xfrm>
            <a:off x="3603052" y="4872439"/>
            <a:ext cx="1938146" cy="1276418"/>
          </a:xfrm>
          <a:prstGeom prst="rect">
            <a:avLst/>
          </a:prstGeom>
        </p:spPr>
      </p:pic>
    </p:spTree>
    <p:extLst>
      <p:ext uri="{BB962C8B-B14F-4D97-AF65-F5344CB8AC3E}">
        <p14:creationId xmlns:p14="http://schemas.microsoft.com/office/powerpoint/2010/main" val="4124438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p:cNvSpPr/>
          <p:nvPr/>
        </p:nvSpPr>
        <p:spPr>
          <a:xfrm>
            <a:off x="5103776" y="3267037"/>
            <a:ext cx="1622502" cy="1398708"/>
          </a:xfrm>
          <a:prstGeom prst="hexagon">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0" name="Hexágono 9"/>
          <p:cNvSpPr/>
          <p:nvPr/>
        </p:nvSpPr>
        <p:spPr>
          <a:xfrm>
            <a:off x="6420317" y="3966232"/>
            <a:ext cx="1622502" cy="1398708"/>
          </a:xfrm>
          <a:prstGeom prst="hexagon">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3" name="CaixaDeTexto 2">
            <a:extLst>
              <a:ext uri="{FF2B5EF4-FFF2-40B4-BE49-F238E27FC236}">
                <a16:creationId xmlns:a16="http://schemas.microsoft.com/office/drawing/2014/main" id="{3EF551F6-5A44-494E-A696-1F4AB756F13E}"/>
              </a:ext>
            </a:extLst>
          </p:cNvPr>
          <p:cNvSpPr txBox="1"/>
          <p:nvPr/>
        </p:nvSpPr>
        <p:spPr>
          <a:xfrm>
            <a:off x="2680876" y="1328048"/>
            <a:ext cx="3666709" cy="646331"/>
          </a:xfrm>
          <a:prstGeom prst="rect">
            <a:avLst/>
          </a:prstGeom>
          <a:noFill/>
        </p:spPr>
        <p:txBody>
          <a:bodyPr wrap="none" rtlCol="0">
            <a:spAutoFit/>
          </a:bodyPr>
          <a:lstStyle/>
          <a:p>
            <a:r>
              <a:rPr lang="pt-BR" sz="3600" b="1" dirty="0"/>
              <a:t>DESIGN THINKING</a:t>
            </a:r>
          </a:p>
        </p:txBody>
      </p:sp>
      <p:sp>
        <p:nvSpPr>
          <p:cNvPr id="5" name="Retângulo 4">
            <a:extLst>
              <a:ext uri="{FF2B5EF4-FFF2-40B4-BE49-F238E27FC236}">
                <a16:creationId xmlns:a16="http://schemas.microsoft.com/office/drawing/2014/main" id="{F7B0D150-DC38-48A7-A439-92BE0A0C7919}"/>
              </a:ext>
            </a:extLst>
          </p:cNvPr>
          <p:cNvSpPr/>
          <p:nvPr/>
        </p:nvSpPr>
        <p:spPr>
          <a:xfrm>
            <a:off x="924278" y="727651"/>
            <a:ext cx="6843989" cy="523220"/>
          </a:xfrm>
          <a:prstGeom prst="rect">
            <a:avLst/>
          </a:prstGeom>
          <a:solidFill>
            <a:schemeClr val="bg1"/>
          </a:solidFill>
        </p:spPr>
        <p:txBody>
          <a:bodyPr wrap="none">
            <a:spAutoFit/>
          </a:bodyPr>
          <a:lstStyle/>
          <a:p>
            <a:pPr lvl="0">
              <a:defRPr/>
            </a:pPr>
            <a:r>
              <a:rPr lang="pt-BR" sz="2800" b="1" cap="all" dirty="0">
                <a:solidFill>
                  <a:prstClr val="black"/>
                </a:solidFill>
              </a:rPr>
              <a:t>Desenvolvimento e TESTE DE protótipos</a:t>
            </a:r>
          </a:p>
        </p:txBody>
      </p:sp>
      <p:sp>
        <p:nvSpPr>
          <p:cNvPr id="15" name="Elipse 14">
            <a:extLst>
              <a:ext uri="{FF2B5EF4-FFF2-40B4-BE49-F238E27FC236}">
                <a16:creationId xmlns:a16="http://schemas.microsoft.com/office/drawing/2014/main" id="{9C2F0F3B-76A1-41CD-93F7-29CA3732563E}"/>
              </a:ext>
            </a:extLst>
          </p:cNvPr>
          <p:cNvSpPr/>
          <p:nvPr/>
        </p:nvSpPr>
        <p:spPr>
          <a:xfrm>
            <a:off x="5777961" y="1972076"/>
            <a:ext cx="985603" cy="1030877"/>
          </a:xfrm>
          <a:prstGeom prst="ellipse">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cxnSp>
        <p:nvCxnSpPr>
          <p:cNvPr id="17" name="Conector de seta reta 54">
            <a:extLst>
              <a:ext uri="{FF2B5EF4-FFF2-40B4-BE49-F238E27FC236}">
                <a16:creationId xmlns:a16="http://schemas.microsoft.com/office/drawing/2014/main" id="{70DFEF45-322F-4992-A767-D1B69FE5832D}"/>
              </a:ext>
            </a:extLst>
          </p:cNvPr>
          <p:cNvCxnSpPr/>
          <p:nvPr/>
        </p:nvCxnSpPr>
        <p:spPr>
          <a:xfrm flipV="1">
            <a:off x="5932857" y="3002953"/>
            <a:ext cx="212747" cy="8058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Elipse 18">
            <a:extLst>
              <a:ext uri="{FF2B5EF4-FFF2-40B4-BE49-F238E27FC236}">
                <a16:creationId xmlns:a16="http://schemas.microsoft.com/office/drawing/2014/main" id="{AC91B0FA-6DE4-410A-8D32-5B2A68F91FB9}"/>
              </a:ext>
            </a:extLst>
          </p:cNvPr>
          <p:cNvSpPr/>
          <p:nvPr/>
        </p:nvSpPr>
        <p:spPr>
          <a:xfrm>
            <a:off x="7499431" y="2813905"/>
            <a:ext cx="1138701" cy="1030877"/>
          </a:xfrm>
          <a:prstGeom prst="ellipse">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cxnSp>
        <p:nvCxnSpPr>
          <p:cNvPr id="20" name="Conector de seta reta 60">
            <a:extLst>
              <a:ext uri="{FF2B5EF4-FFF2-40B4-BE49-F238E27FC236}">
                <a16:creationId xmlns:a16="http://schemas.microsoft.com/office/drawing/2014/main" id="{24F9D041-291B-43EB-BA30-72E190A52CF1}"/>
              </a:ext>
            </a:extLst>
          </p:cNvPr>
          <p:cNvCxnSpPr/>
          <p:nvPr/>
        </p:nvCxnSpPr>
        <p:spPr>
          <a:xfrm flipV="1">
            <a:off x="7354467" y="3808771"/>
            <a:ext cx="465326" cy="6338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5417312C-1AD6-40F6-8B54-C212C9CE7BBF}"/>
              </a:ext>
            </a:extLst>
          </p:cNvPr>
          <p:cNvSpPr txBox="1"/>
          <p:nvPr/>
        </p:nvSpPr>
        <p:spPr>
          <a:xfrm>
            <a:off x="7538054" y="3235037"/>
            <a:ext cx="1061456" cy="456087"/>
          </a:xfrm>
          <a:prstGeom prst="rect">
            <a:avLst/>
          </a:prstGeom>
          <a:noFill/>
        </p:spPr>
        <p:txBody>
          <a:bodyPr wrap="square" rtlCol="0">
            <a:spAutoFit/>
          </a:bodyPr>
          <a:lstStyle/>
          <a:p>
            <a:pPr algn="ctr"/>
            <a:r>
              <a:rPr lang="pt-BR" sz="788" b="1" dirty="0">
                <a:solidFill>
                  <a:schemeClr val="accent2">
                    <a:lumMod val="50000"/>
                  </a:schemeClr>
                </a:solidFill>
              </a:rPr>
              <a:t>TESTAR OS PROTÓTIPOS JUNTO AO PÚBLICO ALVO</a:t>
            </a:r>
            <a:endParaRPr lang="pt-BR" sz="788" dirty="0">
              <a:solidFill>
                <a:schemeClr val="accent2">
                  <a:lumMod val="50000"/>
                </a:schemeClr>
              </a:solidFill>
            </a:endParaRPr>
          </a:p>
        </p:txBody>
      </p:sp>
      <p:sp>
        <p:nvSpPr>
          <p:cNvPr id="18" name="CaixaDeTexto 17">
            <a:extLst>
              <a:ext uri="{FF2B5EF4-FFF2-40B4-BE49-F238E27FC236}">
                <a16:creationId xmlns:a16="http://schemas.microsoft.com/office/drawing/2014/main" id="{106E690C-A652-4869-B906-5FA9FE7F4E90}"/>
              </a:ext>
            </a:extLst>
          </p:cNvPr>
          <p:cNvSpPr txBox="1"/>
          <p:nvPr/>
        </p:nvSpPr>
        <p:spPr>
          <a:xfrm>
            <a:off x="7562794" y="2940428"/>
            <a:ext cx="1011974" cy="369332"/>
          </a:xfrm>
          <a:prstGeom prst="rect">
            <a:avLst/>
          </a:prstGeom>
          <a:noFill/>
        </p:spPr>
        <p:txBody>
          <a:bodyPr wrap="square" rtlCol="0">
            <a:spAutoFit/>
          </a:bodyPr>
          <a:lstStyle/>
          <a:p>
            <a:pPr algn="ctr"/>
            <a:r>
              <a:rPr lang="pt-BR" sz="900" b="1" dirty="0"/>
              <a:t>TESTE / FEEDBACK</a:t>
            </a:r>
          </a:p>
        </p:txBody>
      </p:sp>
      <p:sp>
        <p:nvSpPr>
          <p:cNvPr id="13" name="CaixaDeTexto 12">
            <a:extLst>
              <a:ext uri="{FF2B5EF4-FFF2-40B4-BE49-F238E27FC236}">
                <a16:creationId xmlns:a16="http://schemas.microsoft.com/office/drawing/2014/main" id="{08943264-C55F-45F9-BBD6-B58921E94CB2}"/>
              </a:ext>
            </a:extLst>
          </p:cNvPr>
          <p:cNvSpPr txBox="1"/>
          <p:nvPr/>
        </p:nvSpPr>
        <p:spPr>
          <a:xfrm>
            <a:off x="5735561" y="2419669"/>
            <a:ext cx="1061456" cy="456087"/>
          </a:xfrm>
          <a:prstGeom prst="rect">
            <a:avLst/>
          </a:prstGeom>
          <a:noFill/>
        </p:spPr>
        <p:txBody>
          <a:bodyPr wrap="square" rtlCol="0">
            <a:spAutoFit/>
          </a:bodyPr>
          <a:lstStyle/>
          <a:p>
            <a:pPr algn="ctr"/>
            <a:r>
              <a:rPr lang="pt-BR" sz="788" b="1" dirty="0">
                <a:solidFill>
                  <a:schemeClr val="accent2">
                    <a:lumMod val="50000"/>
                  </a:schemeClr>
                </a:solidFill>
              </a:rPr>
              <a:t>CRIAR PROTÓTIPOS DAS MELHORES IDEIAS</a:t>
            </a:r>
          </a:p>
        </p:txBody>
      </p:sp>
      <p:sp>
        <p:nvSpPr>
          <p:cNvPr id="16" name="CaixaDeTexto 15">
            <a:extLst>
              <a:ext uri="{FF2B5EF4-FFF2-40B4-BE49-F238E27FC236}">
                <a16:creationId xmlns:a16="http://schemas.microsoft.com/office/drawing/2014/main" id="{0C8637FC-789E-497A-A80D-6BE1C23095A0}"/>
              </a:ext>
            </a:extLst>
          </p:cNvPr>
          <p:cNvSpPr txBox="1"/>
          <p:nvPr/>
        </p:nvSpPr>
        <p:spPr>
          <a:xfrm>
            <a:off x="5790012" y="2211919"/>
            <a:ext cx="1011974" cy="230832"/>
          </a:xfrm>
          <a:prstGeom prst="rect">
            <a:avLst/>
          </a:prstGeom>
          <a:noFill/>
        </p:spPr>
        <p:txBody>
          <a:bodyPr wrap="square" rtlCol="0">
            <a:spAutoFit/>
          </a:bodyPr>
          <a:lstStyle/>
          <a:p>
            <a:pPr algn="ctr"/>
            <a:r>
              <a:rPr lang="pt-BR" sz="900" b="1" dirty="0"/>
              <a:t>PROTOTIPAÇÃO</a:t>
            </a:r>
          </a:p>
        </p:txBody>
      </p:sp>
    </p:spTree>
    <p:extLst>
      <p:ext uri="{BB962C8B-B14F-4D97-AF65-F5344CB8AC3E}">
        <p14:creationId xmlns:p14="http://schemas.microsoft.com/office/powerpoint/2010/main" val="1863042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4"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61C4856-4445-453F-8E6F-454A955DCD8E}"/>
              </a:ext>
            </a:extLst>
          </p:cNvPr>
          <p:cNvSpPr>
            <a:spLocks noGrp="1"/>
          </p:cNvSpPr>
          <p:nvPr>
            <p:ph type="sldNum" sz="quarter" idx="12"/>
          </p:nvPr>
        </p:nvSpPr>
        <p:spPr/>
        <p:txBody>
          <a:bodyPr/>
          <a:lstStyle/>
          <a:p>
            <a:fld id="{A490A326-AC6F-4090-9ECC-4AA76160E747}" type="slidenum">
              <a:rPr lang="pt-BR" smtClean="0"/>
              <a:t>19</a:t>
            </a:fld>
            <a:endParaRPr lang="pt-BR"/>
          </a:p>
        </p:txBody>
      </p:sp>
      <p:sp>
        <p:nvSpPr>
          <p:cNvPr id="5" name="Retângulo 4">
            <a:extLst>
              <a:ext uri="{FF2B5EF4-FFF2-40B4-BE49-F238E27FC236}">
                <a16:creationId xmlns:a16="http://schemas.microsoft.com/office/drawing/2014/main" id="{8464F0F1-7EC8-488C-B51E-BFF1F8E9E306}"/>
              </a:ext>
            </a:extLst>
          </p:cNvPr>
          <p:cNvSpPr/>
          <p:nvPr/>
        </p:nvSpPr>
        <p:spPr>
          <a:xfrm>
            <a:off x="924278" y="727651"/>
            <a:ext cx="4175759" cy="523220"/>
          </a:xfrm>
          <a:prstGeom prst="rect">
            <a:avLst/>
          </a:prstGeom>
          <a:solidFill>
            <a:schemeClr val="bg1"/>
          </a:solidFill>
        </p:spPr>
        <p:txBody>
          <a:bodyPr wrap="none">
            <a:spAutoFit/>
          </a:bodyPr>
          <a:lstStyle/>
          <a:p>
            <a:pPr lvl="0">
              <a:defRPr/>
            </a:pPr>
            <a:r>
              <a:rPr lang="pt-BR" sz="2800" b="1" cap="all" dirty="0">
                <a:solidFill>
                  <a:prstClr val="black"/>
                </a:solidFill>
              </a:rPr>
              <a:t>Produtos &amp; protótipos</a:t>
            </a:r>
          </a:p>
        </p:txBody>
      </p:sp>
      <p:sp>
        <p:nvSpPr>
          <p:cNvPr id="6" name="Retângulo 5">
            <a:extLst>
              <a:ext uri="{FF2B5EF4-FFF2-40B4-BE49-F238E27FC236}">
                <a16:creationId xmlns:a16="http://schemas.microsoft.com/office/drawing/2014/main" id="{85E81A8A-ED4D-4488-8311-5B01A71F9FEC}"/>
              </a:ext>
            </a:extLst>
          </p:cNvPr>
          <p:cNvSpPr/>
          <p:nvPr/>
        </p:nvSpPr>
        <p:spPr>
          <a:xfrm>
            <a:off x="402956" y="1443841"/>
            <a:ext cx="8493071" cy="2769989"/>
          </a:xfrm>
          <a:prstGeom prst="rect">
            <a:avLst/>
          </a:prstGeom>
          <a:solidFill>
            <a:schemeClr val="bg1"/>
          </a:solidFill>
        </p:spPr>
        <p:txBody>
          <a:bodyPr wrap="square">
            <a:spAutoFit/>
          </a:bodyPr>
          <a:lstStyle/>
          <a:p>
            <a:pPr lvl="0" algn="ctr">
              <a:defRPr/>
            </a:pPr>
            <a:r>
              <a:rPr lang="pt-BR" sz="3600" b="1" cap="all" dirty="0">
                <a:solidFill>
                  <a:prstClr val="black"/>
                </a:solidFill>
              </a:rPr>
              <a:t>Protótipo para testar o quê ?</a:t>
            </a:r>
          </a:p>
          <a:p>
            <a:pPr lvl="0" algn="ctr"/>
            <a:endParaRPr lang="pt-BR" b="1" cap="all" dirty="0">
              <a:solidFill>
                <a:prstClr val="black"/>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a:p>
            <a:pPr lvl="0"/>
            <a:endParaRPr lang="pt-BR" sz="1200" b="1" cap="small" dirty="0">
              <a:solidFill>
                <a:srgbClr val="1F497D"/>
              </a:solidFill>
            </a:endParaRPr>
          </a:p>
          <a:p>
            <a:pPr marL="342900" lvl="0" indent="-342900">
              <a:buFont typeface="Arial" panose="020B0604020202020204" pitchFamily="34" charset="0"/>
              <a:buChar char="•"/>
            </a:pPr>
            <a:endParaRPr lang="pt-BR" sz="1200" b="1" cap="small" dirty="0">
              <a:solidFill>
                <a:srgbClr val="1F497D"/>
              </a:solidFill>
            </a:endParaRPr>
          </a:p>
        </p:txBody>
      </p:sp>
      <p:sp>
        <p:nvSpPr>
          <p:cNvPr id="7" name="CaixaDeTexto 6">
            <a:extLst>
              <a:ext uri="{FF2B5EF4-FFF2-40B4-BE49-F238E27FC236}">
                <a16:creationId xmlns:a16="http://schemas.microsoft.com/office/drawing/2014/main" id="{F97D7B8E-6494-4714-B6FE-4A211F42E835}"/>
              </a:ext>
            </a:extLst>
          </p:cNvPr>
          <p:cNvSpPr txBox="1"/>
          <p:nvPr/>
        </p:nvSpPr>
        <p:spPr>
          <a:xfrm>
            <a:off x="402956" y="2866519"/>
            <a:ext cx="2787727" cy="1492716"/>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kumimoji="0" lang="pt-BR" sz="2000" b="1" i="0" strike="noStrike" kern="1200" cap="small" spc="0" normalizeH="0" baseline="0" noProof="0" dirty="0">
                <a:ln>
                  <a:noFill/>
                </a:ln>
                <a:effectLst/>
                <a:uLnTx/>
                <a:uFillTx/>
                <a:latin typeface="Calibri"/>
                <a:ea typeface="+mn-ea"/>
                <a:cs typeface="+mn-cs"/>
              </a:rPr>
              <a:t>PRODUTOS</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pt-BR" sz="500" b="1" i="0" u="none" strike="noStrike" kern="1200" cap="small" spc="0" normalizeH="0" baseline="0" noProof="0" dirty="0">
              <a:ln>
                <a:noFill/>
              </a:ln>
              <a:solidFill>
                <a:srgbClr val="1F497D"/>
              </a:solidFill>
              <a:effectLst/>
              <a:uLnTx/>
              <a:uFillTx/>
              <a:latin typeface="Calibri"/>
              <a:ea typeface="+mn-ea"/>
              <a:cs typeface="+mn-cs"/>
            </a:endParaRP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Funciona?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Quebra </a:t>
            </a:r>
            <a:r>
              <a:rPr lang="pt-BR" sz="1600" cap="small" dirty="0">
                <a:solidFill>
                  <a:srgbClr val="1F497D"/>
                </a:solidFill>
                <a:latin typeface="Calibri"/>
              </a:rPr>
              <a:t>ou trava</a:t>
            </a:r>
            <a:r>
              <a:rPr kumimoji="0" lang="pt-BR" sz="1600" i="0" u="none" strike="noStrike" kern="1200" cap="small" spc="0" normalizeH="0" baseline="0" noProof="0" dirty="0">
                <a:ln>
                  <a:noFill/>
                </a:ln>
                <a:solidFill>
                  <a:srgbClr val="1F497D"/>
                </a:solidFill>
                <a:effectLst/>
                <a:uLnTx/>
                <a:uFillTx/>
                <a:latin typeface="Calibri"/>
                <a:ea typeface="+mn-ea"/>
                <a:cs typeface="+mn-cs"/>
              </a:rPr>
              <a:t>?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 usabilidade é boa?</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Sua produção é viável?</a:t>
            </a:r>
            <a:endParaRPr kumimoji="0" lang="pt-BR" sz="2000" i="0" u="none" strike="noStrike" kern="1200" cap="small" spc="0" normalizeH="0" baseline="0" noProof="0" dirty="0">
              <a:ln>
                <a:noFill/>
              </a:ln>
              <a:solidFill>
                <a:srgbClr val="1F497D"/>
              </a:solidFill>
              <a:effectLst/>
              <a:uLnTx/>
              <a:uFillTx/>
              <a:latin typeface="Calibri"/>
              <a:ea typeface="+mn-ea"/>
              <a:cs typeface="+mn-cs"/>
            </a:endParaRPr>
          </a:p>
        </p:txBody>
      </p:sp>
      <p:sp>
        <p:nvSpPr>
          <p:cNvPr id="9" name="CaixaDeTexto 8">
            <a:extLst>
              <a:ext uri="{FF2B5EF4-FFF2-40B4-BE49-F238E27FC236}">
                <a16:creationId xmlns:a16="http://schemas.microsoft.com/office/drawing/2014/main" id="{B20E2973-CB01-49B0-8E01-B23DC6476AE5}"/>
              </a:ext>
            </a:extLst>
          </p:cNvPr>
          <p:cNvSpPr txBox="1"/>
          <p:nvPr/>
        </p:nvSpPr>
        <p:spPr>
          <a:xfrm>
            <a:off x="2444494" y="5053131"/>
            <a:ext cx="4645378" cy="1077218"/>
          </a:xfrm>
          <a:prstGeom prst="rect">
            <a:avLst/>
          </a:prstGeom>
          <a:noFill/>
        </p:spPr>
        <p:txBody>
          <a:bodyPr wrap="square">
            <a:spAutoFit/>
          </a:bodyPr>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 solução é adequada ao problema?</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Adequada ao público-alvo ?</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 solução é o que o consumidor quer ?</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 forma de entregar o produto ou serviço é efetiva?</a:t>
            </a:r>
            <a:endParaRPr kumimoji="0" lang="pt-BR" sz="2800" i="0" u="none" strike="noStrike" kern="1200" cap="all" spc="0" normalizeH="0" baseline="0" noProof="0" dirty="0">
              <a:ln>
                <a:noFill/>
              </a:ln>
              <a:solidFill>
                <a:prstClr val="black"/>
              </a:solidFill>
              <a:effectLst/>
              <a:uLnTx/>
              <a:uFillTx/>
              <a:latin typeface="Calibri"/>
              <a:ea typeface="+mn-ea"/>
              <a:cs typeface="+mn-cs"/>
            </a:endParaRPr>
          </a:p>
        </p:txBody>
      </p:sp>
      <p:sp>
        <p:nvSpPr>
          <p:cNvPr id="10" name="CaixaDeTexto 9">
            <a:extLst>
              <a:ext uri="{FF2B5EF4-FFF2-40B4-BE49-F238E27FC236}">
                <a16:creationId xmlns:a16="http://schemas.microsoft.com/office/drawing/2014/main" id="{6D2155B8-3CD1-4DEF-A59F-472D8289D38E}"/>
              </a:ext>
            </a:extLst>
          </p:cNvPr>
          <p:cNvSpPr txBox="1"/>
          <p:nvPr/>
        </p:nvSpPr>
        <p:spPr>
          <a:xfrm>
            <a:off x="6024880" y="2866519"/>
            <a:ext cx="3081988" cy="1461939"/>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lang="pt-BR" sz="2000" b="1" cap="small" dirty="0">
                <a:latin typeface="Calibri"/>
              </a:rPr>
              <a:t>SERVIÇOS</a:t>
            </a:r>
            <a:endParaRPr kumimoji="0" lang="pt-BR" sz="2000" b="1" i="0" strike="noStrike" kern="1200" cap="small" spc="0" normalizeH="0" baseline="0" noProof="0" dirty="0">
              <a:ln>
                <a:noFill/>
              </a:ln>
              <a:effectLst/>
              <a:uLnTx/>
              <a:uFillTx/>
              <a:latin typeface="Calibri"/>
            </a:endParaRPr>
          </a:p>
          <a:p>
            <a:pPr marL="177800" indent="-177800">
              <a:buFont typeface="Arial" panose="020B0604020202020204" pitchFamily="34" charset="0"/>
              <a:buChar char="•"/>
              <a:defRPr/>
            </a:pPr>
            <a:endParaRPr kumimoji="0" lang="pt-BR" sz="500" b="1" i="0" u="none" strike="noStrike" kern="1200" cap="small" spc="0" normalizeH="0" baseline="0" noProof="0" dirty="0">
              <a:ln>
                <a:noFill/>
              </a:ln>
              <a:solidFill>
                <a:srgbClr val="1F497D"/>
              </a:solidFill>
              <a:effectLst/>
              <a:uLnTx/>
              <a:uFillTx/>
              <a:latin typeface="Calibri"/>
              <a:ea typeface="+mn-ea"/>
              <a:cs typeface="+mn-cs"/>
            </a:endParaRPr>
          </a:p>
          <a:p>
            <a:pPr marL="177800" indent="-177800">
              <a:buFont typeface="Arial" panose="020B0604020202020204" pitchFamily="34" charset="0"/>
              <a:buChar char="•"/>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É operacional</a:t>
            </a:r>
            <a:r>
              <a:rPr lang="pt-BR" sz="1600" cap="small" dirty="0">
                <a:solidFill>
                  <a:srgbClr val="1F497D"/>
                </a:solidFill>
              </a:rPr>
              <a:t>?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cap="small" dirty="0">
                <a:solidFill>
                  <a:srgbClr val="1F497D"/>
                </a:solidFill>
                <a:latin typeface="Calibri"/>
              </a:rPr>
              <a:t>A Experiência do Usuário é boa?</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É flexível/customizável?</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cap="small" dirty="0">
                <a:solidFill>
                  <a:srgbClr val="1F497D"/>
                </a:solidFill>
                <a:latin typeface="Calibri"/>
              </a:rPr>
              <a:t>É escalável?</a:t>
            </a:r>
            <a:endParaRPr kumimoji="0" lang="pt-BR" sz="1600" i="0" u="none" strike="noStrike" kern="1200" cap="small" spc="0" normalizeH="0" baseline="0" noProof="0" dirty="0">
              <a:ln>
                <a:noFill/>
              </a:ln>
              <a:solidFill>
                <a:srgbClr val="1F497D"/>
              </a:solidFill>
              <a:effectLst/>
              <a:uLnTx/>
              <a:uFillTx/>
              <a:latin typeface="Calibri"/>
              <a:ea typeface="+mn-ea"/>
              <a:cs typeface="+mn-cs"/>
            </a:endParaRPr>
          </a:p>
        </p:txBody>
      </p:sp>
      <p:sp>
        <p:nvSpPr>
          <p:cNvPr id="3" name="CaixaDeTexto 2">
            <a:extLst>
              <a:ext uri="{FF2B5EF4-FFF2-40B4-BE49-F238E27FC236}">
                <a16:creationId xmlns:a16="http://schemas.microsoft.com/office/drawing/2014/main" id="{4455BB33-86FB-6AED-2518-D0E7F02A2099}"/>
              </a:ext>
            </a:extLst>
          </p:cNvPr>
          <p:cNvSpPr txBox="1"/>
          <p:nvPr/>
        </p:nvSpPr>
        <p:spPr>
          <a:xfrm>
            <a:off x="2907879" y="2866519"/>
            <a:ext cx="2906160" cy="1461939"/>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kumimoji="0" lang="pt-BR" sz="2000" b="1" i="0" strike="noStrike" kern="1200" cap="small" spc="0" normalizeH="0" baseline="0" noProof="0" dirty="0">
                <a:ln>
                  <a:noFill/>
                </a:ln>
                <a:effectLst/>
                <a:uLnTx/>
                <a:uFillTx/>
                <a:latin typeface="Calibri"/>
                <a:ea typeface="+mn-ea"/>
                <a:cs typeface="+mn-cs"/>
              </a:rPr>
              <a:t>SOFTWARES</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pt-BR" sz="500" b="1" i="0" u="none" strike="noStrike" kern="1200" cap="small" spc="0" normalizeH="0" baseline="0" noProof="0" dirty="0">
              <a:ln>
                <a:noFill/>
              </a:ln>
              <a:solidFill>
                <a:srgbClr val="1F497D"/>
              </a:solidFill>
              <a:effectLst/>
              <a:uLnTx/>
              <a:uFillTx/>
              <a:latin typeface="Calibri"/>
              <a:ea typeface="+mn-ea"/>
              <a:cs typeface="+mn-cs"/>
            </a:endParaRP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Funciona?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t-BR" sz="1600" i="0" u="none" strike="noStrike" kern="1200" cap="small" spc="0" normalizeH="0" baseline="0" noProof="0" dirty="0">
                <a:ln>
                  <a:noFill/>
                </a:ln>
                <a:solidFill>
                  <a:srgbClr val="1F497D"/>
                </a:solidFill>
                <a:effectLst/>
                <a:uLnTx/>
                <a:uFillTx/>
                <a:latin typeface="Calibri"/>
                <a:ea typeface="+mn-ea"/>
                <a:cs typeface="+mn-cs"/>
              </a:rPr>
              <a:t>A usabilidade é boa?</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cap="small" dirty="0">
                <a:solidFill>
                  <a:srgbClr val="1F497D"/>
                </a:solidFill>
                <a:latin typeface="Calibri"/>
              </a:rPr>
              <a:t>A Experiência do Usuário é boa?</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cap="small" dirty="0">
                <a:solidFill>
                  <a:srgbClr val="1F497D"/>
                </a:solidFill>
                <a:latin typeface="Calibri"/>
              </a:rPr>
              <a:t>É escalável? </a:t>
            </a:r>
            <a:endParaRPr kumimoji="0" lang="pt-BR" sz="1600" i="0" u="none" strike="noStrike" kern="1200" cap="small" spc="0" normalizeH="0" baseline="0" noProof="0" dirty="0">
              <a:ln>
                <a:noFill/>
              </a:ln>
              <a:solidFill>
                <a:srgbClr val="1F497D"/>
              </a:solidFill>
              <a:effectLst/>
              <a:uLnTx/>
              <a:uFillTx/>
              <a:latin typeface="Calibri"/>
              <a:ea typeface="+mn-ea"/>
              <a:cs typeface="+mn-cs"/>
            </a:endParaRPr>
          </a:p>
        </p:txBody>
      </p:sp>
      <p:sp>
        <p:nvSpPr>
          <p:cNvPr id="8" name="CaixaDeTexto 7">
            <a:extLst>
              <a:ext uri="{FF2B5EF4-FFF2-40B4-BE49-F238E27FC236}">
                <a16:creationId xmlns:a16="http://schemas.microsoft.com/office/drawing/2014/main" id="{5150E0E4-9408-6F6C-9D90-9F596307E057}"/>
              </a:ext>
            </a:extLst>
          </p:cNvPr>
          <p:cNvSpPr txBox="1"/>
          <p:nvPr/>
        </p:nvSpPr>
        <p:spPr>
          <a:xfrm>
            <a:off x="2209109" y="4598371"/>
            <a:ext cx="464537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2400" b="1" i="0" u="none" strike="noStrike" kern="1200" cap="small" spc="0" normalizeH="0" baseline="0" noProof="0" dirty="0">
                <a:ln>
                  <a:noFill/>
                </a:ln>
                <a:solidFill>
                  <a:prstClr val="black"/>
                </a:solidFill>
                <a:effectLst/>
                <a:uLnTx/>
                <a:uFillTx/>
                <a:latin typeface="Calibri"/>
                <a:ea typeface="+mn-ea"/>
                <a:cs typeface="+mn-cs"/>
              </a:rPr>
              <a:t>Do ponto de vista estratégico:</a:t>
            </a:r>
          </a:p>
        </p:txBody>
      </p:sp>
      <p:pic>
        <p:nvPicPr>
          <p:cNvPr id="12" name="Imagem 11">
            <a:extLst>
              <a:ext uri="{FF2B5EF4-FFF2-40B4-BE49-F238E27FC236}">
                <a16:creationId xmlns:a16="http://schemas.microsoft.com/office/drawing/2014/main" id="{76717C0C-5DA1-C41F-0317-09D9F3D73137}"/>
              </a:ext>
            </a:extLst>
          </p:cNvPr>
          <p:cNvPicPr>
            <a:picLocks noChangeAspect="1"/>
          </p:cNvPicPr>
          <p:nvPr/>
        </p:nvPicPr>
        <p:blipFill>
          <a:blip r:embed="rId2"/>
          <a:stretch>
            <a:fillRect/>
          </a:stretch>
        </p:blipFill>
        <p:spPr>
          <a:xfrm>
            <a:off x="2008410" y="2276538"/>
            <a:ext cx="5127180" cy="640135"/>
          </a:xfrm>
          <a:prstGeom prst="rect">
            <a:avLst/>
          </a:prstGeom>
        </p:spPr>
      </p:pic>
    </p:spTree>
    <p:extLst>
      <p:ext uri="{BB962C8B-B14F-4D97-AF65-F5344CB8AC3E}">
        <p14:creationId xmlns:p14="http://schemas.microsoft.com/office/powerpoint/2010/main" val="27676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p:cNvSpPr/>
          <p:nvPr/>
        </p:nvSpPr>
        <p:spPr>
          <a:xfrm>
            <a:off x="5103776" y="3267037"/>
            <a:ext cx="1622502" cy="1398708"/>
          </a:xfrm>
          <a:prstGeom prst="hexagon">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0" name="Hexágono 9"/>
          <p:cNvSpPr/>
          <p:nvPr/>
        </p:nvSpPr>
        <p:spPr>
          <a:xfrm>
            <a:off x="6420317" y="3966232"/>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4" name="Retângulo 3">
            <a:extLst>
              <a:ext uri="{FF2B5EF4-FFF2-40B4-BE49-F238E27FC236}">
                <a16:creationId xmlns:a16="http://schemas.microsoft.com/office/drawing/2014/main" id="{4A5E8B49-BBD4-45D5-A698-F0FE6063EEB2}"/>
              </a:ext>
            </a:extLst>
          </p:cNvPr>
          <p:cNvSpPr/>
          <p:nvPr/>
        </p:nvSpPr>
        <p:spPr>
          <a:xfrm>
            <a:off x="924278" y="727651"/>
            <a:ext cx="3686202" cy="523220"/>
          </a:xfrm>
          <a:prstGeom prst="rect">
            <a:avLst/>
          </a:prstGeom>
          <a:solidFill>
            <a:schemeClr val="bg1"/>
          </a:solidFill>
        </p:spPr>
        <p:txBody>
          <a:bodyPr wrap="none">
            <a:spAutoFit/>
          </a:bodyPr>
          <a:lstStyle/>
          <a:p>
            <a:pPr lvl="0">
              <a:defRPr/>
            </a:pPr>
            <a:r>
              <a:rPr lang="pt-BR" sz="2800" b="1" cap="all" dirty="0">
                <a:solidFill>
                  <a:prstClr val="black"/>
                </a:solidFill>
              </a:rPr>
              <a:t>TESTES DE protótipos</a:t>
            </a:r>
          </a:p>
        </p:txBody>
      </p:sp>
      <p:sp>
        <p:nvSpPr>
          <p:cNvPr id="11" name="Retângulo: Cantos Arredondados 10">
            <a:extLst>
              <a:ext uri="{FF2B5EF4-FFF2-40B4-BE49-F238E27FC236}">
                <a16:creationId xmlns:a16="http://schemas.microsoft.com/office/drawing/2014/main" id="{D6B06BF6-1D15-43ED-816B-A1986A36B5A1}"/>
              </a:ext>
            </a:extLst>
          </p:cNvPr>
          <p:cNvSpPr/>
          <p:nvPr/>
        </p:nvSpPr>
        <p:spPr>
          <a:xfrm>
            <a:off x="834694" y="4830300"/>
            <a:ext cx="7635444" cy="1552255"/>
          </a:xfrm>
          <a:prstGeom prst="roundRect">
            <a:avLst>
              <a:gd name="adj" fmla="val 5032"/>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cap="small" dirty="0">
                <a:solidFill>
                  <a:schemeClr val="tx1"/>
                </a:solidFill>
              </a:rPr>
              <a:t>As características do protótipo servirão de base para o planejamento dos testes</a:t>
            </a:r>
          </a:p>
          <a:p>
            <a:pPr algn="ctr"/>
            <a:endParaRPr lang="pt-BR" sz="800" b="1" cap="small" dirty="0">
              <a:solidFill>
                <a:schemeClr val="tx1"/>
              </a:solidFill>
            </a:endParaRPr>
          </a:p>
          <a:p>
            <a:pPr marL="342900" indent="-342900">
              <a:buFont typeface="+mj-lt"/>
              <a:buAutoNum type="arabicPeriod"/>
            </a:pPr>
            <a:r>
              <a:rPr lang="pt-BR" sz="1600" cap="small" dirty="0">
                <a:solidFill>
                  <a:schemeClr val="tx1"/>
                </a:solidFill>
              </a:rPr>
              <a:t>Seu protótipo é físico (ideal) ou virtual (</a:t>
            </a:r>
            <a:r>
              <a:rPr lang="pt-BR" sz="1600" cap="small" dirty="0" err="1">
                <a:solidFill>
                  <a:schemeClr val="tx1"/>
                </a:solidFill>
              </a:rPr>
              <a:t>story</a:t>
            </a:r>
            <a:r>
              <a:rPr lang="pt-BR" sz="1600" cap="small" dirty="0">
                <a:solidFill>
                  <a:schemeClr val="tx1"/>
                </a:solidFill>
              </a:rPr>
              <a:t> board, modelo 3D...)?</a:t>
            </a:r>
          </a:p>
          <a:p>
            <a:pPr marL="342900" indent="-342900">
              <a:buFont typeface="+mj-lt"/>
              <a:buAutoNum type="arabicPeriod"/>
            </a:pPr>
            <a:r>
              <a:rPr lang="pt-BR" sz="1600" cap="small" dirty="0">
                <a:solidFill>
                  <a:schemeClr val="tx1"/>
                </a:solidFill>
              </a:rPr>
              <a:t>Considera apenas o produto em si ou também o processo e a experiência do consumidor?</a:t>
            </a:r>
          </a:p>
          <a:p>
            <a:pPr marL="342900" indent="-342900">
              <a:buFont typeface="+mj-lt"/>
              <a:buAutoNum type="arabicPeriod"/>
            </a:pPr>
            <a:r>
              <a:rPr lang="pt-BR" sz="1600" cap="small" dirty="0">
                <a:solidFill>
                  <a:schemeClr val="tx1"/>
                </a:solidFill>
              </a:rPr>
              <a:t>Você consegue estabelecer o que será possível testar com essa versão do protótipo?</a:t>
            </a:r>
          </a:p>
        </p:txBody>
      </p:sp>
    </p:spTree>
    <p:extLst>
      <p:ext uri="{BB962C8B-B14F-4D97-AF65-F5344CB8AC3E}">
        <p14:creationId xmlns:p14="http://schemas.microsoft.com/office/powerpoint/2010/main" val="129745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10" name="Hexágono 9"/>
          <p:cNvSpPr/>
          <p:nvPr/>
        </p:nvSpPr>
        <p:spPr>
          <a:xfrm>
            <a:off x="6420317" y="3966232"/>
            <a:ext cx="1622502" cy="1398708"/>
          </a:xfrm>
          <a:prstGeom prst="hexagon">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5" name="Retângulo 4">
            <a:extLst>
              <a:ext uri="{FF2B5EF4-FFF2-40B4-BE49-F238E27FC236}">
                <a16:creationId xmlns:a16="http://schemas.microsoft.com/office/drawing/2014/main" id="{F7B0D150-DC38-48A7-A439-92BE0A0C7919}"/>
              </a:ext>
            </a:extLst>
          </p:cNvPr>
          <p:cNvSpPr/>
          <p:nvPr/>
        </p:nvSpPr>
        <p:spPr>
          <a:xfrm>
            <a:off x="924278" y="727651"/>
            <a:ext cx="6589689" cy="523220"/>
          </a:xfrm>
          <a:prstGeom prst="rect">
            <a:avLst/>
          </a:prstGeom>
          <a:solidFill>
            <a:schemeClr val="bg1"/>
          </a:solidFill>
        </p:spPr>
        <p:txBody>
          <a:bodyPr wrap="none">
            <a:spAutoFit/>
          </a:bodyPr>
          <a:lstStyle/>
          <a:p>
            <a:pPr lvl="0">
              <a:defRPr/>
            </a:pPr>
            <a:r>
              <a:rPr lang="pt-BR" sz="2800" b="1" cap="all" dirty="0">
                <a:solidFill>
                  <a:prstClr val="black"/>
                </a:solidFill>
              </a:rPr>
              <a:t>Planejamento do TESTE DE protótipos</a:t>
            </a:r>
          </a:p>
        </p:txBody>
      </p:sp>
      <p:sp>
        <p:nvSpPr>
          <p:cNvPr id="12" name="Hexágono 11">
            <a:extLst>
              <a:ext uri="{FF2B5EF4-FFF2-40B4-BE49-F238E27FC236}">
                <a16:creationId xmlns:a16="http://schemas.microsoft.com/office/drawing/2014/main" id="{747758F3-5A2F-41D5-A6E8-94461630A10C}"/>
              </a:ext>
            </a:extLst>
          </p:cNvPr>
          <p:cNvSpPr/>
          <p:nvPr/>
        </p:nvSpPr>
        <p:spPr>
          <a:xfrm>
            <a:off x="5103776" y="3267037"/>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1" name="Retângulo: Cantos Arredondados 10">
            <a:extLst>
              <a:ext uri="{FF2B5EF4-FFF2-40B4-BE49-F238E27FC236}">
                <a16:creationId xmlns:a16="http://schemas.microsoft.com/office/drawing/2014/main" id="{D6B06BF6-1D15-43ED-816B-A1986A36B5A1}"/>
              </a:ext>
            </a:extLst>
          </p:cNvPr>
          <p:cNvSpPr/>
          <p:nvPr/>
        </p:nvSpPr>
        <p:spPr>
          <a:xfrm>
            <a:off x="399686" y="2176969"/>
            <a:ext cx="5676709" cy="2159802"/>
          </a:xfrm>
          <a:prstGeom prst="roundRect">
            <a:avLst>
              <a:gd name="adj" fmla="val 4742"/>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cap="small" dirty="0">
                <a:solidFill>
                  <a:schemeClr val="tx1"/>
                </a:solidFill>
              </a:rPr>
              <a:t>7 perguntas para planejar o teste de seu protótipo:</a:t>
            </a:r>
          </a:p>
          <a:p>
            <a:endParaRPr lang="pt-BR" sz="700" cap="small" dirty="0">
              <a:solidFill>
                <a:schemeClr val="tx1"/>
              </a:solidFill>
            </a:endParaRPr>
          </a:p>
          <a:p>
            <a:pPr marL="177800" indent="-177800">
              <a:buFont typeface="+mj-lt"/>
              <a:buAutoNum type="arabicPeriod"/>
            </a:pPr>
            <a:r>
              <a:rPr lang="pt-BR" sz="1500" cap="small" dirty="0">
                <a:solidFill>
                  <a:schemeClr val="tx1"/>
                </a:solidFill>
              </a:rPr>
              <a:t>Qual a essência da minha ideia?</a:t>
            </a:r>
          </a:p>
          <a:p>
            <a:pPr marL="177800" indent="-177800">
              <a:buFont typeface="+mj-lt"/>
              <a:buAutoNum type="arabicPeriod"/>
            </a:pPr>
            <a:r>
              <a:rPr lang="pt-BR" sz="1500" cap="small" dirty="0">
                <a:solidFill>
                  <a:schemeClr val="tx1"/>
                </a:solidFill>
              </a:rPr>
              <a:t>O que preciso aprender com esse teste?</a:t>
            </a:r>
          </a:p>
          <a:p>
            <a:pPr marL="177800" indent="-177800">
              <a:buFont typeface="+mj-lt"/>
              <a:buAutoNum type="arabicPeriod"/>
            </a:pPr>
            <a:r>
              <a:rPr lang="pt-BR" sz="1500" cap="small" dirty="0">
                <a:solidFill>
                  <a:schemeClr val="tx1"/>
                </a:solidFill>
              </a:rPr>
              <a:t>Como posso executá-lo? Como posso apresentar a essência da ideia?</a:t>
            </a:r>
          </a:p>
          <a:p>
            <a:pPr marL="177800" indent="-177800">
              <a:buFont typeface="+mj-lt"/>
              <a:buAutoNum type="arabicPeriod"/>
            </a:pPr>
            <a:r>
              <a:rPr lang="pt-BR" sz="1500" cap="small" dirty="0">
                <a:solidFill>
                  <a:schemeClr val="tx1"/>
                </a:solidFill>
              </a:rPr>
              <a:t>Para quem é este protótipo?</a:t>
            </a:r>
          </a:p>
          <a:p>
            <a:pPr marL="177800" indent="-177800">
              <a:buFont typeface="+mj-lt"/>
              <a:buAutoNum type="arabicPeriod"/>
            </a:pPr>
            <a:r>
              <a:rPr lang="pt-BR" sz="1500" cap="small" dirty="0">
                <a:solidFill>
                  <a:schemeClr val="tx1"/>
                </a:solidFill>
              </a:rPr>
              <a:t>De quê preciso para executá-lo? (materiais, local, pessoas)?</a:t>
            </a:r>
          </a:p>
          <a:p>
            <a:pPr marL="177800" indent="-177800">
              <a:buFont typeface="+mj-lt"/>
              <a:buAutoNum type="arabicPeriod"/>
            </a:pPr>
            <a:r>
              <a:rPr lang="pt-BR" sz="1500" cap="small" dirty="0">
                <a:solidFill>
                  <a:schemeClr val="tx1"/>
                </a:solidFill>
              </a:rPr>
              <a:t>Qual o melhor momento para realizar o teste?</a:t>
            </a:r>
          </a:p>
          <a:p>
            <a:pPr marL="177800" indent="-177800">
              <a:buFont typeface="+mj-lt"/>
              <a:buAutoNum type="arabicPeriod"/>
            </a:pPr>
            <a:r>
              <a:rPr lang="pt-BR" sz="1500" cap="small" dirty="0">
                <a:solidFill>
                  <a:schemeClr val="tx1"/>
                </a:solidFill>
              </a:rPr>
              <a:t>Quais ferramentas posso precisar durante o teste?</a:t>
            </a:r>
            <a:endParaRPr lang="pt-BR" sz="1350" cap="small" dirty="0">
              <a:solidFill>
                <a:schemeClr val="tx1"/>
              </a:solidFill>
            </a:endParaRPr>
          </a:p>
        </p:txBody>
      </p:sp>
      <p:sp>
        <p:nvSpPr>
          <p:cNvPr id="22" name="Retângulo: Cantos Arredondados 21">
            <a:extLst>
              <a:ext uri="{FF2B5EF4-FFF2-40B4-BE49-F238E27FC236}">
                <a16:creationId xmlns:a16="http://schemas.microsoft.com/office/drawing/2014/main" id="{03C53319-CBD0-4AC9-91D7-FC2190B001A6}"/>
              </a:ext>
            </a:extLst>
          </p:cNvPr>
          <p:cNvSpPr/>
          <p:nvPr/>
        </p:nvSpPr>
        <p:spPr>
          <a:xfrm>
            <a:off x="399686" y="4891257"/>
            <a:ext cx="7125144" cy="1876990"/>
          </a:xfrm>
          <a:prstGeom prst="roundRect">
            <a:avLst>
              <a:gd name="adj" fmla="val 3162"/>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cap="small" dirty="0">
                <a:solidFill>
                  <a:schemeClr val="tx1"/>
                </a:solidFill>
              </a:rPr>
              <a:t>Lembrem-se que o teste é parte de um processo de avaliação do protótipo</a:t>
            </a:r>
          </a:p>
          <a:p>
            <a:endParaRPr lang="pt-BR" sz="800" b="1" cap="small" dirty="0">
              <a:solidFill>
                <a:schemeClr val="tx1"/>
              </a:solidFill>
            </a:endParaRPr>
          </a:p>
          <a:p>
            <a:pPr marL="342900" indent="-342900">
              <a:buFont typeface="+mj-lt"/>
              <a:buAutoNum type="arabicPeriod"/>
            </a:pPr>
            <a:r>
              <a:rPr lang="pt-BR" sz="1600" cap="small" dirty="0">
                <a:solidFill>
                  <a:schemeClr val="tx1"/>
                </a:solidFill>
              </a:rPr>
              <a:t>Planeje o que quer observar em cada teste (monte uma lista de questões)</a:t>
            </a:r>
          </a:p>
          <a:p>
            <a:pPr marL="342900" indent="-342900">
              <a:buFont typeface="+mj-lt"/>
              <a:buAutoNum type="arabicPeriod"/>
            </a:pPr>
            <a:r>
              <a:rPr lang="pt-BR" sz="1600" cap="small" dirty="0">
                <a:solidFill>
                  <a:schemeClr val="tx1"/>
                </a:solidFill>
              </a:rPr>
              <a:t>Teste o protótipo junto ao(s) cliente(s) e anote os resultados de cada teste</a:t>
            </a:r>
          </a:p>
          <a:p>
            <a:pPr marL="342900" indent="-342900">
              <a:buFont typeface="+mj-lt"/>
              <a:buAutoNum type="arabicPeriod"/>
            </a:pPr>
            <a:r>
              <a:rPr lang="pt-BR" sz="1600" cap="small" dirty="0">
                <a:solidFill>
                  <a:schemeClr val="tx1"/>
                </a:solidFill>
              </a:rPr>
              <a:t>Se não for possível testar o protótipo funcionalmente elabore uma pesquisa para checar a viabilidade do projeto através de entrevistas</a:t>
            </a:r>
          </a:p>
          <a:p>
            <a:pPr marL="342900" indent="-342900">
              <a:buFont typeface="+mj-lt"/>
              <a:buAutoNum type="arabicPeriod"/>
            </a:pPr>
            <a:r>
              <a:rPr lang="pt-BR" sz="1600" cap="small" dirty="0">
                <a:solidFill>
                  <a:schemeClr val="tx1"/>
                </a:solidFill>
              </a:rPr>
              <a:t>Tabule e analise as anotações dos testes ou as respostas da pesquisa</a:t>
            </a:r>
          </a:p>
        </p:txBody>
      </p:sp>
      <p:sp>
        <p:nvSpPr>
          <p:cNvPr id="4" name="Retângulo: Cantos Arredondados 3">
            <a:hlinkClick r:id="rId2"/>
            <a:extLst>
              <a:ext uri="{FF2B5EF4-FFF2-40B4-BE49-F238E27FC236}">
                <a16:creationId xmlns:a16="http://schemas.microsoft.com/office/drawing/2014/main" id="{88A6AFB1-49F7-4F85-B94C-6645BE4F824A}"/>
              </a:ext>
            </a:extLst>
          </p:cNvPr>
          <p:cNvSpPr/>
          <p:nvPr/>
        </p:nvSpPr>
        <p:spPr>
          <a:xfrm>
            <a:off x="4827341" y="4017329"/>
            <a:ext cx="1087686" cy="614599"/>
          </a:xfrm>
          <a:prstGeom prst="roundRect">
            <a:avLst/>
          </a:prstGeom>
          <a:solidFill>
            <a:schemeClr val="bg2">
              <a:lumMod val="90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1050" cap="small" dirty="0">
                <a:solidFill>
                  <a:schemeClr val="bg2">
                    <a:lumMod val="10000"/>
                  </a:schemeClr>
                </a:solidFill>
              </a:rPr>
              <a:t>Vídeo </a:t>
            </a:r>
          </a:p>
          <a:p>
            <a:pPr algn="ctr"/>
            <a:r>
              <a:rPr lang="pt-BR" sz="1050" b="1" cap="small" dirty="0">
                <a:solidFill>
                  <a:schemeClr val="bg2">
                    <a:lumMod val="10000"/>
                  </a:schemeClr>
                </a:solidFill>
              </a:rPr>
              <a:t>Fome de Poder</a:t>
            </a:r>
          </a:p>
          <a:p>
            <a:pPr algn="ctr"/>
            <a:r>
              <a:rPr lang="pt-BR" sz="1050" cap="small" dirty="0" err="1">
                <a:solidFill>
                  <a:schemeClr val="bg2">
                    <a:lumMod val="10000"/>
                  </a:schemeClr>
                </a:solidFill>
              </a:rPr>
              <a:t>McDonalds</a:t>
            </a:r>
            <a:endParaRPr lang="pt-BR" sz="1050" cap="small" dirty="0">
              <a:solidFill>
                <a:schemeClr val="bg2">
                  <a:lumMod val="10000"/>
                </a:schemeClr>
              </a:solidFill>
            </a:endParaRPr>
          </a:p>
        </p:txBody>
      </p:sp>
    </p:spTree>
    <p:extLst>
      <p:ext uri="{BB962C8B-B14F-4D97-AF65-F5344CB8AC3E}">
        <p14:creationId xmlns:p14="http://schemas.microsoft.com/office/powerpoint/2010/main" val="90848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eta para a direita 39"/>
          <p:cNvSpPr/>
          <p:nvPr/>
        </p:nvSpPr>
        <p:spPr>
          <a:xfrm rot="10800000">
            <a:off x="726833" y="3759973"/>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Seta para a direita 1"/>
          <p:cNvSpPr/>
          <p:nvPr/>
        </p:nvSpPr>
        <p:spPr>
          <a:xfrm>
            <a:off x="726833" y="2385278"/>
            <a:ext cx="7743305" cy="144641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6" name="Hexágono 5"/>
          <p:cNvSpPr/>
          <p:nvPr/>
        </p:nvSpPr>
        <p:spPr>
          <a:xfrm>
            <a:off x="1154153"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CRIAR “EMPATIA”</a:t>
            </a:r>
          </a:p>
        </p:txBody>
      </p:sp>
      <p:sp>
        <p:nvSpPr>
          <p:cNvPr id="7" name="Hexágono 6"/>
          <p:cNvSpPr/>
          <p:nvPr/>
        </p:nvSpPr>
        <p:spPr>
          <a:xfrm>
            <a:off x="2470694" y="3258674"/>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ANALISE E INSIGHTS</a:t>
            </a:r>
          </a:p>
        </p:txBody>
      </p:sp>
      <p:sp>
        <p:nvSpPr>
          <p:cNvPr id="8" name="Hexágono 7"/>
          <p:cNvSpPr/>
          <p:nvPr/>
        </p:nvSpPr>
        <p:spPr>
          <a:xfrm>
            <a:off x="3787235" y="2558196"/>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GERAR IDEIAS</a:t>
            </a:r>
          </a:p>
        </p:txBody>
      </p:sp>
      <p:sp>
        <p:nvSpPr>
          <p:cNvPr id="9" name="Hexágono 8"/>
          <p:cNvSpPr/>
          <p:nvPr/>
        </p:nvSpPr>
        <p:spPr>
          <a:xfrm>
            <a:off x="5103776" y="3267037"/>
            <a:ext cx="1622502" cy="1398708"/>
          </a:xfrm>
          <a:prstGeom prst="hexag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PROTOTIPAR</a:t>
            </a:r>
          </a:p>
        </p:txBody>
      </p:sp>
      <p:sp>
        <p:nvSpPr>
          <p:cNvPr id="12" name="Retângulo: Cantos Arredondados 11">
            <a:extLst>
              <a:ext uri="{FF2B5EF4-FFF2-40B4-BE49-F238E27FC236}">
                <a16:creationId xmlns:a16="http://schemas.microsoft.com/office/drawing/2014/main" id="{4DD94CC2-2DBA-49BC-BAD4-DB0C1D5800A0}"/>
              </a:ext>
            </a:extLst>
          </p:cNvPr>
          <p:cNvSpPr/>
          <p:nvPr/>
        </p:nvSpPr>
        <p:spPr>
          <a:xfrm>
            <a:off x="304068" y="1301178"/>
            <a:ext cx="4422311" cy="3045191"/>
          </a:xfrm>
          <a:prstGeom prst="roundRect">
            <a:avLst>
              <a:gd name="adj" fmla="val 3162"/>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cap="small" dirty="0">
                <a:solidFill>
                  <a:schemeClr val="tx1"/>
                </a:solidFill>
              </a:rPr>
              <a:t>Cada rodada de teste deve responder as seguintes questões:</a:t>
            </a:r>
          </a:p>
          <a:p>
            <a:pPr marL="342900" indent="-342900">
              <a:buFont typeface="+mj-lt"/>
              <a:buAutoNum type="arabicPeriod"/>
            </a:pPr>
            <a:endParaRPr lang="pt-BR" sz="1600" cap="small" dirty="0">
              <a:solidFill>
                <a:schemeClr val="tx1"/>
              </a:solidFill>
            </a:endParaRPr>
          </a:p>
          <a:p>
            <a:pPr marL="534988" indent="-261938" fontAlgn="base">
              <a:buFont typeface="+mj-lt"/>
              <a:buAutoNum type="arabicPeriod"/>
            </a:pPr>
            <a:r>
              <a:rPr lang="pt-BR" sz="1600" cap="small" dirty="0">
                <a:solidFill>
                  <a:schemeClr val="tx1"/>
                </a:solidFill>
              </a:rPr>
              <a:t>O que funcionou no protótipo?</a:t>
            </a:r>
          </a:p>
          <a:p>
            <a:pPr marL="534988" indent="-261938" fontAlgn="base">
              <a:buFont typeface="+mj-lt"/>
              <a:buAutoNum type="arabicPeriod"/>
            </a:pPr>
            <a:r>
              <a:rPr lang="pt-BR" sz="1600" cap="small" dirty="0">
                <a:solidFill>
                  <a:schemeClr val="tx1"/>
                </a:solidFill>
              </a:rPr>
              <a:t>O que não funcionou?</a:t>
            </a:r>
          </a:p>
          <a:p>
            <a:pPr marL="534988" indent="-261938" fontAlgn="base">
              <a:buFont typeface="+mj-lt"/>
              <a:buAutoNum type="arabicPeriod"/>
            </a:pPr>
            <a:r>
              <a:rPr lang="pt-BR" sz="1600" cap="small" dirty="0">
                <a:solidFill>
                  <a:schemeClr val="tx1"/>
                </a:solidFill>
              </a:rPr>
              <a:t>Que perguntas surgiram durante o teste?</a:t>
            </a:r>
          </a:p>
          <a:p>
            <a:pPr marL="534988" indent="-261938" fontAlgn="base">
              <a:buFont typeface="+mj-lt"/>
              <a:buAutoNum type="arabicPeriod"/>
            </a:pPr>
            <a:r>
              <a:rPr lang="pt-BR" sz="1600" cap="small" dirty="0">
                <a:solidFill>
                  <a:schemeClr val="tx1"/>
                </a:solidFill>
              </a:rPr>
              <a:t>Que novas inspirações surgiram?</a:t>
            </a:r>
          </a:p>
          <a:p>
            <a:endParaRPr lang="pt-BR" sz="1600" cap="small" dirty="0">
              <a:solidFill>
                <a:schemeClr val="tx1"/>
              </a:solidFill>
            </a:endParaRPr>
          </a:p>
          <a:p>
            <a:pPr algn="ctr"/>
            <a:r>
              <a:rPr lang="pt-BR" sz="1600" cap="small" dirty="0">
                <a:solidFill>
                  <a:schemeClr val="tx1"/>
                </a:solidFill>
              </a:rPr>
              <a:t>Se necessário faça adequações no protótipo e refaça os testes até que seja possível considerar o protótipo pronto para ser usado ou implementado</a:t>
            </a:r>
          </a:p>
        </p:txBody>
      </p:sp>
      <p:sp>
        <p:nvSpPr>
          <p:cNvPr id="4" name="Retângulo 3">
            <a:extLst>
              <a:ext uri="{FF2B5EF4-FFF2-40B4-BE49-F238E27FC236}">
                <a16:creationId xmlns:a16="http://schemas.microsoft.com/office/drawing/2014/main" id="{575BB397-4B59-491F-A39B-3C47A5A6B490}"/>
              </a:ext>
            </a:extLst>
          </p:cNvPr>
          <p:cNvSpPr/>
          <p:nvPr/>
        </p:nvSpPr>
        <p:spPr>
          <a:xfrm>
            <a:off x="924278" y="727651"/>
            <a:ext cx="5732147" cy="523220"/>
          </a:xfrm>
          <a:prstGeom prst="rect">
            <a:avLst/>
          </a:prstGeom>
          <a:solidFill>
            <a:schemeClr val="bg1"/>
          </a:solidFill>
        </p:spPr>
        <p:txBody>
          <a:bodyPr wrap="none">
            <a:spAutoFit/>
          </a:bodyPr>
          <a:lstStyle/>
          <a:p>
            <a:pPr lvl="0">
              <a:defRPr/>
            </a:pPr>
            <a:r>
              <a:rPr lang="pt-BR" sz="2800" b="1" cap="all" dirty="0">
                <a:solidFill>
                  <a:prstClr val="black"/>
                </a:solidFill>
              </a:rPr>
              <a:t>Rodadas de TESTE DE protótipos</a:t>
            </a:r>
          </a:p>
        </p:txBody>
      </p:sp>
      <p:sp>
        <p:nvSpPr>
          <p:cNvPr id="5" name="Hexágono 4">
            <a:extLst>
              <a:ext uri="{FF2B5EF4-FFF2-40B4-BE49-F238E27FC236}">
                <a16:creationId xmlns:a16="http://schemas.microsoft.com/office/drawing/2014/main" id="{46A79E51-DD03-4022-A125-A1AA1BD257BA}"/>
              </a:ext>
            </a:extLst>
          </p:cNvPr>
          <p:cNvSpPr/>
          <p:nvPr/>
        </p:nvSpPr>
        <p:spPr>
          <a:xfrm>
            <a:off x="5103776" y="3266878"/>
            <a:ext cx="1622502" cy="1398708"/>
          </a:xfrm>
          <a:prstGeom prst="hexagon">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REFINAR O PROTOTIPO</a:t>
            </a:r>
          </a:p>
        </p:txBody>
      </p:sp>
      <p:sp>
        <p:nvSpPr>
          <p:cNvPr id="11" name="Seta: Curva para Cima 10">
            <a:extLst>
              <a:ext uri="{FF2B5EF4-FFF2-40B4-BE49-F238E27FC236}">
                <a16:creationId xmlns:a16="http://schemas.microsoft.com/office/drawing/2014/main" id="{CD71E15C-0F7D-466B-894C-34A920497BD2}"/>
              </a:ext>
            </a:extLst>
          </p:cNvPr>
          <p:cNvSpPr/>
          <p:nvPr/>
        </p:nvSpPr>
        <p:spPr>
          <a:xfrm flipH="1">
            <a:off x="5666446" y="4713293"/>
            <a:ext cx="1731894" cy="1307486"/>
          </a:xfrm>
          <a:prstGeom prst="curvedUpArrow">
            <a:avLst>
              <a:gd name="adj1" fmla="val 23226"/>
              <a:gd name="adj2" fmla="val 36212"/>
              <a:gd name="adj3" fmla="val 20476"/>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
        <p:nvSpPr>
          <p:cNvPr id="10" name="Hexágono 9"/>
          <p:cNvSpPr/>
          <p:nvPr/>
        </p:nvSpPr>
        <p:spPr>
          <a:xfrm>
            <a:off x="6420317" y="3966232"/>
            <a:ext cx="1622502" cy="1398708"/>
          </a:xfrm>
          <a:prstGeom prst="hexagon">
            <a:avLst/>
          </a:prstGeom>
          <a:solidFill>
            <a:srgbClr val="C0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350" dirty="0"/>
              <a:t>TESTAR</a:t>
            </a:r>
          </a:p>
        </p:txBody>
      </p:sp>
      <p:sp>
        <p:nvSpPr>
          <p:cNvPr id="15" name="Seta: para Baixo 14">
            <a:extLst>
              <a:ext uri="{FF2B5EF4-FFF2-40B4-BE49-F238E27FC236}">
                <a16:creationId xmlns:a16="http://schemas.microsoft.com/office/drawing/2014/main" id="{D12FA58E-9AB7-4829-854F-B0DCB3AD6C5E}"/>
              </a:ext>
            </a:extLst>
          </p:cNvPr>
          <p:cNvSpPr/>
          <p:nvPr/>
        </p:nvSpPr>
        <p:spPr>
          <a:xfrm rot="17798573">
            <a:off x="6506004" y="4139112"/>
            <a:ext cx="305961" cy="554486"/>
          </a:xfrm>
          <a:prstGeom prst="downArrow">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38155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96E1D77-D89A-4825-9689-3DF8DEAABAAE}"/>
              </a:ext>
            </a:extLst>
          </p:cNvPr>
          <p:cNvSpPr txBox="1"/>
          <p:nvPr/>
        </p:nvSpPr>
        <p:spPr>
          <a:xfrm>
            <a:off x="1687804" y="6122933"/>
            <a:ext cx="5537734" cy="461665"/>
          </a:xfrm>
          <a:prstGeom prst="rect">
            <a:avLst/>
          </a:prstGeom>
          <a:noFill/>
        </p:spPr>
        <p:txBody>
          <a:bodyPr wrap="none" rtlCol="0">
            <a:spAutoFit/>
          </a:bodyPr>
          <a:lstStyle/>
          <a:p>
            <a:r>
              <a:rPr lang="pt-BR" sz="2400" b="1" dirty="0"/>
              <a:t>O TESTE COMO PESQUISA DE MERCADO...</a:t>
            </a:r>
          </a:p>
        </p:txBody>
      </p:sp>
      <p:sp>
        <p:nvSpPr>
          <p:cNvPr id="6" name="Retângulo 5">
            <a:extLst>
              <a:ext uri="{FF2B5EF4-FFF2-40B4-BE49-F238E27FC236}">
                <a16:creationId xmlns:a16="http://schemas.microsoft.com/office/drawing/2014/main" id="{A8ADB2CA-C180-42FE-9D48-7EFCA7AD8E4D}"/>
              </a:ext>
            </a:extLst>
          </p:cNvPr>
          <p:cNvSpPr/>
          <p:nvPr/>
        </p:nvSpPr>
        <p:spPr>
          <a:xfrm>
            <a:off x="280548" y="1979469"/>
            <a:ext cx="1433953" cy="644236"/>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a:solidFill>
                  <a:sysClr val="windowText" lastClr="000000"/>
                </a:solidFill>
              </a:rPr>
              <a:t>DEFINIÇÃO DO PROBLEMA E DOS OBJETIVOS</a:t>
            </a:r>
          </a:p>
        </p:txBody>
      </p:sp>
      <p:sp>
        <p:nvSpPr>
          <p:cNvPr id="7" name="Retângulo 6">
            <a:extLst>
              <a:ext uri="{FF2B5EF4-FFF2-40B4-BE49-F238E27FC236}">
                <a16:creationId xmlns:a16="http://schemas.microsoft.com/office/drawing/2014/main" id="{A49D9BE5-903B-42F8-8E56-DF41E7D4C4E7}"/>
              </a:ext>
            </a:extLst>
          </p:cNvPr>
          <p:cNvSpPr/>
          <p:nvPr/>
        </p:nvSpPr>
        <p:spPr>
          <a:xfrm>
            <a:off x="1741717" y="2561361"/>
            <a:ext cx="1433953" cy="644236"/>
          </a:xfrm>
          <a:prstGeom prst="rect">
            <a:avLst/>
          </a:prstGeom>
          <a:solidFill>
            <a:schemeClr val="accent4">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DESENVOLVIMENTO DO PLANO DE PESQUISA</a:t>
            </a:r>
          </a:p>
        </p:txBody>
      </p:sp>
      <p:sp>
        <p:nvSpPr>
          <p:cNvPr id="8" name="Retângulo 7">
            <a:extLst>
              <a:ext uri="{FF2B5EF4-FFF2-40B4-BE49-F238E27FC236}">
                <a16:creationId xmlns:a16="http://schemas.microsoft.com/office/drawing/2014/main" id="{DCB60408-256F-46EC-81D7-9FD4D90F4C0B}"/>
              </a:ext>
            </a:extLst>
          </p:cNvPr>
          <p:cNvSpPr/>
          <p:nvPr/>
        </p:nvSpPr>
        <p:spPr>
          <a:xfrm>
            <a:off x="3202887" y="3143252"/>
            <a:ext cx="1433953" cy="644236"/>
          </a:xfrm>
          <a:prstGeom prst="rect">
            <a:avLst/>
          </a:prstGeom>
          <a:solidFill>
            <a:schemeClr val="accent4">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COLETA DE INFORMAÇÕES</a:t>
            </a:r>
          </a:p>
        </p:txBody>
      </p:sp>
      <p:sp>
        <p:nvSpPr>
          <p:cNvPr id="9" name="Retângulo 8">
            <a:extLst>
              <a:ext uri="{FF2B5EF4-FFF2-40B4-BE49-F238E27FC236}">
                <a16:creationId xmlns:a16="http://schemas.microsoft.com/office/drawing/2014/main" id="{C00EB122-56AC-4D08-B291-21661F9B52C3}"/>
              </a:ext>
            </a:extLst>
          </p:cNvPr>
          <p:cNvSpPr/>
          <p:nvPr/>
        </p:nvSpPr>
        <p:spPr>
          <a:xfrm>
            <a:off x="4664056" y="3725143"/>
            <a:ext cx="1433953" cy="644236"/>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ANÁLISE DAS INFORMAÇÕES</a:t>
            </a:r>
          </a:p>
        </p:txBody>
      </p:sp>
      <p:sp>
        <p:nvSpPr>
          <p:cNvPr id="10" name="Retângulo 9">
            <a:extLst>
              <a:ext uri="{FF2B5EF4-FFF2-40B4-BE49-F238E27FC236}">
                <a16:creationId xmlns:a16="http://schemas.microsoft.com/office/drawing/2014/main" id="{9BADDE3F-B0D0-4BEA-8A30-8D9F10D465BC}"/>
              </a:ext>
            </a:extLst>
          </p:cNvPr>
          <p:cNvSpPr/>
          <p:nvPr/>
        </p:nvSpPr>
        <p:spPr>
          <a:xfrm>
            <a:off x="6125226" y="4307034"/>
            <a:ext cx="1433953" cy="644236"/>
          </a:xfrm>
          <a:prstGeom prst="rect">
            <a:avLst/>
          </a:prstGeom>
          <a:solidFill>
            <a:schemeClr val="accent2">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APRESENTAÇÃO DE RESULTADOS</a:t>
            </a:r>
          </a:p>
        </p:txBody>
      </p:sp>
      <p:sp>
        <p:nvSpPr>
          <p:cNvPr id="11" name="Retângulo 10">
            <a:extLst>
              <a:ext uri="{FF2B5EF4-FFF2-40B4-BE49-F238E27FC236}">
                <a16:creationId xmlns:a16="http://schemas.microsoft.com/office/drawing/2014/main" id="{8F909165-518C-47F6-B936-9E90D5E1DBAE}"/>
              </a:ext>
            </a:extLst>
          </p:cNvPr>
          <p:cNvSpPr/>
          <p:nvPr/>
        </p:nvSpPr>
        <p:spPr>
          <a:xfrm>
            <a:off x="7586397" y="4888924"/>
            <a:ext cx="1433953" cy="644236"/>
          </a:xfrm>
          <a:prstGeom prst="rect">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TOMADA DE DECISÃO</a:t>
            </a:r>
          </a:p>
        </p:txBody>
      </p:sp>
      <p:sp>
        <p:nvSpPr>
          <p:cNvPr id="2" name="Retângulo 1">
            <a:extLst>
              <a:ext uri="{FF2B5EF4-FFF2-40B4-BE49-F238E27FC236}">
                <a16:creationId xmlns:a16="http://schemas.microsoft.com/office/drawing/2014/main" id="{79D6D789-25B4-4953-A3A4-3CCB7D3D1946}"/>
              </a:ext>
            </a:extLst>
          </p:cNvPr>
          <p:cNvSpPr/>
          <p:nvPr/>
        </p:nvSpPr>
        <p:spPr>
          <a:xfrm>
            <a:off x="924278" y="727651"/>
            <a:ext cx="6589689" cy="523220"/>
          </a:xfrm>
          <a:prstGeom prst="rect">
            <a:avLst/>
          </a:prstGeom>
          <a:solidFill>
            <a:schemeClr val="bg1"/>
          </a:solidFill>
        </p:spPr>
        <p:txBody>
          <a:bodyPr wrap="none">
            <a:spAutoFit/>
          </a:bodyPr>
          <a:lstStyle/>
          <a:p>
            <a:pPr lvl="0">
              <a:defRPr/>
            </a:pPr>
            <a:r>
              <a:rPr lang="pt-BR" sz="2800" b="1" cap="all" dirty="0">
                <a:solidFill>
                  <a:prstClr val="black"/>
                </a:solidFill>
              </a:rPr>
              <a:t>Planejamento do TESTE DE protótipos</a:t>
            </a:r>
          </a:p>
        </p:txBody>
      </p:sp>
    </p:spTree>
    <p:extLst>
      <p:ext uri="{BB962C8B-B14F-4D97-AF65-F5344CB8AC3E}">
        <p14:creationId xmlns:p14="http://schemas.microsoft.com/office/powerpoint/2010/main" val="256053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E4B20029-8A3E-4550-B1D5-977FDD50CFC2}"/>
              </a:ext>
            </a:extLst>
          </p:cNvPr>
          <p:cNvSpPr/>
          <p:nvPr/>
        </p:nvSpPr>
        <p:spPr>
          <a:xfrm>
            <a:off x="924278" y="727651"/>
            <a:ext cx="6589689" cy="523220"/>
          </a:xfrm>
          <a:prstGeom prst="rect">
            <a:avLst/>
          </a:prstGeom>
          <a:solidFill>
            <a:schemeClr val="bg1"/>
          </a:solidFill>
        </p:spPr>
        <p:txBody>
          <a:bodyPr wrap="none">
            <a:spAutoFit/>
          </a:bodyPr>
          <a:lstStyle/>
          <a:p>
            <a:pPr lvl="0">
              <a:defRPr/>
            </a:pPr>
            <a:r>
              <a:rPr lang="pt-BR" sz="2800" b="1" cap="all" dirty="0">
                <a:solidFill>
                  <a:prstClr val="black"/>
                </a:solidFill>
              </a:rPr>
              <a:t>Planejamento do TESTE DE protótipos</a:t>
            </a:r>
          </a:p>
        </p:txBody>
      </p:sp>
      <p:sp>
        <p:nvSpPr>
          <p:cNvPr id="6" name="Retângulo 5">
            <a:extLst>
              <a:ext uri="{FF2B5EF4-FFF2-40B4-BE49-F238E27FC236}">
                <a16:creationId xmlns:a16="http://schemas.microsoft.com/office/drawing/2014/main" id="{A8ADB2CA-C180-42FE-9D48-7EFCA7AD8E4D}"/>
              </a:ext>
            </a:extLst>
          </p:cNvPr>
          <p:cNvSpPr/>
          <p:nvPr/>
        </p:nvSpPr>
        <p:spPr>
          <a:xfrm>
            <a:off x="280548" y="1979469"/>
            <a:ext cx="1433953" cy="644236"/>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a:solidFill>
                  <a:sysClr val="windowText" lastClr="000000"/>
                </a:solidFill>
              </a:rPr>
              <a:t>DEFINIÇÃO DO PROBLEMA E DOS OBJETIVOS</a:t>
            </a:r>
          </a:p>
        </p:txBody>
      </p:sp>
      <p:sp>
        <p:nvSpPr>
          <p:cNvPr id="7" name="Retângulo 6">
            <a:extLst>
              <a:ext uri="{FF2B5EF4-FFF2-40B4-BE49-F238E27FC236}">
                <a16:creationId xmlns:a16="http://schemas.microsoft.com/office/drawing/2014/main" id="{A49D9BE5-903B-42F8-8E56-DF41E7D4C4E7}"/>
              </a:ext>
            </a:extLst>
          </p:cNvPr>
          <p:cNvSpPr/>
          <p:nvPr/>
        </p:nvSpPr>
        <p:spPr>
          <a:xfrm>
            <a:off x="1741717" y="2561361"/>
            <a:ext cx="1433953" cy="644236"/>
          </a:xfrm>
          <a:prstGeom prst="rect">
            <a:avLst/>
          </a:prstGeom>
          <a:solidFill>
            <a:schemeClr val="accent4">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DESENVOLVIMENTO DO PLANO DE PESQUISA</a:t>
            </a:r>
          </a:p>
        </p:txBody>
      </p:sp>
      <p:sp>
        <p:nvSpPr>
          <p:cNvPr id="8" name="Retângulo 7">
            <a:extLst>
              <a:ext uri="{FF2B5EF4-FFF2-40B4-BE49-F238E27FC236}">
                <a16:creationId xmlns:a16="http://schemas.microsoft.com/office/drawing/2014/main" id="{DCB60408-256F-46EC-81D7-9FD4D90F4C0B}"/>
              </a:ext>
            </a:extLst>
          </p:cNvPr>
          <p:cNvSpPr/>
          <p:nvPr/>
        </p:nvSpPr>
        <p:spPr>
          <a:xfrm>
            <a:off x="3202887" y="3143252"/>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chemeClr val="bg1">
                    <a:lumMod val="50000"/>
                  </a:schemeClr>
                </a:solidFill>
              </a:rPr>
              <a:t>COLETA DE INFORMAÇÕES</a:t>
            </a:r>
          </a:p>
        </p:txBody>
      </p:sp>
      <p:sp>
        <p:nvSpPr>
          <p:cNvPr id="9" name="Retângulo 8">
            <a:extLst>
              <a:ext uri="{FF2B5EF4-FFF2-40B4-BE49-F238E27FC236}">
                <a16:creationId xmlns:a16="http://schemas.microsoft.com/office/drawing/2014/main" id="{C00EB122-56AC-4D08-B291-21661F9B52C3}"/>
              </a:ext>
            </a:extLst>
          </p:cNvPr>
          <p:cNvSpPr/>
          <p:nvPr/>
        </p:nvSpPr>
        <p:spPr>
          <a:xfrm>
            <a:off x="4664056" y="3725143"/>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chemeClr val="bg1">
                    <a:lumMod val="50000"/>
                  </a:schemeClr>
                </a:solidFill>
              </a:rPr>
              <a:t>ANÁLISE DAS INFORMAÇÕES</a:t>
            </a:r>
          </a:p>
        </p:txBody>
      </p:sp>
      <p:sp>
        <p:nvSpPr>
          <p:cNvPr id="10" name="Retângulo 9">
            <a:extLst>
              <a:ext uri="{FF2B5EF4-FFF2-40B4-BE49-F238E27FC236}">
                <a16:creationId xmlns:a16="http://schemas.microsoft.com/office/drawing/2014/main" id="{9BADDE3F-B0D0-4BEA-8A30-8D9F10D465BC}"/>
              </a:ext>
            </a:extLst>
          </p:cNvPr>
          <p:cNvSpPr/>
          <p:nvPr/>
        </p:nvSpPr>
        <p:spPr>
          <a:xfrm>
            <a:off x="6125226" y="4307034"/>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chemeClr val="bg1">
                    <a:lumMod val="50000"/>
                  </a:schemeClr>
                </a:solidFill>
              </a:rPr>
              <a:t>APRESENTAÇÃO DE RESULTADOS</a:t>
            </a:r>
          </a:p>
        </p:txBody>
      </p:sp>
      <p:sp>
        <p:nvSpPr>
          <p:cNvPr id="11" name="Retângulo 10">
            <a:extLst>
              <a:ext uri="{FF2B5EF4-FFF2-40B4-BE49-F238E27FC236}">
                <a16:creationId xmlns:a16="http://schemas.microsoft.com/office/drawing/2014/main" id="{8F909165-518C-47F6-B936-9E90D5E1DBAE}"/>
              </a:ext>
            </a:extLst>
          </p:cNvPr>
          <p:cNvSpPr/>
          <p:nvPr/>
        </p:nvSpPr>
        <p:spPr>
          <a:xfrm>
            <a:off x="7586397" y="4888924"/>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chemeClr val="bg1">
                    <a:lumMod val="50000"/>
                  </a:schemeClr>
                </a:solidFill>
              </a:rPr>
              <a:t>TOMADA DE DECISÃO</a:t>
            </a:r>
          </a:p>
        </p:txBody>
      </p:sp>
      <p:sp>
        <p:nvSpPr>
          <p:cNvPr id="13" name="Retângulo: Cantos Arredondados 12">
            <a:extLst>
              <a:ext uri="{FF2B5EF4-FFF2-40B4-BE49-F238E27FC236}">
                <a16:creationId xmlns:a16="http://schemas.microsoft.com/office/drawing/2014/main" id="{1E06BB5E-BE25-4357-AB37-1C46A5C1FAF8}"/>
              </a:ext>
            </a:extLst>
          </p:cNvPr>
          <p:cNvSpPr/>
          <p:nvPr/>
        </p:nvSpPr>
        <p:spPr>
          <a:xfrm>
            <a:off x="2591606" y="1567769"/>
            <a:ext cx="1928646" cy="863705"/>
          </a:xfrm>
          <a:prstGeom prst="roundRect">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pt-BR" sz="1050" b="1" cap="small" dirty="0">
                <a:solidFill>
                  <a:schemeClr val="tx1"/>
                </a:solidFill>
              </a:rPr>
              <a:t>QUE RESPOSTAS QUEREMOS?</a:t>
            </a:r>
          </a:p>
          <a:p>
            <a:pPr marL="133350" indent="-133350">
              <a:buFont typeface="Wingdings" panose="05000000000000000000" pitchFamily="2" charset="2"/>
              <a:buChar char="§"/>
            </a:pPr>
            <a:r>
              <a:rPr lang="pt-BR" sz="1050" cap="small" dirty="0">
                <a:solidFill>
                  <a:schemeClr val="tx1"/>
                </a:solidFill>
              </a:rPr>
              <a:t>VIABILIDADE DO PROJETO ?</a:t>
            </a:r>
          </a:p>
          <a:p>
            <a:pPr marL="133350" indent="-133350">
              <a:buFont typeface="Wingdings" panose="05000000000000000000" pitchFamily="2" charset="2"/>
              <a:buChar char="§"/>
            </a:pPr>
            <a:r>
              <a:rPr lang="pt-BR" sz="1050" cap="small" dirty="0">
                <a:solidFill>
                  <a:schemeClr val="tx1"/>
                </a:solidFill>
              </a:rPr>
              <a:t>ADEQUAÇÃO AO PUBLICO ?</a:t>
            </a:r>
          </a:p>
          <a:p>
            <a:pPr marL="133350" indent="-133350">
              <a:buFont typeface="Wingdings" panose="05000000000000000000" pitchFamily="2" charset="2"/>
              <a:buChar char="§"/>
            </a:pPr>
            <a:r>
              <a:rPr lang="pt-BR" sz="1050" cap="small" dirty="0">
                <a:solidFill>
                  <a:schemeClr val="tx1"/>
                </a:solidFill>
              </a:rPr>
              <a:t>EFICÁCIA DO PROJETO ?</a:t>
            </a:r>
          </a:p>
        </p:txBody>
      </p:sp>
      <p:cxnSp>
        <p:nvCxnSpPr>
          <p:cNvPr id="14" name="Conector de Seta Reta 13">
            <a:extLst>
              <a:ext uri="{FF2B5EF4-FFF2-40B4-BE49-F238E27FC236}">
                <a16:creationId xmlns:a16="http://schemas.microsoft.com/office/drawing/2014/main" id="{F4533135-ED70-4274-9DC3-D3E915667991}"/>
              </a:ext>
            </a:extLst>
          </p:cNvPr>
          <p:cNvCxnSpPr>
            <a:cxnSpLocks/>
            <a:stCxn id="6" idx="3"/>
            <a:endCxn id="13" idx="1"/>
          </p:cNvCxnSpPr>
          <p:nvPr/>
        </p:nvCxnSpPr>
        <p:spPr>
          <a:xfrm flipV="1">
            <a:off x="1714501" y="1999622"/>
            <a:ext cx="877105" cy="3019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tângulo: Cantos Arredondados 14">
            <a:extLst>
              <a:ext uri="{FF2B5EF4-FFF2-40B4-BE49-F238E27FC236}">
                <a16:creationId xmlns:a16="http://schemas.microsoft.com/office/drawing/2014/main" id="{EBC0257C-E148-4838-8207-8B923C00E524}"/>
              </a:ext>
            </a:extLst>
          </p:cNvPr>
          <p:cNvSpPr/>
          <p:nvPr/>
        </p:nvSpPr>
        <p:spPr>
          <a:xfrm>
            <a:off x="4942986" y="1313415"/>
            <a:ext cx="2616194" cy="4746974"/>
          </a:xfrm>
          <a:prstGeom prst="roundRect">
            <a:avLst>
              <a:gd name="adj" fmla="val 5077"/>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133350" indent="-133350">
              <a:buFont typeface="Wingdings" panose="05000000000000000000" pitchFamily="2" charset="2"/>
              <a:buChar char="§"/>
            </a:pPr>
            <a:r>
              <a:rPr lang="pt-BR" sz="1050" b="1" cap="small" dirty="0">
                <a:solidFill>
                  <a:schemeClr val="tx1"/>
                </a:solidFill>
              </a:rPr>
              <a:t>DEFINIR FONTE DE DADOS</a:t>
            </a:r>
          </a:p>
          <a:p>
            <a:pPr marL="267891" lvl="1" indent="-133350">
              <a:buFont typeface="Calibri" panose="020F0502020204030204" pitchFamily="34" charset="0"/>
              <a:buChar char="▫"/>
            </a:pPr>
            <a:r>
              <a:rPr lang="pt-BR" sz="1050" cap="small" dirty="0">
                <a:solidFill>
                  <a:schemeClr val="tx1"/>
                </a:solidFill>
              </a:rPr>
              <a:t>BUSCAR DADOS SECUNDÁRIOS ?</a:t>
            </a:r>
          </a:p>
          <a:p>
            <a:pPr marL="267891" lvl="1" indent="-133350">
              <a:buFont typeface="Calibri" panose="020F0502020204030204" pitchFamily="34" charset="0"/>
              <a:buChar char="▫"/>
            </a:pPr>
            <a:r>
              <a:rPr lang="pt-BR" sz="1050" cap="small" dirty="0">
                <a:solidFill>
                  <a:schemeClr val="tx1"/>
                </a:solidFill>
              </a:rPr>
              <a:t>COLETAR DADOS PRIMÁRIOS ?</a:t>
            </a:r>
          </a:p>
          <a:p>
            <a:pPr marL="467916" lvl="2" indent="-133350">
              <a:buFont typeface="Courier New" panose="02070309020205020404" pitchFamily="49" charset="0"/>
              <a:buChar char="o"/>
            </a:pPr>
            <a:r>
              <a:rPr lang="pt-BR" sz="1050" cap="small" dirty="0">
                <a:solidFill>
                  <a:schemeClr val="tx1"/>
                </a:solidFill>
              </a:rPr>
              <a:t>Definir universo de pesquisa</a:t>
            </a:r>
          </a:p>
          <a:p>
            <a:pPr marL="467916" lvl="2" indent="-133350">
              <a:buFont typeface="Courier New" panose="02070309020205020404" pitchFamily="49" charset="0"/>
              <a:buChar char="o"/>
            </a:pPr>
            <a:endParaRPr lang="pt-BR" sz="600" cap="small" dirty="0">
              <a:solidFill>
                <a:schemeClr val="tx1"/>
              </a:solidFill>
            </a:endParaRPr>
          </a:p>
          <a:p>
            <a:pPr marL="133350" indent="-133350">
              <a:buFont typeface="Wingdings" panose="05000000000000000000" pitchFamily="2" charset="2"/>
              <a:buChar char="§"/>
            </a:pPr>
            <a:r>
              <a:rPr lang="pt-BR" sz="1050" b="1" cap="small" dirty="0">
                <a:solidFill>
                  <a:schemeClr val="tx1"/>
                </a:solidFill>
              </a:rPr>
              <a:t>ESCOLHER TIPO DE ABORDAGEM</a:t>
            </a:r>
          </a:p>
          <a:p>
            <a:pPr marL="267891" lvl="1" indent="-133350">
              <a:buFont typeface="Calibri" panose="020F0502020204030204" pitchFamily="34" charset="0"/>
              <a:buChar char="▫"/>
            </a:pPr>
            <a:r>
              <a:rPr lang="pt-BR" sz="1050" cap="small" dirty="0">
                <a:solidFill>
                  <a:schemeClr val="tx1"/>
                </a:solidFill>
              </a:rPr>
              <a:t>PESQUISA POR OBSERVAÇÃO ?</a:t>
            </a:r>
          </a:p>
          <a:p>
            <a:pPr marL="467916" lvl="3" indent="-133350">
              <a:buFont typeface="Courier New" panose="02070309020205020404" pitchFamily="49" charset="0"/>
              <a:buChar char="o"/>
            </a:pPr>
            <a:r>
              <a:rPr lang="pt-BR" sz="1050" cap="small" dirty="0">
                <a:solidFill>
                  <a:schemeClr val="tx1"/>
                </a:solidFill>
              </a:rPr>
              <a:t>Etnográfica</a:t>
            </a:r>
          </a:p>
          <a:p>
            <a:pPr marL="467916" lvl="3" indent="-133350">
              <a:buFont typeface="Courier New" panose="02070309020205020404" pitchFamily="49" charset="0"/>
              <a:buChar char="o"/>
            </a:pPr>
            <a:r>
              <a:rPr lang="pt-BR" sz="1050" cap="small" dirty="0">
                <a:solidFill>
                  <a:schemeClr val="tx1"/>
                </a:solidFill>
              </a:rPr>
              <a:t>Focus </a:t>
            </a:r>
            <a:r>
              <a:rPr lang="pt-BR" sz="1050" cap="small" dirty="0" err="1">
                <a:solidFill>
                  <a:schemeClr val="tx1"/>
                </a:solidFill>
              </a:rPr>
              <a:t>Group</a:t>
            </a:r>
            <a:endParaRPr lang="pt-BR" sz="1050" cap="small" dirty="0">
              <a:solidFill>
                <a:schemeClr val="tx1"/>
              </a:solidFill>
            </a:endParaRPr>
          </a:p>
          <a:p>
            <a:pPr marL="267891" lvl="1" indent="-133350">
              <a:buFont typeface="Calibri" panose="020F0502020204030204" pitchFamily="34" charset="0"/>
              <a:buChar char="▫"/>
            </a:pPr>
            <a:r>
              <a:rPr lang="pt-BR" sz="1050" cap="small" dirty="0">
                <a:solidFill>
                  <a:schemeClr val="tx1"/>
                </a:solidFill>
              </a:rPr>
              <a:t>PESQUISA POR SURVEY ?</a:t>
            </a:r>
          </a:p>
          <a:p>
            <a:pPr marL="467916" lvl="3" indent="-133350">
              <a:buFont typeface="Courier New" panose="02070309020205020404" pitchFamily="49" charset="0"/>
              <a:buChar char="o"/>
            </a:pPr>
            <a:r>
              <a:rPr lang="pt-BR" sz="1050" cap="small" dirty="0">
                <a:solidFill>
                  <a:schemeClr val="tx1"/>
                </a:solidFill>
              </a:rPr>
              <a:t>Entrevistas pessoais</a:t>
            </a:r>
          </a:p>
          <a:p>
            <a:pPr marL="467916" lvl="3" indent="-133350">
              <a:buFont typeface="Courier New" panose="02070309020205020404" pitchFamily="49" charset="0"/>
              <a:buChar char="o"/>
            </a:pPr>
            <a:r>
              <a:rPr lang="pt-BR" sz="1050" cap="small" dirty="0">
                <a:solidFill>
                  <a:schemeClr val="tx1"/>
                </a:solidFill>
              </a:rPr>
              <a:t>Questionário </a:t>
            </a:r>
            <a:r>
              <a:rPr lang="pt-BR" sz="1050" cap="small" dirty="0" err="1">
                <a:solidFill>
                  <a:schemeClr val="tx1"/>
                </a:solidFill>
              </a:rPr>
              <a:t>OnLine</a:t>
            </a:r>
            <a:endParaRPr lang="pt-BR" sz="1050" cap="small" dirty="0">
              <a:solidFill>
                <a:schemeClr val="tx1"/>
              </a:solidFill>
            </a:endParaRPr>
          </a:p>
          <a:p>
            <a:pPr marL="467916" lvl="3" indent="-133350">
              <a:buFont typeface="Courier New" panose="02070309020205020404" pitchFamily="49" charset="0"/>
              <a:buChar char="o"/>
            </a:pPr>
            <a:endParaRPr lang="pt-BR" sz="600" i="1" cap="small" dirty="0">
              <a:solidFill>
                <a:schemeClr val="tx1"/>
              </a:solidFill>
            </a:endParaRPr>
          </a:p>
          <a:p>
            <a:pPr marL="133350" indent="-133350">
              <a:buFont typeface="Wingdings" panose="05000000000000000000" pitchFamily="2" charset="2"/>
              <a:buChar char="§"/>
            </a:pPr>
            <a:r>
              <a:rPr lang="pt-BR" sz="1050" b="1" cap="small" dirty="0">
                <a:solidFill>
                  <a:schemeClr val="tx1"/>
                </a:solidFill>
              </a:rPr>
              <a:t>DEFINIR INSTRUMENTO DE PESQUISA</a:t>
            </a:r>
          </a:p>
          <a:p>
            <a:pPr marL="476250" lvl="1" indent="-133350">
              <a:buFont typeface="Wingdings" panose="05000000000000000000" pitchFamily="2" charset="2"/>
              <a:buChar char="§"/>
            </a:pPr>
            <a:r>
              <a:rPr lang="pt-BR" sz="1050" cap="small" dirty="0">
                <a:solidFill>
                  <a:schemeClr val="tx1"/>
                </a:solidFill>
              </a:rPr>
              <a:t>PROTÓTIPO ?</a:t>
            </a:r>
          </a:p>
          <a:p>
            <a:pPr marL="819150" lvl="2" indent="-133350">
              <a:buFont typeface="Wingdings" panose="05000000000000000000" pitchFamily="2" charset="2"/>
              <a:buChar char="§"/>
            </a:pPr>
            <a:r>
              <a:rPr lang="pt-BR" sz="1050" cap="small" dirty="0">
                <a:solidFill>
                  <a:schemeClr val="tx1"/>
                </a:solidFill>
              </a:rPr>
              <a:t>Cenário físico</a:t>
            </a:r>
          </a:p>
          <a:p>
            <a:pPr marL="819150" lvl="2" indent="-133350">
              <a:buFont typeface="Wingdings" panose="05000000000000000000" pitchFamily="2" charset="2"/>
              <a:buChar char="§"/>
            </a:pPr>
            <a:r>
              <a:rPr lang="pt-BR" sz="1050" cap="small" dirty="0">
                <a:solidFill>
                  <a:schemeClr val="tx1"/>
                </a:solidFill>
              </a:rPr>
              <a:t>Cenário Virtual</a:t>
            </a:r>
          </a:p>
          <a:p>
            <a:pPr marL="819150" lvl="2" indent="-133350">
              <a:buFont typeface="Wingdings" panose="05000000000000000000" pitchFamily="2" charset="2"/>
              <a:buChar char="§"/>
            </a:pPr>
            <a:r>
              <a:rPr lang="pt-BR" sz="1050" cap="small" dirty="0">
                <a:solidFill>
                  <a:schemeClr val="tx1"/>
                </a:solidFill>
              </a:rPr>
              <a:t>Representação</a:t>
            </a:r>
          </a:p>
          <a:p>
            <a:pPr marL="476250" lvl="1" indent="-133350">
              <a:buFont typeface="Wingdings" panose="05000000000000000000" pitchFamily="2" charset="2"/>
              <a:buChar char="§"/>
            </a:pPr>
            <a:r>
              <a:rPr lang="pt-BR" sz="1050" cap="small" dirty="0">
                <a:solidFill>
                  <a:schemeClr val="tx1"/>
                </a:solidFill>
              </a:rPr>
              <a:t>QUESTIONÁRIO ?</a:t>
            </a:r>
          </a:p>
          <a:p>
            <a:pPr marL="819150" lvl="2" indent="-133350">
              <a:buFont typeface="Wingdings" panose="05000000000000000000" pitchFamily="2" charset="2"/>
              <a:buChar char="§"/>
            </a:pPr>
            <a:r>
              <a:rPr lang="pt-BR" sz="1050" cap="small" dirty="0">
                <a:solidFill>
                  <a:schemeClr val="tx1"/>
                </a:solidFill>
              </a:rPr>
              <a:t>Aberto</a:t>
            </a:r>
          </a:p>
          <a:p>
            <a:pPr marL="819150" lvl="2" indent="-133350">
              <a:buFont typeface="Wingdings" panose="05000000000000000000" pitchFamily="2" charset="2"/>
              <a:buChar char="§"/>
            </a:pPr>
            <a:r>
              <a:rPr lang="pt-BR" sz="1050" cap="small" dirty="0">
                <a:solidFill>
                  <a:schemeClr val="tx1"/>
                </a:solidFill>
              </a:rPr>
              <a:t>Fechado</a:t>
            </a:r>
          </a:p>
          <a:p>
            <a:pPr marL="476250" lvl="1" indent="-133350">
              <a:buFont typeface="Wingdings" panose="05000000000000000000" pitchFamily="2" charset="2"/>
              <a:buChar char="§"/>
            </a:pPr>
            <a:r>
              <a:rPr lang="pt-BR" sz="1050" cap="small" dirty="0">
                <a:solidFill>
                  <a:schemeClr val="tx1"/>
                </a:solidFill>
              </a:rPr>
              <a:t>MENSURAÇÃO ?</a:t>
            </a:r>
          </a:p>
          <a:p>
            <a:pPr marL="476250" lvl="1" indent="-133350">
              <a:buFont typeface="Wingdings" panose="05000000000000000000" pitchFamily="2" charset="2"/>
              <a:buChar char="§"/>
            </a:pPr>
            <a:endParaRPr lang="pt-BR" sz="600" cap="small" dirty="0">
              <a:solidFill>
                <a:schemeClr val="tx1"/>
              </a:solidFill>
            </a:endParaRPr>
          </a:p>
          <a:p>
            <a:pPr marL="133350" indent="-133350">
              <a:buFont typeface="Wingdings" panose="05000000000000000000" pitchFamily="2" charset="2"/>
              <a:buChar char="§"/>
            </a:pPr>
            <a:r>
              <a:rPr lang="pt-BR" sz="1050" b="1" cap="small" dirty="0">
                <a:solidFill>
                  <a:schemeClr val="tx1"/>
                </a:solidFill>
              </a:rPr>
              <a:t>ELABORAR PLANO DE APLICAÇÃO</a:t>
            </a:r>
          </a:p>
          <a:p>
            <a:pPr marL="267891" lvl="1" indent="-133350">
              <a:buFont typeface="Calibri" panose="020F0502020204030204" pitchFamily="34" charset="0"/>
              <a:buChar char="▫"/>
            </a:pPr>
            <a:r>
              <a:rPr lang="pt-BR" sz="1050" cap="small" dirty="0">
                <a:solidFill>
                  <a:schemeClr val="tx1"/>
                </a:solidFill>
              </a:rPr>
              <a:t>AMOSTRAGEM ?</a:t>
            </a:r>
          </a:p>
          <a:p>
            <a:pPr marL="267891" lvl="1" indent="-133350">
              <a:buFont typeface="Calibri" panose="020F0502020204030204" pitchFamily="34" charset="0"/>
              <a:buChar char="▫"/>
            </a:pPr>
            <a:r>
              <a:rPr lang="pt-BR" sz="1050" cap="small" dirty="0">
                <a:solidFill>
                  <a:schemeClr val="tx1"/>
                </a:solidFill>
              </a:rPr>
              <a:t>ABORDAGEM ?</a:t>
            </a:r>
          </a:p>
          <a:p>
            <a:pPr marL="267891" lvl="1" indent="-133350">
              <a:buFont typeface="Calibri" panose="020F0502020204030204" pitchFamily="34" charset="0"/>
              <a:buChar char="▫"/>
            </a:pPr>
            <a:r>
              <a:rPr lang="pt-BR" sz="1050" cap="small" dirty="0">
                <a:solidFill>
                  <a:schemeClr val="tx1"/>
                </a:solidFill>
              </a:rPr>
              <a:t>EQUIPE ?</a:t>
            </a:r>
          </a:p>
          <a:p>
            <a:pPr marL="267891" lvl="1" indent="-133350">
              <a:buFont typeface="Calibri" panose="020F0502020204030204" pitchFamily="34" charset="0"/>
              <a:buChar char="▫"/>
            </a:pPr>
            <a:r>
              <a:rPr lang="pt-BR" sz="1050" cap="small" dirty="0">
                <a:solidFill>
                  <a:schemeClr val="tx1"/>
                </a:solidFill>
              </a:rPr>
              <a:t>LOCAL ?</a:t>
            </a:r>
          </a:p>
          <a:p>
            <a:pPr marL="267891" lvl="1" indent="-133350">
              <a:buFont typeface="Calibri" panose="020F0502020204030204" pitchFamily="34" charset="0"/>
              <a:buChar char="▫"/>
            </a:pPr>
            <a:r>
              <a:rPr lang="pt-BR" sz="1050" cap="small" dirty="0">
                <a:solidFill>
                  <a:schemeClr val="tx1"/>
                </a:solidFill>
              </a:rPr>
              <a:t>PRAZOS ?</a:t>
            </a:r>
          </a:p>
        </p:txBody>
      </p:sp>
      <p:cxnSp>
        <p:nvCxnSpPr>
          <p:cNvPr id="16" name="Conector de Seta Reta 15">
            <a:extLst>
              <a:ext uri="{FF2B5EF4-FFF2-40B4-BE49-F238E27FC236}">
                <a16:creationId xmlns:a16="http://schemas.microsoft.com/office/drawing/2014/main" id="{DF7F0687-3B2A-4182-9559-DB0C394073B3}"/>
              </a:ext>
            </a:extLst>
          </p:cNvPr>
          <p:cNvCxnSpPr>
            <a:cxnSpLocks/>
          </p:cNvCxnSpPr>
          <p:nvPr/>
        </p:nvCxnSpPr>
        <p:spPr>
          <a:xfrm flipV="1">
            <a:off x="3175670" y="2874419"/>
            <a:ext cx="1767315" cy="90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F4A980EE-173B-48C3-8DE4-C995F4992676}"/>
              </a:ext>
            </a:extLst>
          </p:cNvPr>
          <p:cNvSpPr txBox="1"/>
          <p:nvPr/>
        </p:nvSpPr>
        <p:spPr>
          <a:xfrm>
            <a:off x="1687804" y="6122933"/>
            <a:ext cx="5537734" cy="461665"/>
          </a:xfrm>
          <a:prstGeom prst="rect">
            <a:avLst/>
          </a:prstGeom>
          <a:noFill/>
        </p:spPr>
        <p:txBody>
          <a:bodyPr wrap="none" rtlCol="0">
            <a:spAutoFit/>
          </a:bodyPr>
          <a:lstStyle/>
          <a:p>
            <a:r>
              <a:rPr lang="pt-BR" sz="2400" b="1" dirty="0"/>
              <a:t>O TESTE COMO PESQUISA DE MERCADO...</a:t>
            </a:r>
          </a:p>
        </p:txBody>
      </p:sp>
    </p:spTree>
    <p:extLst>
      <p:ext uri="{BB962C8B-B14F-4D97-AF65-F5344CB8AC3E}">
        <p14:creationId xmlns:p14="http://schemas.microsoft.com/office/powerpoint/2010/main" val="34682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A8ADB2CA-C180-42FE-9D48-7EFCA7AD8E4D}"/>
              </a:ext>
            </a:extLst>
          </p:cNvPr>
          <p:cNvSpPr/>
          <p:nvPr/>
        </p:nvSpPr>
        <p:spPr>
          <a:xfrm>
            <a:off x="280548" y="1979469"/>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a:solidFill>
                  <a:schemeClr val="bg1">
                    <a:lumMod val="50000"/>
                  </a:schemeClr>
                </a:solidFill>
              </a:rPr>
              <a:t>DEFINIÇÃO DO PROBLEMA E DOS OBJETIVOS</a:t>
            </a:r>
          </a:p>
        </p:txBody>
      </p:sp>
      <p:sp>
        <p:nvSpPr>
          <p:cNvPr id="7" name="Retângulo 6">
            <a:extLst>
              <a:ext uri="{FF2B5EF4-FFF2-40B4-BE49-F238E27FC236}">
                <a16:creationId xmlns:a16="http://schemas.microsoft.com/office/drawing/2014/main" id="{A49D9BE5-903B-42F8-8E56-DF41E7D4C4E7}"/>
              </a:ext>
            </a:extLst>
          </p:cNvPr>
          <p:cNvSpPr/>
          <p:nvPr/>
        </p:nvSpPr>
        <p:spPr>
          <a:xfrm>
            <a:off x="1741717" y="2561361"/>
            <a:ext cx="1433953" cy="644236"/>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chemeClr val="bg1">
                    <a:lumMod val="50000"/>
                  </a:schemeClr>
                </a:solidFill>
              </a:rPr>
              <a:t>DESENVOLVIMENTO DO PLANO DE PESQUISA</a:t>
            </a:r>
          </a:p>
        </p:txBody>
      </p:sp>
      <p:sp>
        <p:nvSpPr>
          <p:cNvPr id="8" name="Retângulo 7">
            <a:extLst>
              <a:ext uri="{FF2B5EF4-FFF2-40B4-BE49-F238E27FC236}">
                <a16:creationId xmlns:a16="http://schemas.microsoft.com/office/drawing/2014/main" id="{DCB60408-256F-46EC-81D7-9FD4D90F4C0B}"/>
              </a:ext>
            </a:extLst>
          </p:cNvPr>
          <p:cNvSpPr/>
          <p:nvPr/>
        </p:nvSpPr>
        <p:spPr>
          <a:xfrm>
            <a:off x="3202887" y="3143252"/>
            <a:ext cx="1433953" cy="644236"/>
          </a:xfrm>
          <a:prstGeom prst="rect">
            <a:avLst/>
          </a:prstGeom>
          <a:solidFill>
            <a:schemeClr val="accent4">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COLETA DE INFORMAÇÕES</a:t>
            </a:r>
          </a:p>
        </p:txBody>
      </p:sp>
      <p:sp>
        <p:nvSpPr>
          <p:cNvPr id="9" name="Retângulo 8">
            <a:extLst>
              <a:ext uri="{FF2B5EF4-FFF2-40B4-BE49-F238E27FC236}">
                <a16:creationId xmlns:a16="http://schemas.microsoft.com/office/drawing/2014/main" id="{C00EB122-56AC-4D08-B291-21661F9B52C3}"/>
              </a:ext>
            </a:extLst>
          </p:cNvPr>
          <p:cNvSpPr/>
          <p:nvPr/>
        </p:nvSpPr>
        <p:spPr>
          <a:xfrm>
            <a:off x="4664056" y="3725143"/>
            <a:ext cx="1433953" cy="644236"/>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ANÁLISE DAS INFORMAÇÕES</a:t>
            </a:r>
          </a:p>
        </p:txBody>
      </p:sp>
      <p:sp>
        <p:nvSpPr>
          <p:cNvPr id="10" name="Retângulo 9">
            <a:extLst>
              <a:ext uri="{FF2B5EF4-FFF2-40B4-BE49-F238E27FC236}">
                <a16:creationId xmlns:a16="http://schemas.microsoft.com/office/drawing/2014/main" id="{9BADDE3F-B0D0-4BEA-8A30-8D9F10D465BC}"/>
              </a:ext>
            </a:extLst>
          </p:cNvPr>
          <p:cNvSpPr/>
          <p:nvPr/>
        </p:nvSpPr>
        <p:spPr>
          <a:xfrm>
            <a:off x="6125226" y="4307034"/>
            <a:ext cx="1433953" cy="644236"/>
          </a:xfrm>
          <a:prstGeom prst="rect">
            <a:avLst/>
          </a:prstGeom>
          <a:solidFill>
            <a:schemeClr val="accent2">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APRESENTAÇÃO DE RESULTADOS</a:t>
            </a:r>
          </a:p>
        </p:txBody>
      </p:sp>
      <p:sp>
        <p:nvSpPr>
          <p:cNvPr id="11" name="Retângulo 10">
            <a:extLst>
              <a:ext uri="{FF2B5EF4-FFF2-40B4-BE49-F238E27FC236}">
                <a16:creationId xmlns:a16="http://schemas.microsoft.com/office/drawing/2014/main" id="{8F909165-518C-47F6-B936-9E90D5E1DBAE}"/>
              </a:ext>
            </a:extLst>
          </p:cNvPr>
          <p:cNvSpPr/>
          <p:nvPr/>
        </p:nvSpPr>
        <p:spPr>
          <a:xfrm>
            <a:off x="7586397" y="4888924"/>
            <a:ext cx="1433953" cy="644236"/>
          </a:xfrm>
          <a:prstGeom prst="rect">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050" dirty="0">
                <a:solidFill>
                  <a:sysClr val="windowText" lastClr="000000"/>
                </a:solidFill>
              </a:rPr>
              <a:t>TOMADA DE DECISÃO</a:t>
            </a:r>
          </a:p>
        </p:txBody>
      </p:sp>
      <p:sp>
        <p:nvSpPr>
          <p:cNvPr id="12" name="Retângulo: Cantos Arredondados 11">
            <a:extLst>
              <a:ext uri="{FF2B5EF4-FFF2-40B4-BE49-F238E27FC236}">
                <a16:creationId xmlns:a16="http://schemas.microsoft.com/office/drawing/2014/main" id="{3AD3AF87-D077-4A3A-BC85-93626D0B3837}"/>
              </a:ext>
            </a:extLst>
          </p:cNvPr>
          <p:cNvSpPr/>
          <p:nvPr/>
        </p:nvSpPr>
        <p:spPr>
          <a:xfrm>
            <a:off x="180023" y="3317558"/>
            <a:ext cx="2241985" cy="1165859"/>
          </a:xfrm>
          <a:prstGeom prst="roundRect">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pt-BR" sz="1050" b="1" dirty="0">
                <a:solidFill>
                  <a:schemeClr val="tx1"/>
                </a:solidFill>
              </a:rPr>
              <a:t>EXECUÇÃO DO PLANO</a:t>
            </a:r>
          </a:p>
          <a:p>
            <a:pPr marL="136922" lvl="1" indent="-136922">
              <a:buFont typeface="Wingdings" panose="05000000000000000000" pitchFamily="2" charset="2"/>
              <a:buChar char="§"/>
            </a:pPr>
            <a:r>
              <a:rPr lang="pt-BR" sz="1050" dirty="0">
                <a:solidFill>
                  <a:schemeClr val="tx1"/>
                </a:solidFill>
              </a:rPr>
              <a:t>TESTAR O INSTRUMENTO</a:t>
            </a:r>
          </a:p>
          <a:p>
            <a:pPr marL="136922" lvl="1" indent="-136922">
              <a:buFont typeface="Wingdings" panose="05000000000000000000" pitchFamily="2" charset="2"/>
              <a:buChar char="§"/>
            </a:pPr>
            <a:r>
              <a:rPr lang="pt-BR" sz="1050" dirty="0">
                <a:solidFill>
                  <a:schemeClr val="tx1"/>
                </a:solidFill>
              </a:rPr>
              <a:t>APLICAÇÃO DO INSTRUMENTO</a:t>
            </a:r>
          </a:p>
          <a:p>
            <a:pPr marL="136922" lvl="1" indent="-136922">
              <a:buFont typeface="Wingdings" panose="05000000000000000000" pitchFamily="2" charset="2"/>
              <a:buChar char="§"/>
            </a:pPr>
            <a:r>
              <a:rPr lang="pt-BR" sz="1050" dirty="0">
                <a:solidFill>
                  <a:schemeClr val="tx1"/>
                </a:solidFill>
              </a:rPr>
              <a:t>DOCUMENTAÇÃO DO PROCESSO</a:t>
            </a:r>
          </a:p>
          <a:p>
            <a:pPr marL="136922" lvl="1" indent="-136922">
              <a:buFont typeface="Wingdings" panose="05000000000000000000" pitchFamily="2" charset="2"/>
              <a:buChar char="§"/>
            </a:pPr>
            <a:r>
              <a:rPr lang="pt-BR" sz="1050" dirty="0">
                <a:solidFill>
                  <a:schemeClr val="tx1"/>
                </a:solidFill>
              </a:rPr>
              <a:t>GESTÃO DO PROCESSO</a:t>
            </a:r>
          </a:p>
        </p:txBody>
      </p:sp>
      <p:cxnSp>
        <p:nvCxnSpPr>
          <p:cNvPr id="13" name="Conector de Seta Reta 12">
            <a:extLst>
              <a:ext uri="{FF2B5EF4-FFF2-40B4-BE49-F238E27FC236}">
                <a16:creationId xmlns:a16="http://schemas.microsoft.com/office/drawing/2014/main" id="{1665FE69-E58B-4DCD-BF8C-F437135303AD}"/>
              </a:ext>
            </a:extLst>
          </p:cNvPr>
          <p:cNvCxnSpPr>
            <a:cxnSpLocks/>
            <a:stCxn id="8" idx="1"/>
          </p:cNvCxnSpPr>
          <p:nvPr/>
        </p:nvCxnSpPr>
        <p:spPr>
          <a:xfrm flipH="1">
            <a:off x="2422007" y="3465370"/>
            <a:ext cx="780879" cy="4008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tângulo: Cantos Arredondados 17">
            <a:extLst>
              <a:ext uri="{FF2B5EF4-FFF2-40B4-BE49-F238E27FC236}">
                <a16:creationId xmlns:a16="http://schemas.microsoft.com/office/drawing/2014/main" id="{D0DC9EF2-6ED4-461A-9633-424FD53FE019}"/>
              </a:ext>
            </a:extLst>
          </p:cNvPr>
          <p:cNvSpPr/>
          <p:nvPr/>
        </p:nvSpPr>
        <p:spPr>
          <a:xfrm>
            <a:off x="2624048" y="4687923"/>
            <a:ext cx="2554945" cy="1007139"/>
          </a:xfrm>
          <a:prstGeom prst="roundRect">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pt-BR" sz="1050" b="1" dirty="0">
                <a:solidFill>
                  <a:schemeClr val="tx1"/>
                </a:solidFill>
              </a:rPr>
              <a:t>ANÁLISE DOS DADOS COLETADOS</a:t>
            </a:r>
          </a:p>
          <a:p>
            <a:pPr marL="136922" lvl="1" indent="-136922">
              <a:buFont typeface="Wingdings" panose="05000000000000000000" pitchFamily="2" charset="2"/>
              <a:buChar char="§"/>
            </a:pPr>
            <a:r>
              <a:rPr lang="pt-BR" sz="1050" dirty="0">
                <a:solidFill>
                  <a:schemeClr val="tx1"/>
                </a:solidFill>
              </a:rPr>
              <a:t>TABULAÇÃO DOS DADOS</a:t>
            </a:r>
          </a:p>
          <a:p>
            <a:pPr marL="265510" lvl="2" indent="-128588">
              <a:buFont typeface="Calibri" panose="020F0502020204030204" pitchFamily="34" charset="0"/>
              <a:buChar char="▫"/>
            </a:pPr>
            <a:r>
              <a:rPr lang="pt-BR" sz="1050" dirty="0">
                <a:solidFill>
                  <a:schemeClr val="tx1"/>
                </a:solidFill>
              </a:rPr>
              <a:t>ORGANIZAÇÃO / TRATAMENTO</a:t>
            </a:r>
          </a:p>
          <a:p>
            <a:pPr marL="136922" lvl="1" indent="-136922">
              <a:buFont typeface="Wingdings" panose="05000000000000000000" pitchFamily="2" charset="2"/>
              <a:buChar char="§"/>
            </a:pPr>
            <a:r>
              <a:rPr lang="pt-BR" sz="1050" dirty="0">
                <a:solidFill>
                  <a:schemeClr val="tx1"/>
                </a:solidFill>
              </a:rPr>
              <a:t>DISCUSSÃO EM GRUPO</a:t>
            </a:r>
          </a:p>
          <a:p>
            <a:pPr marL="136922" lvl="1" indent="-136922">
              <a:buFont typeface="Wingdings" panose="05000000000000000000" pitchFamily="2" charset="2"/>
              <a:buChar char="§"/>
            </a:pPr>
            <a:r>
              <a:rPr lang="pt-BR" sz="1050" dirty="0">
                <a:solidFill>
                  <a:schemeClr val="tx1"/>
                </a:solidFill>
              </a:rPr>
              <a:t>DOCUMENTAÇÃO DO PROCESSO</a:t>
            </a:r>
          </a:p>
        </p:txBody>
      </p:sp>
      <p:cxnSp>
        <p:nvCxnSpPr>
          <p:cNvPr id="19" name="Conector de Seta Reta 18">
            <a:extLst>
              <a:ext uri="{FF2B5EF4-FFF2-40B4-BE49-F238E27FC236}">
                <a16:creationId xmlns:a16="http://schemas.microsoft.com/office/drawing/2014/main" id="{00C6E351-6601-4F7C-8AC7-20DB758E598C}"/>
              </a:ext>
            </a:extLst>
          </p:cNvPr>
          <p:cNvCxnSpPr>
            <a:cxnSpLocks/>
            <a:stCxn id="9" idx="2"/>
          </p:cNvCxnSpPr>
          <p:nvPr/>
        </p:nvCxnSpPr>
        <p:spPr>
          <a:xfrm flipH="1">
            <a:off x="5074920" y="4369378"/>
            <a:ext cx="306113" cy="3185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tângulo: Cantos Arredondados 22">
            <a:extLst>
              <a:ext uri="{FF2B5EF4-FFF2-40B4-BE49-F238E27FC236}">
                <a16:creationId xmlns:a16="http://schemas.microsoft.com/office/drawing/2014/main" id="{7E7450DB-7D5B-43C6-8AF0-675CEBC38659}"/>
              </a:ext>
            </a:extLst>
          </p:cNvPr>
          <p:cNvSpPr/>
          <p:nvPr/>
        </p:nvSpPr>
        <p:spPr>
          <a:xfrm>
            <a:off x="5797827" y="2796062"/>
            <a:ext cx="2088749" cy="831013"/>
          </a:xfrm>
          <a:prstGeom prst="roundRect">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pt-BR" sz="1050" b="1" dirty="0">
                <a:solidFill>
                  <a:schemeClr val="tx1"/>
                </a:solidFill>
              </a:rPr>
              <a:t>DIVULGAÇÃO DAS CONCLUSÕES</a:t>
            </a:r>
          </a:p>
          <a:p>
            <a:pPr marL="136922" lvl="1" indent="-136922">
              <a:buFont typeface="Wingdings" panose="05000000000000000000" pitchFamily="2" charset="2"/>
              <a:buChar char="§"/>
            </a:pPr>
            <a:r>
              <a:rPr lang="pt-BR" sz="1050" dirty="0">
                <a:solidFill>
                  <a:schemeClr val="tx1"/>
                </a:solidFill>
              </a:rPr>
              <a:t>CONCLUSÕES DEFINITIVAS ?</a:t>
            </a:r>
          </a:p>
          <a:p>
            <a:pPr marL="136922" lvl="1" indent="-136922">
              <a:buFont typeface="Wingdings" panose="05000000000000000000" pitchFamily="2" charset="2"/>
              <a:buChar char="§"/>
            </a:pPr>
            <a:r>
              <a:rPr lang="pt-BR" sz="1050" dirty="0">
                <a:solidFill>
                  <a:schemeClr val="tx1"/>
                </a:solidFill>
              </a:rPr>
              <a:t>A QUEM INTERESSA ?</a:t>
            </a:r>
          </a:p>
          <a:p>
            <a:pPr marL="136922" lvl="1" indent="-136922">
              <a:buFont typeface="Wingdings" panose="05000000000000000000" pitchFamily="2" charset="2"/>
              <a:buChar char="§"/>
            </a:pPr>
            <a:r>
              <a:rPr lang="pt-BR" sz="1050" dirty="0">
                <a:solidFill>
                  <a:schemeClr val="tx1"/>
                </a:solidFill>
              </a:rPr>
              <a:t>FORMATO / CANAL ?</a:t>
            </a:r>
          </a:p>
        </p:txBody>
      </p:sp>
      <p:cxnSp>
        <p:nvCxnSpPr>
          <p:cNvPr id="24" name="Conector de Seta Reta 23">
            <a:extLst>
              <a:ext uri="{FF2B5EF4-FFF2-40B4-BE49-F238E27FC236}">
                <a16:creationId xmlns:a16="http://schemas.microsoft.com/office/drawing/2014/main" id="{6B5772EA-634D-4A4D-B123-BA6DADD7CF1B}"/>
              </a:ext>
            </a:extLst>
          </p:cNvPr>
          <p:cNvCxnSpPr>
            <a:cxnSpLocks/>
            <a:stCxn id="10" idx="0"/>
            <a:endCxn id="23" idx="2"/>
          </p:cNvCxnSpPr>
          <p:nvPr/>
        </p:nvCxnSpPr>
        <p:spPr>
          <a:xfrm flipH="1" flipV="1">
            <a:off x="6842202" y="3627075"/>
            <a:ext cx="1" cy="6799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Retângulo: Cantos Arredondados 28">
            <a:extLst>
              <a:ext uri="{FF2B5EF4-FFF2-40B4-BE49-F238E27FC236}">
                <a16:creationId xmlns:a16="http://schemas.microsoft.com/office/drawing/2014/main" id="{25B517CD-F134-46B3-A340-8A35770E6F29}"/>
              </a:ext>
            </a:extLst>
          </p:cNvPr>
          <p:cNvSpPr/>
          <p:nvPr/>
        </p:nvSpPr>
        <p:spPr>
          <a:xfrm>
            <a:off x="6736893" y="1625069"/>
            <a:ext cx="2299365" cy="831013"/>
          </a:xfrm>
          <a:prstGeom prst="roundRect">
            <a:avLst/>
          </a:prstGeom>
          <a:solidFill>
            <a:schemeClr val="bg2"/>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r>
              <a:rPr lang="pt-BR" sz="1050" b="1" dirty="0">
                <a:solidFill>
                  <a:schemeClr val="tx1"/>
                </a:solidFill>
              </a:rPr>
              <a:t>DECISÃO / AÇÃO</a:t>
            </a:r>
          </a:p>
          <a:p>
            <a:pPr marL="136922" lvl="1" indent="-136922">
              <a:buFont typeface="Wingdings" panose="05000000000000000000" pitchFamily="2" charset="2"/>
              <a:buChar char="§"/>
            </a:pPr>
            <a:r>
              <a:rPr lang="pt-BR" sz="1050" dirty="0">
                <a:solidFill>
                  <a:schemeClr val="tx1"/>
                </a:solidFill>
              </a:rPr>
              <a:t>REFINO DO PROTÓTIPO ?</a:t>
            </a:r>
          </a:p>
          <a:p>
            <a:pPr marL="136922" lvl="1" indent="-136922">
              <a:buFont typeface="Wingdings" panose="05000000000000000000" pitchFamily="2" charset="2"/>
              <a:buChar char="§"/>
            </a:pPr>
            <a:r>
              <a:rPr lang="pt-BR" sz="1050" dirty="0">
                <a:solidFill>
                  <a:schemeClr val="tx1"/>
                </a:solidFill>
              </a:rPr>
              <a:t>REAPLICAÇÃO DA PESQUISA ?</a:t>
            </a:r>
          </a:p>
          <a:p>
            <a:pPr marL="136922" lvl="1" indent="-136922">
              <a:buFont typeface="Wingdings" panose="05000000000000000000" pitchFamily="2" charset="2"/>
              <a:buChar char="§"/>
            </a:pPr>
            <a:r>
              <a:rPr lang="pt-BR" sz="1050" dirty="0">
                <a:solidFill>
                  <a:schemeClr val="tx1"/>
                </a:solidFill>
              </a:rPr>
              <a:t>SEGUIR EM FRENTE OU DESISTIR ?</a:t>
            </a:r>
          </a:p>
        </p:txBody>
      </p:sp>
      <p:cxnSp>
        <p:nvCxnSpPr>
          <p:cNvPr id="37" name="Conector de Seta Reta 36">
            <a:extLst>
              <a:ext uri="{FF2B5EF4-FFF2-40B4-BE49-F238E27FC236}">
                <a16:creationId xmlns:a16="http://schemas.microsoft.com/office/drawing/2014/main" id="{BC3EDBC3-EF5C-409C-AB80-E8567248B3E7}"/>
              </a:ext>
            </a:extLst>
          </p:cNvPr>
          <p:cNvCxnSpPr>
            <a:cxnSpLocks/>
          </p:cNvCxnSpPr>
          <p:nvPr/>
        </p:nvCxnSpPr>
        <p:spPr>
          <a:xfrm flipH="1" flipV="1">
            <a:off x="8426767" y="2456081"/>
            <a:ext cx="78644" cy="24328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CaixaDeTexto 1">
            <a:extLst>
              <a:ext uri="{FF2B5EF4-FFF2-40B4-BE49-F238E27FC236}">
                <a16:creationId xmlns:a16="http://schemas.microsoft.com/office/drawing/2014/main" id="{ED6E5FCE-B821-4C74-A509-2AFB1FA983A8}"/>
              </a:ext>
            </a:extLst>
          </p:cNvPr>
          <p:cNvSpPr txBox="1"/>
          <p:nvPr/>
        </p:nvSpPr>
        <p:spPr>
          <a:xfrm>
            <a:off x="1687804" y="6122933"/>
            <a:ext cx="5537734" cy="461665"/>
          </a:xfrm>
          <a:prstGeom prst="rect">
            <a:avLst/>
          </a:prstGeom>
          <a:noFill/>
        </p:spPr>
        <p:txBody>
          <a:bodyPr wrap="none" rtlCol="0">
            <a:spAutoFit/>
          </a:bodyPr>
          <a:lstStyle/>
          <a:p>
            <a:r>
              <a:rPr lang="pt-BR" sz="2400" b="1" dirty="0"/>
              <a:t>O TESTE COMO PESQUISA DE MERCADO...</a:t>
            </a:r>
          </a:p>
        </p:txBody>
      </p:sp>
      <p:sp>
        <p:nvSpPr>
          <p:cNvPr id="3" name="Retângulo 2">
            <a:extLst>
              <a:ext uri="{FF2B5EF4-FFF2-40B4-BE49-F238E27FC236}">
                <a16:creationId xmlns:a16="http://schemas.microsoft.com/office/drawing/2014/main" id="{9947723B-5C52-4E72-9464-748D79F3DA33}"/>
              </a:ext>
            </a:extLst>
          </p:cNvPr>
          <p:cNvSpPr/>
          <p:nvPr/>
        </p:nvSpPr>
        <p:spPr>
          <a:xfrm>
            <a:off x="924278" y="727651"/>
            <a:ext cx="6589689" cy="523220"/>
          </a:xfrm>
          <a:prstGeom prst="rect">
            <a:avLst/>
          </a:prstGeom>
          <a:solidFill>
            <a:schemeClr val="bg1"/>
          </a:solidFill>
        </p:spPr>
        <p:txBody>
          <a:bodyPr wrap="none">
            <a:spAutoFit/>
          </a:bodyPr>
          <a:lstStyle/>
          <a:p>
            <a:pPr lvl="0">
              <a:defRPr/>
            </a:pPr>
            <a:r>
              <a:rPr lang="pt-BR" sz="2800" b="1" cap="all" dirty="0">
                <a:solidFill>
                  <a:prstClr val="black"/>
                </a:solidFill>
              </a:rPr>
              <a:t>Planejamento do TESTE DE protótipos</a:t>
            </a:r>
          </a:p>
        </p:txBody>
      </p:sp>
    </p:spTree>
    <p:extLst>
      <p:ext uri="{BB962C8B-B14F-4D97-AF65-F5344CB8AC3E}">
        <p14:creationId xmlns:p14="http://schemas.microsoft.com/office/powerpoint/2010/main" val="177389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3" grpId="0" animBg="1"/>
      <p:bldP spid="2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0"/>
          <p:cNvSpPr txBox="1"/>
          <p:nvPr/>
        </p:nvSpPr>
        <p:spPr>
          <a:xfrm>
            <a:off x="1027971" y="3529066"/>
            <a:ext cx="7223663" cy="397032"/>
          </a:xfrm>
          <a:prstGeom prst="rect">
            <a:avLst/>
          </a:prstGeom>
          <a:noFill/>
        </p:spPr>
        <p:txBody>
          <a:bodyPr wrap="square" rtlCol="0">
            <a:spAutoFit/>
          </a:bodyPr>
          <a:lstStyle/>
          <a:p>
            <a:pPr>
              <a:lnSpc>
                <a:spcPct val="90000"/>
              </a:lnSpc>
            </a:pPr>
            <a:r>
              <a:rPr lang="en-US" sz="2200" dirty="0">
                <a:solidFill>
                  <a:srgbClr val="FFFFFF"/>
                </a:solidFill>
                <a:latin typeface="Gotham-Book"/>
                <a:cs typeface="Gotham-Book"/>
              </a:rPr>
              <a:t>PRODUCT &amp; SERVICE PROTOTYPING</a:t>
            </a:r>
          </a:p>
        </p:txBody>
      </p:sp>
      <p:sp>
        <p:nvSpPr>
          <p:cNvPr id="5" name="TextBox 21"/>
          <p:cNvSpPr txBox="1"/>
          <p:nvPr/>
        </p:nvSpPr>
        <p:spPr>
          <a:xfrm>
            <a:off x="1036792" y="4150611"/>
            <a:ext cx="3617077" cy="346249"/>
          </a:xfrm>
          <a:prstGeom prst="rect">
            <a:avLst/>
          </a:prstGeom>
          <a:noFill/>
        </p:spPr>
        <p:txBody>
          <a:bodyPr wrap="square" rtlCol="0">
            <a:spAutoFit/>
          </a:bodyPr>
          <a:lstStyle/>
          <a:p>
            <a:pPr>
              <a:lnSpc>
                <a:spcPct val="90000"/>
              </a:lnSpc>
            </a:pPr>
            <a:r>
              <a:rPr lang="en-US" dirty="0">
                <a:solidFill>
                  <a:srgbClr val="FFFFFF"/>
                </a:solidFill>
                <a:latin typeface="Gotham-Bold"/>
                <a:cs typeface="Gotham-Bold"/>
              </a:rPr>
              <a:t>PROF. HENRIQUE CORDEIRO</a:t>
            </a:r>
          </a:p>
        </p:txBody>
      </p:sp>
    </p:spTree>
    <p:extLst>
      <p:ext uri="{BB962C8B-B14F-4D97-AF65-F5344CB8AC3E}">
        <p14:creationId xmlns:p14="http://schemas.microsoft.com/office/powerpoint/2010/main" val="3089468260"/>
      </p:ext>
    </p:extLst>
  </p:cSld>
  <p:clrMapOvr>
    <a:masterClrMapping/>
  </p:clrMapOvr>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Theme.thmx</Template>
  <TotalTime>7010</TotalTime>
  <Words>1711</Words>
  <Application>Microsoft Office PowerPoint</Application>
  <PresentationFormat>Apresentação na tela (4:3)</PresentationFormat>
  <Paragraphs>348</Paragraphs>
  <Slides>26</Slides>
  <Notes>4</Notes>
  <HiddenSlides>1</HiddenSlides>
  <MMClips>0</MMClips>
  <ScaleCrop>false</ScaleCrop>
  <HeadingPairs>
    <vt:vector size="6" baseType="variant">
      <vt:variant>
        <vt:lpstr>Fontes usadas</vt:lpstr>
      </vt:variant>
      <vt:variant>
        <vt:i4>8</vt:i4>
      </vt:variant>
      <vt:variant>
        <vt:lpstr>Tema</vt:lpstr>
      </vt:variant>
      <vt:variant>
        <vt:i4>4</vt:i4>
      </vt:variant>
      <vt:variant>
        <vt:lpstr>Títulos de slides</vt:lpstr>
      </vt:variant>
      <vt:variant>
        <vt:i4>26</vt:i4>
      </vt:variant>
    </vt:vector>
  </HeadingPairs>
  <TitlesOfParts>
    <vt:vector size="38" baseType="lpstr">
      <vt:lpstr>Arial</vt:lpstr>
      <vt:lpstr>Calibri</vt:lpstr>
      <vt:lpstr>Courier New</vt:lpstr>
      <vt:lpstr>Gotham HTF</vt:lpstr>
      <vt:lpstr>Gotham HTF Book</vt:lpstr>
      <vt:lpstr>Gotham-Bold</vt:lpstr>
      <vt:lpstr>Gotham-Book</vt:lpstr>
      <vt:lpstr>Wingdings</vt:lpstr>
      <vt:lpstr>Default Theme</vt:lpstr>
      <vt:lpstr>1_Personalizar design</vt:lpstr>
      <vt:lpstr>Office Theme</vt:lpstr>
      <vt:lpstr>2_Personalizar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José Henrique Dell'Osso Cordeiro</cp:lastModifiedBy>
  <cp:revision>372</cp:revision>
  <dcterms:created xsi:type="dcterms:W3CDTF">2015-01-30T10:46:50Z</dcterms:created>
  <dcterms:modified xsi:type="dcterms:W3CDTF">2026-04-24T01:49:19Z</dcterms:modified>
</cp:coreProperties>
</file>