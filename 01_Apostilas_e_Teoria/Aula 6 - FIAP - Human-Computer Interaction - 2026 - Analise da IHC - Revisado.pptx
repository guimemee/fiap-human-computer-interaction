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97" r:id="rId4"/>
    <p:sldId id="299" r:id="rId5"/>
    <p:sldId id="589" r:id="rId6"/>
    <p:sldId id="258" r:id="rId7"/>
    <p:sldId id="296" r:id="rId8"/>
    <p:sldId id="290" r:id="rId9"/>
    <p:sldId id="291" r:id="rId10"/>
    <p:sldId id="292" r:id="rId11"/>
    <p:sldId id="293" r:id="rId12"/>
    <p:sldId id="614" r:id="rId13"/>
    <p:sldId id="616" r:id="rId14"/>
    <p:sldId id="617" r:id="rId15"/>
    <p:sldId id="618" r:id="rId16"/>
    <p:sldId id="619" r:id="rId17"/>
    <p:sldId id="294" r:id="rId18"/>
    <p:sldId id="298" r:id="rId19"/>
    <p:sldId id="289" r:id="rId2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859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656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61AFC9-9B69-4811-9451-EB9B30D72BA8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EEA26F-2A2A-4622-B3B1-03C6307208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0836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77470">
              <a:lnSpc>
                <a:spcPts val="1240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0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77470">
              <a:lnSpc>
                <a:spcPts val="1240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946396" y="1575562"/>
            <a:ext cx="3754754" cy="4507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77470">
              <a:lnSpc>
                <a:spcPts val="1240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79375"/>
          </a:xfrm>
          <a:custGeom>
            <a:avLst/>
            <a:gdLst/>
            <a:ahLst/>
            <a:cxnLst/>
            <a:rect l="l" t="t" r="r" b="b"/>
            <a:pathLst>
              <a:path w="9144000" h="79375">
                <a:moveTo>
                  <a:pt x="9144000" y="0"/>
                </a:moveTo>
                <a:lnTo>
                  <a:pt x="0" y="0"/>
                </a:lnTo>
                <a:lnTo>
                  <a:pt x="0" y="79248"/>
                </a:lnTo>
                <a:lnTo>
                  <a:pt x="9144000" y="79248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13495" y="327562"/>
            <a:ext cx="20320" cy="274955"/>
          </a:xfrm>
          <a:custGeom>
            <a:avLst/>
            <a:gdLst/>
            <a:ahLst/>
            <a:cxnLst/>
            <a:rect l="l" t="t" r="r" b="b"/>
            <a:pathLst>
              <a:path w="20320" h="274955">
                <a:moveTo>
                  <a:pt x="19827" y="0"/>
                </a:moveTo>
                <a:lnTo>
                  <a:pt x="0" y="0"/>
                </a:lnTo>
                <a:lnTo>
                  <a:pt x="0" y="274624"/>
                </a:lnTo>
                <a:lnTo>
                  <a:pt x="19827" y="274624"/>
                </a:lnTo>
                <a:lnTo>
                  <a:pt x="19827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902541" y="457940"/>
            <a:ext cx="97790" cy="19685"/>
          </a:xfrm>
          <a:custGeom>
            <a:avLst/>
            <a:gdLst/>
            <a:ahLst/>
            <a:cxnLst/>
            <a:rect l="l" t="t" r="r" b="b"/>
            <a:pathLst>
              <a:path w="97790" h="19684">
                <a:moveTo>
                  <a:pt x="97548" y="0"/>
                </a:moveTo>
                <a:lnTo>
                  <a:pt x="0" y="0"/>
                </a:lnTo>
                <a:lnTo>
                  <a:pt x="0" y="19564"/>
                </a:lnTo>
                <a:lnTo>
                  <a:pt x="97548" y="19564"/>
                </a:lnTo>
                <a:lnTo>
                  <a:pt x="97548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828788" y="328129"/>
            <a:ext cx="226060" cy="274320"/>
          </a:xfrm>
          <a:custGeom>
            <a:avLst/>
            <a:gdLst/>
            <a:ahLst/>
            <a:cxnLst/>
            <a:rect l="l" t="t" r="r" b="b"/>
            <a:pathLst>
              <a:path w="226059" h="274320">
                <a:moveTo>
                  <a:pt x="226009" y="0"/>
                </a:moveTo>
                <a:lnTo>
                  <a:pt x="0" y="0"/>
                </a:lnTo>
                <a:lnTo>
                  <a:pt x="0" y="16725"/>
                </a:lnTo>
                <a:lnTo>
                  <a:pt x="0" y="273850"/>
                </a:lnTo>
                <a:lnTo>
                  <a:pt x="19824" y="273862"/>
                </a:lnTo>
                <a:lnTo>
                  <a:pt x="19824" y="16725"/>
                </a:lnTo>
                <a:lnTo>
                  <a:pt x="226009" y="16725"/>
                </a:lnTo>
                <a:lnTo>
                  <a:pt x="226009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573468" y="329187"/>
            <a:ext cx="252095" cy="271780"/>
          </a:xfrm>
          <a:custGeom>
            <a:avLst/>
            <a:gdLst/>
            <a:ahLst/>
            <a:cxnLst/>
            <a:rect l="l" t="t" r="r" b="b"/>
            <a:pathLst>
              <a:path w="252095" h="271780">
                <a:moveTo>
                  <a:pt x="175803" y="0"/>
                </a:moveTo>
                <a:lnTo>
                  <a:pt x="0" y="0"/>
                </a:lnTo>
                <a:lnTo>
                  <a:pt x="0" y="271369"/>
                </a:lnTo>
                <a:lnTo>
                  <a:pt x="19827" y="271369"/>
                </a:lnTo>
                <a:lnTo>
                  <a:pt x="19827" y="15480"/>
                </a:lnTo>
                <a:lnTo>
                  <a:pt x="222712" y="15480"/>
                </a:lnTo>
                <a:lnTo>
                  <a:pt x="198518" y="3091"/>
                </a:lnTo>
                <a:lnTo>
                  <a:pt x="175803" y="0"/>
                </a:lnTo>
                <a:close/>
              </a:path>
              <a:path w="252095" h="271780">
                <a:moveTo>
                  <a:pt x="222712" y="15480"/>
                </a:moveTo>
                <a:lnTo>
                  <a:pt x="156230" y="15480"/>
                </a:lnTo>
                <a:lnTo>
                  <a:pt x="189400" y="19722"/>
                </a:lnTo>
                <a:lnTo>
                  <a:pt x="215209" y="32291"/>
                </a:lnTo>
                <a:lnTo>
                  <a:pt x="231948" y="52957"/>
                </a:lnTo>
                <a:lnTo>
                  <a:pt x="237908" y="81488"/>
                </a:lnTo>
                <a:lnTo>
                  <a:pt x="237908" y="82311"/>
                </a:lnTo>
                <a:lnTo>
                  <a:pt x="231812" y="110067"/>
                </a:lnTo>
                <a:lnTo>
                  <a:pt x="214714" y="131406"/>
                </a:lnTo>
                <a:lnTo>
                  <a:pt x="188397" y="145105"/>
                </a:lnTo>
                <a:lnTo>
                  <a:pt x="154645" y="149943"/>
                </a:lnTo>
                <a:lnTo>
                  <a:pt x="91199" y="149943"/>
                </a:lnTo>
                <a:lnTo>
                  <a:pt x="91199" y="168689"/>
                </a:lnTo>
                <a:lnTo>
                  <a:pt x="153060" y="168689"/>
                </a:lnTo>
                <a:lnTo>
                  <a:pt x="193167" y="163201"/>
                </a:lnTo>
                <a:lnTo>
                  <a:pt x="249297" y="119523"/>
                </a:lnTo>
                <a:lnTo>
                  <a:pt x="252015" y="107271"/>
                </a:lnTo>
                <a:lnTo>
                  <a:pt x="252015" y="52796"/>
                </a:lnTo>
                <a:lnTo>
                  <a:pt x="250486" y="45343"/>
                </a:lnTo>
                <a:lnTo>
                  <a:pt x="230077" y="19252"/>
                </a:lnTo>
                <a:lnTo>
                  <a:pt x="222712" y="1548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8180108" y="329196"/>
            <a:ext cx="351155" cy="272415"/>
          </a:xfrm>
          <a:custGeom>
            <a:avLst/>
            <a:gdLst/>
            <a:ahLst/>
            <a:cxnLst/>
            <a:rect l="l" t="t" r="r" b="b"/>
            <a:pathLst>
              <a:path w="351154" h="272415">
                <a:moveTo>
                  <a:pt x="277558" y="149936"/>
                </a:moveTo>
                <a:lnTo>
                  <a:pt x="198031" y="17932"/>
                </a:lnTo>
                <a:lnTo>
                  <a:pt x="187223" y="0"/>
                </a:lnTo>
                <a:lnTo>
                  <a:pt x="162509" y="0"/>
                </a:lnTo>
                <a:lnTo>
                  <a:pt x="0" y="272186"/>
                </a:lnTo>
                <a:lnTo>
                  <a:pt x="20612" y="272186"/>
                </a:lnTo>
                <a:lnTo>
                  <a:pt x="174472" y="17932"/>
                </a:lnTo>
                <a:lnTo>
                  <a:pt x="254558" y="149936"/>
                </a:lnTo>
                <a:lnTo>
                  <a:pt x="277558" y="149936"/>
                </a:lnTo>
                <a:close/>
              </a:path>
              <a:path w="351154" h="272415">
                <a:moveTo>
                  <a:pt x="350532" y="272186"/>
                </a:moveTo>
                <a:lnTo>
                  <a:pt x="307708" y="201282"/>
                </a:lnTo>
                <a:lnTo>
                  <a:pt x="285496" y="201282"/>
                </a:lnTo>
                <a:lnTo>
                  <a:pt x="329120" y="272186"/>
                </a:lnTo>
                <a:lnTo>
                  <a:pt x="350532" y="272186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8365235" y="6141720"/>
            <a:ext cx="779145" cy="410209"/>
          </a:xfrm>
          <a:custGeom>
            <a:avLst/>
            <a:gdLst/>
            <a:ahLst/>
            <a:cxnLst/>
            <a:rect l="l" t="t" r="r" b="b"/>
            <a:pathLst>
              <a:path w="779145" h="410209">
                <a:moveTo>
                  <a:pt x="0" y="409955"/>
                </a:moveTo>
                <a:lnTo>
                  <a:pt x="778764" y="409955"/>
                </a:lnTo>
                <a:lnTo>
                  <a:pt x="778764" y="0"/>
                </a:lnTo>
                <a:lnTo>
                  <a:pt x="0" y="0"/>
                </a:lnTo>
                <a:lnTo>
                  <a:pt x="0" y="409955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77470">
              <a:lnSpc>
                <a:spcPts val="1240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77470">
              <a:lnSpc>
                <a:spcPts val="1240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0" y="2319338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0" y="4784122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extBox 15"/>
          <p:cNvSpPr txBox="1"/>
          <p:nvPr userDrawn="1"/>
        </p:nvSpPr>
        <p:spPr>
          <a:xfrm>
            <a:off x="947124" y="745668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CONTEÚDO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DO CURSO</a:t>
            </a: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136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79375"/>
          </a:xfrm>
          <a:custGeom>
            <a:avLst/>
            <a:gdLst/>
            <a:ahLst/>
            <a:cxnLst/>
            <a:rect l="l" t="t" r="r" b="b"/>
            <a:pathLst>
              <a:path w="9144000" h="79375">
                <a:moveTo>
                  <a:pt x="9144000" y="0"/>
                </a:moveTo>
                <a:lnTo>
                  <a:pt x="0" y="0"/>
                </a:lnTo>
                <a:lnTo>
                  <a:pt x="0" y="79248"/>
                </a:lnTo>
                <a:lnTo>
                  <a:pt x="9144000" y="79248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13495" y="327562"/>
            <a:ext cx="20320" cy="274955"/>
          </a:xfrm>
          <a:custGeom>
            <a:avLst/>
            <a:gdLst/>
            <a:ahLst/>
            <a:cxnLst/>
            <a:rect l="l" t="t" r="r" b="b"/>
            <a:pathLst>
              <a:path w="20320" h="274955">
                <a:moveTo>
                  <a:pt x="19827" y="0"/>
                </a:moveTo>
                <a:lnTo>
                  <a:pt x="0" y="0"/>
                </a:lnTo>
                <a:lnTo>
                  <a:pt x="0" y="274624"/>
                </a:lnTo>
                <a:lnTo>
                  <a:pt x="19827" y="274624"/>
                </a:lnTo>
                <a:lnTo>
                  <a:pt x="19827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902541" y="457940"/>
            <a:ext cx="97790" cy="19685"/>
          </a:xfrm>
          <a:custGeom>
            <a:avLst/>
            <a:gdLst/>
            <a:ahLst/>
            <a:cxnLst/>
            <a:rect l="l" t="t" r="r" b="b"/>
            <a:pathLst>
              <a:path w="97790" h="19684">
                <a:moveTo>
                  <a:pt x="97548" y="0"/>
                </a:moveTo>
                <a:lnTo>
                  <a:pt x="0" y="0"/>
                </a:lnTo>
                <a:lnTo>
                  <a:pt x="0" y="19564"/>
                </a:lnTo>
                <a:lnTo>
                  <a:pt x="97548" y="19564"/>
                </a:lnTo>
                <a:lnTo>
                  <a:pt x="97548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828788" y="328129"/>
            <a:ext cx="226060" cy="274320"/>
          </a:xfrm>
          <a:custGeom>
            <a:avLst/>
            <a:gdLst/>
            <a:ahLst/>
            <a:cxnLst/>
            <a:rect l="l" t="t" r="r" b="b"/>
            <a:pathLst>
              <a:path w="226059" h="274320">
                <a:moveTo>
                  <a:pt x="226009" y="0"/>
                </a:moveTo>
                <a:lnTo>
                  <a:pt x="0" y="0"/>
                </a:lnTo>
                <a:lnTo>
                  <a:pt x="0" y="16725"/>
                </a:lnTo>
                <a:lnTo>
                  <a:pt x="0" y="273850"/>
                </a:lnTo>
                <a:lnTo>
                  <a:pt x="19824" y="273862"/>
                </a:lnTo>
                <a:lnTo>
                  <a:pt x="19824" y="16725"/>
                </a:lnTo>
                <a:lnTo>
                  <a:pt x="226009" y="16725"/>
                </a:lnTo>
                <a:lnTo>
                  <a:pt x="226009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573468" y="329187"/>
            <a:ext cx="252095" cy="271780"/>
          </a:xfrm>
          <a:custGeom>
            <a:avLst/>
            <a:gdLst/>
            <a:ahLst/>
            <a:cxnLst/>
            <a:rect l="l" t="t" r="r" b="b"/>
            <a:pathLst>
              <a:path w="252095" h="271780">
                <a:moveTo>
                  <a:pt x="175803" y="0"/>
                </a:moveTo>
                <a:lnTo>
                  <a:pt x="0" y="0"/>
                </a:lnTo>
                <a:lnTo>
                  <a:pt x="0" y="271369"/>
                </a:lnTo>
                <a:lnTo>
                  <a:pt x="19827" y="271369"/>
                </a:lnTo>
                <a:lnTo>
                  <a:pt x="19827" y="15480"/>
                </a:lnTo>
                <a:lnTo>
                  <a:pt x="222712" y="15480"/>
                </a:lnTo>
                <a:lnTo>
                  <a:pt x="198518" y="3091"/>
                </a:lnTo>
                <a:lnTo>
                  <a:pt x="175803" y="0"/>
                </a:lnTo>
                <a:close/>
              </a:path>
              <a:path w="252095" h="271780">
                <a:moveTo>
                  <a:pt x="222712" y="15480"/>
                </a:moveTo>
                <a:lnTo>
                  <a:pt x="156230" y="15480"/>
                </a:lnTo>
                <a:lnTo>
                  <a:pt x="189400" y="19722"/>
                </a:lnTo>
                <a:lnTo>
                  <a:pt x="215209" y="32291"/>
                </a:lnTo>
                <a:lnTo>
                  <a:pt x="231948" y="52957"/>
                </a:lnTo>
                <a:lnTo>
                  <a:pt x="237908" y="81488"/>
                </a:lnTo>
                <a:lnTo>
                  <a:pt x="237908" y="82311"/>
                </a:lnTo>
                <a:lnTo>
                  <a:pt x="231812" y="110067"/>
                </a:lnTo>
                <a:lnTo>
                  <a:pt x="214714" y="131406"/>
                </a:lnTo>
                <a:lnTo>
                  <a:pt x="188397" y="145105"/>
                </a:lnTo>
                <a:lnTo>
                  <a:pt x="154645" y="149943"/>
                </a:lnTo>
                <a:lnTo>
                  <a:pt x="91199" y="149943"/>
                </a:lnTo>
                <a:lnTo>
                  <a:pt x="91199" y="168689"/>
                </a:lnTo>
                <a:lnTo>
                  <a:pt x="153060" y="168689"/>
                </a:lnTo>
                <a:lnTo>
                  <a:pt x="193167" y="163201"/>
                </a:lnTo>
                <a:lnTo>
                  <a:pt x="249297" y="119523"/>
                </a:lnTo>
                <a:lnTo>
                  <a:pt x="252015" y="107271"/>
                </a:lnTo>
                <a:lnTo>
                  <a:pt x="252015" y="52796"/>
                </a:lnTo>
                <a:lnTo>
                  <a:pt x="250486" y="45343"/>
                </a:lnTo>
                <a:lnTo>
                  <a:pt x="230077" y="19252"/>
                </a:lnTo>
                <a:lnTo>
                  <a:pt x="222712" y="1548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8180108" y="329196"/>
            <a:ext cx="351155" cy="272415"/>
          </a:xfrm>
          <a:custGeom>
            <a:avLst/>
            <a:gdLst/>
            <a:ahLst/>
            <a:cxnLst/>
            <a:rect l="l" t="t" r="r" b="b"/>
            <a:pathLst>
              <a:path w="351154" h="272415">
                <a:moveTo>
                  <a:pt x="277558" y="149936"/>
                </a:moveTo>
                <a:lnTo>
                  <a:pt x="198031" y="17932"/>
                </a:lnTo>
                <a:lnTo>
                  <a:pt x="187223" y="0"/>
                </a:lnTo>
                <a:lnTo>
                  <a:pt x="162509" y="0"/>
                </a:lnTo>
                <a:lnTo>
                  <a:pt x="0" y="272186"/>
                </a:lnTo>
                <a:lnTo>
                  <a:pt x="20612" y="272186"/>
                </a:lnTo>
                <a:lnTo>
                  <a:pt x="174472" y="17932"/>
                </a:lnTo>
                <a:lnTo>
                  <a:pt x="254558" y="149936"/>
                </a:lnTo>
                <a:lnTo>
                  <a:pt x="277558" y="149936"/>
                </a:lnTo>
                <a:close/>
              </a:path>
              <a:path w="351154" h="272415">
                <a:moveTo>
                  <a:pt x="350532" y="272186"/>
                </a:moveTo>
                <a:lnTo>
                  <a:pt x="307708" y="201282"/>
                </a:lnTo>
                <a:lnTo>
                  <a:pt x="285496" y="201282"/>
                </a:lnTo>
                <a:lnTo>
                  <a:pt x="329120" y="272186"/>
                </a:lnTo>
                <a:lnTo>
                  <a:pt x="350532" y="272186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5662" y="721233"/>
            <a:ext cx="644779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81098" y="2000050"/>
            <a:ext cx="6488430" cy="3227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81694" y="6263132"/>
            <a:ext cx="2444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77470">
              <a:lnSpc>
                <a:spcPts val="1240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1674" y="3079965"/>
            <a:ext cx="50165" cy="676910"/>
          </a:xfrm>
          <a:custGeom>
            <a:avLst/>
            <a:gdLst/>
            <a:ahLst/>
            <a:cxnLst/>
            <a:rect l="l" t="t" r="r" b="b"/>
            <a:pathLst>
              <a:path w="50164" h="676910">
                <a:moveTo>
                  <a:pt x="49624" y="0"/>
                </a:moveTo>
                <a:lnTo>
                  <a:pt x="0" y="0"/>
                </a:lnTo>
                <a:lnTo>
                  <a:pt x="0" y="676863"/>
                </a:lnTo>
                <a:lnTo>
                  <a:pt x="49625" y="676863"/>
                </a:lnTo>
                <a:lnTo>
                  <a:pt x="49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60017" y="3403370"/>
            <a:ext cx="245110" cy="46990"/>
          </a:xfrm>
          <a:custGeom>
            <a:avLst/>
            <a:gdLst/>
            <a:ahLst/>
            <a:cxnLst/>
            <a:rect l="l" t="t" r="r" b="b"/>
            <a:pathLst>
              <a:path w="245110" h="46989">
                <a:moveTo>
                  <a:pt x="244964" y="0"/>
                </a:moveTo>
                <a:lnTo>
                  <a:pt x="0" y="0"/>
                </a:lnTo>
                <a:lnTo>
                  <a:pt x="0" y="46652"/>
                </a:lnTo>
                <a:lnTo>
                  <a:pt x="244964" y="46652"/>
                </a:lnTo>
                <a:lnTo>
                  <a:pt x="2449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73339" y="3079800"/>
            <a:ext cx="569595" cy="676910"/>
          </a:xfrm>
          <a:custGeom>
            <a:avLst/>
            <a:gdLst/>
            <a:ahLst/>
            <a:cxnLst/>
            <a:rect l="l" t="t" r="r" b="b"/>
            <a:pathLst>
              <a:path w="569594" h="676910">
                <a:moveTo>
                  <a:pt x="569468" y="0"/>
                </a:moveTo>
                <a:lnTo>
                  <a:pt x="0" y="0"/>
                </a:lnTo>
                <a:lnTo>
                  <a:pt x="0" y="45796"/>
                </a:lnTo>
                <a:lnTo>
                  <a:pt x="0" y="676846"/>
                </a:lnTo>
                <a:lnTo>
                  <a:pt x="49631" y="676846"/>
                </a:lnTo>
                <a:lnTo>
                  <a:pt x="49631" y="45796"/>
                </a:lnTo>
                <a:lnTo>
                  <a:pt x="569468" y="45796"/>
                </a:lnTo>
                <a:lnTo>
                  <a:pt x="5694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49460" y="3081546"/>
            <a:ext cx="650240" cy="672465"/>
          </a:xfrm>
          <a:custGeom>
            <a:avLst/>
            <a:gdLst/>
            <a:ahLst/>
            <a:cxnLst/>
            <a:rect l="l" t="t" r="r" b="b"/>
            <a:pathLst>
              <a:path w="650239" h="672464">
                <a:moveTo>
                  <a:pt x="454829" y="0"/>
                </a:moveTo>
                <a:lnTo>
                  <a:pt x="0" y="0"/>
                </a:lnTo>
                <a:lnTo>
                  <a:pt x="0" y="672120"/>
                </a:lnTo>
                <a:lnTo>
                  <a:pt x="49667" y="672120"/>
                </a:lnTo>
                <a:lnTo>
                  <a:pt x="49666" y="41119"/>
                </a:lnTo>
                <a:lnTo>
                  <a:pt x="395445" y="41119"/>
                </a:lnTo>
                <a:lnTo>
                  <a:pt x="452669" y="45775"/>
                </a:lnTo>
                <a:lnTo>
                  <a:pt x="502242" y="59656"/>
                </a:lnTo>
                <a:lnTo>
                  <a:pt x="542936" y="82630"/>
                </a:lnTo>
                <a:lnTo>
                  <a:pt x="573524" y="114566"/>
                </a:lnTo>
                <a:lnTo>
                  <a:pt x="592777" y="155332"/>
                </a:lnTo>
                <a:lnTo>
                  <a:pt x="599468" y="204798"/>
                </a:lnTo>
                <a:lnTo>
                  <a:pt x="599468" y="207169"/>
                </a:lnTo>
                <a:lnTo>
                  <a:pt x="594391" y="247989"/>
                </a:lnTo>
                <a:lnTo>
                  <a:pt x="579684" y="284007"/>
                </a:lnTo>
                <a:lnTo>
                  <a:pt x="556131" y="314686"/>
                </a:lnTo>
                <a:lnTo>
                  <a:pt x="524517" y="339485"/>
                </a:lnTo>
                <a:lnTo>
                  <a:pt x="485624" y="357866"/>
                </a:lnTo>
                <a:lnTo>
                  <a:pt x="440239" y="369290"/>
                </a:lnTo>
                <a:lnTo>
                  <a:pt x="389145" y="373218"/>
                </a:lnTo>
                <a:lnTo>
                  <a:pt x="231639" y="373218"/>
                </a:lnTo>
                <a:lnTo>
                  <a:pt x="231639" y="419881"/>
                </a:lnTo>
                <a:lnTo>
                  <a:pt x="386730" y="419881"/>
                </a:lnTo>
                <a:lnTo>
                  <a:pt x="438314" y="416443"/>
                </a:lnTo>
                <a:lnTo>
                  <a:pt x="487028" y="406166"/>
                </a:lnTo>
                <a:lnTo>
                  <a:pt x="531638" y="389105"/>
                </a:lnTo>
                <a:lnTo>
                  <a:pt x="570907" y="365317"/>
                </a:lnTo>
                <a:lnTo>
                  <a:pt x="603600" y="334858"/>
                </a:lnTo>
                <a:lnTo>
                  <a:pt x="628482" y="297782"/>
                </a:lnTo>
                <a:lnTo>
                  <a:pt x="644317" y="254147"/>
                </a:lnTo>
                <a:lnTo>
                  <a:pt x="649870" y="204007"/>
                </a:lnTo>
                <a:lnTo>
                  <a:pt x="649870" y="202427"/>
                </a:lnTo>
                <a:lnTo>
                  <a:pt x="645182" y="155872"/>
                </a:lnTo>
                <a:lnTo>
                  <a:pt x="631558" y="114803"/>
                </a:lnTo>
                <a:lnTo>
                  <a:pt x="609663" y="79443"/>
                </a:lnTo>
                <a:lnTo>
                  <a:pt x="580160" y="50014"/>
                </a:lnTo>
                <a:lnTo>
                  <a:pt x="543712" y="26737"/>
                </a:lnTo>
                <a:lnTo>
                  <a:pt x="500982" y="9836"/>
                </a:lnTo>
                <a:lnTo>
                  <a:pt x="45482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58643" y="3081553"/>
            <a:ext cx="883919" cy="675005"/>
          </a:xfrm>
          <a:custGeom>
            <a:avLst/>
            <a:gdLst/>
            <a:ahLst/>
            <a:cxnLst/>
            <a:rect l="l" t="t" r="r" b="b"/>
            <a:pathLst>
              <a:path w="883920" h="675004">
                <a:moveTo>
                  <a:pt x="699427" y="373214"/>
                </a:moveTo>
                <a:lnTo>
                  <a:pt x="499033" y="47447"/>
                </a:lnTo>
                <a:lnTo>
                  <a:pt x="469849" y="0"/>
                </a:lnTo>
                <a:lnTo>
                  <a:pt x="412305" y="0"/>
                </a:lnTo>
                <a:lnTo>
                  <a:pt x="0" y="674497"/>
                </a:lnTo>
                <a:lnTo>
                  <a:pt x="51993" y="674497"/>
                </a:lnTo>
                <a:lnTo>
                  <a:pt x="440270" y="47447"/>
                </a:lnTo>
                <a:lnTo>
                  <a:pt x="641883" y="373214"/>
                </a:lnTo>
                <a:lnTo>
                  <a:pt x="699427" y="373214"/>
                </a:lnTo>
                <a:close/>
              </a:path>
              <a:path w="883920" h="675004">
                <a:moveTo>
                  <a:pt x="883704" y="674497"/>
                </a:moveTo>
                <a:lnTo>
                  <a:pt x="775868" y="498944"/>
                </a:lnTo>
                <a:lnTo>
                  <a:pt x="719899" y="498944"/>
                </a:lnTo>
                <a:lnTo>
                  <a:pt x="829424" y="674497"/>
                </a:lnTo>
                <a:lnTo>
                  <a:pt x="883704" y="6744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30129" y="3264993"/>
            <a:ext cx="294005" cy="320675"/>
          </a:xfrm>
          <a:custGeom>
            <a:avLst/>
            <a:gdLst/>
            <a:ahLst/>
            <a:cxnLst/>
            <a:rect l="l" t="t" r="r" b="b"/>
            <a:pathLst>
              <a:path w="294004" h="320675">
                <a:moveTo>
                  <a:pt x="161391" y="0"/>
                </a:moveTo>
                <a:lnTo>
                  <a:pt x="117169" y="5736"/>
                </a:lnTo>
                <a:lnTo>
                  <a:pt x="78247" y="21905"/>
                </a:lnTo>
                <a:lnTo>
                  <a:pt x="45847" y="46948"/>
                </a:lnTo>
                <a:lnTo>
                  <a:pt x="21191" y="79306"/>
                </a:lnTo>
                <a:lnTo>
                  <a:pt x="5501" y="117418"/>
                </a:lnTo>
                <a:lnTo>
                  <a:pt x="0" y="159726"/>
                </a:lnTo>
                <a:lnTo>
                  <a:pt x="5345" y="204197"/>
                </a:lnTo>
                <a:lnTo>
                  <a:pt x="20709" y="242693"/>
                </a:lnTo>
                <a:lnTo>
                  <a:pt x="45086" y="274776"/>
                </a:lnTo>
                <a:lnTo>
                  <a:pt x="77469" y="299215"/>
                </a:lnTo>
                <a:lnTo>
                  <a:pt x="116853" y="314781"/>
                </a:lnTo>
                <a:lnTo>
                  <a:pt x="162231" y="320243"/>
                </a:lnTo>
                <a:lnTo>
                  <a:pt x="201909" y="316363"/>
                </a:lnTo>
                <a:lnTo>
                  <a:pt x="237099" y="305812"/>
                </a:lnTo>
                <a:lnTo>
                  <a:pt x="267721" y="290221"/>
                </a:lnTo>
                <a:lnTo>
                  <a:pt x="293696" y="271219"/>
                </a:lnTo>
                <a:lnTo>
                  <a:pt x="293696" y="136795"/>
                </a:lnTo>
                <a:lnTo>
                  <a:pt x="159816" y="136795"/>
                </a:lnTo>
                <a:lnTo>
                  <a:pt x="159816" y="195313"/>
                </a:lnTo>
                <a:lnTo>
                  <a:pt x="228383" y="195313"/>
                </a:lnTo>
                <a:lnTo>
                  <a:pt x="228383" y="239595"/>
                </a:lnTo>
                <a:lnTo>
                  <a:pt x="214539" y="247895"/>
                </a:lnTo>
                <a:lnTo>
                  <a:pt x="199140" y="253826"/>
                </a:lnTo>
                <a:lnTo>
                  <a:pt x="182402" y="257387"/>
                </a:lnTo>
                <a:lnTo>
                  <a:pt x="164541" y="258574"/>
                </a:lnTo>
                <a:lnTo>
                  <a:pt x="126649" y="251136"/>
                </a:lnTo>
                <a:lnTo>
                  <a:pt x="97036" y="230501"/>
                </a:lnTo>
                <a:lnTo>
                  <a:pt x="77760" y="199191"/>
                </a:lnTo>
                <a:lnTo>
                  <a:pt x="70877" y="159726"/>
                </a:lnTo>
                <a:lnTo>
                  <a:pt x="70877" y="158936"/>
                </a:lnTo>
                <a:lnTo>
                  <a:pt x="77793" y="121847"/>
                </a:lnTo>
                <a:lnTo>
                  <a:pt x="96669" y="91133"/>
                </a:lnTo>
                <a:lnTo>
                  <a:pt x="124700" y="70204"/>
                </a:lnTo>
                <a:lnTo>
                  <a:pt x="159081" y="62470"/>
                </a:lnTo>
                <a:lnTo>
                  <a:pt x="183707" y="64631"/>
                </a:lnTo>
                <a:lnTo>
                  <a:pt x="204337" y="70868"/>
                </a:lnTo>
                <a:lnTo>
                  <a:pt x="222605" y="80813"/>
                </a:lnTo>
                <a:lnTo>
                  <a:pt x="240144" y="94095"/>
                </a:lnTo>
                <a:lnTo>
                  <a:pt x="282671" y="41910"/>
                </a:lnTo>
                <a:lnTo>
                  <a:pt x="257991" y="24020"/>
                </a:lnTo>
                <a:lnTo>
                  <a:pt x="230930" y="10874"/>
                </a:lnTo>
                <a:lnTo>
                  <a:pt x="199419" y="2768"/>
                </a:lnTo>
                <a:lnTo>
                  <a:pt x="161391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89233" y="3268167"/>
            <a:ext cx="619125" cy="311785"/>
          </a:xfrm>
          <a:custGeom>
            <a:avLst/>
            <a:gdLst/>
            <a:ahLst/>
            <a:cxnLst/>
            <a:rect l="l" t="t" r="r" b="b"/>
            <a:pathLst>
              <a:path w="619125" h="311785">
                <a:moveTo>
                  <a:pt x="266192" y="311543"/>
                </a:moveTo>
                <a:lnTo>
                  <a:pt x="199440" y="212712"/>
                </a:lnTo>
                <a:lnTo>
                  <a:pt x="191427" y="200837"/>
                </a:lnTo>
                <a:lnTo>
                  <a:pt x="218376" y="186893"/>
                </a:lnTo>
                <a:lnTo>
                  <a:pt x="239268" y="166344"/>
                </a:lnTo>
                <a:lnTo>
                  <a:pt x="246087" y="152603"/>
                </a:lnTo>
                <a:lnTo>
                  <a:pt x="252780" y="139128"/>
                </a:lnTo>
                <a:lnTo>
                  <a:pt x="257581" y="105168"/>
                </a:lnTo>
                <a:lnTo>
                  <a:pt x="257581" y="104368"/>
                </a:lnTo>
                <a:lnTo>
                  <a:pt x="249923" y="63258"/>
                </a:lnTo>
                <a:lnTo>
                  <a:pt x="249555" y="61290"/>
                </a:lnTo>
                <a:lnTo>
                  <a:pt x="226466" y="28956"/>
                </a:lnTo>
                <a:lnTo>
                  <a:pt x="189801" y="8636"/>
                </a:lnTo>
                <a:lnTo>
                  <a:pt x="188277" y="8420"/>
                </a:lnTo>
                <a:lnTo>
                  <a:pt x="188277" y="107530"/>
                </a:lnTo>
                <a:lnTo>
                  <a:pt x="188277" y="108331"/>
                </a:lnTo>
                <a:lnTo>
                  <a:pt x="184810" y="126250"/>
                </a:lnTo>
                <a:lnTo>
                  <a:pt x="174688" y="140246"/>
                </a:lnTo>
                <a:lnTo>
                  <a:pt x="158369" y="149352"/>
                </a:lnTo>
                <a:lnTo>
                  <a:pt x="136296" y="152603"/>
                </a:lnTo>
                <a:lnTo>
                  <a:pt x="67729" y="152603"/>
                </a:lnTo>
                <a:lnTo>
                  <a:pt x="67729" y="63258"/>
                </a:lnTo>
                <a:lnTo>
                  <a:pt x="135458" y="63258"/>
                </a:lnTo>
                <a:lnTo>
                  <a:pt x="157670" y="66065"/>
                </a:lnTo>
                <a:lnTo>
                  <a:pt x="174269" y="74422"/>
                </a:lnTo>
                <a:lnTo>
                  <a:pt x="184670" y="88277"/>
                </a:lnTo>
                <a:lnTo>
                  <a:pt x="188277" y="107530"/>
                </a:lnTo>
                <a:lnTo>
                  <a:pt x="188277" y="8420"/>
                </a:lnTo>
                <a:lnTo>
                  <a:pt x="141020" y="1574"/>
                </a:lnTo>
                <a:lnTo>
                  <a:pt x="0" y="1574"/>
                </a:lnTo>
                <a:lnTo>
                  <a:pt x="0" y="311543"/>
                </a:lnTo>
                <a:lnTo>
                  <a:pt x="67729" y="311543"/>
                </a:lnTo>
                <a:lnTo>
                  <a:pt x="67729" y="212712"/>
                </a:lnTo>
                <a:lnTo>
                  <a:pt x="121285" y="212712"/>
                </a:lnTo>
                <a:lnTo>
                  <a:pt x="187439" y="311543"/>
                </a:lnTo>
                <a:lnTo>
                  <a:pt x="266192" y="311543"/>
                </a:lnTo>
                <a:close/>
              </a:path>
              <a:path w="619125" h="311785">
                <a:moveTo>
                  <a:pt x="619112" y="311543"/>
                </a:moveTo>
                <a:lnTo>
                  <a:pt x="589559" y="241960"/>
                </a:lnTo>
                <a:lnTo>
                  <a:pt x="564032" y="181864"/>
                </a:lnTo>
                <a:lnTo>
                  <a:pt x="521385" y="81445"/>
                </a:lnTo>
                <a:lnTo>
                  <a:pt x="495414" y="20281"/>
                </a:lnTo>
                <a:lnTo>
                  <a:pt x="495414" y="181864"/>
                </a:lnTo>
                <a:lnTo>
                  <a:pt x="413512" y="181864"/>
                </a:lnTo>
                <a:lnTo>
                  <a:pt x="454456" y="81445"/>
                </a:lnTo>
                <a:lnTo>
                  <a:pt x="495414" y="181864"/>
                </a:lnTo>
                <a:lnTo>
                  <a:pt x="495414" y="20281"/>
                </a:lnTo>
                <a:lnTo>
                  <a:pt x="486803" y="0"/>
                </a:lnTo>
                <a:lnTo>
                  <a:pt x="424535" y="0"/>
                </a:lnTo>
                <a:lnTo>
                  <a:pt x="292227" y="311543"/>
                </a:lnTo>
                <a:lnTo>
                  <a:pt x="361530" y="311543"/>
                </a:lnTo>
                <a:lnTo>
                  <a:pt x="389890" y="241960"/>
                </a:lnTo>
                <a:lnTo>
                  <a:pt x="519874" y="241960"/>
                </a:lnTo>
                <a:lnTo>
                  <a:pt x="548233" y="311543"/>
                </a:lnTo>
                <a:lnTo>
                  <a:pt x="619112" y="311543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456335" y="3269736"/>
            <a:ext cx="283845" cy="310515"/>
          </a:xfrm>
          <a:custGeom>
            <a:avLst/>
            <a:gdLst/>
            <a:ahLst/>
            <a:cxnLst/>
            <a:rect l="l" t="t" r="r" b="b"/>
            <a:pathLst>
              <a:path w="283845" h="310514">
                <a:moveTo>
                  <a:pt x="119809" y="0"/>
                </a:moveTo>
                <a:lnTo>
                  <a:pt x="0" y="0"/>
                </a:lnTo>
                <a:lnTo>
                  <a:pt x="0" y="309968"/>
                </a:lnTo>
                <a:lnTo>
                  <a:pt x="119809" y="309968"/>
                </a:lnTo>
                <a:lnTo>
                  <a:pt x="165559" y="304583"/>
                </a:lnTo>
                <a:lnTo>
                  <a:pt x="205306" y="289292"/>
                </a:lnTo>
                <a:lnTo>
                  <a:pt x="238018" y="265391"/>
                </a:lnTo>
                <a:lnTo>
                  <a:pt x="251519" y="248289"/>
                </a:lnTo>
                <a:lnTo>
                  <a:pt x="67727" y="248289"/>
                </a:lnTo>
                <a:lnTo>
                  <a:pt x="67727" y="61679"/>
                </a:lnTo>
                <a:lnTo>
                  <a:pt x="253148" y="61679"/>
                </a:lnTo>
                <a:lnTo>
                  <a:pt x="219293" y="29225"/>
                </a:lnTo>
                <a:lnTo>
                  <a:pt x="174022" y="7685"/>
                </a:lnTo>
                <a:lnTo>
                  <a:pt x="119809" y="0"/>
                </a:lnTo>
                <a:close/>
              </a:path>
              <a:path w="283845" h="310514">
                <a:moveTo>
                  <a:pt x="253148" y="61679"/>
                </a:moveTo>
                <a:lnTo>
                  <a:pt x="119809" y="61679"/>
                </a:lnTo>
                <a:lnTo>
                  <a:pt x="157896" y="68586"/>
                </a:lnTo>
                <a:lnTo>
                  <a:pt x="187222" y="87873"/>
                </a:lnTo>
                <a:lnTo>
                  <a:pt x="206073" y="117389"/>
                </a:lnTo>
                <a:lnTo>
                  <a:pt x="212738" y="154984"/>
                </a:lnTo>
                <a:lnTo>
                  <a:pt x="212738" y="155774"/>
                </a:lnTo>
                <a:lnTo>
                  <a:pt x="206073" y="193583"/>
                </a:lnTo>
                <a:lnTo>
                  <a:pt x="187222" y="222790"/>
                </a:lnTo>
                <a:lnTo>
                  <a:pt x="157896" y="241618"/>
                </a:lnTo>
                <a:lnTo>
                  <a:pt x="119809" y="248289"/>
                </a:lnTo>
                <a:lnTo>
                  <a:pt x="251519" y="248289"/>
                </a:lnTo>
                <a:lnTo>
                  <a:pt x="262662" y="234175"/>
                </a:lnTo>
                <a:lnTo>
                  <a:pt x="278205" y="196941"/>
                </a:lnTo>
                <a:lnTo>
                  <a:pt x="283514" y="155774"/>
                </a:lnTo>
                <a:lnTo>
                  <a:pt x="283616" y="154194"/>
                </a:lnTo>
                <a:lnTo>
                  <a:pt x="275874" y="104756"/>
                </a:lnTo>
                <a:lnTo>
                  <a:pt x="253838" y="62341"/>
                </a:lnTo>
                <a:lnTo>
                  <a:pt x="253148" y="61679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95810" y="3174072"/>
            <a:ext cx="1663064" cy="482600"/>
          </a:xfrm>
          <a:custGeom>
            <a:avLst/>
            <a:gdLst/>
            <a:ahLst/>
            <a:cxnLst/>
            <a:rect l="l" t="t" r="r" b="b"/>
            <a:pathLst>
              <a:path w="1663065" h="482600">
                <a:moveTo>
                  <a:pt x="268592" y="96456"/>
                </a:moveTo>
                <a:lnTo>
                  <a:pt x="200875" y="96456"/>
                </a:lnTo>
                <a:lnTo>
                  <a:pt x="200875" y="273583"/>
                </a:lnTo>
                <a:lnTo>
                  <a:pt x="196291" y="305879"/>
                </a:lnTo>
                <a:lnTo>
                  <a:pt x="183146" y="329133"/>
                </a:lnTo>
                <a:lnTo>
                  <a:pt x="162331" y="343192"/>
                </a:lnTo>
                <a:lnTo>
                  <a:pt x="134721" y="347916"/>
                </a:lnTo>
                <a:lnTo>
                  <a:pt x="106616" y="343039"/>
                </a:lnTo>
                <a:lnTo>
                  <a:pt x="85547" y="328536"/>
                </a:lnTo>
                <a:lnTo>
                  <a:pt x="72313" y="304546"/>
                </a:lnTo>
                <a:lnTo>
                  <a:pt x="67729" y="271208"/>
                </a:lnTo>
                <a:lnTo>
                  <a:pt x="67729" y="96456"/>
                </a:lnTo>
                <a:lnTo>
                  <a:pt x="0" y="96456"/>
                </a:lnTo>
                <a:lnTo>
                  <a:pt x="0" y="272796"/>
                </a:lnTo>
                <a:lnTo>
                  <a:pt x="5905" y="322326"/>
                </a:lnTo>
                <a:lnTo>
                  <a:pt x="23037" y="360845"/>
                </a:lnTo>
                <a:lnTo>
                  <a:pt x="50533" y="388366"/>
                </a:lnTo>
                <a:lnTo>
                  <a:pt x="87515" y="404876"/>
                </a:lnTo>
                <a:lnTo>
                  <a:pt x="133146" y="410375"/>
                </a:lnTo>
                <a:lnTo>
                  <a:pt x="179285" y="404863"/>
                </a:lnTo>
                <a:lnTo>
                  <a:pt x="216890" y="388264"/>
                </a:lnTo>
                <a:lnTo>
                  <a:pt x="244957" y="360502"/>
                </a:lnTo>
                <a:lnTo>
                  <a:pt x="262521" y="321513"/>
                </a:lnTo>
                <a:lnTo>
                  <a:pt x="268592" y="271208"/>
                </a:lnTo>
                <a:lnTo>
                  <a:pt x="268592" y="96456"/>
                </a:lnTo>
                <a:close/>
              </a:path>
              <a:path w="1663065" h="482600">
                <a:moveTo>
                  <a:pt x="627811" y="405638"/>
                </a:moveTo>
                <a:lnTo>
                  <a:pt x="598246" y="336054"/>
                </a:lnTo>
                <a:lnTo>
                  <a:pt x="572706" y="275958"/>
                </a:lnTo>
                <a:lnTo>
                  <a:pt x="530021" y="175539"/>
                </a:lnTo>
                <a:lnTo>
                  <a:pt x="504126" y="114630"/>
                </a:lnTo>
                <a:lnTo>
                  <a:pt x="504126" y="275958"/>
                </a:lnTo>
                <a:lnTo>
                  <a:pt x="422224" y="275958"/>
                </a:lnTo>
                <a:lnTo>
                  <a:pt x="463169" y="175539"/>
                </a:lnTo>
                <a:lnTo>
                  <a:pt x="504126" y="275958"/>
                </a:lnTo>
                <a:lnTo>
                  <a:pt x="504126" y="114630"/>
                </a:lnTo>
                <a:lnTo>
                  <a:pt x="495401" y="94094"/>
                </a:lnTo>
                <a:lnTo>
                  <a:pt x="432409" y="94094"/>
                </a:lnTo>
                <a:lnTo>
                  <a:pt x="300939" y="405638"/>
                </a:lnTo>
                <a:lnTo>
                  <a:pt x="369404" y="405638"/>
                </a:lnTo>
                <a:lnTo>
                  <a:pt x="397751" y="336054"/>
                </a:lnTo>
                <a:lnTo>
                  <a:pt x="528586" y="336054"/>
                </a:lnTo>
                <a:lnTo>
                  <a:pt x="556933" y="405638"/>
                </a:lnTo>
                <a:lnTo>
                  <a:pt x="627811" y="405638"/>
                </a:lnTo>
                <a:close/>
              </a:path>
              <a:path w="1663065" h="482600">
                <a:moveTo>
                  <a:pt x="945984" y="355828"/>
                </a:moveTo>
                <a:lnTo>
                  <a:pt x="902716" y="312331"/>
                </a:lnTo>
                <a:lnTo>
                  <a:pt x="884999" y="327228"/>
                </a:lnTo>
                <a:lnTo>
                  <a:pt x="866508" y="338429"/>
                </a:lnTo>
                <a:lnTo>
                  <a:pt x="845820" y="345465"/>
                </a:lnTo>
                <a:lnTo>
                  <a:pt x="821550" y="347916"/>
                </a:lnTo>
                <a:lnTo>
                  <a:pt x="785355" y="340169"/>
                </a:lnTo>
                <a:lnTo>
                  <a:pt x="757224" y="319151"/>
                </a:lnTo>
                <a:lnTo>
                  <a:pt x="738987" y="288201"/>
                </a:lnTo>
                <a:lnTo>
                  <a:pt x="732510" y="250659"/>
                </a:lnTo>
                <a:lnTo>
                  <a:pt x="739114" y="212775"/>
                </a:lnTo>
                <a:lnTo>
                  <a:pt x="757529" y="181864"/>
                </a:lnTo>
                <a:lnTo>
                  <a:pt x="785710" y="161036"/>
                </a:lnTo>
                <a:lnTo>
                  <a:pt x="821550" y="153403"/>
                </a:lnTo>
                <a:lnTo>
                  <a:pt x="843838" y="155829"/>
                </a:lnTo>
                <a:lnTo>
                  <a:pt x="863981" y="162788"/>
                </a:lnTo>
                <a:lnTo>
                  <a:pt x="882815" y="173736"/>
                </a:lnTo>
                <a:lnTo>
                  <a:pt x="901141" y="188188"/>
                </a:lnTo>
                <a:lnTo>
                  <a:pt x="943673" y="138366"/>
                </a:lnTo>
                <a:lnTo>
                  <a:pt x="920940" y="118948"/>
                </a:lnTo>
                <a:lnTo>
                  <a:pt x="894194" y="103974"/>
                </a:lnTo>
                <a:lnTo>
                  <a:pt x="861847" y="94335"/>
                </a:lnTo>
                <a:lnTo>
                  <a:pt x="822286" y="90932"/>
                </a:lnTo>
                <a:lnTo>
                  <a:pt x="777570" y="96672"/>
                </a:lnTo>
                <a:lnTo>
                  <a:pt x="738632" y="112864"/>
                </a:lnTo>
                <a:lnTo>
                  <a:pt x="706513" y="137972"/>
                </a:lnTo>
                <a:lnTo>
                  <a:pt x="682282" y="170472"/>
                </a:lnTo>
                <a:lnTo>
                  <a:pt x="666965" y="208800"/>
                </a:lnTo>
                <a:lnTo>
                  <a:pt x="661631" y="251447"/>
                </a:lnTo>
                <a:lnTo>
                  <a:pt x="667283" y="295503"/>
                </a:lnTo>
                <a:lnTo>
                  <a:pt x="683399" y="334581"/>
                </a:lnTo>
                <a:lnTo>
                  <a:pt x="708761" y="367131"/>
                </a:lnTo>
                <a:lnTo>
                  <a:pt x="742099" y="391604"/>
                </a:lnTo>
                <a:lnTo>
                  <a:pt x="782167" y="406425"/>
                </a:lnTo>
                <a:lnTo>
                  <a:pt x="746683" y="458609"/>
                </a:lnTo>
                <a:lnTo>
                  <a:pt x="802652" y="482333"/>
                </a:lnTo>
                <a:lnTo>
                  <a:pt x="830999" y="410375"/>
                </a:lnTo>
                <a:lnTo>
                  <a:pt x="867117" y="405307"/>
                </a:lnTo>
                <a:lnTo>
                  <a:pt x="897343" y="394068"/>
                </a:lnTo>
                <a:lnTo>
                  <a:pt x="923150" y="377355"/>
                </a:lnTo>
                <a:lnTo>
                  <a:pt x="945984" y="355828"/>
                </a:lnTo>
                <a:close/>
              </a:path>
              <a:path w="1663065" h="482600">
                <a:moveTo>
                  <a:pt x="1227912" y="11074"/>
                </a:moveTo>
                <a:lnTo>
                  <a:pt x="1192530" y="0"/>
                </a:lnTo>
                <a:lnTo>
                  <a:pt x="1187805" y="9004"/>
                </a:lnTo>
                <a:lnTo>
                  <a:pt x="1182560" y="15709"/>
                </a:lnTo>
                <a:lnTo>
                  <a:pt x="1176007" y="19900"/>
                </a:lnTo>
                <a:lnTo>
                  <a:pt x="1167333" y="21348"/>
                </a:lnTo>
                <a:lnTo>
                  <a:pt x="1154214" y="18630"/>
                </a:lnTo>
                <a:lnTo>
                  <a:pt x="1138656" y="12649"/>
                </a:lnTo>
                <a:lnTo>
                  <a:pt x="1120902" y="6667"/>
                </a:lnTo>
                <a:lnTo>
                  <a:pt x="1081138" y="8229"/>
                </a:lnTo>
                <a:lnTo>
                  <a:pt x="1055293" y="39636"/>
                </a:lnTo>
                <a:lnTo>
                  <a:pt x="1046784" y="64833"/>
                </a:lnTo>
                <a:lnTo>
                  <a:pt x="1082268" y="75895"/>
                </a:lnTo>
                <a:lnTo>
                  <a:pt x="1086980" y="66560"/>
                </a:lnTo>
                <a:lnTo>
                  <a:pt x="1092200" y="59893"/>
                </a:lnTo>
                <a:lnTo>
                  <a:pt x="1098753" y="55880"/>
                </a:lnTo>
                <a:lnTo>
                  <a:pt x="1107478" y="54546"/>
                </a:lnTo>
                <a:lnTo>
                  <a:pt x="1120571" y="57264"/>
                </a:lnTo>
                <a:lnTo>
                  <a:pt x="1136103" y="63246"/>
                </a:lnTo>
                <a:lnTo>
                  <a:pt x="1153858" y="69227"/>
                </a:lnTo>
                <a:lnTo>
                  <a:pt x="1173632" y="71945"/>
                </a:lnTo>
                <a:lnTo>
                  <a:pt x="1193609" y="67665"/>
                </a:lnTo>
                <a:lnTo>
                  <a:pt x="1208455" y="55448"/>
                </a:lnTo>
                <a:lnTo>
                  <a:pt x="1208963" y="54546"/>
                </a:lnTo>
                <a:lnTo>
                  <a:pt x="1219441" y="36258"/>
                </a:lnTo>
                <a:lnTo>
                  <a:pt x="1224457" y="21348"/>
                </a:lnTo>
                <a:lnTo>
                  <a:pt x="1227912" y="11074"/>
                </a:lnTo>
                <a:close/>
              </a:path>
              <a:path w="1663065" h="482600">
                <a:moveTo>
                  <a:pt x="1301203" y="405638"/>
                </a:moveTo>
                <a:lnTo>
                  <a:pt x="1271663" y="336054"/>
                </a:lnTo>
                <a:lnTo>
                  <a:pt x="1246136" y="275958"/>
                </a:lnTo>
                <a:lnTo>
                  <a:pt x="1203490" y="175539"/>
                </a:lnTo>
                <a:lnTo>
                  <a:pt x="1177518" y="114376"/>
                </a:lnTo>
                <a:lnTo>
                  <a:pt x="1177518" y="275958"/>
                </a:lnTo>
                <a:lnTo>
                  <a:pt x="1095603" y="275958"/>
                </a:lnTo>
                <a:lnTo>
                  <a:pt x="1136561" y="175539"/>
                </a:lnTo>
                <a:lnTo>
                  <a:pt x="1177518" y="275958"/>
                </a:lnTo>
                <a:lnTo>
                  <a:pt x="1177518" y="114376"/>
                </a:lnTo>
                <a:lnTo>
                  <a:pt x="1168908" y="94094"/>
                </a:lnTo>
                <a:lnTo>
                  <a:pt x="1105903" y="94094"/>
                </a:lnTo>
                <a:lnTo>
                  <a:pt x="974331" y="405638"/>
                </a:lnTo>
                <a:lnTo>
                  <a:pt x="1042898" y="405638"/>
                </a:lnTo>
                <a:lnTo>
                  <a:pt x="1071245" y="336054"/>
                </a:lnTo>
                <a:lnTo>
                  <a:pt x="1201978" y="336054"/>
                </a:lnTo>
                <a:lnTo>
                  <a:pt x="1230325" y="405638"/>
                </a:lnTo>
                <a:lnTo>
                  <a:pt x="1301203" y="405638"/>
                </a:lnTo>
                <a:close/>
              </a:path>
              <a:path w="1663065" h="482600">
                <a:moveTo>
                  <a:pt x="1662734" y="249859"/>
                </a:moveTo>
                <a:lnTo>
                  <a:pt x="1657223" y="207619"/>
                </a:lnTo>
                <a:lnTo>
                  <a:pt x="1641436" y="169646"/>
                </a:lnTo>
                <a:lnTo>
                  <a:pt x="1628863" y="153403"/>
                </a:lnTo>
                <a:lnTo>
                  <a:pt x="1616544" y="137477"/>
                </a:lnTo>
                <a:lnTo>
                  <a:pt x="1591856" y="118783"/>
                </a:lnTo>
                <a:lnTo>
                  <a:pt x="1591856" y="250659"/>
                </a:lnTo>
                <a:lnTo>
                  <a:pt x="1591856" y="251447"/>
                </a:lnTo>
                <a:lnTo>
                  <a:pt x="1585087" y="289204"/>
                </a:lnTo>
                <a:lnTo>
                  <a:pt x="1566062" y="319849"/>
                </a:lnTo>
                <a:lnTo>
                  <a:pt x="1536712" y="340398"/>
                </a:lnTo>
                <a:lnTo>
                  <a:pt x="1498930" y="347916"/>
                </a:lnTo>
                <a:lnTo>
                  <a:pt x="1461465" y="340169"/>
                </a:lnTo>
                <a:lnTo>
                  <a:pt x="1432064" y="319151"/>
                </a:lnTo>
                <a:lnTo>
                  <a:pt x="1412875" y="288201"/>
                </a:lnTo>
                <a:lnTo>
                  <a:pt x="1406004" y="250659"/>
                </a:lnTo>
                <a:lnTo>
                  <a:pt x="1406004" y="249859"/>
                </a:lnTo>
                <a:lnTo>
                  <a:pt x="1412760" y="212445"/>
                </a:lnTo>
                <a:lnTo>
                  <a:pt x="1431683" y="181762"/>
                </a:lnTo>
                <a:lnTo>
                  <a:pt x="1460804" y="161023"/>
                </a:lnTo>
                <a:lnTo>
                  <a:pt x="1498092" y="153403"/>
                </a:lnTo>
                <a:lnTo>
                  <a:pt x="1536001" y="161150"/>
                </a:lnTo>
                <a:lnTo>
                  <a:pt x="1565643" y="182156"/>
                </a:lnTo>
                <a:lnTo>
                  <a:pt x="1584960" y="213106"/>
                </a:lnTo>
                <a:lnTo>
                  <a:pt x="1591856" y="250659"/>
                </a:lnTo>
                <a:lnTo>
                  <a:pt x="1591856" y="118783"/>
                </a:lnTo>
                <a:lnTo>
                  <a:pt x="1583728" y="112623"/>
                </a:lnTo>
                <a:lnTo>
                  <a:pt x="1544129" y="96608"/>
                </a:lnTo>
                <a:lnTo>
                  <a:pt x="1498930" y="90932"/>
                </a:lnTo>
                <a:lnTo>
                  <a:pt x="1453984" y="96659"/>
                </a:lnTo>
                <a:lnTo>
                  <a:pt x="1414462" y="112839"/>
                </a:lnTo>
                <a:lnTo>
                  <a:pt x="1381594" y="137871"/>
                </a:lnTo>
                <a:lnTo>
                  <a:pt x="1356588" y="170230"/>
                </a:lnTo>
                <a:lnTo>
                  <a:pt x="1340700" y="208343"/>
                </a:lnTo>
                <a:lnTo>
                  <a:pt x="1335227" y="249859"/>
                </a:lnTo>
                <a:lnTo>
                  <a:pt x="1335125" y="251447"/>
                </a:lnTo>
                <a:lnTo>
                  <a:pt x="1340637" y="294030"/>
                </a:lnTo>
                <a:lnTo>
                  <a:pt x="1356372" y="332219"/>
                </a:lnTo>
                <a:lnTo>
                  <a:pt x="1381163" y="364515"/>
                </a:lnTo>
                <a:lnTo>
                  <a:pt x="1413840" y="389445"/>
                </a:lnTo>
                <a:lnTo>
                  <a:pt x="1453210" y="405485"/>
                </a:lnTo>
                <a:lnTo>
                  <a:pt x="1498092" y="411175"/>
                </a:lnTo>
                <a:lnTo>
                  <a:pt x="1543392" y="405434"/>
                </a:lnTo>
                <a:lnTo>
                  <a:pt x="1583156" y="389242"/>
                </a:lnTo>
                <a:lnTo>
                  <a:pt x="1616163" y="364121"/>
                </a:lnTo>
                <a:lnTo>
                  <a:pt x="1641233" y="331635"/>
                </a:lnTo>
                <a:lnTo>
                  <a:pt x="1657159" y="293293"/>
                </a:lnTo>
                <a:lnTo>
                  <a:pt x="1662633" y="251447"/>
                </a:lnTo>
                <a:lnTo>
                  <a:pt x="1662734" y="249859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91674" y="3079965"/>
            <a:ext cx="50165" cy="676910"/>
          </a:xfrm>
          <a:custGeom>
            <a:avLst/>
            <a:gdLst/>
            <a:ahLst/>
            <a:cxnLst/>
            <a:rect l="l" t="t" r="r" b="b"/>
            <a:pathLst>
              <a:path w="50164" h="676910">
                <a:moveTo>
                  <a:pt x="49624" y="0"/>
                </a:moveTo>
                <a:lnTo>
                  <a:pt x="0" y="0"/>
                </a:lnTo>
                <a:lnTo>
                  <a:pt x="0" y="676863"/>
                </a:lnTo>
                <a:lnTo>
                  <a:pt x="49625" y="676863"/>
                </a:lnTo>
                <a:lnTo>
                  <a:pt x="49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60017" y="3403370"/>
            <a:ext cx="245110" cy="46990"/>
          </a:xfrm>
          <a:custGeom>
            <a:avLst/>
            <a:gdLst/>
            <a:ahLst/>
            <a:cxnLst/>
            <a:rect l="l" t="t" r="r" b="b"/>
            <a:pathLst>
              <a:path w="245110" h="46989">
                <a:moveTo>
                  <a:pt x="244964" y="0"/>
                </a:moveTo>
                <a:lnTo>
                  <a:pt x="0" y="0"/>
                </a:lnTo>
                <a:lnTo>
                  <a:pt x="0" y="46652"/>
                </a:lnTo>
                <a:lnTo>
                  <a:pt x="244964" y="46652"/>
                </a:lnTo>
                <a:lnTo>
                  <a:pt x="2449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73339" y="3079800"/>
            <a:ext cx="569595" cy="676910"/>
          </a:xfrm>
          <a:custGeom>
            <a:avLst/>
            <a:gdLst/>
            <a:ahLst/>
            <a:cxnLst/>
            <a:rect l="l" t="t" r="r" b="b"/>
            <a:pathLst>
              <a:path w="569594" h="676910">
                <a:moveTo>
                  <a:pt x="569468" y="0"/>
                </a:moveTo>
                <a:lnTo>
                  <a:pt x="0" y="0"/>
                </a:lnTo>
                <a:lnTo>
                  <a:pt x="0" y="45796"/>
                </a:lnTo>
                <a:lnTo>
                  <a:pt x="0" y="676846"/>
                </a:lnTo>
                <a:lnTo>
                  <a:pt x="49631" y="676846"/>
                </a:lnTo>
                <a:lnTo>
                  <a:pt x="49631" y="45796"/>
                </a:lnTo>
                <a:lnTo>
                  <a:pt x="569468" y="45796"/>
                </a:lnTo>
                <a:lnTo>
                  <a:pt x="5694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49460" y="3081546"/>
            <a:ext cx="650240" cy="672465"/>
          </a:xfrm>
          <a:custGeom>
            <a:avLst/>
            <a:gdLst/>
            <a:ahLst/>
            <a:cxnLst/>
            <a:rect l="l" t="t" r="r" b="b"/>
            <a:pathLst>
              <a:path w="650239" h="672464">
                <a:moveTo>
                  <a:pt x="454829" y="0"/>
                </a:moveTo>
                <a:lnTo>
                  <a:pt x="0" y="0"/>
                </a:lnTo>
                <a:lnTo>
                  <a:pt x="0" y="672120"/>
                </a:lnTo>
                <a:lnTo>
                  <a:pt x="49667" y="672120"/>
                </a:lnTo>
                <a:lnTo>
                  <a:pt x="49666" y="41119"/>
                </a:lnTo>
                <a:lnTo>
                  <a:pt x="395445" y="41119"/>
                </a:lnTo>
                <a:lnTo>
                  <a:pt x="452669" y="45775"/>
                </a:lnTo>
                <a:lnTo>
                  <a:pt x="502242" y="59656"/>
                </a:lnTo>
                <a:lnTo>
                  <a:pt x="542936" y="82630"/>
                </a:lnTo>
                <a:lnTo>
                  <a:pt x="573524" y="114566"/>
                </a:lnTo>
                <a:lnTo>
                  <a:pt x="592777" y="155332"/>
                </a:lnTo>
                <a:lnTo>
                  <a:pt x="599468" y="204798"/>
                </a:lnTo>
                <a:lnTo>
                  <a:pt x="599468" y="207169"/>
                </a:lnTo>
                <a:lnTo>
                  <a:pt x="594391" y="247989"/>
                </a:lnTo>
                <a:lnTo>
                  <a:pt x="579684" y="284007"/>
                </a:lnTo>
                <a:lnTo>
                  <a:pt x="556131" y="314686"/>
                </a:lnTo>
                <a:lnTo>
                  <a:pt x="524517" y="339485"/>
                </a:lnTo>
                <a:lnTo>
                  <a:pt x="485624" y="357866"/>
                </a:lnTo>
                <a:lnTo>
                  <a:pt x="440239" y="369290"/>
                </a:lnTo>
                <a:lnTo>
                  <a:pt x="389145" y="373218"/>
                </a:lnTo>
                <a:lnTo>
                  <a:pt x="231639" y="373218"/>
                </a:lnTo>
                <a:lnTo>
                  <a:pt x="231639" y="419881"/>
                </a:lnTo>
                <a:lnTo>
                  <a:pt x="386730" y="419881"/>
                </a:lnTo>
                <a:lnTo>
                  <a:pt x="438314" y="416443"/>
                </a:lnTo>
                <a:lnTo>
                  <a:pt x="487028" y="406166"/>
                </a:lnTo>
                <a:lnTo>
                  <a:pt x="531638" y="389105"/>
                </a:lnTo>
                <a:lnTo>
                  <a:pt x="570907" y="365317"/>
                </a:lnTo>
                <a:lnTo>
                  <a:pt x="603600" y="334858"/>
                </a:lnTo>
                <a:lnTo>
                  <a:pt x="628482" y="297782"/>
                </a:lnTo>
                <a:lnTo>
                  <a:pt x="644317" y="254147"/>
                </a:lnTo>
                <a:lnTo>
                  <a:pt x="649870" y="204007"/>
                </a:lnTo>
                <a:lnTo>
                  <a:pt x="649870" y="202427"/>
                </a:lnTo>
                <a:lnTo>
                  <a:pt x="645182" y="155872"/>
                </a:lnTo>
                <a:lnTo>
                  <a:pt x="631558" y="114803"/>
                </a:lnTo>
                <a:lnTo>
                  <a:pt x="609663" y="79443"/>
                </a:lnTo>
                <a:lnTo>
                  <a:pt x="580160" y="50014"/>
                </a:lnTo>
                <a:lnTo>
                  <a:pt x="543712" y="26737"/>
                </a:lnTo>
                <a:lnTo>
                  <a:pt x="500982" y="9836"/>
                </a:lnTo>
                <a:lnTo>
                  <a:pt x="45482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558643" y="3081553"/>
            <a:ext cx="883919" cy="675005"/>
          </a:xfrm>
          <a:custGeom>
            <a:avLst/>
            <a:gdLst/>
            <a:ahLst/>
            <a:cxnLst/>
            <a:rect l="l" t="t" r="r" b="b"/>
            <a:pathLst>
              <a:path w="883920" h="675004">
                <a:moveTo>
                  <a:pt x="699427" y="373214"/>
                </a:moveTo>
                <a:lnTo>
                  <a:pt x="499033" y="47447"/>
                </a:lnTo>
                <a:lnTo>
                  <a:pt x="469849" y="0"/>
                </a:lnTo>
                <a:lnTo>
                  <a:pt x="412305" y="0"/>
                </a:lnTo>
                <a:lnTo>
                  <a:pt x="0" y="674497"/>
                </a:lnTo>
                <a:lnTo>
                  <a:pt x="51993" y="674497"/>
                </a:lnTo>
                <a:lnTo>
                  <a:pt x="440270" y="47447"/>
                </a:lnTo>
                <a:lnTo>
                  <a:pt x="641883" y="373214"/>
                </a:lnTo>
                <a:lnTo>
                  <a:pt x="699427" y="373214"/>
                </a:lnTo>
                <a:close/>
              </a:path>
              <a:path w="883920" h="675004">
                <a:moveTo>
                  <a:pt x="883704" y="674497"/>
                </a:moveTo>
                <a:lnTo>
                  <a:pt x="775868" y="498944"/>
                </a:lnTo>
                <a:lnTo>
                  <a:pt x="719899" y="498944"/>
                </a:lnTo>
                <a:lnTo>
                  <a:pt x="829424" y="674497"/>
                </a:lnTo>
                <a:lnTo>
                  <a:pt x="883704" y="6744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30129" y="3264993"/>
            <a:ext cx="294005" cy="320675"/>
          </a:xfrm>
          <a:custGeom>
            <a:avLst/>
            <a:gdLst/>
            <a:ahLst/>
            <a:cxnLst/>
            <a:rect l="l" t="t" r="r" b="b"/>
            <a:pathLst>
              <a:path w="294004" h="320675">
                <a:moveTo>
                  <a:pt x="161391" y="0"/>
                </a:moveTo>
                <a:lnTo>
                  <a:pt x="117169" y="5736"/>
                </a:lnTo>
                <a:lnTo>
                  <a:pt x="78247" y="21905"/>
                </a:lnTo>
                <a:lnTo>
                  <a:pt x="45847" y="46948"/>
                </a:lnTo>
                <a:lnTo>
                  <a:pt x="21191" y="79306"/>
                </a:lnTo>
                <a:lnTo>
                  <a:pt x="5501" y="117418"/>
                </a:lnTo>
                <a:lnTo>
                  <a:pt x="0" y="159726"/>
                </a:lnTo>
                <a:lnTo>
                  <a:pt x="5345" y="204197"/>
                </a:lnTo>
                <a:lnTo>
                  <a:pt x="20709" y="242693"/>
                </a:lnTo>
                <a:lnTo>
                  <a:pt x="45086" y="274776"/>
                </a:lnTo>
                <a:lnTo>
                  <a:pt x="77469" y="299215"/>
                </a:lnTo>
                <a:lnTo>
                  <a:pt x="116853" y="314781"/>
                </a:lnTo>
                <a:lnTo>
                  <a:pt x="162231" y="320243"/>
                </a:lnTo>
                <a:lnTo>
                  <a:pt x="201909" y="316363"/>
                </a:lnTo>
                <a:lnTo>
                  <a:pt x="237099" y="305812"/>
                </a:lnTo>
                <a:lnTo>
                  <a:pt x="267721" y="290221"/>
                </a:lnTo>
                <a:lnTo>
                  <a:pt x="293696" y="271219"/>
                </a:lnTo>
                <a:lnTo>
                  <a:pt x="293696" y="136795"/>
                </a:lnTo>
                <a:lnTo>
                  <a:pt x="159816" y="136795"/>
                </a:lnTo>
                <a:lnTo>
                  <a:pt x="159816" y="195313"/>
                </a:lnTo>
                <a:lnTo>
                  <a:pt x="228383" y="195313"/>
                </a:lnTo>
                <a:lnTo>
                  <a:pt x="228383" y="239595"/>
                </a:lnTo>
                <a:lnTo>
                  <a:pt x="214539" y="247895"/>
                </a:lnTo>
                <a:lnTo>
                  <a:pt x="199140" y="253826"/>
                </a:lnTo>
                <a:lnTo>
                  <a:pt x="182402" y="257387"/>
                </a:lnTo>
                <a:lnTo>
                  <a:pt x="164541" y="258574"/>
                </a:lnTo>
                <a:lnTo>
                  <a:pt x="126649" y="251136"/>
                </a:lnTo>
                <a:lnTo>
                  <a:pt x="97036" y="230501"/>
                </a:lnTo>
                <a:lnTo>
                  <a:pt x="77760" y="199191"/>
                </a:lnTo>
                <a:lnTo>
                  <a:pt x="70877" y="159726"/>
                </a:lnTo>
                <a:lnTo>
                  <a:pt x="70877" y="158936"/>
                </a:lnTo>
                <a:lnTo>
                  <a:pt x="77793" y="121847"/>
                </a:lnTo>
                <a:lnTo>
                  <a:pt x="96669" y="91133"/>
                </a:lnTo>
                <a:lnTo>
                  <a:pt x="124700" y="70204"/>
                </a:lnTo>
                <a:lnTo>
                  <a:pt x="159081" y="62470"/>
                </a:lnTo>
                <a:lnTo>
                  <a:pt x="183707" y="64631"/>
                </a:lnTo>
                <a:lnTo>
                  <a:pt x="204337" y="70868"/>
                </a:lnTo>
                <a:lnTo>
                  <a:pt x="222605" y="80813"/>
                </a:lnTo>
                <a:lnTo>
                  <a:pt x="240144" y="94095"/>
                </a:lnTo>
                <a:lnTo>
                  <a:pt x="282671" y="41910"/>
                </a:lnTo>
                <a:lnTo>
                  <a:pt x="257991" y="24020"/>
                </a:lnTo>
                <a:lnTo>
                  <a:pt x="230930" y="10874"/>
                </a:lnTo>
                <a:lnTo>
                  <a:pt x="199419" y="2768"/>
                </a:lnTo>
                <a:lnTo>
                  <a:pt x="161391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789233" y="3268167"/>
            <a:ext cx="619125" cy="311785"/>
          </a:xfrm>
          <a:custGeom>
            <a:avLst/>
            <a:gdLst/>
            <a:ahLst/>
            <a:cxnLst/>
            <a:rect l="l" t="t" r="r" b="b"/>
            <a:pathLst>
              <a:path w="619125" h="311785">
                <a:moveTo>
                  <a:pt x="266192" y="311543"/>
                </a:moveTo>
                <a:lnTo>
                  <a:pt x="199440" y="212712"/>
                </a:lnTo>
                <a:lnTo>
                  <a:pt x="191427" y="200837"/>
                </a:lnTo>
                <a:lnTo>
                  <a:pt x="218376" y="186893"/>
                </a:lnTo>
                <a:lnTo>
                  <a:pt x="239268" y="166344"/>
                </a:lnTo>
                <a:lnTo>
                  <a:pt x="246087" y="152603"/>
                </a:lnTo>
                <a:lnTo>
                  <a:pt x="252780" y="139128"/>
                </a:lnTo>
                <a:lnTo>
                  <a:pt x="257581" y="105168"/>
                </a:lnTo>
                <a:lnTo>
                  <a:pt x="257581" y="104368"/>
                </a:lnTo>
                <a:lnTo>
                  <a:pt x="249923" y="63258"/>
                </a:lnTo>
                <a:lnTo>
                  <a:pt x="249555" y="61290"/>
                </a:lnTo>
                <a:lnTo>
                  <a:pt x="226466" y="28956"/>
                </a:lnTo>
                <a:lnTo>
                  <a:pt x="189801" y="8636"/>
                </a:lnTo>
                <a:lnTo>
                  <a:pt x="188277" y="8420"/>
                </a:lnTo>
                <a:lnTo>
                  <a:pt x="188277" y="107530"/>
                </a:lnTo>
                <a:lnTo>
                  <a:pt x="188277" y="108331"/>
                </a:lnTo>
                <a:lnTo>
                  <a:pt x="184810" y="126250"/>
                </a:lnTo>
                <a:lnTo>
                  <a:pt x="174688" y="140246"/>
                </a:lnTo>
                <a:lnTo>
                  <a:pt x="158369" y="149352"/>
                </a:lnTo>
                <a:lnTo>
                  <a:pt x="136296" y="152603"/>
                </a:lnTo>
                <a:lnTo>
                  <a:pt x="67729" y="152603"/>
                </a:lnTo>
                <a:lnTo>
                  <a:pt x="67729" y="63258"/>
                </a:lnTo>
                <a:lnTo>
                  <a:pt x="135458" y="63258"/>
                </a:lnTo>
                <a:lnTo>
                  <a:pt x="157670" y="66065"/>
                </a:lnTo>
                <a:lnTo>
                  <a:pt x="174269" y="74422"/>
                </a:lnTo>
                <a:lnTo>
                  <a:pt x="184670" y="88277"/>
                </a:lnTo>
                <a:lnTo>
                  <a:pt x="188277" y="107530"/>
                </a:lnTo>
                <a:lnTo>
                  <a:pt x="188277" y="8420"/>
                </a:lnTo>
                <a:lnTo>
                  <a:pt x="141020" y="1574"/>
                </a:lnTo>
                <a:lnTo>
                  <a:pt x="0" y="1574"/>
                </a:lnTo>
                <a:lnTo>
                  <a:pt x="0" y="311543"/>
                </a:lnTo>
                <a:lnTo>
                  <a:pt x="67729" y="311543"/>
                </a:lnTo>
                <a:lnTo>
                  <a:pt x="67729" y="212712"/>
                </a:lnTo>
                <a:lnTo>
                  <a:pt x="121285" y="212712"/>
                </a:lnTo>
                <a:lnTo>
                  <a:pt x="187439" y="311543"/>
                </a:lnTo>
                <a:lnTo>
                  <a:pt x="266192" y="311543"/>
                </a:lnTo>
                <a:close/>
              </a:path>
              <a:path w="619125" h="311785">
                <a:moveTo>
                  <a:pt x="619112" y="311543"/>
                </a:moveTo>
                <a:lnTo>
                  <a:pt x="589559" y="241960"/>
                </a:lnTo>
                <a:lnTo>
                  <a:pt x="564032" y="181864"/>
                </a:lnTo>
                <a:lnTo>
                  <a:pt x="521385" y="81445"/>
                </a:lnTo>
                <a:lnTo>
                  <a:pt x="495414" y="20281"/>
                </a:lnTo>
                <a:lnTo>
                  <a:pt x="495414" y="181864"/>
                </a:lnTo>
                <a:lnTo>
                  <a:pt x="413512" y="181864"/>
                </a:lnTo>
                <a:lnTo>
                  <a:pt x="454456" y="81445"/>
                </a:lnTo>
                <a:lnTo>
                  <a:pt x="495414" y="181864"/>
                </a:lnTo>
                <a:lnTo>
                  <a:pt x="495414" y="20281"/>
                </a:lnTo>
                <a:lnTo>
                  <a:pt x="486803" y="0"/>
                </a:lnTo>
                <a:lnTo>
                  <a:pt x="424535" y="0"/>
                </a:lnTo>
                <a:lnTo>
                  <a:pt x="292227" y="311543"/>
                </a:lnTo>
                <a:lnTo>
                  <a:pt x="361530" y="311543"/>
                </a:lnTo>
                <a:lnTo>
                  <a:pt x="389890" y="241960"/>
                </a:lnTo>
                <a:lnTo>
                  <a:pt x="519874" y="241960"/>
                </a:lnTo>
                <a:lnTo>
                  <a:pt x="548233" y="311543"/>
                </a:lnTo>
                <a:lnTo>
                  <a:pt x="619112" y="311543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456335" y="3269736"/>
            <a:ext cx="283845" cy="310515"/>
          </a:xfrm>
          <a:custGeom>
            <a:avLst/>
            <a:gdLst/>
            <a:ahLst/>
            <a:cxnLst/>
            <a:rect l="l" t="t" r="r" b="b"/>
            <a:pathLst>
              <a:path w="283845" h="310514">
                <a:moveTo>
                  <a:pt x="119809" y="0"/>
                </a:moveTo>
                <a:lnTo>
                  <a:pt x="0" y="0"/>
                </a:lnTo>
                <a:lnTo>
                  <a:pt x="0" y="309968"/>
                </a:lnTo>
                <a:lnTo>
                  <a:pt x="119809" y="309968"/>
                </a:lnTo>
                <a:lnTo>
                  <a:pt x="165559" y="304583"/>
                </a:lnTo>
                <a:lnTo>
                  <a:pt x="205306" y="289292"/>
                </a:lnTo>
                <a:lnTo>
                  <a:pt x="238018" y="265391"/>
                </a:lnTo>
                <a:lnTo>
                  <a:pt x="251519" y="248289"/>
                </a:lnTo>
                <a:lnTo>
                  <a:pt x="67727" y="248289"/>
                </a:lnTo>
                <a:lnTo>
                  <a:pt x="67727" y="61679"/>
                </a:lnTo>
                <a:lnTo>
                  <a:pt x="253148" y="61679"/>
                </a:lnTo>
                <a:lnTo>
                  <a:pt x="219293" y="29225"/>
                </a:lnTo>
                <a:lnTo>
                  <a:pt x="174022" y="7685"/>
                </a:lnTo>
                <a:lnTo>
                  <a:pt x="119809" y="0"/>
                </a:lnTo>
                <a:close/>
              </a:path>
              <a:path w="283845" h="310514">
                <a:moveTo>
                  <a:pt x="253148" y="61679"/>
                </a:moveTo>
                <a:lnTo>
                  <a:pt x="119809" y="61679"/>
                </a:lnTo>
                <a:lnTo>
                  <a:pt x="157896" y="68586"/>
                </a:lnTo>
                <a:lnTo>
                  <a:pt x="187222" y="87873"/>
                </a:lnTo>
                <a:lnTo>
                  <a:pt x="206073" y="117389"/>
                </a:lnTo>
                <a:lnTo>
                  <a:pt x="212738" y="154984"/>
                </a:lnTo>
                <a:lnTo>
                  <a:pt x="212738" y="155774"/>
                </a:lnTo>
                <a:lnTo>
                  <a:pt x="206073" y="193583"/>
                </a:lnTo>
                <a:lnTo>
                  <a:pt x="187222" y="222790"/>
                </a:lnTo>
                <a:lnTo>
                  <a:pt x="157896" y="241618"/>
                </a:lnTo>
                <a:lnTo>
                  <a:pt x="119809" y="248289"/>
                </a:lnTo>
                <a:lnTo>
                  <a:pt x="251519" y="248289"/>
                </a:lnTo>
                <a:lnTo>
                  <a:pt x="262662" y="234175"/>
                </a:lnTo>
                <a:lnTo>
                  <a:pt x="278205" y="196941"/>
                </a:lnTo>
                <a:lnTo>
                  <a:pt x="283514" y="155774"/>
                </a:lnTo>
                <a:lnTo>
                  <a:pt x="283616" y="154194"/>
                </a:lnTo>
                <a:lnTo>
                  <a:pt x="275874" y="104756"/>
                </a:lnTo>
                <a:lnTo>
                  <a:pt x="253838" y="62341"/>
                </a:lnTo>
                <a:lnTo>
                  <a:pt x="253148" y="61679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795810" y="3174072"/>
            <a:ext cx="1663064" cy="482600"/>
          </a:xfrm>
          <a:custGeom>
            <a:avLst/>
            <a:gdLst/>
            <a:ahLst/>
            <a:cxnLst/>
            <a:rect l="l" t="t" r="r" b="b"/>
            <a:pathLst>
              <a:path w="1663065" h="482600">
                <a:moveTo>
                  <a:pt x="268592" y="96456"/>
                </a:moveTo>
                <a:lnTo>
                  <a:pt x="200875" y="96456"/>
                </a:lnTo>
                <a:lnTo>
                  <a:pt x="200875" y="273583"/>
                </a:lnTo>
                <a:lnTo>
                  <a:pt x="196291" y="305879"/>
                </a:lnTo>
                <a:lnTo>
                  <a:pt x="183146" y="329133"/>
                </a:lnTo>
                <a:lnTo>
                  <a:pt x="162331" y="343192"/>
                </a:lnTo>
                <a:lnTo>
                  <a:pt x="134721" y="347916"/>
                </a:lnTo>
                <a:lnTo>
                  <a:pt x="106616" y="343039"/>
                </a:lnTo>
                <a:lnTo>
                  <a:pt x="85547" y="328536"/>
                </a:lnTo>
                <a:lnTo>
                  <a:pt x="72313" y="304546"/>
                </a:lnTo>
                <a:lnTo>
                  <a:pt x="67729" y="271208"/>
                </a:lnTo>
                <a:lnTo>
                  <a:pt x="67729" y="96456"/>
                </a:lnTo>
                <a:lnTo>
                  <a:pt x="0" y="96456"/>
                </a:lnTo>
                <a:lnTo>
                  <a:pt x="0" y="272796"/>
                </a:lnTo>
                <a:lnTo>
                  <a:pt x="5905" y="322326"/>
                </a:lnTo>
                <a:lnTo>
                  <a:pt x="23037" y="360845"/>
                </a:lnTo>
                <a:lnTo>
                  <a:pt x="50533" y="388366"/>
                </a:lnTo>
                <a:lnTo>
                  <a:pt x="87515" y="404876"/>
                </a:lnTo>
                <a:lnTo>
                  <a:pt x="133146" y="410375"/>
                </a:lnTo>
                <a:lnTo>
                  <a:pt x="179285" y="404863"/>
                </a:lnTo>
                <a:lnTo>
                  <a:pt x="216890" y="388264"/>
                </a:lnTo>
                <a:lnTo>
                  <a:pt x="244957" y="360502"/>
                </a:lnTo>
                <a:lnTo>
                  <a:pt x="262521" y="321513"/>
                </a:lnTo>
                <a:lnTo>
                  <a:pt x="268592" y="271208"/>
                </a:lnTo>
                <a:lnTo>
                  <a:pt x="268592" y="96456"/>
                </a:lnTo>
                <a:close/>
              </a:path>
              <a:path w="1663065" h="482600">
                <a:moveTo>
                  <a:pt x="627811" y="405638"/>
                </a:moveTo>
                <a:lnTo>
                  <a:pt x="598246" y="336054"/>
                </a:lnTo>
                <a:lnTo>
                  <a:pt x="572706" y="275958"/>
                </a:lnTo>
                <a:lnTo>
                  <a:pt x="530021" y="175539"/>
                </a:lnTo>
                <a:lnTo>
                  <a:pt x="504126" y="114630"/>
                </a:lnTo>
                <a:lnTo>
                  <a:pt x="504126" y="275958"/>
                </a:lnTo>
                <a:lnTo>
                  <a:pt x="422224" y="275958"/>
                </a:lnTo>
                <a:lnTo>
                  <a:pt x="463169" y="175539"/>
                </a:lnTo>
                <a:lnTo>
                  <a:pt x="504126" y="275958"/>
                </a:lnTo>
                <a:lnTo>
                  <a:pt x="504126" y="114630"/>
                </a:lnTo>
                <a:lnTo>
                  <a:pt x="495401" y="94094"/>
                </a:lnTo>
                <a:lnTo>
                  <a:pt x="432409" y="94094"/>
                </a:lnTo>
                <a:lnTo>
                  <a:pt x="300939" y="405638"/>
                </a:lnTo>
                <a:lnTo>
                  <a:pt x="369404" y="405638"/>
                </a:lnTo>
                <a:lnTo>
                  <a:pt x="397751" y="336054"/>
                </a:lnTo>
                <a:lnTo>
                  <a:pt x="528586" y="336054"/>
                </a:lnTo>
                <a:lnTo>
                  <a:pt x="556933" y="405638"/>
                </a:lnTo>
                <a:lnTo>
                  <a:pt x="627811" y="405638"/>
                </a:lnTo>
                <a:close/>
              </a:path>
              <a:path w="1663065" h="482600">
                <a:moveTo>
                  <a:pt x="945984" y="355828"/>
                </a:moveTo>
                <a:lnTo>
                  <a:pt x="902716" y="312331"/>
                </a:lnTo>
                <a:lnTo>
                  <a:pt x="884999" y="327228"/>
                </a:lnTo>
                <a:lnTo>
                  <a:pt x="866508" y="338429"/>
                </a:lnTo>
                <a:lnTo>
                  <a:pt x="845820" y="345465"/>
                </a:lnTo>
                <a:lnTo>
                  <a:pt x="821550" y="347916"/>
                </a:lnTo>
                <a:lnTo>
                  <a:pt x="785355" y="340169"/>
                </a:lnTo>
                <a:lnTo>
                  <a:pt x="757224" y="319151"/>
                </a:lnTo>
                <a:lnTo>
                  <a:pt x="738987" y="288201"/>
                </a:lnTo>
                <a:lnTo>
                  <a:pt x="732510" y="250659"/>
                </a:lnTo>
                <a:lnTo>
                  <a:pt x="739114" y="212775"/>
                </a:lnTo>
                <a:lnTo>
                  <a:pt x="757529" y="181864"/>
                </a:lnTo>
                <a:lnTo>
                  <a:pt x="785710" y="161036"/>
                </a:lnTo>
                <a:lnTo>
                  <a:pt x="821550" y="153403"/>
                </a:lnTo>
                <a:lnTo>
                  <a:pt x="843838" y="155829"/>
                </a:lnTo>
                <a:lnTo>
                  <a:pt x="863981" y="162788"/>
                </a:lnTo>
                <a:lnTo>
                  <a:pt x="882815" y="173736"/>
                </a:lnTo>
                <a:lnTo>
                  <a:pt x="901141" y="188188"/>
                </a:lnTo>
                <a:lnTo>
                  <a:pt x="943673" y="138366"/>
                </a:lnTo>
                <a:lnTo>
                  <a:pt x="920940" y="118948"/>
                </a:lnTo>
                <a:lnTo>
                  <a:pt x="894194" y="103974"/>
                </a:lnTo>
                <a:lnTo>
                  <a:pt x="861847" y="94335"/>
                </a:lnTo>
                <a:lnTo>
                  <a:pt x="822286" y="90932"/>
                </a:lnTo>
                <a:lnTo>
                  <a:pt x="777570" y="96672"/>
                </a:lnTo>
                <a:lnTo>
                  <a:pt x="738632" y="112864"/>
                </a:lnTo>
                <a:lnTo>
                  <a:pt x="706513" y="137972"/>
                </a:lnTo>
                <a:lnTo>
                  <a:pt x="682282" y="170472"/>
                </a:lnTo>
                <a:lnTo>
                  <a:pt x="666965" y="208800"/>
                </a:lnTo>
                <a:lnTo>
                  <a:pt x="661631" y="251447"/>
                </a:lnTo>
                <a:lnTo>
                  <a:pt x="667283" y="295503"/>
                </a:lnTo>
                <a:lnTo>
                  <a:pt x="683399" y="334581"/>
                </a:lnTo>
                <a:lnTo>
                  <a:pt x="708761" y="367131"/>
                </a:lnTo>
                <a:lnTo>
                  <a:pt x="742099" y="391604"/>
                </a:lnTo>
                <a:lnTo>
                  <a:pt x="782167" y="406425"/>
                </a:lnTo>
                <a:lnTo>
                  <a:pt x="746683" y="458609"/>
                </a:lnTo>
                <a:lnTo>
                  <a:pt x="802652" y="482333"/>
                </a:lnTo>
                <a:lnTo>
                  <a:pt x="830999" y="410375"/>
                </a:lnTo>
                <a:lnTo>
                  <a:pt x="867117" y="405307"/>
                </a:lnTo>
                <a:lnTo>
                  <a:pt x="897343" y="394068"/>
                </a:lnTo>
                <a:lnTo>
                  <a:pt x="923150" y="377355"/>
                </a:lnTo>
                <a:lnTo>
                  <a:pt x="945984" y="355828"/>
                </a:lnTo>
                <a:close/>
              </a:path>
              <a:path w="1663065" h="482600">
                <a:moveTo>
                  <a:pt x="1227912" y="11074"/>
                </a:moveTo>
                <a:lnTo>
                  <a:pt x="1192530" y="0"/>
                </a:lnTo>
                <a:lnTo>
                  <a:pt x="1187805" y="9004"/>
                </a:lnTo>
                <a:lnTo>
                  <a:pt x="1182560" y="15709"/>
                </a:lnTo>
                <a:lnTo>
                  <a:pt x="1176007" y="19900"/>
                </a:lnTo>
                <a:lnTo>
                  <a:pt x="1167333" y="21348"/>
                </a:lnTo>
                <a:lnTo>
                  <a:pt x="1154214" y="18630"/>
                </a:lnTo>
                <a:lnTo>
                  <a:pt x="1138656" y="12649"/>
                </a:lnTo>
                <a:lnTo>
                  <a:pt x="1120902" y="6667"/>
                </a:lnTo>
                <a:lnTo>
                  <a:pt x="1081138" y="8229"/>
                </a:lnTo>
                <a:lnTo>
                  <a:pt x="1055293" y="39636"/>
                </a:lnTo>
                <a:lnTo>
                  <a:pt x="1046784" y="64833"/>
                </a:lnTo>
                <a:lnTo>
                  <a:pt x="1082268" y="75895"/>
                </a:lnTo>
                <a:lnTo>
                  <a:pt x="1086980" y="66560"/>
                </a:lnTo>
                <a:lnTo>
                  <a:pt x="1092200" y="59893"/>
                </a:lnTo>
                <a:lnTo>
                  <a:pt x="1098753" y="55880"/>
                </a:lnTo>
                <a:lnTo>
                  <a:pt x="1107478" y="54546"/>
                </a:lnTo>
                <a:lnTo>
                  <a:pt x="1120571" y="57264"/>
                </a:lnTo>
                <a:lnTo>
                  <a:pt x="1136103" y="63246"/>
                </a:lnTo>
                <a:lnTo>
                  <a:pt x="1153858" y="69227"/>
                </a:lnTo>
                <a:lnTo>
                  <a:pt x="1173632" y="71945"/>
                </a:lnTo>
                <a:lnTo>
                  <a:pt x="1193609" y="67665"/>
                </a:lnTo>
                <a:lnTo>
                  <a:pt x="1208455" y="55448"/>
                </a:lnTo>
                <a:lnTo>
                  <a:pt x="1208963" y="54546"/>
                </a:lnTo>
                <a:lnTo>
                  <a:pt x="1219441" y="36258"/>
                </a:lnTo>
                <a:lnTo>
                  <a:pt x="1224457" y="21348"/>
                </a:lnTo>
                <a:lnTo>
                  <a:pt x="1227912" y="11074"/>
                </a:lnTo>
                <a:close/>
              </a:path>
              <a:path w="1663065" h="482600">
                <a:moveTo>
                  <a:pt x="1301203" y="405638"/>
                </a:moveTo>
                <a:lnTo>
                  <a:pt x="1271663" y="336054"/>
                </a:lnTo>
                <a:lnTo>
                  <a:pt x="1246136" y="275958"/>
                </a:lnTo>
                <a:lnTo>
                  <a:pt x="1203490" y="175539"/>
                </a:lnTo>
                <a:lnTo>
                  <a:pt x="1177518" y="114376"/>
                </a:lnTo>
                <a:lnTo>
                  <a:pt x="1177518" y="275958"/>
                </a:lnTo>
                <a:lnTo>
                  <a:pt x="1095603" y="275958"/>
                </a:lnTo>
                <a:lnTo>
                  <a:pt x="1136561" y="175539"/>
                </a:lnTo>
                <a:lnTo>
                  <a:pt x="1177518" y="275958"/>
                </a:lnTo>
                <a:lnTo>
                  <a:pt x="1177518" y="114376"/>
                </a:lnTo>
                <a:lnTo>
                  <a:pt x="1168908" y="94094"/>
                </a:lnTo>
                <a:lnTo>
                  <a:pt x="1105903" y="94094"/>
                </a:lnTo>
                <a:lnTo>
                  <a:pt x="974331" y="405638"/>
                </a:lnTo>
                <a:lnTo>
                  <a:pt x="1042898" y="405638"/>
                </a:lnTo>
                <a:lnTo>
                  <a:pt x="1071245" y="336054"/>
                </a:lnTo>
                <a:lnTo>
                  <a:pt x="1201978" y="336054"/>
                </a:lnTo>
                <a:lnTo>
                  <a:pt x="1230325" y="405638"/>
                </a:lnTo>
                <a:lnTo>
                  <a:pt x="1301203" y="405638"/>
                </a:lnTo>
                <a:close/>
              </a:path>
              <a:path w="1663065" h="482600">
                <a:moveTo>
                  <a:pt x="1662734" y="249859"/>
                </a:moveTo>
                <a:lnTo>
                  <a:pt x="1657223" y="207619"/>
                </a:lnTo>
                <a:lnTo>
                  <a:pt x="1641436" y="169646"/>
                </a:lnTo>
                <a:lnTo>
                  <a:pt x="1628863" y="153403"/>
                </a:lnTo>
                <a:lnTo>
                  <a:pt x="1616544" y="137477"/>
                </a:lnTo>
                <a:lnTo>
                  <a:pt x="1591856" y="118783"/>
                </a:lnTo>
                <a:lnTo>
                  <a:pt x="1591856" y="250659"/>
                </a:lnTo>
                <a:lnTo>
                  <a:pt x="1591856" y="251447"/>
                </a:lnTo>
                <a:lnTo>
                  <a:pt x="1585087" y="289204"/>
                </a:lnTo>
                <a:lnTo>
                  <a:pt x="1566062" y="319849"/>
                </a:lnTo>
                <a:lnTo>
                  <a:pt x="1536712" y="340398"/>
                </a:lnTo>
                <a:lnTo>
                  <a:pt x="1498930" y="347916"/>
                </a:lnTo>
                <a:lnTo>
                  <a:pt x="1461465" y="340169"/>
                </a:lnTo>
                <a:lnTo>
                  <a:pt x="1432064" y="319151"/>
                </a:lnTo>
                <a:lnTo>
                  <a:pt x="1412875" y="288201"/>
                </a:lnTo>
                <a:lnTo>
                  <a:pt x="1406004" y="250659"/>
                </a:lnTo>
                <a:lnTo>
                  <a:pt x="1406004" y="249859"/>
                </a:lnTo>
                <a:lnTo>
                  <a:pt x="1412760" y="212445"/>
                </a:lnTo>
                <a:lnTo>
                  <a:pt x="1431683" y="181762"/>
                </a:lnTo>
                <a:lnTo>
                  <a:pt x="1460804" y="161023"/>
                </a:lnTo>
                <a:lnTo>
                  <a:pt x="1498092" y="153403"/>
                </a:lnTo>
                <a:lnTo>
                  <a:pt x="1536001" y="161150"/>
                </a:lnTo>
                <a:lnTo>
                  <a:pt x="1565643" y="182156"/>
                </a:lnTo>
                <a:lnTo>
                  <a:pt x="1584960" y="213106"/>
                </a:lnTo>
                <a:lnTo>
                  <a:pt x="1591856" y="250659"/>
                </a:lnTo>
                <a:lnTo>
                  <a:pt x="1591856" y="118783"/>
                </a:lnTo>
                <a:lnTo>
                  <a:pt x="1583728" y="112623"/>
                </a:lnTo>
                <a:lnTo>
                  <a:pt x="1544129" y="96608"/>
                </a:lnTo>
                <a:lnTo>
                  <a:pt x="1498930" y="90932"/>
                </a:lnTo>
                <a:lnTo>
                  <a:pt x="1453984" y="96659"/>
                </a:lnTo>
                <a:lnTo>
                  <a:pt x="1414462" y="112839"/>
                </a:lnTo>
                <a:lnTo>
                  <a:pt x="1381594" y="137871"/>
                </a:lnTo>
                <a:lnTo>
                  <a:pt x="1356588" y="170230"/>
                </a:lnTo>
                <a:lnTo>
                  <a:pt x="1340700" y="208343"/>
                </a:lnTo>
                <a:lnTo>
                  <a:pt x="1335227" y="249859"/>
                </a:lnTo>
                <a:lnTo>
                  <a:pt x="1335125" y="251447"/>
                </a:lnTo>
                <a:lnTo>
                  <a:pt x="1340637" y="294030"/>
                </a:lnTo>
                <a:lnTo>
                  <a:pt x="1356372" y="332219"/>
                </a:lnTo>
                <a:lnTo>
                  <a:pt x="1381163" y="364515"/>
                </a:lnTo>
                <a:lnTo>
                  <a:pt x="1413840" y="389445"/>
                </a:lnTo>
                <a:lnTo>
                  <a:pt x="1453210" y="405485"/>
                </a:lnTo>
                <a:lnTo>
                  <a:pt x="1498092" y="411175"/>
                </a:lnTo>
                <a:lnTo>
                  <a:pt x="1543392" y="405434"/>
                </a:lnTo>
                <a:lnTo>
                  <a:pt x="1583156" y="389242"/>
                </a:lnTo>
                <a:lnTo>
                  <a:pt x="1616163" y="364121"/>
                </a:lnTo>
                <a:lnTo>
                  <a:pt x="1641233" y="331635"/>
                </a:lnTo>
                <a:lnTo>
                  <a:pt x="1657159" y="293293"/>
                </a:lnTo>
                <a:lnTo>
                  <a:pt x="1662633" y="251447"/>
                </a:lnTo>
                <a:lnTo>
                  <a:pt x="1662734" y="249859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328672"/>
            <a:ext cx="9143998" cy="279044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9144000" cy="79375"/>
          </a:xfrm>
          <a:custGeom>
            <a:avLst/>
            <a:gdLst/>
            <a:ahLst/>
            <a:cxnLst/>
            <a:rect l="l" t="t" r="r" b="b"/>
            <a:pathLst>
              <a:path w="9144000" h="79375">
                <a:moveTo>
                  <a:pt x="9144000" y="0"/>
                </a:moveTo>
                <a:lnTo>
                  <a:pt x="0" y="0"/>
                </a:lnTo>
                <a:lnTo>
                  <a:pt x="0" y="79248"/>
                </a:lnTo>
                <a:lnTo>
                  <a:pt x="9144000" y="79248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113495" y="327562"/>
            <a:ext cx="20320" cy="274955"/>
          </a:xfrm>
          <a:custGeom>
            <a:avLst/>
            <a:gdLst/>
            <a:ahLst/>
            <a:cxnLst/>
            <a:rect l="l" t="t" r="r" b="b"/>
            <a:pathLst>
              <a:path w="20320" h="274955">
                <a:moveTo>
                  <a:pt x="19827" y="0"/>
                </a:moveTo>
                <a:lnTo>
                  <a:pt x="0" y="0"/>
                </a:lnTo>
                <a:lnTo>
                  <a:pt x="0" y="274624"/>
                </a:lnTo>
                <a:lnTo>
                  <a:pt x="19827" y="274624"/>
                </a:lnTo>
                <a:lnTo>
                  <a:pt x="19827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902541" y="457940"/>
            <a:ext cx="97790" cy="19685"/>
          </a:xfrm>
          <a:custGeom>
            <a:avLst/>
            <a:gdLst/>
            <a:ahLst/>
            <a:cxnLst/>
            <a:rect l="l" t="t" r="r" b="b"/>
            <a:pathLst>
              <a:path w="97790" h="19684">
                <a:moveTo>
                  <a:pt x="97548" y="0"/>
                </a:moveTo>
                <a:lnTo>
                  <a:pt x="0" y="0"/>
                </a:lnTo>
                <a:lnTo>
                  <a:pt x="0" y="19564"/>
                </a:lnTo>
                <a:lnTo>
                  <a:pt x="97548" y="19564"/>
                </a:lnTo>
                <a:lnTo>
                  <a:pt x="97548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828788" y="328129"/>
            <a:ext cx="226060" cy="274320"/>
          </a:xfrm>
          <a:custGeom>
            <a:avLst/>
            <a:gdLst/>
            <a:ahLst/>
            <a:cxnLst/>
            <a:rect l="l" t="t" r="r" b="b"/>
            <a:pathLst>
              <a:path w="226059" h="274320">
                <a:moveTo>
                  <a:pt x="226009" y="0"/>
                </a:moveTo>
                <a:lnTo>
                  <a:pt x="0" y="0"/>
                </a:lnTo>
                <a:lnTo>
                  <a:pt x="0" y="16725"/>
                </a:lnTo>
                <a:lnTo>
                  <a:pt x="0" y="273850"/>
                </a:lnTo>
                <a:lnTo>
                  <a:pt x="19824" y="273862"/>
                </a:lnTo>
                <a:lnTo>
                  <a:pt x="19824" y="16725"/>
                </a:lnTo>
                <a:lnTo>
                  <a:pt x="226009" y="16725"/>
                </a:lnTo>
                <a:lnTo>
                  <a:pt x="226009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573468" y="329187"/>
            <a:ext cx="252095" cy="271780"/>
          </a:xfrm>
          <a:custGeom>
            <a:avLst/>
            <a:gdLst/>
            <a:ahLst/>
            <a:cxnLst/>
            <a:rect l="l" t="t" r="r" b="b"/>
            <a:pathLst>
              <a:path w="252095" h="271780">
                <a:moveTo>
                  <a:pt x="175803" y="0"/>
                </a:moveTo>
                <a:lnTo>
                  <a:pt x="0" y="0"/>
                </a:lnTo>
                <a:lnTo>
                  <a:pt x="0" y="271369"/>
                </a:lnTo>
                <a:lnTo>
                  <a:pt x="19827" y="271369"/>
                </a:lnTo>
                <a:lnTo>
                  <a:pt x="19827" y="15480"/>
                </a:lnTo>
                <a:lnTo>
                  <a:pt x="222712" y="15480"/>
                </a:lnTo>
                <a:lnTo>
                  <a:pt x="198518" y="3091"/>
                </a:lnTo>
                <a:lnTo>
                  <a:pt x="175803" y="0"/>
                </a:lnTo>
                <a:close/>
              </a:path>
              <a:path w="252095" h="271780">
                <a:moveTo>
                  <a:pt x="222712" y="15480"/>
                </a:moveTo>
                <a:lnTo>
                  <a:pt x="156230" y="15480"/>
                </a:lnTo>
                <a:lnTo>
                  <a:pt x="189400" y="19722"/>
                </a:lnTo>
                <a:lnTo>
                  <a:pt x="215209" y="32291"/>
                </a:lnTo>
                <a:lnTo>
                  <a:pt x="231948" y="52957"/>
                </a:lnTo>
                <a:lnTo>
                  <a:pt x="237908" y="81488"/>
                </a:lnTo>
                <a:lnTo>
                  <a:pt x="237908" y="82311"/>
                </a:lnTo>
                <a:lnTo>
                  <a:pt x="231812" y="110067"/>
                </a:lnTo>
                <a:lnTo>
                  <a:pt x="214714" y="131406"/>
                </a:lnTo>
                <a:lnTo>
                  <a:pt x="188397" y="145105"/>
                </a:lnTo>
                <a:lnTo>
                  <a:pt x="154645" y="149943"/>
                </a:lnTo>
                <a:lnTo>
                  <a:pt x="91199" y="149943"/>
                </a:lnTo>
                <a:lnTo>
                  <a:pt x="91199" y="168689"/>
                </a:lnTo>
                <a:lnTo>
                  <a:pt x="153060" y="168689"/>
                </a:lnTo>
                <a:lnTo>
                  <a:pt x="193167" y="163201"/>
                </a:lnTo>
                <a:lnTo>
                  <a:pt x="249297" y="119523"/>
                </a:lnTo>
                <a:lnTo>
                  <a:pt x="252015" y="107271"/>
                </a:lnTo>
                <a:lnTo>
                  <a:pt x="252015" y="52796"/>
                </a:lnTo>
                <a:lnTo>
                  <a:pt x="250486" y="45343"/>
                </a:lnTo>
                <a:lnTo>
                  <a:pt x="230077" y="19252"/>
                </a:lnTo>
                <a:lnTo>
                  <a:pt x="222712" y="1548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180108" y="329196"/>
            <a:ext cx="351155" cy="272415"/>
          </a:xfrm>
          <a:custGeom>
            <a:avLst/>
            <a:gdLst/>
            <a:ahLst/>
            <a:cxnLst/>
            <a:rect l="l" t="t" r="r" b="b"/>
            <a:pathLst>
              <a:path w="351154" h="272415">
                <a:moveTo>
                  <a:pt x="277558" y="149936"/>
                </a:moveTo>
                <a:lnTo>
                  <a:pt x="198031" y="17932"/>
                </a:lnTo>
                <a:lnTo>
                  <a:pt x="187223" y="0"/>
                </a:lnTo>
                <a:lnTo>
                  <a:pt x="162509" y="0"/>
                </a:lnTo>
                <a:lnTo>
                  <a:pt x="0" y="272186"/>
                </a:lnTo>
                <a:lnTo>
                  <a:pt x="20612" y="272186"/>
                </a:lnTo>
                <a:lnTo>
                  <a:pt x="174472" y="17932"/>
                </a:lnTo>
                <a:lnTo>
                  <a:pt x="254558" y="149936"/>
                </a:lnTo>
                <a:lnTo>
                  <a:pt x="277558" y="149936"/>
                </a:lnTo>
                <a:close/>
              </a:path>
              <a:path w="351154" h="272415">
                <a:moveTo>
                  <a:pt x="350532" y="272186"/>
                </a:moveTo>
                <a:lnTo>
                  <a:pt x="307708" y="201282"/>
                </a:lnTo>
                <a:lnTo>
                  <a:pt x="285496" y="201282"/>
                </a:lnTo>
                <a:lnTo>
                  <a:pt x="329120" y="272186"/>
                </a:lnTo>
                <a:lnTo>
                  <a:pt x="350532" y="272186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11809" y="6296659"/>
            <a:ext cx="20923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2F2F2F"/>
                </a:solidFill>
                <a:latin typeface="Calibri"/>
                <a:cs typeface="Calibri"/>
              </a:rPr>
              <a:t>Versão</a:t>
            </a:r>
            <a:r>
              <a:rPr sz="1400" b="1" spc="-6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F2F2F"/>
                </a:solidFill>
                <a:latin typeface="Calibri"/>
                <a:cs typeface="Calibri"/>
              </a:rPr>
              <a:t>1.0</a:t>
            </a:r>
            <a:r>
              <a:rPr sz="1400" b="1" spc="-2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F2F2F"/>
                </a:solidFill>
                <a:latin typeface="Calibri"/>
                <a:cs typeface="Calibri"/>
              </a:rPr>
              <a:t>–</a:t>
            </a:r>
            <a:r>
              <a:rPr sz="1400" b="1" spc="-3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F2F2F"/>
                </a:solidFill>
                <a:latin typeface="Calibri"/>
                <a:cs typeface="Calibri"/>
              </a:rPr>
              <a:t>Fevereiro/2021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65235" y="6141720"/>
            <a:ext cx="779145" cy="410209"/>
          </a:xfrm>
          <a:prstGeom prst="rect">
            <a:avLst/>
          </a:prstGeom>
          <a:solidFill>
            <a:srgbClr val="EF255D"/>
          </a:solidFill>
        </p:spPr>
        <p:txBody>
          <a:bodyPr vert="horz" wrap="square" lIns="0" tIns="95885" rIns="0" bIns="0" rtlCol="0">
            <a:spAutoFit/>
          </a:bodyPr>
          <a:lstStyle/>
          <a:p>
            <a:pPr marL="194310">
              <a:lnSpc>
                <a:spcPct val="100000"/>
              </a:lnSpc>
              <a:spcBef>
                <a:spcPts val="755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54380" y="3140964"/>
            <a:ext cx="45720" cy="1290955"/>
          </a:xfrm>
          <a:custGeom>
            <a:avLst/>
            <a:gdLst/>
            <a:ahLst/>
            <a:cxnLst/>
            <a:rect l="l" t="t" r="r" b="b"/>
            <a:pathLst>
              <a:path w="45720" h="1290954">
                <a:moveTo>
                  <a:pt x="45720" y="0"/>
                </a:moveTo>
                <a:lnTo>
                  <a:pt x="0" y="0"/>
                </a:lnTo>
                <a:lnTo>
                  <a:pt x="0" y="1290828"/>
                </a:lnTo>
                <a:lnTo>
                  <a:pt x="45720" y="1290828"/>
                </a:lnTo>
                <a:lnTo>
                  <a:pt x="45720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81227" y="3287516"/>
            <a:ext cx="5451475" cy="1029969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780"/>
              </a:spcBef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ENGENHARIA</a:t>
            </a:r>
            <a:r>
              <a:rPr sz="32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sz="32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30" dirty="0">
                <a:solidFill>
                  <a:srgbClr val="FFFFFF"/>
                </a:solidFill>
                <a:latin typeface="Calibri"/>
                <a:cs typeface="Calibri"/>
              </a:rPr>
              <a:t>COMPUTAÇÃO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HUMAN-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COMPUTER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INTERACTION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29690" y="4532757"/>
            <a:ext cx="2653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PROF.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HENRIQUE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CORDEIRO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Imagem 50">
            <a:extLst>
              <a:ext uri="{FF2B5EF4-FFF2-40B4-BE49-F238E27FC236}">
                <a16:creationId xmlns:a16="http://schemas.microsoft.com/office/drawing/2014/main" id="{F85C763A-9A5A-23D1-59A8-71024A68597C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447800"/>
            <a:ext cx="9144000" cy="522514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65048" y="842772"/>
            <a:ext cx="71755" cy="285115"/>
          </a:xfrm>
          <a:custGeom>
            <a:avLst/>
            <a:gdLst/>
            <a:ahLst/>
            <a:cxnLst/>
            <a:rect l="l" t="t" r="r" b="b"/>
            <a:pathLst>
              <a:path w="71755" h="285115">
                <a:moveTo>
                  <a:pt x="71627" y="0"/>
                </a:moveTo>
                <a:lnTo>
                  <a:pt x="0" y="0"/>
                </a:lnTo>
                <a:lnTo>
                  <a:pt x="0" y="284988"/>
                </a:lnTo>
                <a:lnTo>
                  <a:pt x="71627" y="284988"/>
                </a:lnTo>
                <a:lnTo>
                  <a:pt x="71627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38758" y="814603"/>
            <a:ext cx="335597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CONTEÚDO</a:t>
            </a:r>
            <a:r>
              <a:rPr sz="2800" b="1" spc="-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DO</a:t>
            </a:r>
            <a:r>
              <a:rPr sz="2800" b="1" spc="-7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2F2F2F"/>
                </a:solidFill>
                <a:latin typeface="Calibri"/>
                <a:cs typeface="Calibri"/>
              </a:rPr>
              <a:t>CURSO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5048" y="704087"/>
            <a:ext cx="5579745" cy="523240"/>
            <a:chOff x="765048" y="704087"/>
            <a:chExt cx="5579745" cy="523240"/>
          </a:xfrm>
        </p:grpSpPr>
        <p:sp>
          <p:nvSpPr>
            <p:cNvPr id="6" name="object 6"/>
            <p:cNvSpPr/>
            <p:nvPr/>
          </p:nvSpPr>
          <p:spPr>
            <a:xfrm>
              <a:off x="765048" y="804671"/>
              <a:ext cx="71755" cy="285115"/>
            </a:xfrm>
            <a:custGeom>
              <a:avLst/>
              <a:gdLst/>
              <a:ahLst/>
              <a:cxnLst/>
              <a:rect l="l" t="t" r="r" b="b"/>
              <a:pathLst>
                <a:path w="71755" h="285115">
                  <a:moveTo>
                    <a:pt x="71627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71627" y="2849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2772" y="704087"/>
              <a:ext cx="5501640" cy="523240"/>
            </a:xfrm>
            <a:custGeom>
              <a:avLst/>
              <a:gdLst/>
              <a:ahLst/>
              <a:cxnLst/>
              <a:rect l="l" t="t" r="r" b="b"/>
              <a:pathLst>
                <a:path w="5501640" h="523240">
                  <a:moveTo>
                    <a:pt x="5501640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5501640" y="522731"/>
                  </a:lnTo>
                  <a:lnTo>
                    <a:pt x="5501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22121" y="714248"/>
            <a:ext cx="52006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dirty="0"/>
              <a:t>AVALIAÇÃO DA IHC</a:t>
            </a:r>
            <a:endParaRPr spc="-2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7CB02E1-766A-EDFE-FC66-6333B96A90BE}"/>
              </a:ext>
            </a:extLst>
          </p:cNvPr>
          <p:cNvSpPr txBox="1"/>
          <p:nvPr/>
        </p:nvSpPr>
        <p:spPr>
          <a:xfrm>
            <a:off x="922121" y="2644170"/>
            <a:ext cx="74355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Ferramentas de avaliação das Interações </a:t>
            </a:r>
            <a:endParaRPr lang="pt-BR" sz="4800" b="1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7585298-6960-0027-96FD-64FEDADCE4DC}"/>
              </a:ext>
            </a:extLst>
          </p:cNvPr>
          <p:cNvSpPr txBox="1"/>
          <p:nvPr/>
        </p:nvSpPr>
        <p:spPr>
          <a:xfrm>
            <a:off x="1013358" y="4661577"/>
            <a:ext cx="69969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cap="small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Análise da IHC e da UX</a:t>
            </a:r>
            <a:endParaRPr lang="pt-BR" sz="4000" b="1" cap="small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E40DB-2A94-AD98-5A3A-9F188EE40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Imagem 50">
            <a:extLst>
              <a:ext uri="{FF2B5EF4-FFF2-40B4-BE49-F238E27FC236}">
                <a16:creationId xmlns:a16="http://schemas.microsoft.com/office/drawing/2014/main" id="{11C75B31-9854-75AA-C4A7-23877D009DAA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447800"/>
            <a:ext cx="9144000" cy="5225143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C426457B-AD8E-E82D-ACF1-AB8691C91AED}"/>
              </a:ext>
            </a:extLst>
          </p:cNvPr>
          <p:cNvSpPr/>
          <p:nvPr/>
        </p:nvSpPr>
        <p:spPr>
          <a:xfrm>
            <a:off x="765048" y="842772"/>
            <a:ext cx="71755" cy="285115"/>
          </a:xfrm>
          <a:custGeom>
            <a:avLst/>
            <a:gdLst/>
            <a:ahLst/>
            <a:cxnLst/>
            <a:rect l="l" t="t" r="r" b="b"/>
            <a:pathLst>
              <a:path w="71755" h="285115">
                <a:moveTo>
                  <a:pt x="71627" y="0"/>
                </a:moveTo>
                <a:lnTo>
                  <a:pt x="0" y="0"/>
                </a:lnTo>
                <a:lnTo>
                  <a:pt x="0" y="284988"/>
                </a:lnTo>
                <a:lnTo>
                  <a:pt x="71627" y="284988"/>
                </a:lnTo>
                <a:lnTo>
                  <a:pt x="71627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343C710-2CA6-B03E-BFDF-C2663F56C50D}"/>
              </a:ext>
            </a:extLst>
          </p:cNvPr>
          <p:cNvSpPr txBox="1"/>
          <p:nvPr/>
        </p:nvSpPr>
        <p:spPr>
          <a:xfrm>
            <a:off x="1038758" y="814603"/>
            <a:ext cx="335597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CONTEÚDO</a:t>
            </a:r>
            <a:r>
              <a:rPr kumimoji="0" sz="2800" b="1" i="0" u="none" strike="noStrike" kern="1200" cap="none" spc="-5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</a:t>
            </a:r>
            <a:r>
              <a:rPr kumimoji="0" sz="2800" b="1" i="0" u="none" strike="noStrike" kern="1200" cap="none" spc="-7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CURSO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117F3206-21F1-729B-DBCB-123CB8630B50}"/>
              </a:ext>
            </a:extLst>
          </p:cNvPr>
          <p:cNvGrpSpPr/>
          <p:nvPr/>
        </p:nvGrpSpPr>
        <p:grpSpPr>
          <a:xfrm>
            <a:off x="765048" y="704087"/>
            <a:ext cx="5579745" cy="523240"/>
            <a:chOff x="765048" y="704087"/>
            <a:chExt cx="5579745" cy="52324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3EFF6F95-35C8-3291-B769-0F97500352AB}"/>
                </a:ext>
              </a:extLst>
            </p:cNvPr>
            <p:cNvSpPr/>
            <p:nvPr/>
          </p:nvSpPr>
          <p:spPr>
            <a:xfrm>
              <a:off x="765048" y="804671"/>
              <a:ext cx="71755" cy="285115"/>
            </a:xfrm>
            <a:custGeom>
              <a:avLst/>
              <a:gdLst/>
              <a:ahLst/>
              <a:cxnLst/>
              <a:rect l="l" t="t" r="r" b="b"/>
              <a:pathLst>
                <a:path w="71755" h="285115">
                  <a:moveTo>
                    <a:pt x="71627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71627" y="2849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DAD34ABC-C0B8-63EA-5ADD-86A8073FFF4C}"/>
                </a:ext>
              </a:extLst>
            </p:cNvPr>
            <p:cNvSpPr/>
            <p:nvPr/>
          </p:nvSpPr>
          <p:spPr>
            <a:xfrm>
              <a:off x="842772" y="704087"/>
              <a:ext cx="5501640" cy="523240"/>
            </a:xfrm>
            <a:custGeom>
              <a:avLst/>
              <a:gdLst/>
              <a:ahLst/>
              <a:cxnLst/>
              <a:rect l="l" t="t" r="r" b="b"/>
              <a:pathLst>
                <a:path w="5501640" h="523240">
                  <a:moveTo>
                    <a:pt x="5501640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5501640" y="522731"/>
                  </a:lnTo>
                  <a:lnTo>
                    <a:pt x="5501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Imagem 8">
            <a:extLst>
              <a:ext uri="{FF2B5EF4-FFF2-40B4-BE49-F238E27FC236}">
                <a16:creationId xmlns:a16="http://schemas.microsoft.com/office/drawing/2014/main" id="{60EF4E19-9073-35FF-89FC-E6C94AC2F7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6016" t="-6017" r="-2441" b="-6017"/>
          <a:stretch>
            <a:fillRect/>
          </a:stretch>
        </p:blipFill>
        <p:spPr>
          <a:xfrm>
            <a:off x="594032" y="2471636"/>
            <a:ext cx="8016568" cy="3637700"/>
          </a:xfrm>
          <a:prstGeom prst="rect">
            <a:avLst/>
          </a:prstGeom>
          <a:solidFill>
            <a:srgbClr val="FFFFFF">
              <a:alpha val="85098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CDEE739D-C7EB-44EC-912E-AE28199C1A78}"/>
              </a:ext>
            </a:extLst>
          </p:cNvPr>
          <p:cNvSpPr txBox="1"/>
          <p:nvPr/>
        </p:nvSpPr>
        <p:spPr>
          <a:xfrm>
            <a:off x="948894" y="1789498"/>
            <a:ext cx="73030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sm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QUAL SUA PROPOSTA DE UX  (USER EXPERIENCE) ?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13DB7D2-05FE-B457-27C5-79D0F81D0C53}"/>
              </a:ext>
            </a:extLst>
          </p:cNvPr>
          <p:cNvSpPr txBox="1"/>
          <p:nvPr/>
        </p:nvSpPr>
        <p:spPr>
          <a:xfrm>
            <a:off x="594032" y="5791200"/>
            <a:ext cx="2210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Adaptado de </a:t>
            </a:r>
            <a:r>
              <a:rPr kumimoji="0" lang="pt-BR" sz="12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Whitten</a:t>
            </a:r>
            <a:r>
              <a:rPr kumimoji="0" lang="pt-BR" sz="12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(2001)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3E4C97F-9F1A-221E-B01D-312320C63774}"/>
              </a:ext>
            </a:extLst>
          </p:cNvPr>
          <p:cNvSpPr/>
          <p:nvPr/>
        </p:nvSpPr>
        <p:spPr>
          <a:xfrm>
            <a:off x="813070" y="731904"/>
            <a:ext cx="7332905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IDEALIZANDO A EXPERIÊNCIA DO USUÁRIO (</a:t>
            </a:r>
            <a:r>
              <a:rPr kumimoji="0" lang="pt-BR" sz="2400" b="1" i="0" u="none" strike="noStrike" kern="1200" cap="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ux</a:t>
            </a:r>
            <a:r>
              <a:rPr kumimoji="0" lang="pt-BR" sz="2400" b="1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Design)</a:t>
            </a:r>
            <a:endParaRPr kumimoji="0" lang="pt-B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6063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5E1FEC8-ADBE-4B5D-9A23-05162DB74A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2361" t="3378" r="4152" b="3801"/>
          <a:stretch/>
        </p:blipFill>
        <p:spPr>
          <a:xfrm>
            <a:off x="2286000" y="1806241"/>
            <a:ext cx="4380272" cy="3347369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D40A522-9527-BD3A-321B-3944B2392493}"/>
              </a:ext>
            </a:extLst>
          </p:cNvPr>
          <p:cNvSpPr txBox="1"/>
          <p:nvPr/>
        </p:nvSpPr>
        <p:spPr>
          <a:xfrm>
            <a:off x="956056" y="5716092"/>
            <a:ext cx="73036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cap="small" dirty="0"/>
              <a:t>Aprendizagem por Experimentação Rápida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564F57A-7821-8F73-5CD8-1B1E8A213563}"/>
              </a:ext>
            </a:extLst>
          </p:cNvPr>
          <p:cNvSpPr txBox="1"/>
          <p:nvPr/>
        </p:nvSpPr>
        <p:spPr>
          <a:xfrm>
            <a:off x="3518180" y="1384618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accent6">
                    <a:lumMod val="75000"/>
                  </a:schemeClr>
                </a:solidFill>
              </a:rPr>
              <a:t>Hipóteses de UX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87ECA31-B97C-5DD0-4EBB-37FBDA5B29EB}"/>
              </a:ext>
            </a:extLst>
          </p:cNvPr>
          <p:cNvSpPr txBox="1"/>
          <p:nvPr/>
        </p:nvSpPr>
        <p:spPr>
          <a:xfrm>
            <a:off x="6112274" y="4560779"/>
            <a:ext cx="10967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C00000"/>
                </a:solidFill>
              </a:rPr>
              <a:t>Protótipo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BF57923-F089-7EB5-32CE-4D361004C5A2}"/>
              </a:ext>
            </a:extLst>
          </p:cNvPr>
          <p:cNvSpPr txBox="1"/>
          <p:nvPr/>
        </p:nvSpPr>
        <p:spPr>
          <a:xfrm>
            <a:off x="4018002" y="5008206"/>
            <a:ext cx="11079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accent1"/>
                </a:solidFill>
              </a:rPr>
              <a:t>Plano de Teste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FE80522-9376-8C8C-6020-660ABC1923F4}"/>
              </a:ext>
            </a:extLst>
          </p:cNvPr>
          <p:cNvSpPr txBox="1"/>
          <p:nvPr/>
        </p:nvSpPr>
        <p:spPr>
          <a:xfrm>
            <a:off x="1600228" y="2963878"/>
            <a:ext cx="1425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accent6">
                    <a:lumMod val="75000"/>
                  </a:schemeClr>
                </a:solidFill>
              </a:rPr>
              <a:t>Aprendizado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7D2C49A-0CC8-B5A9-D5E0-0DBEA624D5D1}"/>
              </a:ext>
            </a:extLst>
          </p:cNvPr>
          <p:cNvSpPr txBox="1"/>
          <p:nvPr/>
        </p:nvSpPr>
        <p:spPr>
          <a:xfrm>
            <a:off x="6255742" y="2733741"/>
            <a:ext cx="86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C00000"/>
                </a:solidFill>
              </a:rPr>
              <a:t>Design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25705C1-DA9A-6367-32A4-BA43F0E398EB}"/>
              </a:ext>
            </a:extLst>
          </p:cNvPr>
          <p:cNvSpPr txBox="1"/>
          <p:nvPr/>
        </p:nvSpPr>
        <p:spPr>
          <a:xfrm>
            <a:off x="1736484" y="4615917"/>
            <a:ext cx="11416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accent1"/>
                </a:solidFill>
              </a:rPr>
              <a:t>Validação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708EB9E-AF0A-AC0B-3AC9-7D66EEB49839}"/>
              </a:ext>
            </a:extLst>
          </p:cNvPr>
          <p:cNvSpPr txBox="1"/>
          <p:nvPr/>
        </p:nvSpPr>
        <p:spPr>
          <a:xfrm>
            <a:off x="1240534" y="6217019"/>
            <a:ext cx="64712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dirty="0">
                <a:solidFill>
                  <a:srgbClr val="C00000"/>
                </a:solidFill>
              </a:rPr>
              <a:t>Não exagere no design inicial e siga os princípios da melhoria contínua e iterativa do desenvolvimento Lean</a:t>
            </a:r>
          </a:p>
        </p:txBody>
      </p:sp>
      <p:grpSp>
        <p:nvGrpSpPr>
          <p:cNvPr id="16" name="object 5">
            <a:extLst>
              <a:ext uri="{FF2B5EF4-FFF2-40B4-BE49-F238E27FC236}">
                <a16:creationId xmlns:a16="http://schemas.microsoft.com/office/drawing/2014/main" id="{9E63F289-5DDE-6D47-9260-BC809374424B}"/>
              </a:ext>
            </a:extLst>
          </p:cNvPr>
          <p:cNvGrpSpPr/>
          <p:nvPr/>
        </p:nvGrpSpPr>
        <p:grpSpPr>
          <a:xfrm>
            <a:off x="765048" y="704087"/>
            <a:ext cx="5579745" cy="523240"/>
            <a:chOff x="765048" y="704087"/>
            <a:chExt cx="5579745" cy="523240"/>
          </a:xfrm>
        </p:grpSpPr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F49700B2-C703-6B90-A8D1-43CB3B752B2D}"/>
                </a:ext>
              </a:extLst>
            </p:cNvPr>
            <p:cNvSpPr/>
            <p:nvPr/>
          </p:nvSpPr>
          <p:spPr>
            <a:xfrm>
              <a:off x="765048" y="804671"/>
              <a:ext cx="71755" cy="285115"/>
            </a:xfrm>
            <a:custGeom>
              <a:avLst/>
              <a:gdLst/>
              <a:ahLst/>
              <a:cxnLst/>
              <a:rect l="l" t="t" r="r" b="b"/>
              <a:pathLst>
                <a:path w="71755" h="285115">
                  <a:moveTo>
                    <a:pt x="71627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71627" y="2849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7">
              <a:extLst>
                <a:ext uri="{FF2B5EF4-FFF2-40B4-BE49-F238E27FC236}">
                  <a16:creationId xmlns:a16="http://schemas.microsoft.com/office/drawing/2014/main" id="{E19D491A-D431-D573-EF5C-D5CA63B92DAD}"/>
                </a:ext>
              </a:extLst>
            </p:cNvPr>
            <p:cNvSpPr/>
            <p:nvPr/>
          </p:nvSpPr>
          <p:spPr>
            <a:xfrm>
              <a:off x="842772" y="704087"/>
              <a:ext cx="5501640" cy="523240"/>
            </a:xfrm>
            <a:custGeom>
              <a:avLst/>
              <a:gdLst/>
              <a:ahLst/>
              <a:cxnLst/>
              <a:rect l="l" t="t" r="r" b="b"/>
              <a:pathLst>
                <a:path w="5501640" h="523240">
                  <a:moveTo>
                    <a:pt x="5501640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5501640" y="522731"/>
                  </a:lnTo>
                  <a:lnTo>
                    <a:pt x="5501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E2BC0658-655D-4776-87FA-B538C2C0D26F}"/>
              </a:ext>
            </a:extLst>
          </p:cNvPr>
          <p:cNvSpPr txBox="1"/>
          <p:nvPr/>
        </p:nvSpPr>
        <p:spPr>
          <a:xfrm>
            <a:off x="836803" y="704107"/>
            <a:ext cx="6874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800" b="1" cap="all" dirty="0">
                <a:latin typeface="Gotham HTF"/>
              </a:rPr>
              <a:t>DESIGN e avaliação DA </a:t>
            </a:r>
            <a:r>
              <a:rPr lang="pt-BR" sz="2800" b="1" cap="all" dirty="0" err="1">
                <a:latin typeface="Gotham HTF"/>
              </a:rPr>
              <a:t>user</a:t>
            </a:r>
            <a:r>
              <a:rPr lang="pt-BR" sz="2800" b="1" cap="all" dirty="0">
                <a:latin typeface="Gotham HTF"/>
              </a:rPr>
              <a:t> </a:t>
            </a:r>
            <a:r>
              <a:rPr lang="pt-BR" sz="2800" b="1" cap="all" dirty="0" err="1">
                <a:latin typeface="Gotham HTF"/>
              </a:rPr>
              <a:t>experience</a:t>
            </a:r>
            <a:endParaRPr lang="pt-BR" sz="2800" b="1" cap="all" dirty="0">
              <a:latin typeface="Gotham HTF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0C3F76B-E10E-C083-870C-78B14864970C}"/>
              </a:ext>
            </a:extLst>
          </p:cNvPr>
          <p:cNvSpPr txBox="1"/>
          <p:nvPr/>
        </p:nvSpPr>
        <p:spPr>
          <a:xfrm>
            <a:off x="3518179" y="1229160"/>
            <a:ext cx="1915909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Revisão das</a:t>
            </a:r>
          </a:p>
          <a:p>
            <a:pPr algn="ctr"/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Hipóteses de UX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ACE1C12-FC13-0BF5-AE49-B7DACE77A61D}"/>
              </a:ext>
            </a:extLst>
          </p:cNvPr>
          <p:cNvSpPr txBox="1"/>
          <p:nvPr/>
        </p:nvSpPr>
        <p:spPr>
          <a:xfrm>
            <a:off x="6112274" y="2733741"/>
            <a:ext cx="1106393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sz="1600" b="1" dirty="0" err="1">
                <a:solidFill>
                  <a:srgbClr val="C00000"/>
                </a:solidFill>
              </a:rPr>
              <a:t>Redesign</a:t>
            </a:r>
            <a:endParaRPr lang="pt-BR" sz="1600" b="1" dirty="0">
              <a:solidFill>
                <a:srgbClr val="C0000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29D63CF-56B9-0A52-0ABD-AA568D966251}"/>
              </a:ext>
            </a:extLst>
          </p:cNvPr>
          <p:cNvSpPr txBox="1"/>
          <p:nvPr/>
        </p:nvSpPr>
        <p:spPr>
          <a:xfrm>
            <a:off x="6062106" y="4476254"/>
            <a:ext cx="1096775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>
                <a:solidFill>
                  <a:srgbClr val="C00000"/>
                </a:solidFill>
              </a:rPr>
              <a:t>Protótipo</a:t>
            </a:r>
          </a:p>
          <a:p>
            <a:pPr algn="ctr"/>
            <a:r>
              <a:rPr lang="pt-BR" sz="1600" b="1" dirty="0">
                <a:solidFill>
                  <a:srgbClr val="C00000"/>
                </a:solidFill>
              </a:rPr>
              <a:t>refinado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325A963-79AB-5727-EB36-D1C8A8A93F84}"/>
              </a:ext>
            </a:extLst>
          </p:cNvPr>
          <p:cNvSpPr txBox="1"/>
          <p:nvPr/>
        </p:nvSpPr>
        <p:spPr>
          <a:xfrm>
            <a:off x="3642386" y="5044065"/>
            <a:ext cx="1667494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accent1"/>
                </a:solidFill>
              </a:rPr>
              <a:t>Revisão do Plano de Teste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68357E9-5B1B-F888-5BF7-616BB3BBB0BC}"/>
              </a:ext>
            </a:extLst>
          </p:cNvPr>
          <p:cNvSpPr txBox="1"/>
          <p:nvPr/>
        </p:nvSpPr>
        <p:spPr>
          <a:xfrm>
            <a:off x="1758512" y="4583827"/>
            <a:ext cx="114165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accent1"/>
                </a:solidFill>
              </a:rPr>
              <a:t>Nova</a:t>
            </a:r>
          </a:p>
          <a:p>
            <a:pPr algn="ctr"/>
            <a:r>
              <a:rPr lang="pt-BR" sz="1600" b="1" dirty="0">
                <a:solidFill>
                  <a:schemeClr val="accent1"/>
                </a:solidFill>
              </a:rPr>
              <a:t>Validação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5B148C0-E9F4-DC9D-8F56-23E0D8E4EE4E}"/>
              </a:ext>
            </a:extLst>
          </p:cNvPr>
          <p:cNvSpPr txBox="1"/>
          <p:nvPr/>
        </p:nvSpPr>
        <p:spPr>
          <a:xfrm>
            <a:off x="1573305" y="2779907"/>
            <a:ext cx="142539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accent6">
                    <a:lumMod val="75000"/>
                  </a:schemeClr>
                </a:solidFill>
              </a:rPr>
              <a:t>Novo </a:t>
            </a:r>
          </a:p>
          <a:p>
            <a:pPr algn="ctr"/>
            <a:r>
              <a:rPr lang="pt-BR" sz="1600" b="1" dirty="0">
                <a:solidFill>
                  <a:schemeClr val="accent6">
                    <a:lumMod val="75000"/>
                  </a:schemeClr>
                </a:solidFill>
              </a:rPr>
              <a:t>Aprendizado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2628BE5-F737-1680-4B07-7139DCB30B32}"/>
              </a:ext>
            </a:extLst>
          </p:cNvPr>
          <p:cNvSpPr txBox="1"/>
          <p:nvPr/>
        </p:nvSpPr>
        <p:spPr>
          <a:xfrm>
            <a:off x="6058058" y="4560779"/>
            <a:ext cx="119776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rgbClr val="C00000"/>
                </a:solidFill>
              </a:rPr>
              <a:t>MVP !!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6B443A1B-3862-7336-631D-FCE29ED258AD}"/>
              </a:ext>
            </a:extLst>
          </p:cNvPr>
          <p:cNvSpPr txBox="1"/>
          <p:nvPr/>
        </p:nvSpPr>
        <p:spPr>
          <a:xfrm>
            <a:off x="5963195" y="2631286"/>
            <a:ext cx="1197764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rgbClr val="C00000"/>
                </a:solidFill>
              </a:rPr>
              <a:t>Refino do produto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B87A547-B327-0D86-FDAC-F9C452D196A0}"/>
              </a:ext>
            </a:extLst>
          </p:cNvPr>
          <p:cNvSpPr txBox="1"/>
          <p:nvPr/>
        </p:nvSpPr>
        <p:spPr>
          <a:xfrm>
            <a:off x="3518178" y="1246118"/>
            <a:ext cx="191591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accent6">
                    <a:lumMod val="75000"/>
                  </a:schemeClr>
                </a:solidFill>
              </a:rPr>
              <a:t>Revisão final</a:t>
            </a:r>
          </a:p>
          <a:p>
            <a:pPr algn="ctr"/>
            <a:r>
              <a:rPr lang="pt-BR" b="1" dirty="0">
                <a:solidFill>
                  <a:schemeClr val="accent6">
                    <a:lumMod val="75000"/>
                  </a:schemeClr>
                </a:solidFill>
              </a:rPr>
              <a:t> da UX</a:t>
            </a:r>
          </a:p>
        </p:txBody>
      </p:sp>
    </p:spTree>
    <p:extLst>
      <p:ext uri="{BB962C8B-B14F-4D97-AF65-F5344CB8AC3E}">
        <p14:creationId xmlns:p14="http://schemas.microsoft.com/office/powerpoint/2010/main" val="1842125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9" grpId="1"/>
      <p:bldP spid="10" grpId="0"/>
      <p:bldP spid="10" grpId="1"/>
      <p:bldP spid="11" grpId="0"/>
      <p:bldP spid="11" grpId="1"/>
      <p:bldP spid="12" grpId="0"/>
      <p:bldP spid="13" grpId="0"/>
      <p:bldP spid="13" grpId="1"/>
      <p:bldP spid="15" grpId="0"/>
      <p:bldP spid="19" grpId="0" animBg="1"/>
      <p:bldP spid="20" grpId="0" animBg="1"/>
      <p:bldP spid="2" grpId="0" animBg="1"/>
      <p:bldP spid="2" grpId="1" animBg="1"/>
      <p:bldP spid="3" grpId="0" animBg="1"/>
      <p:bldP spid="3" grpId="1" animBg="1"/>
      <p:bldP spid="4" grpId="0" animBg="1"/>
      <p:bldP spid="4" grpId="1" animBg="1"/>
      <p:bldP spid="14" grpId="0" animBg="1"/>
      <p:bldP spid="14" grpId="1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Imagem 63">
            <a:extLst>
              <a:ext uri="{FF2B5EF4-FFF2-40B4-BE49-F238E27FC236}">
                <a16:creationId xmlns:a16="http://schemas.microsoft.com/office/drawing/2014/main" id="{CA03EF57-D718-FB81-19FB-2A2315A66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447800"/>
            <a:ext cx="9144000" cy="5225143"/>
          </a:xfrm>
          <a:prstGeom prst="rect">
            <a:avLst/>
          </a:prstGeom>
        </p:spPr>
      </p:pic>
      <p:pic>
        <p:nvPicPr>
          <p:cNvPr id="51" name="Imagem 50">
            <a:extLst>
              <a:ext uri="{FF2B5EF4-FFF2-40B4-BE49-F238E27FC236}">
                <a16:creationId xmlns:a16="http://schemas.microsoft.com/office/drawing/2014/main" id="{F85C763A-9A5A-23D1-59A8-71024A68597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0" y="1447800"/>
            <a:ext cx="9144000" cy="522514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65048" y="842772"/>
            <a:ext cx="71755" cy="285115"/>
          </a:xfrm>
          <a:custGeom>
            <a:avLst/>
            <a:gdLst/>
            <a:ahLst/>
            <a:cxnLst/>
            <a:rect l="l" t="t" r="r" b="b"/>
            <a:pathLst>
              <a:path w="71755" h="285115">
                <a:moveTo>
                  <a:pt x="71627" y="0"/>
                </a:moveTo>
                <a:lnTo>
                  <a:pt x="0" y="0"/>
                </a:lnTo>
                <a:lnTo>
                  <a:pt x="0" y="284988"/>
                </a:lnTo>
                <a:lnTo>
                  <a:pt x="71627" y="284988"/>
                </a:lnTo>
                <a:lnTo>
                  <a:pt x="71627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38758" y="814603"/>
            <a:ext cx="335597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CONTEÚDO</a:t>
            </a:r>
            <a:r>
              <a:rPr sz="2800" b="1" spc="-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DO</a:t>
            </a:r>
            <a:r>
              <a:rPr sz="2800" b="1" spc="-7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2F2F2F"/>
                </a:solidFill>
                <a:latin typeface="Calibri"/>
                <a:cs typeface="Calibri"/>
              </a:rPr>
              <a:t>CURSO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5048" y="704087"/>
            <a:ext cx="5579745" cy="523240"/>
            <a:chOff x="765048" y="704087"/>
            <a:chExt cx="5579745" cy="523240"/>
          </a:xfrm>
        </p:grpSpPr>
        <p:sp>
          <p:nvSpPr>
            <p:cNvPr id="6" name="object 6"/>
            <p:cNvSpPr/>
            <p:nvPr/>
          </p:nvSpPr>
          <p:spPr>
            <a:xfrm>
              <a:off x="765048" y="804671"/>
              <a:ext cx="71755" cy="285115"/>
            </a:xfrm>
            <a:custGeom>
              <a:avLst/>
              <a:gdLst/>
              <a:ahLst/>
              <a:cxnLst/>
              <a:rect l="l" t="t" r="r" b="b"/>
              <a:pathLst>
                <a:path w="71755" h="285115">
                  <a:moveTo>
                    <a:pt x="71627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71627" y="2849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2772" y="704087"/>
              <a:ext cx="5501640" cy="523240"/>
            </a:xfrm>
            <a:custGeom>
              <a:avLst/>
              <a:gdLst/>
              <a:ahLst/>
              <a:cxnLst/>
              <a:rect l="l" t="t" r="r" b="b"/>
              <a:pathLst>
                <a:path w="5501640" h="523240">
                  <a:moveTo>
                    <a:pt x="5501640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5501640" y="522731"/>
                  </a:lnTo>
                  <a:lnTo>
                    <a:pt x="5501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22121" y="714248"/>
            <a:ext cx="52006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dirty="0"/>
              <a:t>AVALIAÇÃO DA IHC</a:t>
            </a:r>
            <a:endParaRPr spc="-20" dirty="0"/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478A1D0B-6DAB-8A65-CC4B-DDDDFA0787E5}"/>
              </a:ext>
            </a:extLst>
          </p:cNvPr>
          <p:cNvSpPr txBox="1"/>
          <p:nvPr/>
        </p:nvSpPr>
        <p:spPr>
          <a:xfrm>
            <a:off x="263956" y="1981200"/>
            <a:ext cx="88038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Avaliar a qualidade da solução e da interação</a:t>
            </a:r>
            <a:endParaRPr lang="pt-BR" sz="3200" b="1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3A129883-BFC7-DFF4-4683-D05EA38682D3}"/>
              </a:ext>
            </a:extLst>
          </p:cNvPr>
          <p:cNvSpPr txBox="1"/>
          <p:nvPr/>
        </p:nvSpPr>
        <p:spPr>
          <a:xfrm>
            <a:off x="451712" y="2779829"/>
            <a:ext cx="84283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Confirmar as hipóteses de Design</a:t>
            </a:r>
            <a:endParaRPr lang="pt-BR" sz="3200" b="1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32BB6D4F-988E-373B-7ED4-BFB60EC8EFEA}"/>
              </a:ext>
            </a:extLst>
          </p:cNvPr>
          <p:cNvSpPr txBox="1"/>
          <p:nvPr/>
        </p:nvSpPr>
        <p:spPr>
          <a:xfrm>
            <a:off x="263956" y="3578458"/>
            <a:ext cx="88038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Conhecer a Percepção dos Usuários</a:t>
            </a:r>
            <a:endParaRPr lang="pt-BR" sz="3200" b="1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5ADF2DB6-1BD1-230B-67F8-E55E1DFAA68E}"/>
              </a:ext>
            </a:extLst>
          </p:cNvPr>
          <p:cNvSpPr txBox="1"/>
          <p:nvPr/>
        </p:nvSpPr>
        <p:spPr>
          <a:xfrm>
            <a:off x="1084478" y="4377087"/>
            <a:ext cx="716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Avaliar preventivamente a UX</a:t>
            </a:r>
            <a:endParaRPr lang="pt-BR" sz="3200" b="1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FDB8D7EF-5F88-D865-97DA-3A601CCCD302}"/>
              </a:ext>
            </a:extLst>
          </p:cNvPr>
          <p:cNvSpPr txBox="1"/>
          <p:nvPr/>
        </p:nvSpPr>
        <p:spPr>
          <a:xfrm>
            <a:off x="263956" y="5175717"/>
            <a:ext cx="88038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Analises Qualitativas e Quantitativas</a:t>
            </a:r>
            <a:endParaRPr lang="pt-BR" sz="3200" b="1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A7877A01-0484-DDF6-2F86-60FF72993410}"/>
              </a:ext>
            </a:extLst>
          </p:cNvPr>
          <p:cNvSpPr/>
          <p:nvPr/>
        </p:nvSpPr>
        <p:spPr>
          <a:xfrm>
            <a:off x="451712" y="5879784"/>
            <a:ext cx="8077200" cy="52793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cap="small" dirty="0">
                <a:latin typeface="Aptos" panose="020B0004020202020204" pitchFamily="34" charset="0"/>
              </a:rPr>
              <a:t>Independente do tipo de Interação/Interface !!</a:t>
            </a:r>
            <a:endParaRPr lang="pt-BR" sz="2400" cap="small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60" grpId="0"/>
      <p:bldP spid="61" grpId="0"/>
      <p:bldP spid="62" grpId="0"/>
      <p:bldP spid="63" grpId="0"/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C3576-C753-267B-A8D8-5C4F55807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Imagem 50">
            <a:extLst>
              <a:ext uri="{FF2B5EF4-FFF2-40B4-BE49-F238E27FC236}">
                <a16:creationId xmlns:a16="http://schemas.microsoft.com/office/drawing/2014/main" id="{CA0A590E-67CB-5596-9DE4-F13F69F5C53F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447800"/>
            <a:ext cx="9144000" cy="5225143"/>
          </a:xfrm>
          <a:prstGeom prst="rect">
            <a:avLst/>
          </a:prstGeom>
        </p:spPr>
      </p:pic>
      <p:sp>
        <p:nvSpPr>
          <p:cNvPr id="58" name="Seta: Quádrupla 57">
            <a:extLst>
              <a:ext uri="{FF2B5EF4-FFF2-40B4-BE49-F238E27FC236}">
                <a16:creationId xmlns:a16="http://schemas.microsoft.com/office/drawing/2014/main" id="{C9638E21-6C5A-9526-60A2-CE7FC5AAB370}"/>
              </a:ext>
            </a:extLst>
          </p:cNvPr>
          <p:cNvSpPr/>
          <p:nvPr/>
        </p:nvSpPr>
        <p:spPr>
          <a:xfrm rot="2712357">
            <a:off x="2466882" y="1881595"/>
            <a:ext cx="4422394" cy="4422394"/>
          </a:xfrm>
          <a:prstGeom prst="quadArrow">
            <a:avLst>
              <a:gd name="adj1" fmla="val 14689"/>
              <a:gd name="adj2" fmla="val 17905"/>
              <a:gd name="adj3" fmla="val 22041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7C3236E-64E4-10BC-716F-F5FFB4FB7BB5}"/>
              </a:ext>
            </a:extLst>
          </p:cNvPr>
          <p:cNvSpPr/>
          <p:nvPr/>
        </p:nvSpPr>
        <p:spPr>
          <a:xfrm>
            <a:off x="765048" y="842772"/>
            <a:ext cx="71755" cy="285115"/>
          </a:xfrm>
          <a:custGeom>
            <a:avLst/>
            <a:gdLst/>
            <a:ahLst/>
            <a:cxnLst/>
            <a:rect l="l" t="t" r="r" b="b"/>
            <a:pathLst>
              <a:path w="71755" h="285115">
                <a:moveTo>
                  <a:pt x="71627" y="0"/>
                </a:moveTo>
                <a:lnTo>
                  <a:pt x="0" y="0"/>
                </a:lnTo>
                <a:lnTo>
                  <a:pt x="0" y="284988"/>
                </a:lnTo>
                <a:lnTo>
                  <a:pt x="71627" y="284988"/>
                </a:lnTo>
                <a:lnTo>
                  <a:pt x="71627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2CD4A47-8D87-5AB5-B054-1DFDD33A0E67}"/>
              </a:ext>
            </a:extLst>
          </p:cNvPr>
          <p:cNvSpPr txBox="1"/>
          <p:nvPr/>
        </p:nvSpPr>
        <p:spPr>
          <a:xfrm>
            <a:off x="1038758" y="814603"/>
            <a:ext cx="335597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CONTEÚDO</a:t>
            </a:r>
            <a:r>
              <a:rPr sz="2800" b="1" spc="-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DO</a:t>
            </a:r>
            <a:r>
              <a:rPr sz="2800" b="1" spc="-7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2F2F2F"/>
                </a:solidFill>
                <a:latin typeface="Calibri"/>
                <a:cs typeface="Calibri"/>
              </a:rPr>
              <a:t>CURSO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BF390C8F-3724-37E7-4841-1F35BFCFE94A}"/>
              </a:ext>
            </a:extLst>
          </p:cNvPr>
          <p:cNvGrpSpPr/>
          <p:nvPr/>
        </p:nvGrpSpPr>
        <p:grpSpPr>
          <a:xfrm>
            <a:off x="765048" y="704087"/>
            <a:ext cx="5579745" cy="523240"/>
            <a:chOff x="765048" y="704087"/>
            <a:chExt cx="5579745" cy="52324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42EFA0B6-6CE8-3614-3DB2-5CFA50445918}"/>
                </a:ext>
              </a:extLst>
            </p:cNvPr>
            <p:cNvSpPr/>
            <p:nvPr/>
          </p:nvSpPr>
          <p:spPr>
            <a:xfrm>
              <a:off x="765048" y="804671"/>
              <a:ext cx="71755" cy="285115"/>
            </a:xfrm>
            <a:custGeom>
              <a:avLst/>
              <a:gdLst/>
              <a:ahLst/>
              <a:cxnLst/>
              <a:rect l="l" t="t" r="r" b="b"/>
              <a:pathLst>
                <a:path w="71755" h="285115">
                  <a:moveTo>
                    <a:pt x="71627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71627" y="2849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3EE4127F-F06A-5226-1FA2-5D1A14E75616}"/>
                </a:ext>
              </a:extLst>
            </p:cNvPr>
            <p:cNvSpPr/>
            <p:nvPr/>
          </p:nvSpPr>
          <p:spPr>
            <a:xfrm>
              <a:off x="842772" y="704087"/>
              <a:ext cx="5501640" cy="523240"/>
            </a:xfrm>
            <a:custGeom>
              <a:avLst/>
              <a:gdLst/>
              <a:ahLst/>
              <a:cxnLst/>
              <a:rect l="l" t="t" r="r" b="b"/>
              <a:pathLst>
                <a:path w="5501640" h="523240">
                  <a:moveTo>
                    <a:pt x="5501640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5501640" y="522731"/>
                  </a:lnTo>
                  <a:lnTo>
                    <a:pt x="5501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E6E55F9-9DC6-DF73-76A3-3D3F65CA3F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121" y="714248"/>
            <a:ext cx="52006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dirty="0"/>
              <a:t>AVALIAÇÃO DA IHC</a:t>
            </a:r>
            <a:endParaRPr spc="-20" dirty="0"/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C6407451-1E32-B59E-C0FB-D3DB3A7B7B77}"/>
              </a:ext>
            </a:extLst>
          </p:cNvPr>
          <p:cNvSpPr txBox="1"/>
          <p:nvPr/>
        </p:nvSpPr>
        <p:spPr>
          <a:xfrm>
            <a:off x="1550994" y="2161001"/>
            <a:ext cx="2971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cap="small" dirty="0">
                <a:latin typeface="Aptos" panose="020B0004020202020204" pitchFamily="34" charset="0"/>
              </a:rPr>
              <a:t>Testes de </a:t>
            </a:r>
            <a:r>
              <a:rPr lang="pt-BR" sz="4000" b="1" cap="small" dirty="0">
                <a:latin typeface="Aptos" panose="020B0004020202020204" pitchFamily="34" charset="0"/>
              </a:rPr>
              <a:t>Usabilidade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12A8C057-EB7C-1368-E0BF-100E67573531}"/>
              </a:ext>
            </a:extLst>
          </p:cNvPr>
          <p:cNvSpPr txBox="1"/>
          <p:nvPr/>
        </p:nvSpPr>
        <p:spPr>
          <a:xfrm>
            <a:off x="5195006" y="2138037"/>
            <a:ext cx="25549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cap="small" dirty="0">
                <a:latin typeface="Aptos" panose="020B0004020202020204" pitchFamily="34" charset="0"/>
              </a:rPr>
              <a:t>Análise de </a:t>
            </a:r>
            <a:r>
              <a:rPr lang="pt-BR" sz="4000" b="1" cap="small" dirty="0">
                <a:latin typeface="Aptos" panose="020B0004020202020204" pitchFamily="34" charset="0"/>
              </a:rPr>
              <a:t>Métricas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0BF06226-AA06-0D6F-7C39-A527667D1D09}"/>
              </a:ext>
            </a:extLst>
          </p:cNvPr>
          <p:cNvSpPr txBox="1"/>
          <p:nvPr/>
        </p:nvSpPr>
        <p:spPr>
          <a:xfrm>
            <a:off x="1643580" y="4648200"/>
            <a:ext cx="27866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cap="small" dirty="0">
                <a:latin typeface="Aptos" panose="020B0004020202020204" pitchFamily="34" charset="0"/>
              </a:rPr>
              <a:t>Feedback</a:t>
            </a:r>
            <a:r>
              <a:rPr lang="pt-BR" sz="4000" cap="small" dirty="0">
                <a:latin typeface="Aptos" panose="020B0004020202020204" pitchFamily="34" charset="0"/>
              </a:rPr>
              <a:t> de Usuários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95C782D8-9F8D-8A4E-1689-C2CFCC3515BF}"/>
              </a:ext>
            </a:extLst>
          </p:cNvPr>
          <p:cNvSpPr txBox="1"/>
          <p:nvPr/>
        </p:nvSpPr>
        <p:spPr>
          <a:xfrm>
            <a:off x="5181600" y="4648200"/>
            <a:ext cx="25817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cap="small" dirty="0">
                <a:latin typeface="Aptos" panose="020B0004020202020204" pitchFamily="34" charset="0"/>
              </a:rPr>
              <a:t>Análise </a:t>
            </a:r>
            <a:r>
              <a:rPr lang="pt-BR" sz="4000" b="1" cap="small" dirty="0">
                <a:latin typeface="Aptos" panose="020B0004020202020204" pitchFamily="34" charset="0"/>
              </a:rPr>
              <a:t>Heurística</a:t>
            </a:r>
          </a:p>
        </p:txBody>
      </p: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4F706B62-CE35-20F7-1DD8-4B35968C9C52}"/>
              </a:ext>
            </a:extLst>
          </p:cNvPr>
          <p:cNvSpPr/>
          <p:nvPr/>
        </p:nvSpPr>
        <p:spPr>
          <a:xfrm>
            <a:off x="135958" y="3586865"/>
            <a:ext cx="8931842" cy="88232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cap="small" dirty="0">
                <a:latin typeface="Aptos" panose="020B0004020202020204" pitchFamily="34" charset="0"/>
              </a:rPr>
              <a:t>USO COMBINADO DE MÉTODOS DE AVALIAÇÃO</a:t>
            </a:r>
            <a:endParaRPr lang="pt-BR" sz="2800" cap="small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753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2" grpId="0"/>
      <p:bldP spid="54" grpId="0"/>
      <p:bldP spid="55" grpId="0"/>
      <p:bldP spid="5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E158A-2457-FA08-2CC8-5B1F4FF33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Imagem 50">
            <a:extLst>
              <a:ext uri="{FF2B5EF4-FFF2-40B4-BE49-F238E27FC236}">
                <a16:creationId xmlns:a16="http://schemas.microsoft.com/office/drawing/2014/main" id="{A8DFECB1-C0D7-BD51-EB0C-1799EB8BBCB1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alphaModFix amt="50000"/>
          </a:blip>
          <a:stretch>
            <a:fillRect/>
          </a:stretch>
        </p:blipFill>
        <p:spPr>
          <a:xfrm>
            <a:off x="0" y="1447800"/>
            <a:ext cx="9144000" cy="5225143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629031DE-4CB8-C3A2-7DBD-7D54D9DF0E61}"/>
              </a:ext>
            </a:extLst>
          </p:cNvPr>
          <p:cNvSpPr/>
          <p:nvPr/>
        </p:nvSpPr>
        <p:spPr>
          <a:xfrm>
            <a:off x="765048" y="842772"/>
            <a:ext cx="71755" cy="285115"/>
          </a:xfrm>
          <a:custGeom>
            <a:avLst/>
            <a:gdLst/>
            <a:ahLst/>
            <a:cxnLst/>
            <a:rect l="l" t="t" r="r" b="b"/>
            <a:pathLst>
              <a:path w="71755" h="285115">
                <a:moveTo>
                  <a:pt x="71627" y="0"/>
                </a:moveTo>
                <a:lnTo>
                  <a:pt x="0" y="0"/>
                </a:lnTo>
                <a:lnTo>
                  <a:pt x="0" y="284988"/>
                </a:lnTo>
                <a:lnTo>
                  <a:pt x="71627" y="284988"/>
                </a:lnTo>
                <a:lnTo>
                  <a:pt x="71627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7B1F0CA-3F02-DB56-5E2E-C04008801672}"/>
              </a:ext>
            </a:extLst>
          </p:cNvPr>
          <p:cNvSpPr txBox="1"/>
          <p:nvPr/>
        </p:nvSpPr>
        <p:spPr>
          <a:xfrm>
            <a:off x="1038758" y="814603"/>
            <a:ext cx="335597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CONTEÚDO</a:t>
            </a:r>
            <a:r>
              <a:rPr sz="2800" b="1" spc="-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DO</a:t>
            </a:r>
            <a:r>
              <a:rPr sz="2800" b="1" spc="-7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2F2F2F"/>
                </a:solidFill>
                <a:latin typeface="Calibri"/>
                <a:cs typeface="Calibri"/>
              </a:rPr>
              <a:t>CURSO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66C73C4D-7235-DE75-1D36-452B49CEF654}"/>
              </a:ext>
            </a:extLst>
          </p:cNvPr>
          <p:cNvGrpSpPr/>
          <p:nvPr/>
        </p:nvGrpSpPr>
        <p:grpSpPr>
          <a:xfrm>
            <a:off x="765048" y="704087"/>
            <a:ext cx="5579745" cy="523240"/>
            <a:chOff x="765048" y="704087"/>
            <a:chExt cx="5579745" cy="52324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C96278C7-C8ED-9D33-6351-C55804002EE1}"/>
                </a:ext>
              </a:extLst>
            </p:cNvPr>
            <p:cNvSpPr/>
            <p:nvPr/>
          </p:nvSpPr>
          <p:spPr>
            <a:xfrm>
              <a:off x="765048" y="804671"/>
              <a:ext cx="71755" cy="285115"/>
            </a:xfrm>
            <a:custGeom>
              <a:avLst/>
              <a:gdLst/>
              <a:ahLst/>
              <a:cxnLst/>
              <a:rect l="l" t="t" r="r" b="b"/>
              <a:pathLst>
                <a:path w="71755" h="285115">
                  <a:moveTo>
                    <a:pt x="71627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71627" y="2849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ADB867A5-5CCC-7D37-6736-75E8ECE7682E}"/>
                </a:ext>
              </a:extLst>
            </p:cNvPr>
            <p:cNvSpPr/>
            <p:nvPr/>
          </p:nvSpPr>
          <p:spPr>
            <a:xfrm>
              <a:off x="842772" y="704087"/>
              <a:ext cx="5501640" cy="523240"/>
            </a:xfrm>
            <a:custGeom>
              <a:avLst/>
              <a:gdLst/>
              <a:ahLst/>
              <a:cxnLst/>
              <a:rect l="l" t="t" r="r" b="b"/>
              <a:pathLst>
                <a:path w="5501640" h="523240">
                  <a:moveTo>
                    <a:pt x="5501640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5501640" y="522731"/>
                  </a:lnTo>
                  <a:lnTo>
                    <a:pt x="5501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E8E4ED1F-6110-432E-1028-8C5DB96831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121" y="714248"/>
            <a:ext cx="52006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dirty="0"/>
              <a:t>AVALIAÇÃO DA IHC</a:t>
            </a:r>
            <a:endParaRPr spc="-20" dirty="0"/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F694D071-907B-AB63-7FA3-A447ECE94886}"/>
              </a:ext>
            </a:extLst>
          </p:cNvPr>
          <p:cNvSpPr txBox="1"/>
          <p:nvPr/>
        </p:nvSpPr>
        <p:spPr>
          <a:xfrm>
            <a:off x="1550994" y="2161001"/>
            <a:ext cx="2971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cap="small" dirty="0">
                <a:latin typeface="Aptos" panose="020B0004020202020204" pitchFamily="34" charset="0"/>
              </a:rPr>
              <a:t>Testes de </a:t>
            </a:r>
            <a:r>
              <a:rPr lang="pt-BR" sz="4000" b="1" cap="small" dirty="0">
                <a:latin typeface="Aptos" panose="020B0004020202020204" pitchFamily="34" charset="0"/>
              </a:rPr>
              <a:t>Usabilidade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D5E9B71-4F53-3F33-124D-7B30BEDBA341}"/>
              </a:ext>
            </a:extLst>
          </p:cNvPr>
          <p:cNvSpPr/>
          <p:nvPr/>
        </p:nvSpPr>
        <p:spPr>
          <a:xfrm>
            <a:off x="4244807" y="3875591"/>
            <a:ext cx="4620269" cy="238245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cap="small" dirty="0">
                <a:latin typeface="Aptos" panose="020B0004020202020204" pitchFamily="34" charset="0"/>
              </a:rPr>
              <a:t>OBSERVAÇÃO CONTROLADA OU INFORMAL</a:t>
            </a:r>
          </a:p>
          <a:p>
            <a:pPr algn="ctr"/>
            <a:endParaRPr lang="pt-BR" sz="900" cap="small" dirty="0">
              <a:latin typeface="Aptos" panose="020B0004020202020204" pitchFamily="34" charset="0"/>
            </a:endParaRPr>
          </a:p>
          <a:p>
            <a:pPr algn="ctr"/>
            <a:r>
              <a:rPr lang="pt-BR" cap="small" dirty="0">
                <a:latin typeface="Aptos" panose="020B0004020202020204" pitchFamily="34" charset="0"/>
              </a:rPr>
              <a:t>Observar usuários reais interagindo com o sistema para identificar aspectos positivos e problemas de usabilidade para levantar aspectos que devem ser mantidos ou que precisam de melhorias. 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860AB3F-D5F2-D089-C279-64632C5F81FC}"/>
              </a:ext>
            </a:extLst>
          </p:cNvPr>
          <p:cNvSpPr txBox="1"/>
          <p:nvPr/>
        </p:nvSpPr>
        <p:spPr>
          <a:xfrm>
            <a:off x="248444" y="3919665"/>
            <a:ext cx="39180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400" cap="small" dirty="0">
                <a:latin typeface="Aptos" panose="020B0004020202020204" pitchFamily="34" charset="0"/>
              </a:rPr>
              <a:t>Os objetivos e usos da solução são facilmente identificados e compreendidos?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3EA77B8-9A34-7BDE-A145-6896B7456DA7}"/>
              </a:ext>
            </a:extLst>
          </p:cNvPr>
          <p:cNvSpPr txBox="1"/>
          <p:nvPr/>
        </p:nvSpPr>
        <p:spPr>
          <a:xfrm>
            <a:off x="243364" y="4519638"/>
            <a:ext cx="36024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400" cap="small" dirty="0">
                <a:latin typeface="Aptos" panose="020B0004020202020204" pitchFamily="34" charset="0"/>
              </a:rPr>
              <a:t>Os usuários aprendem a utilizar e operar a solução rapidamente?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EBF10ED-0B21-0B25-D791-D695DE1785B3}"/>
              </a:ext>
            </a:extLst>
          </p:cNvPr>
          <p:cNvSpPr txBox="1"/>
          <p:nvPr/>
        </p:nvSpPr>
        <p:spPr>
          <a:xfrm>
            <a:off x="232478" y="5119611"/>
            <a:ext cx="36024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400" cap="small" dirty="0">
                <a:latin typeface="Aptos" panose="020B0004020202020204" pitchFamily="34" charset="0"/>
              </a:rPr>
              <a:t>Os usuários interagem e operam a solução com facilidade?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F28D193-1A95-9FBC-DE71-13209FFE7DD5}"/>
              </a:ext>
            </a:extLst>
          </p:cNvPr>
          <p:cNvSpPr txBox="1"/>
          <p:nvPr/>
        </p:nvSpPr>
        <p:spPr>
          <a:xfrm>
            <a:off x="227398" y="5719584"/>
            <a:ext cx="36024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400" cap="small" dirty="0">
                <a:latin typeface="Aptos" panose="020B0004020202020204" pitchFamily="34" charset="0"/>
              </a:rPr>
              <a:t>A(s) interface(s) da solução são atraentes e agradáveis aos usuários</a:t>
            </a:r>
          </a:p>
        </p:txBody>
      </p:sp>
    </p:spTree>
    <p:extLst>
      <p:ext uri="{BB962C8B-B14F-4D97-AF65-F5344CB8AC3E}">
        <p14:creationId xmlns:p14="http://schemas.microsoft.com/office/powerpoint/2010/main" val="4274885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A43A7-B1F4-EA0E-0800-CCB79FAB7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Imagem 50">
            <a:extLst>
              <a:ext uri="{FF2B5EF4-FFF2-40B4-BE49-F238E27FC236}">
                <a16:creationId xmlns:a16="http://schemas.microsoft.com/office/drawing/2014/main" id="{80F6F68F-59BF-6EE8-6551-B1DCEAF9640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447800"/>
            <a:ext cx="9144000" cy="5225143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09E3B220-509B-13E8-ED48-7F724D65BB08}"/>
              </a:ext>
            </a:extLst>
          </p:cNvPr>
          <p:cNvSpPr/>
          <p:nvPr/>
        </p:nvSpPr>
        <p:spPr>
          <a:xfrm>
            <a:off x="765048" y="842772"/>
            <a:ext cx="71755" cy="285115"/>
          </a:xfrm>
          <a:custGeom>
            <a:avLst/>
            <a:gdLst/>
            <a:ahLst/>
            <a:cxnLst/>
            <a:rect l="l" t="t" r="r" b="b"/>
            <a:pathLst>
              <a:path w="71755" h="285115">
                <a:moveTo>
                  <a:pt x="71627" y="0"/>
                </a:moveTo>
                <a:lnTo>
                  <a:pt x="0" y="0"/>
                </a:lnTo>
                <a:lnTo>
                  <a:pt x="0" y="284988"/>
                </a:lnTo>
                <a:lnTo>
                  <a:pt x="71627" y="284988"/>
                </a:lnTo>
                <a:lnTo>
                  <a:pt x="71627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537D6C1-36F9-5CE2-078F-B31452FEB3D8}"/>
              </a:ext>
            </a:extLst>
          </p:cNvPr>
          <p:cNvSpPr txBox="1"/>
          <p:nvPr/>
        </p:nvSpPr>
        <p:spPr>
          <a:xfrm>
            <a:off x="1038758" y="814603"/>
            <a:ext cx="335597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CONTEÚDO</a:t>
            </a:r>
            <a:r>
              <a:rPr sz="2800" b="1" spc="-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DO</a:t>
            </a:r>
            <a:r>
              <a:rPr sz="2800" b="1" spc="-7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2F2F2F"/>
                </a:solidFill>
                <a:latin typeface="Calibri"/>
                <a:cs typeface="Calibri"/>
              </a:rPr>
              <a:t>CURSO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CA833B1D-9E14-BC76-D026-1DF645ECBB57}"/>
              </a:ext>
            </a:extLst>
          </p:cNvPr>
          <p:cNvGrpSpPr/>
          <p:nvPr/>
        </p:nvGrpSpPr>
        <p:grpSpPr>
          <a:xfrm>
            <a:off x="765048" y="704087"/>
            <a:ext cx="5579745" cy="523240"/>
            <a:chOff x="765048" y="704087"/>
            <a:chExt cx="5579745" cy="52324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630B8192-47DD-F8FC-60F4-A0971DDD0205}"/>
                </a:ext>
              </a:extLst>
            </p:cNvPr>
            <p:cNvSpPr/>
            <p:nvPr/>
          </p:nvSpPr>
          <p:spPr>
            <a:xfrm>
              <a:off x="765048" y="804671"/>
              <a:ext cx="71755" cy="285115"/>
            </a:xfrm>
            <a:custGeom>
              <a:avLst/>
              <a:gdLst/>
              <a:ahLst/>
              <a:cxnLst/>
              <a:rect l="l" t="t" r="r" b="b"/>
              <a:pathLst>
                <a:path w="71755" h="285115">
                  <a:moveTo>
                    <a:pt x="71627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71627" y="2849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6FF0EFC3-6A11-4A95-C4D1-8475A6EC0707}"/>
                </a:ext>
              </a:extLst>
            </p:cNvPr>
            <p:cNvSpPr/>
            <p:nvPr/>
          </p:nvSpPr>
          <p:spPr>
            <a:xfrm>
              <a:off x="842772" y="704087"/>
              <a:ext cx="5501640" cy="523240"/>
            </a:xfrm>
            <a:custGeom>
              <a:avLst/>
              <a:gdLst/>
              <a:ahLst/>
              <a:cxnLst/>
              <a:rect l="l" t="t" r="r" b="b"/>
              <a:pathLst>
                <a:path w="5501640" h="523240">
                  <a:moveTo>
                    <a:pt x="5501640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5501640" y="522731"/>
                  </a:lnTo>
                  <a:lnTo>
                    <a:pt x="5501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77E6C4DB-273A-603B-F364-1B148CC046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121" y="714248"/>
            <a:ext cx="52006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dirty="0"/>
              <a:t>AVALIAÇÃO DA IHC</a:t>
            </a:r>
            <a:endParaRPr spc="-20" dirty="0"/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AA0E51D9-8446-A69D-F77D-BB5B04EB424B}"/>
              </a:ext>
            </a:extLst>
          </p:cNvPr>
          <p:cNvSpPr txBox="1"/>
          <p:nvPr/>
        </p:nvSpPr>
        <p:spPr>
          <a:xfrm>
            <a:off x="5195006" y="2138037"/>
            <a:ext cx="25549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cap="small" dirty="0">
                <a:latin typeface="Aptos" panose="020B0004020202020204" pitchFamily="34" charset="0"/>
              </a:rPr>
              <a:t>Análise de </a:t>
            </a:r>
            <a:r>
              <a:rPr lang="pt-BR" sz="4000" b="1" cap="small" dirty="0">
                <a:latin typeface="Aptos" panose="020B0004020202020204" pitchFamily="34" charset="0"/>
              </a:rPr>
              <a:t>Métricas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4DBEA9C-D381-1FD2-14A3-B2E889950A0B}"/>
              </a:ext>
            </a:extLst>
          </p:cNvPr>
          <p:cNvSpPr/>
          <p:nvPr/>
        </p:nvSpPr>
        <p:spPr>
          <a:xfrm>
            <a:off x="407889" y="3549872"/>
            <a:ext cx="4114800" cy="279095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cap="small" dirty="0">
                <a:latin typeface="Aptos" panose="020B0004020202020204" pitchFamily="34" charset="0"/>
              </a:rPr>
              <a:t>COLETA E ANALISE DE DADOS</a:t>
            </a:r>
          </a:p>
          <a:p>
            <a:pPr algn="ctr"/>
            <a:endParaRPr lang="pt-BR" sz="900" cap="small" dirty="0">
              <a:latin typeface="Aptos" panose="020B0004020202020204" pitchFamily="34" charset="0"/>
            </a:endParaRPr>
          </a:p>
          <a:p>
            <a:pPr algn="ctr"/>
            <a:r>
              <a:rPr lang="pt-BR" cap="small" dirty="0">
                <a:latin typeface="Aptos" panose="020B0004020202020204" pitchFamily="34" charset="0"/>
              </a:rPr>
              <a:t>Coletar dados que permitam avaliar a eficiência, eficácia e satisfação do usuário durante a interação com um sistema, visando identificar áreas de melhoria na interface e garantir uma experiência positiva para o usuário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8DB9E72-13CC-B976-5F3D-9D67F747A961}"/>
              </a:ext>
            </a:extLst>
          </p:cNvPr>
          <p:cNvSpPr txBox="1"/>
          <p:nvPr/>
        </p:nvSpPr>
        <p:spPr>
          <a:xfrm>
            <a:off x="4876800" y="3657600"/>
            <a:ext cx="4141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cap="small" dirty="0">
                <a:latin typeface="Aptos" panose="020B0004020202020204" pitchFamily="34" charset="0"/>
              </a:rPr>
              <a:t>TSR</a:t>
            </a:r>
            <a:r>
              <a:rPr lang="pt-BR" sz="1400" cap="small" dirty="0">
                <a:latin typeface="Aptos" panose="020B0004020202020204" pitchFamily="34" charset="0"/>
              </a:rPr>
              <a:t> – Taxa de Sucesso da Tarefa  (% de tarefas concluídas com sucesso)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6783DD9-B0A3-D6EE-12A0-D18C100C658F}"/>
              </a:ext>
            </a:extLst>
          </p:cNvPr>
          <p:cNvSpPr txBox="1"/>
          <p:nvPr/>
        </p:nvSpPr>
        <p:spPr>
          <a:xfrm>
            <a:off x="4876800" y="4170669"/>
            <a:ext cx="4141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cap="small" dirty="0">
                <a:latin typeface="Aptos" panose="020B0004020202020204" pitchFamily="34" charset="0"/>
              </a:rPr>
              <a:t>UER</a:t>
            </a:r>
            <a:r>
              <a:rPr lang="pt-BR" sz="1400" cap="small" dirty="0">
                <a:latin typeface="Aptos" panose="020B0004020202020204" pitchFamily="34" charset="0"/>
              </a:rPr>
              <a:t> – Taxa de Erros do Usuário  (Numero de erros cometidos na realização de tarefas)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AA7A9CB-1F6D-E8FE-6364-79AE1BADBFCB}"/>
              </a:ext>
            </a:extLst>
          </p:cNvPr>
          <p:cNvSpPr txBox="1"/>
          <p:nvPr/>
        </p:nvSpPr>
        <p:spPr>
          <a:xfrm>
            <a:off x="4876800" y="4683738"/>
            <a:ext cx="4141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cap="small" dirty="0">
                <a:latin typeface="Aptos" panose="020B0004020202020204" pitchFamily="34" charset="0"/>
              </a:rPr>
              <a:t>TTR</a:t>
            </a:r>
            <a:r>
              <a:rPr lang="pt-BR" sz="1400" cap="small" dirty="0">
                <a:latin typeface="Aptos" panose="020B0004020202020204" pitchFamily="34" charset="0"/>
              </a:rPr>
              <a:t> – Tempo de Tarefa  (Tempo médio de conclusão de uma tarefa pelo usuário - eficiência)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708E29C-65C0-26DF-B7C3-1C1AFD5C8C6C}"/>
              </a:ext>
            </a:extLst>
          </p:cNvPr>
          <p:cNvSpPr txBox="1"/>
          <p:nvPr/>
        </p:nvSpPr>
        <p:spPr>
          <a:xfrm>
            <a:off x="4876800" y="5219859"/>
            <a:ext cx="4141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cap="small" dirty="0">
                <a:latin typeface="Aptos" panose="020B0004020202020204" pitchFamily="34" charset="0"/>
              </a:rPr>
              <a:t>SUS</a:t>
            </a:r>
            <a:r>
              <a:rPr lang="pt-BR" sz="1400" cap="small" dirty="0">
                <a:latin typeface="Aptos" panose="020B0004020202020204" pitchFamily="34" charset="0"/>
              </a:rPr>
              <a:t> – Indice de Satisfação do Usuário  (Escala subjetiva de satisfação com a interação)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AE55F80-1DDB-0990-EC2F-07DA50D0B8B0}"/>
              </a:ext>
            </a:extLst>
          </p:cNvPr>
          <p:cNvSpPr txBox="1"/>
          <p:nvPr/>
        </p:nvSpPr>
        <p:spPr>
          <a:xfrm>
            <a:off x="4884944" y="5691947"/>
            <a:ext cx="3896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cap="small" dirty="0">
                <a:latin typeface="Aptos" panose="020B0004020202020204" pitchFamily="34" charset="0"/>
              </a:rPr>
              <a:t>NPS</a:t>
            </a:r>
            <a:r>
              <a:rPr lang="pt-BR" sz="1400" cap="small" dirty="0">
                <a:latin typeface="Aptos" panose="020B0004020202020204" pitchFamily="34" charset="0"/>
              </a:rPr>
              <a:t> – Net Promoter Score (probabilidade de recomendação da solução)</a:t>
            </a:r>
          </a:p>
        </p:txBody>
      </p:sp>
    </p:spTree>
    <p:extLst>
      <p:ext uri="{BB962C8B-B14F-4D97-AF65-F5344CB8AC3E}">
        <p14:creationId xmlns:p14="http://schemas.microsoft.com/office/powerpoint/2010/main" val="963525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AF2B6-C6EB-9451-73A3-A99060A22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Imagem 50">
            <a:extLst>
              <a:ext uri="{FF2B5EF4-FFF2-40B4-BE49-F238E27FC236}">
                <a16:creationId xmlns:a16="http://schemas.microsoft.com/office/drawing/2014/main" id="{AF076758-59E8-040E-80F0-864E40224B75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447800"/>
            <a:ext cx="9144000" cy="5225143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948B2549-7161-237B-D57A-A1705FA84145}"/>
              </a:ext>
            </a:extLst>
          </p:cNvPr>
          <p:cNvSpPr/>
          <p:nvPr/>
        </p:nvSpPr>
        <p:spPr>
          <a:xfrm>
            <a:off x="765048" y="842772"/>
            <a:ext cx="71755" cy="285115"/>
          </a:xfrm>
          <a:custGeom>
            <a:avLst/>
            <a:gdLst/>
            <a:ahLst/>
            <a:cxnLst/>
            <a:rect l="l" t="t" r="r" b="b"/>
            <a:pathLst>
              <a:path w="71755" h="285115">
                <a:moveTo>
                  <a:pt x="71627" y="0"/>
                </a:moveTo>
                <a:lnTo>
                  <a:pt x="0" y="0"/>
                </a:lnTo>
                <a:lnTo>
                  <a:pt x="0" y="284988"/>
                </a:lnTo>
                <a:lnTo>
                  <a:pt x="71627" y="284988"/>
                </a:lnTo>
                <a:lnTo>
                  <a:pt x="71627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67B18D2-7E3C-FEF7-14C0-9AD67F475BC0}"/>
              </a:ext>
            </a:extLst>
          </p:cNvPr>
          <p:cNvSpPr txBox="1"/>
          <p:nvPr/>
        </p:nvSpPr>
        <p:spPr>
          <a:xfrm>
            <a:off x="1038758" y="814603"/>
            <a:ext cx="335597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CONTEÚDO</a:t>
            </a:r>
            <a:r>
              <a:rPr sz="2800" b="1" spc="-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DO</a:t>
            </a:r>
            <a:r>
              <a:rPr sz="2800" b="1" spc="-7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2F2F2F"/>
                </a:solidFill>
                <a:latin typeface="Calibri"/>
                <a:cs typeface="Calibri"/>
              </a:rPr>
              <a:t>CURSO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8C791F5D-EF57-1DCB-4B95-455B1331F675}"/>
              </a:ext>
            </a:extLst>
          </p:cNvPr>
          <p:cNvGrpSpPr/>
          <p:nvPr/>
        </p:nvGrpSpPr>
        <p:grpSpPr>
          <a:xfrm>
            <a:off x="765048" y="704087"/>
            <a:ext cx="5579745" cy="523240"/>
            <a:chOff x="765048" y="704087"/>
            <a:chExt cx="5579745" cy="52324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5BD30110-CBA1-8530-A481-CF2B39AA51DB}"/>
                </a:ext>
              </a:extLst>
            </p:cNvPr>
            <p:cNvSpPr/>
            <p:nvPr/>
          </p:nvSpPr>
          <p:spPr>
            <a:xfrm>
              <a:off x="765048" y="804671"/>
              <a:ext cx="71755" cy="285115"/>
            </a:xfrm>
            <a:custGeom>
              <a:avLst/>
              <a:gdLst/>
              <a:ahLst/>
              <a:cxnLst/>
              <a:rect l="l" t="t" r="r" b="b"/>
              <a:pathLst>
                <a:path w="71755" h="285115">
                  <a:moveTo>
                    <a:pt x="71627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71627" y="2849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F2B243ED-0FB6-1281-D348-CCF36BAB498B}"/>
                </a:ext>
              </a:extLst>
            </p:cNvPr>
            <p:cNvSpPr/>
            <p:nvPr/>
          </p:nvSpPr>
          <p:spPr>
            <a:xfrm>
              <a:off x="842772" y="704087"/>
              <a:ext cx="5501640" cy="523240"/>
            </a:xfrm>
            <a:custGeom>
              <a:avLst/>
              <a:gdLst/>
              <a:ahLst/>
              <a:cxnLst/>
              <a:rect l="l" t="t" r="r" b="b"/>
              <a:pathLst>
                <a:path w="5501640" h="523240">
                  <a:moveTo>
                    <a:pt x="5501640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5501640" y="522731"/>
                  </a:lnTo>
                  <a:lnTo>
                    <a:pt x="5501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AE3F56BC-5F37-AD17-A293-98CEB89FDD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121" y="714248"/>
            <a:ext cx="52006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dirty="0"/>
              <a:t>AVALIAÇÃO DA IHC</a:t>
            </a:r>
            <a:endParaRPr spc="-20" dirty="0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8031791D-9B6B-ED83-AAD0-84C4BEC07A7B}"/>
              </a:ext>
            </a:extLst>
          </p:cNvPr>
          <p:cNvSpPr txBox="1"/>
          <p:nvPr/>
        </p:nvSpPr>
        <p:spPr>
          <a:xfrm>
            <a:off x="1643580" y="4648200"/>
            <a:ext cx="27866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cap="small" dirty="0">
                <a:latin typeface="Aptos" panose="020B0004020202020204" pitchFamily="34" charset="0"/>
              </a:rPr>
              <a:t>Feedback</a:t>
            </a:r>
            <a:r>
              <a:rPr lang="pt-BR" sz="4000" cap="small" dirty="0">
                <a:latin typeface="Aptos" panose="020B0004020202020204" pitchFamily="34" charset="0"/>
              </a:rPr>
              <a:t> de Usuários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86454377-99B9-7CBE-E882-DA1A3EC68DC0}"/>
              </a:ext>
            </a:extLst>
          </p:cNvPr>
          <p:cNvSpPr/>
          <p:nvPr/>
        </p:nvSpPr>
        <p:spPr>
          <a:xfrm>
            <a:off x="571528" y="1952549"/>
            <a:ext cx="4069444" cy="257694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cap="small" dirty="0">
                <a:latin typeface="Aptos" panose="020B0004020202020204" pitchFamily="34" charset="0"/>
              </a:rPr>
              <a:t>PESQUISA DE SATISFAÇÃO</a:t>
            </a:r>
          </a:p>
          <a:p>
            <a:pPr algn="ctr"/>
            <a:endParaRPr lang="pt-BR" sz="900" cap="small" dirty="0">
              <a:latin typeface="Aptos" panose="020B0004020202020204" pitchFamily="34" charset="0"/>
            </a:endParaRPr>
          </a:p>
          <a:p>
            <a:pPr algn="ctr"/>
            <a:r>
              <a:rPr lang="pt-BR" cap="small" dirty="0">
                <a:latin typeface="Aptos" panose="020B0004020202020204" pitchFamily="34" charset="0"/>
              </a:rPr>
              <a:t>Coletar opiniões e sugestões dos usuários através de entrevistas, questionários e outras práticas formais ou informais de coleta de feedback (percepção do usuário).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71D23BC-42C7-5D01-C76C-190D0E673A00}"/>
              </a:ext>
            </a:extLst>
          </p:cNvPr>
          <p:cNvSpPr txBox="1"/>
          <p:nvPr/>
        </p:nvSpPr>
        <p:spPr>
          <a:xfrm>
            <a:off x="5126314" y="2063327"/>
            <a:ext cx="38968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cap="small" dirty="0">
                <a:latin typeface="Aptos" panose="020B0004020202020204" pitchFamily="34" charset="0"/>
              </a:rPr>
              <a:t>NPS</a:t>
            </a:r>
            <a:r>
              <a:rPr lang="pt-BR" sz="1600" cap="small" dirty="0">
                <a:latin typeface="Aptos" panose="020B0004020202020204" pitchFamily="34" charset="0"/>
              </a:rPr>
              <a:t> – Net Promoter Score (probabilidade de recomendação da solução)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E736817-C1F8-109C-07AB-18C903F88122}"/>
              </a:ext>
            </a:extLst>
          </p:cNvPr>
          <p:cNvSpPr txBox="1"/>
          <p:nvPr/>
        </p:nvSpPr>
        <p:spPr>
          <a:xfrm>
            <a:off x="5334000" y="2782720"/>
            <a:ext cx="3536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600" cap="small" dirty="0">
                <a:latin typeface="Aptos" panose="020B0004020202020204" pitchFamily="34" charset="0"/>
              </a:rPr>
              <a:t>Percepção da Utilidade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6E36051-DD1C-AF86-2B78-C219689D0B3F}"/>
              </a:ext>
            </a:extLst>
          </p:cNvPr>
          <p:cNvSpPr txBox="1"/>
          <p:nvPr/>
        </p:nvSpPr>
        <p:spPr>
          <a:xfrm>
            <a:off x="5334000" y="3158074"/>
            <a:ext cx="3536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600" cap="small" dirty="0">
                <a:latin typeface="Aptos" panose="020B0004020202020204" pitchFamily="34" charset="0"/>
              </a:rPr>
              <a:t>Percepção da Eficácia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BAFD8C5-67B4-BA0E-291C-70BF9DA15A22}"/>
              </a:ext>
            </a:extLst>
          </p:cNvPr>
          <p:cNvSpPr txBox="1"/>
          <p:nvPr/>
        </p:nvSpPr>
        <p:spPr>
          <a:xfrm>
            <a:off x="5334000" y="3533428"/>
            <a:ext cx="3536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600" cap="small" dirty="0">
                <a:latin typeface="Aptos" panose="020B0004020202020204" pitchFamily="34" charset="0"/>
              </a:rPr>
              <a:t>Elogios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0B6F574-ED8F-7C9C-CAF7-AFB64D143719}"/>
              </a:ext>
            </a:extLst>
          </p:cNvPr>
          <p:cNvSpPr txBox="1"/>
          <p:nvPr/>
        </p:nvSpPr>
        <p:spPr>
          <a:xfrm>
            <a:off x="5334000" y="3908782"/>
            <a:ext cx="3536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600" cap="small" dirty="0">
                <a:latin typeface="Aptos" panose="020B0004020202020204" pitchFamily="34" charset="0"/>
              </a:rPr>
              <a:t>Criticas negativas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BD0A784-2F67-EC62-A967-A161DFABDB82}"/>
              </a:ext>
            </a:extLst>
          </p:cNvPr>
          <p:cNvSpPr txBox="1"/>
          <p:nvPr/>
        </p:nvSpPr>
        <p:spPr>
          <a:xfrm>
            <a:off x="5334000" y="4284136"/>
            <a:ext cx="3536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600" cap="small" dirty="0">
                <a:latin typeface="Aptos" panose="020B0004020202020204" pitchFamily="34" charset="0"/>
              </a:rPr>
              <a:t>Duvidas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0E97EE7-914C-992C-C359-98488EF9E253}"/>
              </a:ext>
            </a:extLst>
          </p:cNvPr>
          <p:cNvSpPr txBox="1"/>
          <p:nvPr/>
        </p:nvSpPr>
        <p:spPr>
          <a:xfrm>
            <a:off x="5334000" y="4659490"/>
            <a:ext cx="3536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600" cap="small" dirty="0">
                <a:latin typeface="Aptos" panose="020B0004020202020204" pitchFamily="34" charset="0"/>
              </a:rPr>
              <a:t>Sugestões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7393181-A78F-5A6E-D690-18AEA886E0D1}"/>
              </a:ext>
            </a:extLst>
          </p:cNvPr>
          <p:cNvSpPr txBox="1"/>
          <p:nvPr/>
        </p:nvSpPr>
        <p:spPr>
          <a:xfrm>
            <a:off x="5334000" y="5034844"/>
            <a:ext cx="3536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600" cap="small" dirty="0">
                <a:latin typeface="Aptos" panose="020B0004020202020204" pitchFamily="34" charset="0"/>
              </a:rPr>
              <a:t>Pontos de descontentamento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D0E696C-C3F1-0FBB-1F5F-2C7D546F9871}"/>
              </a:ext>
            </a:extLst>
          </p:cNvPr>
          <p:cNvSpPr txBox="1"/>
          <p:nvPr/>
        </p:nvSpPr>
        <p:spPr>
          <a:xfrm>
            <a:off x="5334000" y="5410200"/>
            <a:ext cx="3536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600" cap="small" dirty="0">
                <a:latin typeface="Aptos" panose="020B0004020202020204" pitchFamily="34" charset="0"/>
              </a:rPr>
              <a:t>Identificação de erros</a:t>
            </a:r>
          </a:p>
        </p:txBody>
      </p:sp>
    </p:spTree>
    <p:extLst>
      <p:ext uri="{BB962C8B-B14F-4D97-AF65-F5344CB8AC3E}">
        <p14:creationId xmlns:p14="http://schemas.microsoft.com/office/powerpoint/2010/main" val="2693053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75CF-8703-A60C-CBCB-C79392BC3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Imagem 50">
            <a:extLst>
              <a:ext uri="{FF2B5EF4-FFF2-40B4-BE49-F238E27FC236}">
                <a16:creationId xmlns:a16="http://schemas.microsoft.com/office/drawing/2014/main" id="{4AEEA511-B20E-73CE-CF6B-39D42E2C995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447800"/>
            <a:ext cx="9144000" cy="5225143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B9E19649-65AC-8D40-05F1-9682D04CDAB1}"/>
              </a:ext>
            </a:extLst>
          </p:cNvPr>
          <p:cNvSpPr/>
          <p:nvPr/>
        </p:nvSpPr>
        <p:spPr>
          <a:xfrm>
            <a:off x="765048" y="842772"/>
            <a:ext cx="71755" cy="285115"/>
          </a:xfrm>
          <a:custGeom>
            <a:avLst/>
            <a:gdLst/>
            <a:ahLst/>
            <a:cxnLst/>
            <a:rect l="l" t="t" r="r" b="b"/>
            <a:pathLst>
              <a:path w="71755" h="285115">
                <a:moveTo>
                  <a:pt x="71627" y="0"/>
                </a:moveTo>
                <a:lnTo>
                  <a:pt x="0" y="0"/>
                </a:lnTo>
                <a:lnTo>
                  <a:pt x="0" y="284988"/>
                </a:lnTo>
                <a:lnTo>
                  <a:pt x="71627" y="284988"/>
                </a:lnTo>
                <a:lnTo>
                  <a:pt x="71627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ECFFB1E-F3E9-C991-70C0-602345563744}"/>
              </a:ext>
            </a:extLst>
          </p:cNvPr>
          <p:cNvSpPr txBox="1"/>
          <p:nvPr/>
        </p:nvSpPr>
        <p:spPr>
          <a:xfrm>
            <a:off x="1038758" y="814603"/>
            <a:ext cx="335597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CONTEÚDO</a:t>
            </a:r>
            <a:r>
              <a:rPr sz="2800" b="1" spc="-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DO</a:t>
            </a:r>
            <a:r>
              <a:rPr sz="2800" b="1" spc="-7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2F2F2F"/>
                </a:solidFill>
                <a:latin typeface="Calibri"/>
                <a:cs typeface="Calibri"/>
              </a:rPr>
              <a:t>CURSO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F0602F6D-AF2D-3DDC-7E97-49455B7D93E2}"/>
              </a:ext>
            </a:extLst>
          </p:cNvPr>
          <p:cNvGrpSpPr/>
          <p:nvPr/>
        </p:nvGrpSpPr>
        <p:grpSpPr>
          <a:xfrm>
            <a:off x="765048" y="704087"/>
            <a:ext cx="5579745" cy="523240"/>
            <a:chOff x="765048" y="704087"/>
            <a:chExt cx="5579745" cy="52324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4E1A4E34-598D-2978-12CA-6DF777128ACB}"/>
                </a:ext>
              </a:extLst>
            </p:cNvPr>
            <p:cNvSpPr/>
            <p:nvPr/>
          </p:nvSpPr>
          <p:spPr>
            <a:xfrm>
              <a:off x="765048" y="804671"/>
              <a:ext cx="71755" cy="285115"/>
            </a:xfrm>
            <a:custGeom>
              <a:avLst/>
              <a:gdLst/>
              <a:ahLst/>
              <a:cxnLst/>
              <a:rect l="l" t="t" r="r" b="b"/>
              <a:pathLst>
                <a:path w="71755" h="285115">
                  <a:moveTo>
                    <a:pt x="71627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71627" y="2849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35A958FA-734D-F5A0-15C1-C8D9C2BE840C}"/>
                </a:ext>
              </a:extLst>
            </p:cNvPr>
            <p:cNvSpPr/>
            <p:nvPr/>
          </p:nvSpPr>
          <p:spPr>
            <a:xfrm>
              <a:off x="842772" y="704087"/>
              <a:ext cx="5501640" cy="523240"/>
            </a:xfrm>
            <a:custGeom>
              <a:avLst/>
              <a:gdLst/>
              <a:ahLst/>
              <a:cxnLst/>
              <a:rect l="l" t="t" r="r" b="b"/>
              <a:pathLst>
                <a:path w="5501640" h="523240">
                  <a:moveTo>
                    <a:pt x="5501640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5501640" y="522731"/>
                  </a:lnTo>
                  <a:lnTo>
                    <a:pt x="5501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FD33A4B1-5917-B6C0-3980-AE2B2C4433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121" y="714248"/>
            <a:ext cx="52006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dirty="0"/>
              <a:t>AVALIAÇÃO DA IHC</a:t>
            </a:r>
            <a:endParaRPr spc="-20" dirty="0"/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A277E9F8-D018-74AA-164A-BEA1DEA4BD69}"/>
              </a:ext>
            </a:extLst>
          </p:cNvPr>
          <p:cNvSpPr txBox="1"/>
          <p:nvPr/>
        </p:nvSpPr>
        <p:spPr>
          <a:xfrm>
            <a:off x="5181600" y="4648200"/>
            <a:ext cx="25817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cap="small" dirty="0">
                <a:latin typeface="Aptos" panose="020B0004020202020204" pitchFamily="34" charset="0"/>
              </a:rPr>
              <a:t>Análise </a:t>
            </a:r>
            <a:r>
              <a:rPr lang="pt-BR" sz="4000" b="1" cap="small" dirty="0">
                <a:latin typeface="Aptos" panose="020B0004020202020204" pitchFamily="34" charset="0"/>
              </a:rPr>
              <a:t>Heurística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B1D7F104-4FE9-31DD-7BFD-49371045689E}"/>
              </a:ext>
            </a:extLst>
          </p:cNvPr>
          <p:cNvSpPr/>
          <p:nvPr/>
        </p:nvSpPr>
        <p:spPr>
          <a:xfrm>
            <a:off x="5029200" y="2113543"/>
            <a:ext cx="3673889" cy="243904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cap="small" dirty="0">
                <a:latin typeface="Aptos" panose="020B0004020202020204" pitchFamily="34" charset="0"/>
              </a:rPr>
              <a:t>AVALIAÇÃO PREVENTIVA</a:t>
            </a:r>
          </a:p>
          <a:p>
            <a:pPr algn="ctr"/>
            <a:endParaRPr lang="pt-BR" sz="900" cap="small" dirty="0">
              <a:latin typeface="Aptos" panose="020B0004020202020204" pitchFamily="34" charset="0"/>
            </a:endParaRPr>
          </a:p>
          <a:p>
            <a:pPr algn="ctr"/>
            <a:r>
              <a:rPr lang="pt-BR" cap="small" dirty="0">
                <a:latin typeface="Aptos" panose="020B0004020202020204" pitchFamily="34" charset="0"/>
              </a:rPr>
              <a:t>Utilizar checklists de heurística (como o de Nielsen) para avaliar a UI e a UX propostas e identificar potenciais problemas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A6C918A-E97F-FF7E-AF02-EE33EDA1E53D}"/>
              </a:ext>
            </a:extLst>
          </p:cNvPr>
          <p:cNvSpPr txBox="1"/>
          <p:nvPr/>
        </p:nvSpPr>
        <p:spPr>
          <a:xfrm>
            <a:off x="381000" y="2313739"/>
            <a:ext cx="4419599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 algn="l" rtl="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BR" sz="1600" kern="1200" cap="small" dirty="0">
                <a:solidFill>
                  <a:schemeClr val="tx1"/>
                </a:solidFill>
                <a:latin typeface="Calibri"/>
                <a:ea typeface="+mn-ea"/>
                <a:cs typeface="+mn-cs"/>
              </a:rPr>
              <a:t>Visibilidade dos estados do sistema</a:t>
            </a:r>
          </a:p>
          <a:p>
            <a:pPr marL="268288" indent="-268288" algn="l" rtl="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BR" sz="1600" kern="1200" cap="small" dirty="0">
                <a:solidFill>
                  <a:schemeClr val="tx1"/>
                </a:solidFill>
                <a:latin typeface="Calibri"/>
                <a:ea typeface="+mn-ea"/>
                <a:cs typeface="+mn-cs"/>
              </a:rPr>
              <a:t>Correspondência entre o sistema e o mundo real</a:t>
            </a:r>
          </a:p>
          <a:p>
            <a:pPr marL="268288" indent="-268288" algn="l" rtl="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BR" sz="1600" kern="1200" cap="small" dirty="0">
                <a:solidFill>
                  <a:schemeClr val="tx1"/>
                </a:solidFill>
                <a:latin typeface="Calibri"/>
                <a:ea typeface="+mn-ea"/>
                <a:cs typeface="+mn-cs"/>
              </a:rPr>
              <a:t>Liberdade de controle para o usuário</a:t>
            </a:r>
          </a:p>
          <a:p>
            <a:pPr algn="l" rtl="0"/>
            <a:r>
              <a:rPr lang="pt-BR" sz="1600" kern="1200" cap="small" dirty="0">
                <a:solidFill>
                  <a:schemeClr val="tx1"/>
                </a:solidFill>
                <a:latin typeface="Calibri"/>
                <a:ea typeface="+mn-ea"/>
                <a:cs typeface="+mn-cs"/>
              </a:rPr>
              <a:t>      (execução e recuperação)</a:t>
            </a:r>
          </a:p>
          <a:p>
            <a:pPr marL="268288" indent="-268288" algn="l" rtl="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BR" sz="1600" kern="1200" cap="small" dirty="0">
                <a:solidFill>
                  <a:schemeClr val="tx1"/>
                </a:solidFill>
                <a:latin typeface="Calibri"/>
                <a:ea typeface="+mn-ea"/>
                <a:cs typeface="+mn-cs"/>
              </a:rPr>
              <a:t>Consistência e padrões</a:t>
            </a:r>
          </a:p>
          <a:p>
            <a:pPr marL="268288" indent="-268288" algn="l" rtl="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BR" sz="1600" kern="1200" cap="small" dirty="0">
                <a:solidFill>
                  <a:schemeClr val="tx1"/>
                </a:solidFill>
                <a:latin typeface="Calibri"/>
                <a:ea typeface="+mn-ea"/>
                <a:cs typeface="+mn-cs"/>
              </a:rPr>
              <a:t>Prevenções de erros</a:t>
            </a:r>
          </a:p>
          <a:p>
            <a:pPr marL="268288" indent="-268288" algn="l" rtl="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BR" sz="1600" kern="1200" cap="small" dirty="0">
                <a:solidFill>
                  <a:schemeClr val="tx1"/>
                </a:solidFill>
                <a:latin typeface="Calibri"/>
                <a:ea typeface="+mn-ea"/>
                <a:cs typeface="+mn-cs"/>
              </a:rPr>
              <a:t>Reconhecimento em vez de memorização</a:t>
            </a:r>
          </a:p>
          <a:p>
            <a:pPr marL="268288" indent="-268288" algn="l" rtl="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BR" sz="1600" kern="1200" cap="small" dirty="0">
                <a:solidFill>
                  <a:schemeClr val="tx1"/>
                </a:solidFill>
                <a:latin typeface="Calibri"/>
                <a:ea typeface="+mn-ea"/>
                <a:cs typeface="+mn-cs"/>
              </a:rPr>
              <a:t>Flexibilidade e eficiência de uso</a:t>
            </a:r>
          </a:p>
          <a:p>
            <a:pPr marL="268288" indent="-268288" algn="l" rtl="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BR" sz="1600" kern="1200" cap="small" dirty="0">
                <a:solidFill>
                  <a:schemeClr val="tx1"/>
                </a:solidFill>
                <a:latin typeface="Calibri"/>
                <a:ea typeface="+mn-ea"/>
                <a:cs typeface="+mn-cs"/>
              </a:rPr>
              <a:t>Estética e design minimalista</a:t>
            </a:r>
          </a:p>
          <a:p>
            <a:pPr marL="268288" indent="-268288" algn="l" rtl="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BR" sz="1600" kern="1200" cap="small" dirty="0">
                <a:solidFill>
                  <a:schemeClr val="tx1"/>
                </a:solidFill>
                <a:latin typeface="Calibri"/>
                <a:ea typeface="+mn-ea"/>
                <a:cs typeface="+mn-cs"/>
              </a:rPr>
              <a:t>Ajude os usuários a reconhecer, diagnosticar e recuperar erros</a:t>
            </a:r>
          </a:p>
          <a:p>
            <a:pPr marL="268288" indent="-268288" algn="l" rtl="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BR" sz="1600" kern="1200" cap="small" dirty="0">
                <a:solidFill>
                  <a:schemeClr val="tx1"/>
                </a:solidFill>
                <a:latin typeface="Calibri"/>
                <a:ea typeface="+mn-ea"/>
                <a:cs typeface="+mn-cs"/>
              </a:rPr>
              <a:t>Ajuda e documentação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355F458-0215-5341-885B-8E1EDE517E1D}"/>
              </a:ext>
            </a:extLst>
          </p:cNvPr>
          <p:cNvSpPr txBox="1"/>
          <p:nvPr/>
        </p:nvSpPr>
        <p:spPr>
          <a:xfrm>
            <a:off x="394447" y="1762993"/>
            <a:ext cx="4131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cap="small" dirty="0">
                <a:solidFill>
                  <a:srgbClr val="31859C"/>
                </a:solidFill>
                <a:latin typeface="Aptos" panose="020B0004020202020204" pitchFamily="34" charset="0"/>
              </a:rPr>
              <a:t>Heurísticas de Nielsen</a:t>
            </a:r>
          </a:p>
        </p:txBody>
      </p:sp>
    </p:spTree>
    <p:extLst>
      <p:ext uri="{BB962C8B-B14F-4D97-AF65-F5344CB8AC3E}">
        <p14:creationId xmlns:p14="http://schemas.microsoft.com/office/powerpoint/2010/main" val="3334374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5B12DC67-0647-47BA-AC5D-D75AB1C5E43A}"/>
              </a:ext>
            </a:extLst>
          </p:cNvPr>
          <p:cNvSpPr/>
          <p:nvPr/>
        </p:nvSpPr>
        <p:spPr>
          <a:xfrm>
            <a:off x="843148" y="703901"/>
            <a:ext cx="7297962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Avaliação HEURÍSTICA</a:t>
            </a:r>
            <a:endParaRPr kumimoji="0" lang="pt-BR" sz="2800" b="0" i="0" u="none" strike="noStrike" kern="1200" cap="all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A65BE12-DFC6-CE8F-8176-4040A823A768}"/>
              </a:ext>
            </a:extLst>
          </p:cNvPr>
          <p:cNvSpPr txBox="1"/>
          <p:nvPr/>
        </p:nvSpPr>
        <p:spPr>
          <a:xfrm>
            <a:off x="600337" y="2456795"/>
            <a:ext cx="8221442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2000" b="1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Visibilidade do status do sistema</a:t>
            </a:r>
          </a:p>
          <a:p>
            <a:pPr marL="442913" marR="0" lvl="0" indent="0" algn="l" defTabSz="4429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1" u="none" strike="noStrike" kern="1200" cap="small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 que avaliar</a:t>
            </a: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 </a:t>
            </a:r>
          </a:p>
          <a:p>
            <a:pPr marL="442913" marR="0" lvl="0" indent="0" algn="l" defTabSz="4429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Os usuários são mantidos informados a respeito do que está acontecendo? </a:t>
            </a:r>
          </a:p>
          <a:p>
            <a:pPr marL="442913" marR="0" lvl="0" indent="0" algn="l" defTabSz="4429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É fornecido feedback apropriado, em tempo adequado, sobre a ação de um usuário?</a:t>
            </a:r>
          </a:p>
          <a:p>
            <a:pPr marL="442913" marR="0" lvl="0" indent="0" algn="l" defTabSz="4429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small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r>
              <a:rPr kumimoji="0" lang="pt-BR" sz="2000" b="1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Correspondência entre o sistema e o mundo real</a:t>
            </a:r>
          </a:p>
          <a:p>
            <a:pPr marL="442913" marR="0" lvl="0" indent="0" algn="l" defTabSz="4429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1" u="none" strike="noStrike" kern="1200" cap="small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 que avaliar</a:t>
            </a: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 </a:t>
            </a:r>
          </a:p>
          <a:p>
            <a:pPr marL="442913" marR="0" lvl="0" indent="0" algn="l" defTabSz="4429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linguagem utilizada é simples?</a:t>
            </a:r>
          </a:p>
          <a:p>
            <a:pPr marL="442913" marR="0" lvl="0" indent="0" algn="l" defTabSz="4429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 palavras, frases e os conceitos utilizados são familiares ao usuário?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28E9C5B-6DC1-43C3-3A74-97EC64845BDE}"/>
              </a:ext>
            </a:extLst>
          </p:cNvPr>
          <p:cNvSpPr txBox="1"/>
          <p:nvPr/>
        </p:nvSpPr>
        <p:spPr>
          <a:xfrm>
            <a:off x="317091" y="1575114"/>
            <a:ext cx="85046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Inspeção da usabilidade orientada pelas Heurísticas de Nielsen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</a:t>
            </a:r>
            <a:r>
              <a:rPr kumimoji="0" lang="pt-BR" sz="2000" b="1" i="0" u="none" strike="noStrike" kern="1200" cap="sm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importante</a:t>
            </a: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Lembrem de levar em conta o perfil do usuário padrão do produto)</a:t>
            </a:r>
            <a:endParaRPr kumimoji="0" lang="pt-BR" sz="1400" b="0" i="0" u="none" strike="noStrike" kern="1200" cap="small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372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5B12DC67-0647-47BA-AC5D-D75AB1C5E43A}"/>
              </a:ext>
            </a:extLst>
          </p:cNvPr>
          <p:cNvSpPr/>
          <p:nvPr/>
        </p:nvSpPr>
        <p:spPr>
          <a:xfrm>
            <a:off x="843148" y="703901"/>
            <a:ext cx="7297962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Avaliação HEURÍSTICA</a:t>
            </a:r>
            <a:endParaRPr kumimoji="0" lang="pt-BR" sz="2800" b="0" i="0" u="none" strike="noStrike" kern="1200" cap="all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A65BE12-DFC6-CE8F-8176-4040A823A768}"/>
              </a:ext>
            </a:extLst>
          </p:cNvPr>
          <p:cNvSpPr txBox="1"/>
          <p:nvPr/>
        </p:nvSpPr>
        <p:spPr>
          <a:xfrm>
            <a:off x="600337" y="2456795"/>
            <a:ext cx="7938196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 startAt="3"/>
              <a:tabLst/>
              <a:defRPr/>
            </a:pPr>
            <a:r>
              <a:rPr kumimoji="0" lang="pt-BR" sz="2000" b="1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Controle do usuário e liberdade</a:t>
            </a:r>
          </a:p>
          <a:p>
            <a:pPr marL="442913" marR="0" lvl="0" indent="0" algn="l" defTabSz="4429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1" u="none" strike="noStrike" kern="1200" cap="small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 que avaliar</a:t>
            </a: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 </a:t>
            </a:r>
          </a:p>
          <a:p>
            <a:pPr marL="442913" marR="0" lvl="0" indent="0" algn="l" defTabSz="4429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 usuário tem liberdade de navegação e operação do sistema?</a:t>
            </a:r>
          </a:p>
          <a:p>
            <a:pPr marL="442913" marR="0" lvl="0" indent="0" algn="l" defTabSz="4429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Há maneiras de desfazer ações realizadas por engano?</a:t>
            </a:r>
          </a:p>
          <a:p>
            <a:pPr marL="442913" marR="0" lvl="0" indent="0" algn="l" defTabSz="4429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small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 startAt="4"/>
              <a:tabLst/>
              <a:defRPr/>
            </a:pPr>
            <a:r>
              <a:rPr kumimoji="0" lang="pt-BR" sz="2000" b="1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Consistência e padrões</a:t>
            </a:r>
          </a:p>
          <a:p>
            <a:pPr marL="442913" marR="0" lvl="0" indent="0" algn="l" defTabSz="4429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1" u="none" strike="noStrike" kern="1200" cap="small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 que avaliar</a:t>
            </a: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 </a:t>
            </a:r>
          </a:p>
          <a:p>
            <a:pPr marL="442913" marR="0" lvl="0" indent="0" algn="l" defTabSz="4429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 maneiras de realizar diferentes ações são similares? </a:t>
            </a:r>
          </a:p>
          <a:p>
            <a:pPr marL="442913" marR="0" lvl="0" indent="0" algn="l" defTabSz="4429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 padrão visual, o design, a linguagem, são padronizados ao longo do software?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28E9C5B-6DC1-43C3-3A74-97EC64845BDE}"/>
              </a:ext>
            </a:extLst>
          </p:cNvPr>
          <p:cNvSpPr txBox="1"/>
          <p:nvPr/>
        </p:nvSpPr>
        <p:spPr>
          <a:xfrm>
            <a:off x="317091" y="1575114"/>
            <a:ext cx="85046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Inspeção da usabilidade orientada pelas Heurísticas de Nielsen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</a:t>
            </a:r>
            <a:r>
              <a:rPr kumimoji="0" lang="pt-BR" sz="2000" b="1" i="0" u="none" strike="noStrike" kern="1200" cap="sm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importante</a:t>
            </a: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Lembrem de levar em conta o perfil do usuário padrão do produto)</a:t>
            </a:r>
            <a:endParaRPr kumimoji="0" lang="pt-BR" sz="1400" b="0" i="0" u="none" strike="noStrike" kern="1200" cap="small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544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5B12DC67-0647-47BA-AC5D-D75AB1C5E43A}"/>
              </a:ext>
            </a:extLst>
          </p:cNvPr>
          <p:cNvSpPr/>
          <p:nvPr/>
        </p:nvSpPr>
        <p:spPr>
          <a:xfrm>
            <a:off x="843148" y="703901"/>
            <a:ext cx="7297962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Avaliação HEURÍSTICA</a:t>
            </a:r>
            <a:endParaRPr kumimoji="0" lang="pt-BR" sz="2800" b="0" i="0" u="none" strike="noStrike" kern="1200" cap="all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A65BE12-DFC6-CE8F-8176-4040A823A768}"/>
              </a:ext>
            </a:extLst>
          </p:cNvPr>
          <p:cNvSpPr txBox="1"/>
          <p:nvPr/>
        </p:nvSpPr>
        <p:spPr>
          <a:xfrm>
            <a:off x="600337" y="2456795"/>
            <a:ext cx="7938196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 startAt="5"/>
              <a:tabLst/>
              <a:defRPr/>
            </a:pPr>
            <a:r>
              <a:rPr kumimoji="0" lang="pt-BR" sz="2000" b="1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Prevenção de erros</a:t>
            </a:r>
          </a:p>
          <a:p>
            <a:pPr marL="442913" marR="0" lvl="0" indent="0" algn="l" defTabSz="4429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1" u="none" strike="noStrike" kern="1200" cap="small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 que avaliar</a:t>
            </a: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 </a:t>
            </a:r>
          </a:p>
          <a:p>
            <a:pPr marL="442913" marR="0" lvl="0" indent="0" algn="l" defTabSz="4429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É fácil cometer erros?  Se sim, onde isso ocorre? E por quê?</a:t>
            </a:r>
          </a:p>
          <a:p>
            <a:pPr marL="442913" marR="0" lvl="0" indent="0" algn="l" defTabSz="4429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 sistema tem orientações inadequadas ou funções ambíguas, que podem induzir ao erro?</a:t>
            </a:r>
          </a:p>
          <a:p>
            <a:pPr marL="442913" marR="0" lvl="0" indent="0" algn="l" defTabSz="4429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small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 startAt="6"/>
              <a:tabLst/>
              <a:defRPr/>
            </a:pPr>
            <a:r>
              <a:rPr kumimoji="0" lang="pt-BR" sz="2000" b="1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Ajudar a reconhecer, diagnosticar e recuperar erros </a:t>
            </a:r>
          </a:p>
          <a:p>
            <a:pPr marL="442913" marR="0" lvl="0" indent="0" algn="l" defTabSz="4429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1" u="none" strike="noStrike" kern="1200" cap="small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 que avaliar</a:t>
            </a: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 </a:t>
            </a:r>
          </a:p>
          <a:p>
            <a:pPr marL="442913" marR="0" lvl="0" indent="0" algn="l" defTabSz="4429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 mensagens de erro são claras? Simples? úteis?</a:t>
            </a:r>
          </a:p>
          <a:p>
            <a:pPr marL="442913" marR="0" lvl="0" indent="0" algn="l" defTabSz="4429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 mensagens dão orientações sobre como corrigir o erro apontado?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28E9C5B-6DC1-43C3-3A74-97EC64845BDE}"/>
              </a:ext>
            </a:extLst>
          </p:cNvPr>
          <p:cNvSpPr txBox="1"/>
          <p:nvPr/>
        </p:nvSpPr>
        <p:spPr>
          <a:xfrm>
            <a:off x="317091" y="1575114"/>
            <a:ext cx="85046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Inspeção da usabilidade orientada pelas Heurísticas de Nielsen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</a:t>
            </a:r>
            <a:r>
              <a:rPr kumimoji="0" lang="pt-BR" sz="2000" b="1" i="0" u="none" strike="noStrike" kern="1200" cap="sm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importante</a:t>
            </a: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Lembrem de levar em conta o perfil do usuário padrão do produto)</a:t>
            </a:r>
            <a:endParaRPr kumimoji="0" lang="pt-BR" sz="1400" b="0" i="0" u="none" strike="noStrike" kern="1200" cap="small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815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5B12DC67-0647-47BA-AC5D-D75AB1C5E43A}"/>
              </a:ext>
            </a:extLst>
          </p:cNvPr>
          <p:cNvSpPr/>
          <p:nvPr/>
        </p:nvSpPr>
        <p:spPr>
          <a:xfrm>
            <a:off x="843148" y="703901"/>
            <a:ext cx="7297962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Avaliação HEURÍSTICA</a:t>
            </a:r>
            <a:endParaRPr kumimoji="0" lang="pt-BR" sz="2800" b="0" i="0" u="none" strike="noStrike" kern="1200" cap="all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A65BE12-DFC6-CE8F-8176-4040A823A768}"/>
              </a:ext>
            </a:extLst>
          </p:cNvPr>
          <p:cNvSpPr txBox="1"/>
          <p:nvPr/>
        </p:nvSpPr>
        <p:spPr>
          <a:xfrm>
            <a:off x="600337" y="2456795"/>
            <a:ext cx="7938196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 startAt="7"/>
              <a:tabLst/>
              <a:defRPr/>
            </a:pPr>
            <a:r>
              <a:rPr kumimoji="0" lang="pt-BR" sz="2000" b="1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Reconhecer ao invés de relembrar</a:t>
            </a:r>
          </a:p>
          <a:p>
            <a:pPr marL="442913" marR="0" lvl="0" indent="0" algn="l" defTabSz="4429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1" u="none" strike="noStrike" kern="1200" cap="small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 que avaliar</a:t>
            </a: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 </a:t>
            </a:r>
          </a:p>
          <a:p>
            <a:pPr marL="442913" marR="0" lvl="0" indent="0" algn="l" defTabSz="4429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Os objetos, ações possíveis e informações em geral são sempre visíveis?</a:t>
            </a:r>
          </a:p>
          <a:p>
            <a:pPr marL="442913" marR="0" lvl="0" indent="0" algn="l" defTabSz="4429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Permitem perceber facilmente o que deve ou pode ser realizado no contexto da ação?</a:t>
            </a:r>
          </a:p>
          <a:p>
            <a:pPr marL="442913" marR="0" lvl="0" indent="0" algn="l" defTabSz="4429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small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 startAt="8"/>
              <a:tabLst/>
              <a:defRPr/>
            </a:pPr>
            <a:r>
              <a:rPr kumimoji="0" lang="pt-BR" sz="2000" b="1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Flexibilidade e eficiência de uso</a:t>
            </a:r>
          </a:p>
          <a:p>
            <a:pPr marL="442913" marR="0" lvl="0" indent="0" algn="l" defTabSz="4429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1" u="none" strike="noStrike" kern="1200" cap="small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 que avaliar</a:t>
            </a: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 </a:t>
            </a:r>
          </a:p>
          <a:p>
            <a:pPr marL="442913" marR="0" lvl="0" indent="0" algn="l" defTabSz="4429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 sistema oferece “aceleradores” ou atalhos para usuários mais experientes realizarem tarefas mais rapidamente?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28E9C5B-6DC1-43C3-3A74-97EC64845BDE}"/>
              </a:ext>
            </a:extLst>
          </p:cNvPr>
          <p:cNvSpPr txBox="1"/>
          <p:nvPr/>
        </p:nvSpPr>
        <p:spPr>
          <a:xfrm>
            <a:off x="317091" y="1575114"/>
            <a:ext cx="85046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Inspeção da usabilidade orientada pelas Heurísticas de Nielsen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</a:t>
            </a:r>
            <a:r>
              <a:rPr kumimoji="0" lang="pt-BR" sz="2000" b="1" i="0" u="none" strike="noStrike" kern="1200" cap="sm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importante</a:t>
            </a: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Lembrem de levar em conta o perfil do usuário padrão do produto)</a:t>
            </a:r>
            <a:endParaRPr kumimoji="0" lang="pt-BR" sz="1400" b="0" i="0" u="none" strike="noStrike" kern="1200" cap="small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003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5B12DC67-0647-47BA-AC5D-D75AB1C5E43A}"/>
              </a:ext>
            </a:extLst>
          </p:cNvPr>
          <p:cNvSpPr/>
          <p:nvPr/>
        </p:nvSpPr>
        <p:spPr>
          <a:xfrm>
            <a:off x="843148" y="703901"/>
            <a:ext cx="7297962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Avaliação HEURÍSTICA</a:t>
            </a:r>
            <a:endParaRPr kumimoji="0" lang="pt-BR" sz="2800" b="0" i="0" u="none" strike="noStrike" kern="1200" cap="all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A65BE12-DFC6-CE8F-8176-4040A823A768}"/>
              </a:ext>
            </a:extLst>
          </p:cNvPr>
          <p:cNvSpPr txBox="1"/>
          <p:nvPr/>
        </p:nvSpPr>
        <p:spPr>
          <a:xfrm>
            <a:off x="600337" y="2456795"/>
            <a:ext cx="7938196" cy="4170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 startAt="9"/>
              <a:tabLst/>
              <a:defRPr/>
            </a:pPr>
            <a:r>
              <a:rPr kumimoji="0" lang="pt-BR" sz="2000" b="1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Estética e Design minimalistas</a:t>
            </a:r>
          </a:p>
          <a:p>
            <a:pPr marL="442913" marR="0" lvl="0" indent="0" algn="l" defTabSz="4429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1" u="none" strike="noStrike" kern="1200" cap="small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 que avaliar</a:t>
            </a: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 </a:t>
            </a:r>
          </a:p>
          <a:p>
            <a:pPr marL="442913" marR="0" lvl="0" indent="0" algn="l" defTabSz="4429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 design é leve? Objetivo? </a:t>
            </a:r>
          </a:p>
          <a:p>
            <a:pPr marL="442913" marR="0" lvl="0" indent="0" algn="l" defTabSz="4429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Existem informações, objetos e outros elementos desnecessários e irrelevantes?</a:t>
            </a:r>
          </a:p>
          <a:p>
            <a:pPr marL="442913" marR="0" lvl="0" indent="0" algn="l" defTabSz="4429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Proporciona uma experiência eficaz? Com decisões rápidas?</a:t>
            </a:r>
          </a:p>
          <a:p>
            <a:pPr marL="442913" marR="0" lvl="0" indent="0" algn="l" defTabSz="4429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small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 startAt="10"/>
              <a:tabLst/>
              <a:defRPr/>
            </a:pPr>
            <a:r>
              <a:rPr kumimoji="0" lang="pt-BR" sz="2000" b="1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Ajuda e documentação</a:t>
            </a:r>
          </a:p>
          <a:p>
            <a:pPr marL="442913" marR="0" lvl="0" indent="0" algn="l" defTabSz="4429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1" u="none" strike="noStrike" kern="1200" cap="small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 que avaliar</a:t>
            </a: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 </a:t>
            </a:r>
          </a:p>
          <a:p>
            <a:pPr marL="442913" marR="0" lvl="0" indent="0" algn="l" defTabSz="4429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 sistema oferece ajuda que possa ser facilmente acessada e seguida?</a:t>
            </a:r>
          </a:p>
          <a:p>
            <a:pPr marL="442913" marR="0" lvl="0" indent="0" algn="l" defTabSz="4429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 ajudas e documentações são contextualizadas?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28E9C5B-6DC1-43C3-3A74-97EC64845BDE}"/>
              </a:ext>
            </a:extLst>
          </p:cNvPr>
          <p:cNvSpPr txBox="1"/>
          <p:nvPr/>
        </p:nvSpPr>
        <p:spPr>
          <a:xfrm>
            <a:off x="317091" y="1575114"/>
            <a:ext cx="85046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Inspeção da usabilidade orientada pelas Heurísticas de Nielsen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</a:t>
            </a:r>
            <a:r>
              <a:rPr kumimoji="0" lang="pt-BR" sz="2000" b="1" i="0" u="none" strike="noStrike" kern="1200" cap="sm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importante</a:t>
            </a: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Lembrem de levar em conta o perfil do usuário padrão do produto)</a:t>
            </a:r>
            <a:endParaRPr kumimoji="0" lang="pt-BR" sz="1400" b="0" i="0" u="none" strike="noStrike" kern="1200" cap="small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4361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D659E-4F35-16C4-BD63-0E14F03C6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Imagem 50">
            <a:extLst>
              <a:ext uri="{FF2B5EF4-FFF2-40B4-BE49-F238E27FC236}">
                <a16:creationId xmlns:a16="http://schemas.microsoft.com/office/drawing/2014/main" id="{1BBC5687-8FD3-856B-127F-0DF986FDBE38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447800"/>
            <a:ext cx="9144000" cy="5225143"/>
          </a:xfrm>
          <a:prstGeom prst="rect">
            <a:avLst/>
          </a:prstGeom>
        </p:spPr>
      </p:pic>
      <p:sp>
        <p:nvSpPr>
          <p:cNvPr id="58" name="Seta: Quádrupla 57">
            <a:extLst>
              <a:ext uri="{FF2B5EF4-FFF2-40B4-BE49-F238E27FC236}">
                <a16:creationId xmlns:a16="http://schemas.microsoft.com/office/drawing/2014/main" id="{57B8FAD3-F435-0FE1-95BB-76C6E9459BC4}"/>
              </a:ext>
            </a:extLst>
          </p:cNvPr>
          <p:cNvSpPr/>
          <p:nvPr/>
        </p:nvSpPr>
        <p:spPr>
          <a:xfrm rot="2712357">
            <a:off x="2466882" y="1881595"/>
            <a:ext cx="4422394" cy="4422394"/>
          </a:xfrm>
          <a:prstGeom prst="quadArrow">
            <a:avLst>
              <a:gd name="adj1" fmla="val 14689"/>
              <a:gd name="adj2" fmla="val 17905"/>
              <a:gd name="adj3" fmla="val 22041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94B4D78-F33B-E935-68CA-5F386C1F8972}"/>
              </a:ext>
            </a:extLst>
          </p:cNvPr>
          <p:cNvSpPr/>
          <p:nvPr/>
        </p:nvSpPr>
        <p:spPr>
          <a:xfrm>
            <a:off x="765048" y="842772"/>
            <a:ext cx="71755" cy="285115"/>
          </a:xfrm>
          <a:custGeom>
            <a:avLst/>
            <a:gdLst/>
            <a:ahLst/>
            <a:cxnLst/>
            <a:rect l="l" t="t" r="r" b="b"/>
            <a:pathLst>
              <a:path w="71755" h="285115">
                <a:moveTo>
                  <a:pt x="71627" y="0"/>
                </a:moveTo>
                <a:lnTo>
                  <a:pt x="0" y="0"/>
                </a:lnTo>
                <a:lnTo>
                  <a:pt x="0" y="284988"/>
                </a:lnTo>
                <a:lnTo>
                  <a:pt x="71627" y="284988"/>
                </a:lnTo>
                <a:lnTo>
                  <a:pt x="71627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1498D0B-C3D0-9E92-2760-7E5BE48FACE7}"/>
              </a:ext>
            </a:extLst>
          </p:cNvPr>
          <p:cNvSpPr txBox="1"/>
          <p:nvPr/>
        </p:nvSpPr>
        <p:spPr>
          <a:xfrm>
            <a:off x="1038758" y="814603"/>
            <a:ext cx="335597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CONTEÚDO</a:t>
            </a:r>
            <a:r>
              <a:rPr sz="2800" b="1" spc="-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DO</a:t>
            </a:r>
            <a:r>
              <a:rPr sz="2800" b="1" spc="-7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2F2F2F"/>
                </a:solidFill>
                <a:latin typeface="Calibri"/>
                <a:cs typeface="Calibri"/>
              </a:rPr>
              <a:t>CURSO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A24D17BB-80B0-989D-AB55-78E88F122EBC}"/>
              </a:ext>
            </a:extLst>
          </p:cNvPr>
          <p:cNvGrpSpPr/>
          <p:nvPr/>
        </p:nvGrpSpPr>
        <p:grpSpPr>
          <a:xfrm>
            <a:off x="765048" y="704087"/>
            <a:ext cx="5579745" cy="523240"/>
            <a:chOff x="765048" y="704087"/>
            <a:chExt cx="5579745" cy="52324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D7169B5B-54EF-FE4C-8205-28275F612328}"/>
                </a:ext>
              </a:extLst>
            </p:cNvPr>
            <p:cNvSpPr/>
            <p:nvPr/>
          </p:nvSpPr>
          <p:spPr>
            <a:xfrm>
              <a:off x="765048" y="804671"/>
              <a:ext cx="71755" cy="285115"/>
            </a:xfrm>
            <a:custGeom>
              <a:avLst/>
              <a:gdLst/>
              <a:ahLst/>
              <a:cxnLst/>
              <a:rect l="l" t="t" r="r" b="b"/>
              <a:pathLst>
                <a:path w="71755" h="285115">
                  <a:moveTo>
                    <a:pt x="71627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71627" y="2849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CB9716A7-5FBE-3EAD-0853-A97F8F791140}"/>
                </a:ext>
              </a:extLst>
            </p:cNvPr>
            <p:cNvSpPr/>
            <p:nvPr/>
          </p:nvSpPr>
          <p:spPr>
            <a:xfrm>
              <a:off x="842772" y="704087"/>
              <a:ext cx="5501640" cy="523240"/>
            </a:xfrm>
            <a:custGeom>
              <a:avLst/>
              <a:gdLst/>
              <a:ahLst/>
              <a:cxnLst/>
              <a:rect l="l" t="t" r="r" b="b"/>
              <a:pathLst>
                <a:path w="5501640" h="523240">
                  <a:moveTo>
                    <a:pt x="5501640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5501640" y="522731"/>
                  </a:lnTo>
                  <a:lnTo>
                    <a:pt x="5501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206F170F-745E-774C-211A-D26D7B3825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121" y="714248"/>
            <a:ext cx="52006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dirty="0"/>
              <a:t>AVALIAÇÃO DA IHC</a:t>
            </a:r>
            <a:endParaRPr spc="-20" dirty="0"/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B2270672-118E-746D-C4C7-8E381AE60CED}"/>
              </a:ext>
            </a:extLst>
          </p:cNvPr>
          <p:cNvSpPr txBox="1"/>
          <p:nvPr/>
        </p:nvSpPr>
        <p:spPr>
          <a:xfrm>
            <a:off x="1550994" y="2161001"/>
            <a:ext cx="2971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cap="small" dirty="0">
                <a:latin typeface="Aptos" panose="020B0004020202020204" pitchFamily="34" charset="0"/>
              </a:rPr>
              <a:t>Testes de </a:t>
            </a:r>
            <a:r>
              <a:rPr lang="pt-BR" sz="4000" b="1" cap="small" dirty="0">
                <a:latin typeface="Aptos" panose="020B0004020202020204" pitchFamily="34" charset="0"/>
              </a:rPr>
              <a:t>Usabilidade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C7911FB5-2150-FFD7-9240-0D81D1DEAAF5}"/>
              </a:ext>
            </a:extLst>
          </p:cNvPr>
          <p:cNvSpPr txBox="1"/>
          <p:nvPr/>
        </p:nvSpPr>
        <p:spPr>
          <a:xfrm>
            <a:off x="5195006" y="2138037"/>
            <a:ext cx="25549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cap="small" dirty="0">
                <a:latin typeface="Aptos" panose="020B0004020202020204" pitchFamily="34" charset="0"/>
              </a:rPr>
              <a:t>Análise de </a:t>
            </a:r>
            <a:r>
              <a:rPr lang="pt-BR" sz="4000" b="1" cap="small" dirty="0">
                <a:latin typeface="Aptos" panose="020B0004020202020204" pitchFamily="34" charset="0"/>
              </a:rPr>
              <a:t>Métricas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B0912E26-2AE6-B353-B8A2-92B5BBF6B3C3}"/>
              </a:ext>
            </a:extLst>
          </p:cNvPr>
          <p:cNvSpPr txBox="1"/>
          <p:nvPr/>
        </p:nvSpPr>
        <p:spPr>
          <a:xfrm>
            <a:off x="1643580" y="4648200"/>
            <a:ext cx="27866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cap="small" dirty="0">
                <a:latin typeface="Aptos" panose="020B0004020202020204" pitchFamily="34" charset="0"/>
              </a:rPr>
              <a:t>Feedback</a:t>
            </a:r>
            <a:r>
              <a:rPr lang="pt-BR" sz="4000" cap="small" dirty="0">
                <a:latin typeface="Aptos" panose="020B0004020202020204" pitchFamily="34" charset="0"/>
              </a:rPr>
              <a:t> de Usuários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AB0F7AC6-77CA-4E07-CE7A-8764CA306BD3}"/>
              </a:ext>
            </a:extLst>
          </p:cNvPr>
          <p:cNvSpPr txBox="1"/>
          <p:nvPr/>
        </p:nvSpPr>
        <p:spPr>
          <a:xfrm>
            <a:off x="5181600" y="4648200"/>
            <a:ext cx="25817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cap="small" dirty="0">
                <a:latin typeface="Aptos" panose="020B0004020202020204" pitchFamily="34" charset="0"/>
              </a:rPr>
              <a:t>Análise </a:t>
            </a:r>
            <a:r>
              <a:rPr lang="pt-BR" sz="4000" b="1" cap="small" dirty="0">
                <a:latin typeface="Aptos" panose="020B0004020202020204" pitchFamily="34" charset="0"/>
              </a:rPr>
              <a:t>Heurística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C04D6265-C4A6-75DC-3660-9F73FB20DB43}"/>
              </a:ext>
            </a:extLst>
          </p:cNvPr>
          <p:cNvSpPr/>
          <p:nvPr/>
        </p:nvSpPr>
        <p:spPr>
          <a:xfrm>
            <a:off x="715680" y="3586865"/>
            <a:ext cx="7924798" cy="88232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cap="small" dirty="0">
                <a:latin typeface="Aptos" panose="020B0004020202020204" pitchFamily="34" charset="0"/>
              </a:rPr>
              <a:t>APLICAÇÃO NO PROJETO STARTUP ONE</a:t>
            </a:r>
            <a:endParaRPr lang="pt-BR" sz="2800" cap="small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946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33A3C-1699-A745-4EC3-CFCCB3C58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Imagem 50">
            <a:extLst>
              <a:ext uri="{FF2B5EF4-FFF2-40B4-BE49-F238E27FC236}">
                <a16:creationId xmlns:a16="http://schemas.microsoft.com/office/drawing/2014/main" id="{BCE38CF2-99D6-0CA7-9F1F-94CE2D99672D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447800"/>
            <a:ext cx="9144000" cy="5225143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A5F45788-6D2D-9318-89D4-B7AEE5BF820E}"/>
              </a:ext>
            </a:extLst>
          </p:cNvPr>
          <p:cNvSpPr/>
          <p:nvPr/>
        </p:nvSpPr>
        <p:spPr>
          <a:xfrm>
            <a:off x="765048" y="842772"/>
            <a:ext cx="71755" cy="285115"/>
          </a:xfrm>
          <a:custGeom>
            <a:avLst/>
            <a:gdLst/>
            <a:ahLst/>
            <a:cxnLst/>
            <a:rect l="l" t="t" r="r" b="b"/>
            <a:pathLst>
              <a:path w="71755" h="285115">
                <a:moveTo>
                  <a:pt x="71627" y="0"/>
                </a:moveTo>
                <a:lnTo>
                  <a:pt x="0" y="0"/>
                </a:lnTo>
                <a:lnTo>
                  <a:pt x="0" y="284988"/>
                </a:lnTo>
                <a:lnTo>
                  <a:pt x="71627" y="284988"/>
                </a:lnTo>
                <a:lnTo>
                  <a:pt x="71627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843D767-71A3-4909-32AA-4E20ACC715DC}"/>
              </a:ext>
            </a:extLst>
          </p:cNvPr>
          <p:cNvSpPr txBox="1"/>
          <p:nvPr/>
        </p:nvSpPr>
        <p:spPr>
          <a:xfrm>
            <a:off x="1038758" y="814603"/>
            <a:ext cx="335597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CONTEÚDO</a:t>
            </a:r>
            <a:r>
              <a:rPr sz="2800" b="1" spc="-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DO</a:t>
            </a:r>
            <a:r>
              <a:rPr sz="2800" b="1" spc="-7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2F2F2F"/>
                </a:solidFill>
                <a:latin typeface="Calibri"/>
                <a:cs typeface="Calibri"/>
              </a:rPr>
              <a:t>CURSO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A0E57A1B-D500-3E11-4641-00EB305CE957}"/>
              </a:ext>
            </a:extLst>
          </p:cNvPr>
          <p:cNvGrpSpPr/>
          <p:nvPr/>
        </p:nvGrpSpPr>
        <p:grpSpPr>
          <a:xfrm>
            <a:off x="765048" y="704087"/>
            <a:ext cx="5579745" cy="523240"/>
            <a:chOff x="765048" y="704087"/>
            <a:chExt cx="5579745" cy="52324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C0AFED2E-1B43-B39E-C4AD-C96BB1D8AD5C}"/>
                </a:ext>
              </a:extLst>
            </p:cNvPr>
            <p:cNvSpPr/>
            <p:nvPr/>
          </p:nvSpPr>
          <p:spPr>
            <a:xfrm>
              <a:off x="765048" y="804671"/>
              <a:ext cx="71755" cy="285115"/>
            </a:xfrm>
            <a:custGeom>
              <a:avLst/>
              <a:gdLst/>
              <a:ahLst/>
              <a:cxnLst/>
              <a:rect l="l" t="t" r="r" b="b"/>
              <a:pathLst>
                <a:path w="71755" h="285115">
                  <a:moveTo>
                    <a:pt x="71627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71627" y="2849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A1FCE83-77E8-CCE0-A193-5FBB491F817A}"/>
                </a:ext>
              </a:extLst>
            </p:cNvPr>
            <p:cNvSpPr/>
            <p:nvPr/>
          </p:nvSpPr>
          <p:spPr>
            <a:xfrm>
              <a:off x="842772" y="704087"/>
              <a:ext cx="5501640" cy="523240"/>
            </a:xfrm>
            <a:custGeom>
              <a:avLst/>
              <a:gdLst/>
              <a:ahLst/>
              <a:cxnLst/>
              <a:rect l="l" t="t" r="r" b="b"/>
              <a:pathLst>
                <a:path w="5501640" h="523240">
                  <a:moveTo>
                    <a:pt x="5501640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5501640" y="522731"/>
                  </a:lnTo>
                  <a:lnTo>
                    <a:pt x="5501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69B2EA2C-7027-8CEB-B0D7-7562FB8239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121" y="714248"/>
            <a:ext cx="52006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dirty="0"/>
              <a:t>AVALIAÇÃO DA IHC</a:t>
            </a:r>
            <a:endParaRPr spc="-20" dirty="0"/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63809E65-DB2C-7879-27CB-1CF442F16C81}"/>
              </a:ext>
            </a:extLst>
          </p:cNvPr>
          <p:cNvSpPr txBox="1"/>
          <p:nvPr/>
        </p:nvSpPr>
        <p:spPr>
          <a:xfrm>
            <a:off x="841375" y="4341323"/>
            <a:ext cx="8174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800" cap="small" dirty="0">
                <a:latin typeface="Aptos" panose="020B0004020202020204" pitchFamily="34" charset="0"/>
              </a:rPr>
              <a:t>4 - Realizar Testes de </a:t>
            </a:r>
            <a:r>
              <a:rPr lang="pt-BR" sz="2800" b="1" cap="small" dirty="0">
                <a:latin typeface="Aptos" panose="020B0004020202020204" pitchFamily="34" charset="0"/>
              </a:rPr>
              <a:t>Usabilidade</a:t>
            </a:r>
            <a:r>
              <a:rPr lang="pt-BR" sz="2000" cap="small" dirty="0">
                <a:latin typeface="Aptos" panose="020B0004020202020204" pitchFamily="34" charset="0"/>
              </a:rPr>
              <a:t> (Coletando Métricas)</a:t>
            </a:r>
            <a:endParaRPr lang="pt-BR" sz="2800" cap="small" dirty="0">
              <a:latin typeface="Aptos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C55D511E-AAAA-3E4B-5AA2-33E2CF0654BE}"/>
              </a:ext>
            </a:extLst>
          </p:cNvPr>
          <p:cNvSpPr txBox="1"/>
          <p:nvPr/>
        </p:nvSpPr>
        <p:spPr>
          <a:xfrm>
            <a:off x="836802" y="3839280"/>
            <a:ext cx="7342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800" cap="small" dirty="0">
                <a:latin typeface="Aptos" panose="020B0004020202020204" pitchFamily="34" charset="0"/>
              </a:rPr>
              <a:t>3 - Definir </a:t>
            </a:r>
            <a:r>
              <a:rPr lang="pt-BR" sz="2800" b="1" cap="small" dirty="0">
                <a:latin typeface="Aptos" panose="020B0004020202020204" pitchFamily="34" charset="0"/>
              </a:rPr>
              <a:t>Métricas</a:t>
            </a:r>
            <a:r>
              <a:rPr lang="pt-BR" sz="2800" cap="small" dirty="0">
                <a:latin typeface="Aptos" panose="020B0004020202020204" pitchFamily="34" charset="0"/>
              </a:rPr>
              <a:t> que devem ser analisadas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D0FFB117-B5F9-3C1D-5164-B57A4EDDB943}"/>
              </a:ext>
            </a:extLst>
          </p:cNvPr>
          <p:cNvSpPr txBox="1"/>
          <p:nvPr/>
        </p:nvSpPr>
        <p:spPr>
          <a:xfrm>
            <a:off x="841376" y="4843365"/>
            <a:ext cx="7141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800" cap="small" dirty="0">
                <a:latin typeface="Aptos" panose="020B0004020202020204" pitchFamily="34" charset="0"/>
              </a:rPr>
              <a:t>5 - Criar e aplicar ferramenta de </a:t>
            </a:r>
            <a:r>
              <a:rPr lang="pt-BR" sz="2800" b="1" cap="small" dirty="0">
                <a:latin typeface="Aptos" panose="020B0004020202020204" pitchFamily="34" charset="0"/>
              </a:rPr>
              <a:t>Feedback</a:t>
            </a:r>
            <a:endParaRPr lang="pt-BR" sz="2800" cap="small" dirty="0">
              <a:latin typeface="Aptos" panose="020B0004020202020204" pitchFamily="34" charset="0"/>
            </a:endParaRP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35D716A1-FFEE-22F0-E2DC-0C2B23C462EF}"/>
              </a:ext>
            </a:extLst>
          </p:cNvPr>
          <p:cNvSpPr txBox="1"/>
          <p:nvPr/>
        </p:nvSpPr>
        <p:spPr>
          <a:xfrm>
            <a:off x="841377" y="3337237"/>
            <a:ext cx="807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800" cap="small" dirty="0">
                <a:latin typeface="Aptos" panose="020B0004020202020204" pitchFamily="34" charset="0"/>
              </a:rPr>
              <a:t>2 - Realizar e documentar a Análise </a:t>
            </a:r>
            <a:r>
              <a:rPr lang="pt-BR" sz="2800" b="1" cap="small" dirty="0">
                <a:latin typeface="Aptos" panose="020B0004020202020204" pitchFamily="34" charset="0"/>
              </a:rPr>
              <a:t>Heurística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18F832A3-D576-2199-EE30-D1F6DB3B9B29}"/>
              </a:ext>
            </a:extLst>
          </p:cNvPr>
          <p:cNvSpPr/>
          <p:nvPr/>
        </p:nvSpPr>
        <p:spPr>
          <a:xfrm>
            <a:off x="609601" y="1767953"/>
            <a:ext cx="7924798" cy="88232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cap="small" dirty="0">
                <a:latin typeface="Aptos" panose="020B0004020202020204" pitchFamily="34" charset="0"/>
              </a:rPr>
              <a:t>APLICAÇÃO NO PROJETO STARTUP ONE</a:t>
            </a:r>
            <a:endParaRPr lang="pt-BR" sz="2800" cap="small" dirty="0">
              <a:latin typeface="Aptos" panose="020B000402020202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542811C-A8C5-9143-373D-B724575BBC1E}"/>
              </a:ext>
            </a:extLst>
          </p:cNvPr>
          <p:cNvSpPr txBox="1"/>
          <p:nvPr/>
        </p:nvSpPr>
        <p:spPr>
          <a:xfrm>
            <a:off x="841375" y="2835194"/>
            <a:ext cx="76930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800" cap="small" dirty="0">
                <a:latin typeface="Aptos" panose="020B0004020202020204" pitchFamily="34" charset="0"/>
              </a:rPr>
              <a:t>1 - Identificar </a:t>
            </a:r>
            <a:r>
              <a:rPr lang="pt-BR" sz="2800" b="1" cap="small" dirty="0">
                <a:latin typeface="Aptos" panose="020B0004020202020204" pitchFamily="34" charset="0"/>
              </a:rPr>
              <a:t>pontos de interação </a:t>
            </a:r>
            <a:r>
              <a:rPr lang="pt-BR" sz="2800" cap="small" dirty="0">
                <a:latin typeface="Aptos" panose="020B0004020202020204" pitchFamily="34" charset="0"/>
              </a:rPr>
              <a:t>da solução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60980B6-04ED-EC1B-B7A4-C9261AC7E8EB}"/>
              </a:ext>
            </a:extLst>
          </p:cNvPr>
          <p:cNvSpPr txBox="1"/>
          <p:nvPr/>
        </p:nvSpPr>
        <p:spPr>
          <a:xfrm>
            <a:off x="298465" y="5522893"/>
            <a:ext cx="86169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cap="small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Checkpoint 4 </a:t>
            </a:r>
            <a:r>
              <a:rPr lang="pt-BR" sz="2800" cap="small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– Apresentar Plano de Avaliação e Posterior resultado da avaliação com sua aplicação</a:t>
            </a:r>
          </a:p>
        </p:txBody>
      </p:sp>
    </p:spTree>
    <p:extLst>
      <p:ext uri="{BB962C8B-B14F-4D97-AF65-F5344CB8AC3E}">
        <p14:creationId xmlns:p14="http://schemas.microsoft.com/office/powerpoint/2010/main" val="27578511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05628"/>
            <a:ext cx="9144000" cy="1452880"/>
          </a:xfrm>
          <a:custGeom>
            <a:avLst/>
            <a:gdLst/>
            <a:ahLst/>
            <a:cxnLst/>
            <a:rect l="l" t="t" r="r" b="b"/>
            <a:pathLst>
              <a:path w="9144000" h="1452879">
                <a:moveTo>
                  <a:pt x="0" y="1452371"/>
                </a:moveTo>
                <a:lnTo>
                  <a:pt x="9144000" y="1452371"/>
                </a:lnTo>
                <a:lnTo>
                  <a:pt x="9144000" y="0"/>
                </a:lnTo>
                <a:lnTo>
                  <a:pt x="0" y="0"/>
                </a:lnTo>
                <a:lnTo>
                  <a:pt x="0" y="1452371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9144000" cy="2580640"/>
            <a:chOff x="0" y="0"/>
            <a:chExt cx="9144000" cy="25806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144000" cy="2580640"/>
            </a:xfrm>
            <a:custGeom>
              <a:avLst/>
              <a:gdLst/>
              <a:ahLst/>
              <a:cxnLst/>
              <a:rect l="l" t="t" r="r" b="b"/>
              <a:pathLst>
                <a:path w="9144000" h="2580640">
                  <a:moveTo>
                    <a:pt x="0" y="2580132"/>
                  </a:moveTo>
                  <a:lnTo>
                    <a:pt x="9144000" y="2580132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580132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837920" y="331888"/>
              <a:ext cx="975994" cy="269240"/>
            </a:xfrm>
            <a:custGeom>
              <a:avLst/>
              <a:gdLst/>
              <a:ahLst/>
              <a:cxnLst/>
              <a:rect l="l" t="t" r="r" b="b"/>
              <a:pathLst>
                <a:path w="975995" h="269240">
                  <a:moveTo>
                    <a:pt x="167652" y="127749"/>
                  </a:moveTo>
                  <a:lnTo>
                    <a:pt x="72186" y="127749"/>
                  </a:lnTo>
                  <a:lnTo>
                    <a:pt x="72186" y="146875"/>
                  </a:lnTo>
                  <a:lnTo>
                    <a:pt x="167652" y="146875"/>
                  </a:lnTo>
                  <a:lnTo>
                    <a:pt x="167652" y="127749"/>
                  </a:lnTo>
                  <a:close/>
                </a:path>
                <a:path w="975995" h="269240">
                  <a:moveTo>
                    <a:pt x="221195" y="0"/>
                  </a:moveTo>
                  <a:lnTo>
                    <a:pt x="0" y="0"/>
                  </a:lnTo>
                  <a:lnTo>
                    <a:pt x="0" y="17983"/>
                  </a:lnTo>
                  <a:lnTo>
                    <a:pt x="12" y="268566"/>
                  </a:lnTo>
                  <a:lnTo>
                    <a:pt x="19405" y="268579"/>
                  </a:lnTo>
                  <a:lnTo>
                    <a:pt x="19405" y="17983"/>
                  </a:lnTo>
                  <a:lnTo>
                    <a:pt x="221195" y="17983"/>
                  </a:lnTo>
                  <a:lnTo>
                    <a:pt x="221195" y="0"/>
                  </a:lnTo>
                  <a:close/>
                </a:path>
                <a:path w="975995" h="269240">
                  <a:moveTo>
                    <a:pt x="298030" y="279"/>
                  </a:moveTo>
                  <a:lnTo>
                    <a:pt x="278625" y="279"/>
                  </a:lnTo>
                  <a:lnTo>
                    <a:pt x="278625" y="268770"/>
                  </a:lnTo>
                  <a:lnTo>
                    <a:pt x="298030" y="268770"/>
                  </a:lnTo>
                  <a:lnTo>
                    <a:pt x="298030" y="279"/>
                  </a:lnTo>
                  <a:close/>
                </a:path>
                <a:path w="975995" h="269240">
                  <a:moveTo>
                    <a:pt x="615454" y="148463"/>
                  </a:moveTo>
                  <a:lnTo>
                    <a:pt x="537616" y="19405"/>
                  </a:lnTo>
                  <a:lnTo>
                    <a:pt x="527050" y="1879"/>
                  </a:lnTo>
                  <a:lnTo>
                    <a:pt x="502856" y="1879"/>
                  </a:lnTo>
                  <a:lnTo>
                    <a:pt x="343814" y="267982"/>
                  </a:lnTo>
                  <a:lnTo>
                    <a:pt x="363994" y="267982"/>
                  </a:lnTo>
                  <a:lnTo>
                    <a:pt x="514565" y="19405"/>
                  </a:lnTo>
                  <a:lnTo>
                    <a:pt x="592937" y="148463"/>
                  </a:lnTo>
                  <a:lnTo>
                    <a:pt x="615454" y="148463"/>
                  </a:lnTo>
                  <a:close/>
                </a:path>
                <a:path w="975995" h="269240">
                  <a:moveTo>
                    <a:pt x="686854" y="267982"/>
                  </a:moveTo>
                  <a:lnTo>
                    <a:pt x="644944" y="198666"/>
                  </a:lnTo>
                  <a:lnTo>
                    <a:pt x="623214" y="198666"/>
                  </a:lnTo>
                  <a:lnTo>
                    <a:pt x="665899" y="267982"/>
                  </a:lnTo>
                  <a:lnTo>
                    <a:pt x="686854" y="267982"/>
                  </a:lnTo>
                  <a:close/>
                </a:path>
                <a:path w="975995" h="269240">
                  <a:moveTo>
                    <a:pt x="975372" y="53340"/>
                  </a:moveTo>
                  <a:lnTo>
                    <a:pt x="973899" y="46202"/>
                  </a:lnTo>
                  <a:lnTo>
                    <a:pt x="953922" y="20688"/>
                  </a:lnTo>
                  <a:lnTo>
                    <a:pt x="946721" y="17005"/>
                  </a:lnTo>
                  <a:lnTo>
                    <a:pt x="923048" y="4889"/>
                  </a:lnTo>
                  <a:lnTo>
                    <a:pt x="900836" y="1879"/>
                  </a:lnTo>
                  <a:lnTo>
                    <a:pt x="728764" y="1879"/>
                  </a:lnTo>
                  <a:lnTo>
                    <a:pt x="728764" y="267182"/>
                  </a:lnTo>
                  <a:lnTo>
                    <a:pt x="748169" y="267182"/>
                  </a:lnTo>
                  <a:lnTo>
                    <a:pt x="748169" y="17005"/>
                  </a:lnTo>
                  <a:lnTo>
                    <a:pt x="881659" y="17005"/>
                  </a:lnTo>
                  <a:lnTo>
                    <a:pt x="914120" y="21158"/>
                  </a:lnTo>
                  <a:lnTo>
                    <a:pt x="939380" y="33439"/>
                  </a:lnTo>
                  <a:lnTo>
                    <a:pt x="955763" y="53644"/>
                  </a:lnTo>
                  <a:lnTo>
                    <a:pt x="961593" y="81534"/>
                  </a:lnTo>
                  <a:lnTo>
                    <a:pt x="961593" y="82346"/>
                  </a:lnTo>
                  <a:lnTo>
                    <a:pt x="955624" y="109486"/>
                  </a:lnTo>
                  <a:lnTo>
                    <a:pt x="938898" y="130340"/>
                  </a:lnTo>
                  <a:lnTo>
                    <a:pt x="913142" y="143738"/>
                  </a:lnTo>
                  <a:lnTo>
                    <a:pt x="880110" y="148463"/>
                  </a:lnTo>
                  <a:lnTo>
                    <a:pt x="818019" y="148463"/>
                  </a:lnTo>
                  <a:lnTo>
                    <a:pt x="818019" y="166789"/>
                  </a:lnTo>
                  <a:lnTo>
                    <a:pt x="878560" y="166789"/>
                  </a:lnTo>
                  <a:lnTo>
                    <a:pt x="917803" y="161429"/>
                  </a:lnTo>
                  <a:lnTo>
                    <a:pt x="950442" y="145376"/>
                  </a:lnTo>
                  <a:lnTo>
                    <a:pt x="972731" y="118732"/>
                  </a:lnTo>
                  <a:lnTo>
                    <a:pt x="975372" y="106883"/>
                  </a:lnTo>
                  <a:lnTo>
                    <a:pt x="975372" y="533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45743" y="3316249"/>
            <a:ext cx="6152515" cy="1290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05"/>
              </a:lnSpc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Copyright</a:t>
            </a:r>
            <a:r>
              <a:rPr sz="20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2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2015</a:t>
            </a:r>
            <a:r>
              <a:rPr sz="2000" b="1" spc="3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Calibri"/>
                <a:cs typeface="Calibri"/>
              </a:rPr>
              <a:t>Prof.</a:t>
            </a:r>
            <a:r>
              <a:rPr sz="2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Leandro</a:t>
            </a:r>
            <a:r>
              <a:rPr sz="20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Rubim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10000"/>
              </a:lnSpc>
              <a:spcBef>
                <a:spcPts val="1839"/>
              </a:spcBef>
            </a:pP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Todos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direitos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reservados.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Reprodução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ou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divulgação</a:t>
            </a:r>
            <a:r>
              <a:rPr sz="16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ou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parcial</a:t>
            </a:r>
            <a:r>
              <a:rPr sz="16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deste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documento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é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expressamente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proíbido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sem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consentimento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formal,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por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escrito,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Professor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(autor).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2580132"/>
            <a:ext cx="9144000" cy="2825750"/>
          </a:xfrm>
          <a:custGeom>
            <a:avLst/>
            <a:gdLst/>
            <a:ahLst/>
            <a:cxnLst/>
            <a:rect l="l" t="t" r="r" b="b"/>
            <a:pathLst>
              <a:path w="9144000" h="2825750">
                <a:moveTo>
                  <a:pt x="9144000" y="0"/>
                </a:moveTo>
                <a:lnTo>
                  <a:pt x="0" y="0"/>
                </a:lnTo>
                <a:lnTo>
                  <a:pt x="0" y="2825495"/>
                </a:lnTo>
                <a:lnTo>
                  <a:pt x="9144000" y="2825495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133043" y="3239846"/>
            <a:ext cx="44208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0" dirty="0">
                <a:solidFill>
                  <a:srgbClr val="FFFFFF"/>
                </a:solidFill>
                <a:latin typeface="Calibri"/>
                <a:cs typeface="Calibri"/>
              </a:rPr>
              <a:t>Copyright</a:t>
            </a:r>
            <a:r>
              <a:rPr sz="2000" b="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2000" b="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FFFFFF"/>
                </a:solidFill>
                <a:latin typeface="Calibri"/>
                <a:cs typeface="Calibri"/>
              </a:rPr>
              <a:t>202</a:t>
            </a:r>
            <a:r>
              <a:rPr lang="pt-BR" sz="2000" b="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sz="2000" b="0" spc="3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0" spc="-30" dirty="0">
                <a:solidFill>
                  <a:srgbClr val="FFFFFF"/>
                </a:solidFill>
                <a:latin typeface="Calibri"/>
                <a:cs typeface="Calibri"/>
              </a:rPr>
              <a:t>Prof.</a:t>
            </a:r>
            <a:r>
              <a:rPr sz="2000" b="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FFFFFF"/>
                </a:solidFill>
                <a:latin typeface="Calibri"/>
                <a:cs typeface="Calibri"/>
              </a:rPr>
              <a:t>Henrique</a:t>
            </a:r>
            <a:r>
              <a:rPr sz="2000" b="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Calibri"/>
                <a:cs typeface="Calibri"/>
              </a:rPr>
              <a:t>Cordeiro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3043" y="3779291"/>
            <a:ext cx="6177915" cy="830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Todos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direitos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reservados.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Reprodução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ou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divulgação</a:t>
            </a:r>
            <a:r>
              <a:rPr sz="16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ou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parcial</a:t>
            </a:r>
            <a:r>
              <a:rPr sz="16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deste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documento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é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expressamente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proíbido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sem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consentimento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formal,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por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escrito,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Professor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(autor).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48283" y="331876"/>
            <a:ext cx="8065134" cy="4251325"/>
            <a:chOff x="748283" y="331876"/>
            <a:chExt cx="8065134" cy="4251325"/>
          </a:xfrm>
        </p:grpSpPr>
        <p:sp>
          <p:nvSpPr>
            <p:cNvPr id="11" name="object 11"/>
            <p:cNvSpPr/>
            <p:nvPr/>
          </p:nvSpPr>
          <p:spPr>
            <a:xfrm>
              <a:off x="748283" y="3342132"/>
              <a:ext cx="71755" cy="1240790"/>
            </a:xfrm>
            <a:custGeom>
              <a:avLst/>
              <a:gdLst/>
              <a:ahLst/>
              <a:cxnLst/>
              <a:rect l="l" t="t" r="r" b="b"/>
              <a:pathLst>
                <a:path w="71755" h="1240789">
                  <a:moveTo>
                    <a:pt x="71628" y="0"/>
                  </a:moveTo>
                  <a:lnTo>
                    <a:pt x="0" y="0"/>
                  </a:lnTo>
                  <a:lnTo>
                    <a:pt x="0" y="1240536"/>
                  </a:lnTo>
                  <a:lnTo>
                    <a:pt x="71628" y="1240536"/>
                  </a:lnTo>
                  <a:lnTo>
                    <a:pt x="71628" y="0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837919" y="331888"/>
              <a:ext cx="975994" cy="269240"/>
            </a:xfrm>
            <a:custGeom>
              <a:avLst/>
              <a:gdLst/>
              <a:ahLst/>
              <a:cxnLst/>
              <a:rect l="l" t="t" r="r" b="b"/>
              <a:pathLst>
                <a:path w="975995" h="269240">
                  <a:moveTo>
                    <a:pt x="167652" y="127749"/>
                  </a:moveTo>
                  <a:lnTo>
                    <a:pt x="72186" y="127749"/>
                  </a:lnTo>
                  <a:lnTo>
                    <a:pt x="72186" y="146875"/>
                  </a:lnTo>
                  <a:lnTo>
                    <a:pt x="167652" y="146875"/>
                  </a:lnTo>
                  <a:lnTo>
                    <a:pt x="167652" y="127749"/>
                  </a:lnTo>
                  <a:close/>
                </a:path>
                <a:path w="975995" h="269240">
                  <a:moveTo>
                    <a:pt x="221195" y="0"/>
                  </a:moveTo>
                  <a:lnTo>
                    <a:pt x="0" y="0"/>
                  </a:lnTo>
                  <a:lnTo>
                    <a:pt x="0" y="17983"/>
                  </a:lnTo>
                  <a:lnTo>
                    <a:pt x="12" y="268566"/>
                  </a:lnTo>
                  <a:lnTo>
                    <a:pt x="19405" y="268579"/>
                  </a:lnTo>
                  <a:lnTo>
                    <a:pt x="19405" y="17983"/>
                  </a:lnTo>
                  <a:lnTo>
                    <a:pt x="221195" y="17983"/>
                  </a:lnTo>
                  <a:lnTo>
                    <a:pt x="221195" y="0"/>
                  </a:lnTo>
                  <a:close/>
                </a:path>
                <a:path w="975995" h="269240">
                  <a:moveTo>
                    <a:pt x="298030" y="279"/>
                  </a:moveTo>
                  <a:lnTo>
                    <a:pt x="278625" y="279"/>
                  </a:lnTo>
                  <a:lnTo>
                    <a:pt x="278625" y="268770"/>
                  </a:lnTo>
                  <a:lnTo>
                    <a:pt x="298030" y="268770"/>
                  </a:lnTo>
                  <a:lnTo>
                    <a:pt x="298030" y="279"/>
                  </a:lnTo>
                  <a:close/>
                </a:path>
                <a:path w="975995" h="269240">
                  <a:moveTo>
                    <a:pt x="615454" y="148463"/>
                  </a:moveTo>
                  <a:lnTo>
                    <a:pt x="537616" y="19405"/>
                  </a:lnTo>
                  <a:lnTo>
                    <a:pt x="527050" y="1879"/>
                  </a:lnTo>
                  <a:lnTo>
                    <a:pt x="502856" y="1879"/>
                  </a:lnTo>
                  <a:lnTo>
                    <a:pt x="343814" y="267982"/>
                  </a:lnTo>
                  <a:lnTo>
                    <a:pt x="363994" y="267982"/>
                  </a:lnTo>
                  <a:lnTo>
                    <a:pt x="514565" y="19405"/>
                  </a:lnTo>
                  <a:lnTo>
                    <a:pt x="592937" y="148463"/>
                  </a:lnTo>
                  <a:lnTo>
                    <a:pt x="615454" y="148463"/>
                  </a:lnTo>
                  <a:close/>
                </a:path>
                <a:path w="975995" h="269240">
                  <a:moveTo>
                    <a:pt x="686854" y="267982"/>
                  </a:moveTo>
                  <a:lnTo>
                    <a:pt x="644944" y="198666"/>
                  </a:lnTo>
                  <a:lnTo>
                    <a:pt x="623214" y="198666"/>
                  </a:lnTo>
                  <a:lnTo>
                    <a:pt x="665899" y="267982"/>
                  </a:lnTo>
                  <a:lnTo>
                    <a:pt x="686854" y="267982"/>
                  </a:lnTo>
                  <a:close/>
                </a:path>
                <a:path w="975995" h="269240">
                  <a:moveTo>
                    <a:pt x="975372" y="53340"/>
                  </a:moveTo>
                  <a:lnTo>
                    <a:pt x="973899" y="46202"/>
                  </a:lnTo>
                  <a:lnTo>
                    <a:pt x="953922" y="20688"/>
                  </a:lnTo>
                  <a:lnTo>
                    <a:pt x="946721" y="17005"/>
                  </a:lnTo>
                  <a:lnTo>
                    <a:pt x="923048" y="4889"/>
                  </a:lnTo>
                  <a:lnTo>
                    <a:pt x="900836" y="1879"/>
                  </a:lnTo>
                  <a:lnTo>
                    <a:pt x="728764" y="1879"/>
                  </a:lnTo>
                  <a:lnTo>
                    <a:pt x="728764" y="267182"/>
                  </a:lnTo>
                  <a:lnTo>
                    <a:pt x="748169" y="267182"/>
                  </a:lnTo>
                  <a:lnTo>
                    <a:pt x="748169" y="17005"/>
                  </a:lnTo>
                  <a:lnTo>
                    <a:pt x="881659" y="17005"/>
                  </a:lnTo>
                  <a:lnTo>
                    <a:pt x="914120" y="21158"/>
                  </a:lnTo>
                  <a:lnTo>
                    <a:pt x="939380" y="33439"/>
                  </a:lnTo>
                  <a:lnTo>
                    <a:pt x="955763" y="53644"/>
                  </a:lnTo>
                  <a:lnTo>
                    <a:pt x="961593" y="81534"/>
                  </a:lnTo>
                  <a:lnTo>
                    <a:pt x="961593" y="82346"/>
                  </a:lnTo>
                  <a:lnTo>
                    <a:pt x="955624" y="109486"/>
                  </a:lnTo>
                  <a:lnTo>
                    <a:pt x="938898" y="130340"/>
                  </a:lnTo>
                  <a:lnTo>
                    <a:pt x="913142" y="143738"/>
                  </a:lnTo>
                  <a:lnTo>
                    <a:pt x="880110" y="148463"/>
                  </a:lnTo>
                  <a:lnTo>
                    <a:pt x="818019" y="148463"/>
                  </a:lnTo>
                  <a:lnTo>
                    <a:pt x="818019" y="166789"/>
                  </a:lnTo>
                  <a:lnTo>
                    <a:pt x="878560" y="166789"/>
                  </a:lnTo>
                  <a:lnTo>
                    <a:pt x="917803" y="161429"/>
                  </a:lnTo>
                  <a:lnTo>
                    <a:pt x="950442" y="145376"/>
                  </a:lnTo>
                  <a:lnTo>
                    <a:pt x="972731" y="118732"/>
                  </a:lnTo>
                  <a:lnTo>
                    <a:pt x="975372" y="106883"/>
                  </a:lnTo>
                  <a:lnTo>
                    <a:pt x="975372" y="533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1354</TotalTime>
  <Words>1181</Words>
  <Application>Microsoft Office PowerPoint</Application>
  <PresentationFormat>Apresentação na tela (4:3)</PresentationFormat>
  <Paragraphs>185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6" baseType="lpstr">
      <vt:lpstr>Aptos</vt:lpstr>
      <vt:lpstr>Calibri</vt:lpstr>
      <vt:lpstr>Gotham HTF</vt:lpstr>
      <vt:lpstr>Gotham-Bold</vt:lpstr>
      <vt:lpstr>Gotham-Book</vt:lpstr>
      <vt:lpstr>Wingdings</vt:lpstr>
      <vt:lpstr>Office Theme</vt:lpstr>
      <vt:lpstr>Apresentação do PowerPoint</vt:lpstr>
      <vt:lpstr>Apresentação do PowerPoint</vt:lpstr>
      <vt:lpstr>AVALIAÇÃO DA IHC</vt:lpstr>
      <vt:lpstr>Apresentação do PowerPoint</vt:lpstr>
      <vt:lpstr>Apresentação do PowerPoint</vt:lpstr>
      <vt:lpstr>AVALIAÇÃO DA IHC</vt:lpstr>
      <vt:lpstr>AVALIAÇÃO DA IHC</vt:lpstr>
      <vt:lpstr>AVALIAÇÃO DA IHC</vt:lpstr>
      <vt:lpstr>AVALIAÇÃO DA IHC</vt:lpstr>
      <vt:lpstr>AVALIAÇÃO DA IHC</vt:lpstr>
      <vt:lpstr>AVALIAÇÃO DA IHC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AVALIAÇÃO DA IHC</vt:lpstr>
      <vt:lpstr>AVALIAÇÃO DA IHC</vt:lpstr>
      <vt:lpstr>Copyright © 2025 Prof. Henrique Cordeiro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José Henrique DellOsso Cordeiro</cp:lastModifiedBy>
  <cp:revision>29</cp:revision>
  <dcterms:created xsi:type="dcterms:W3CDTF">2024-02-22T20:35:01Z</dcterms:created>
  <dcterms:modified xsi:type="dcterms:W3CDTF">2026-08-26T00:19:02Z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2022-03-30T00:00:00Z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2024-02-22T00:00:00Z</vt:filetime>
  </property>
  <property fmtid="{D5CDD505-2E9C-101B-9397-08002B2CF9AE}" pid="5" name="Producer">
    <vt:lpwstr>Microsoft® PowerPoint® 2019</vt:lpwstr>
  </property>
</Properties>
</file>