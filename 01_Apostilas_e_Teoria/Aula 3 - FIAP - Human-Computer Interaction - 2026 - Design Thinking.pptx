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262" r:id="rId2"/>
    <p:sldId id="265" r:id="rId3"/>
    <p:sldId id="288" r:id="rId4"/>
    <p:sldId id="287" r:id="rId5"/>
    <p:sldId id="263" r:id="rId6"/>
    <p:sldId id="266" r:id="rId7"/>
    <p:sldId id="285" r:id="rId8"/>
    <p:sldId id="292" r:id="rId9"/>
    <p:sldId id="290" r:id="rId10"/>
    <p:sldId id="293" r:id="rId11"/>
    <p:sldId id="291" r:id="rId12"/>
    <p:sldId id="267" r:id="rId13"/>
    <p:sldId id="281" r:id="rId14"/>
    <p:sldId id="283" r:id="rId15"/>
    <p:sldId id="282" r:id="rId16"/>
    <p:sldId id="280" r:id="rId17"/>
    <p:sldId id="294" r:id="rId18"/>
    <p:sldId id="268" r:id="rId19"/>
    <p:sldId id="296" r:id="rId20"/>
    <p:sldId id="269" r:id="rId21"/>
    <p:sldId id="270" r:id="rId22"/>
    <p:sldId id="271" r:id="rId23"/>
    <p:sldId id="273" r:id="rId24"/>
    <p:sldId id="289" r:id="rId25"/>
    <p:sldId id="297" r:id="rId26"/>
    <p:sldId id="298" r:id="rId27"/>
    <p:sldId id="299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9ABB"/>
    <a:srgbClr val="1299B5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82" d="100"/>
          <a:sy n="82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2300E-FE15-4924-B476-0B6AA58FC9CB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6C382-EA7D-4DB0-B9E4-6DE6056A45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7063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26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621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48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82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733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34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86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267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6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62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0878A-18DF-4207-9845-788BF4B96186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326-AC6F-4090-9ECC-4AA76160E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67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4M0XL-gHhs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DEFINIR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2" name="Retângulo 1"/>
          <p:cNvSpPr/>
          <p:nvPr/>
        </p:nvSpPr>
        <p:spPr>
          <a:xfrm>
            <a:off x="914400" y="1248032"/>
            <a:ext cx="10219038" cy="5362833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817758" y="1477607"/>
            <a:ext cx="106271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PROCESSO DE DESIGN CENTRADO EM PESSOAS</a:t>
            </a:r>
            <a:r>
              <a:rPr lang="pt-BR" sz="2800" dirty="0"/>
              <a:t> COM USO CRESCENTE COMO TÉCNICA/MÉTODO DE INOVAÇÃO</a:t>
            </a: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IMERSIVO</a:t>
            </a:r>
            <a:r>
              <a:rPr lang="pt-BR" sz="2800" dirty="0"/>
              <a:t> – INTERAÇÃO COM OS CONSUMIDORES/CLIENTES PARA IDENTIFICAÇÃO DE NECESSIDADES, DESEJOS, EMOÇÕES...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ITERATIVO</a:t>
            </a:r>
            <a:r>
              <a:rPr lang="pt-BR" sz="2800" dirty="0"/>
              <a:t> – DESIGN EVOLUTIVO E CICLICO, COM USO DE PROTOTIPAGEM E TESTE DE USO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COLABORATIVO</a:t>
            </a:r>
            <a:r>
              <a:rPr lang="pt-BR" sz="2800" dirty="0"/>
              <a:t> – DESIGN RESULTA DA INTERAÇÃO ENTRE DESIGNER E CONSUMIDOR DO INICIO AO FIM DO PROJETO</a:t>
            </a:r>
          </a:p>
        </p:txBody>
      </p:sp>
    </p:spTree>
    <p:extLst>
      <p:ext uri="{BB962C8B-B14F-4D97-AF65-F5344CB8AC3E}">
        <p14:creationId xmlns:p14="http://schemas.microsoft.com/office/powerpoint/2010/main" val="405248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612996" y="1708627"/>
            <a:ext cx="134929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accent2">
                    <a:lumMod val="50000"/>
                  </a:schemeClr>
                </a:solidFill>
              </a:rPr>
              <a:t>DEFINIR UM PONTO DE VISTA A PARTIR DOS INSIGHTS OBTIDOS NA IMERSÃO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612996" y="1276012"/>
            <a:ext cx="1349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ANÁLISE E SÍNTESE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453251" y="4949605"/>
            <a:ext cx="137145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accent2">
                    <a:lumMod val="50000"/>
                  </a:schemeClr>
                </a:solidFill>
              </a:rPr>
              <a:t>DESENVOLVER SOLUÇÕES CRIATIVAS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737998" y="5513783"/>
            <a:ext cx="801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IDEAÇÃO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647414" y="2083224"/>
            <a:ext cx="141527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accent2">
                    <a:lumMod val="50000"/>
                  </a:schemeClr>
                </a:solidFill>
              </a:rPr>
              <a:t>CRIAR PROTÓTIPOS DAS MELHORES IDEIAS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0050738" y="3170382"/>
            <a:ext cx="141527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accent2">
                    <a:lumMod val="50000"/>
                  </a:schemeClr>
                </a:solidFill>
              </a:rPr>
              <a:t>TESTAR OS PROTÓTIPOS JUNTO AO PÚBLICO ALVO</a:t>
            </a:r>
            <a:endParaRPr lang="pt-BR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8" name="Conector de seta reta 27"/>
          <p:cNvCxnSpPr>
            <a:endCxn id="31" idx="7"/>
          </p:cNvCxnSpPr>
          <p:nvPr/>
        </p:nvCxnSpPr>
        <p:spPr>
          <a:xfrm flipH="1">
            <a:off x="1430520" y="3436905"/>
            <a:ext cx="718450" cy="576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o 33"/>
          <p:cNvGrpSpPr/>
          <p:nvPr/>
        </p:nvGrpSpPr>
        <p:grpSpPr>
          <a:xfrm>
            <a:off x="134597" y="3768550"/>
            <a:ext cx="1518268" cy="1672457"/>
            <a:chOff x="371866" y="3747672"/>
            <a:chExt cx="1518268" cy="1672457"/>
          </a:xfrm>
        </p:grpSpPr>
        <p:sp>
          <p:nvSpPr>
            <p:cNvPr id="12" name="CaixaDeTexto 11"/>
            <p:cNvSpPr txBox="1"/>
            <p:nvPr/>
          </p:nvSpPr>
          <p:spPr>
            <a:xfrm>
              <a:off x="456351" y="4201044"/>
              <a:ext cx="134929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b="1" dirty="0">
                  <a:solidFill>
                    <a:schemeClr val="accent2">
                      <a:lumMod val="50000"/>
                    </a:schemeClr>
                  </a:solidFill>
                </a:rPr>
                <a:t>CONHECER E SE SENSIBILIZAR COM AS NECESSIDADES DAS PESSOAS</a:t>
              </a:r>
            </a:p>
            <a:p>
              <a:pPr algn="ctr"/>
              <a:r>
                <a:rPr lang="pt-BR" sz="1050" dirty="0">
                  <a:solidFill>
                    <a:schemeClr val="accent2">
                      <a:lumMod val="50000"/>
                    </a:schemeClr>
                  </a:solidFill>
                </a:rPr>
                <a:t>(CONSUMIDORES OU CLIENTES)</a:t>
              </a:r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465403" y="3919802"/>
              <a:ext cx="1349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/>
                <a:t>IMERSÃO</a:t>
              </a:r>
            </a:p>
          </p:txBody>
        </p:sp>
        <p:sp>
          <p:nvSpPr>
            <p:cNvPr id="31" name="Elipse 30"/>
            <p:cNvSpPr/>
            <p:nvPr/>
          </p:nvSpPr>
          <p:spPr>
            <a:xfrm>
              <a:off x="371866" y="3747672"/>
              <a:ext cx="1518268" cy="167245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3" name="Elipse 32"/>
          <p:cNvSpPr/>
          <p:nvPr/>
        </p:nvSpPr>
        <p:spPr>
          <a:xfrm>
            <a:off x="3528511" y="1118951"/>
            <a:ext cx="1518268" cy="16586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de seta reta 37"/>
          <p:cNvCxnSpPr>
            <a:cxnSpLocks/>
            <a:endCxn id="33" idx="4"/>
          </p:cNvCxnSpPr>
          <p:nvPr/>
        </p:nvCxnSpPr>
        <p:spPr>
          <a:xfrm flipH="1" flipV="1">
            <a:off x="4287645" y="2777570"/>
            <a:ext cx="110184" cy="9909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5527747" y="4639157"/>
            <a:ext cx="1216726" cy="133760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46"/>
          <p:cNvCxnSpPr>
            <a:endCxn id="46" idx="0"/>
          </p:cNvCxnSpPr>
          <p:nvPr/>
        </p:nvCxnSpPr>
        <p:spPr>
          <a:xfrm>
            <a:off x="6037372" y="3310164"/>
            <a:ext cx="98738" cy="1328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7703948" y="1486434"/>
            <a:ext cx="1314137" cy="13745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7720016" y="1806225"/>
            <a:ext cx="1349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PROTOTIPAÇÃO</a:t>
            </a:r>
          </a:p>
        </p:txBody>
      </p:sp>
      <p:cxnSp>
        <p:nvCxnSpPr>
          <p:cNvPr id="55" name="Conector de seta reta 54"/>
          <p:cNvCxnSpPr/>
          <p:nvPr/>
        </p:nvCxnSpPr>
        <p:spPr>
          <a:xfrm flipV="1">
            <a:off x="7910475" y="2860937"/>
            <a:ext cx="283663" cy="1074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10083726" y="2893383"/>
            <a:ext cx="1349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TESTE / FEEDBACK</a:t>
            </a:r>
          </a:p>
        </p:txBody>
      </p:sp>
      <p:sp>
        <p:nvSpPr>
          <p:cNvPr id="60" name="Elipse 59"/>
          <p:cNvSpPr/>
          <p:nvPr/>
        </p:nvSpPr>
        <p:spPr>
          <a:xfrm>
            <a:off x="9999241" y="2608873"/>
            <a:ext cx="1518268" cy="13745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1" name="Conector de seta reta 60"/>
          <p:cNvCxnSpPr/>
          <p:nvPr/>
        </p:nvCxnSpPr>
        <p:spPr>
          <a:xfrm flipV="1">
            <a:off x="9805955" y="3935361"/>
            <a:ext cx="620435" cy="8451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76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20" grpId="0"/>
      <p:bldP spid="33" grpId="0" animBg="1"/>
      <p:bldP spid="46" grpId="0" animBg="1"/>
      <p:bldP spid="51" grpId="0" animBg="1"/>
      <p:bldP spid="52" grpId="0"/>
      <p:bldP spid="59" grpId="0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1442DB3-02D7-BA7E-DAA1-1B39297A8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991" y="2263424"/>
            <a:ext cx="9187468" cy="37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2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"/>
    </mc:Choice>
    <mc:Fallback xmlns="">
      <p:transition advClick="0" advTm="3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ADCA9FAD-DE01-F492-3BF6-066DDD3BB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094" y="2387235"/>
            <a:ext cx="6049949" cy="286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86ED4BD4-3E95-F123-25FE-D3F6D7953E99}"/>
              </a:ext>
            </a:extLst>
          </p:cNvPr>
          <p:cNvSpPr/>
          <p:nvPr/>
        </p:nvSpPr>
        <p:spPr>
          <a:xfrm>
            <a:off x="4094161" y="3521725"/>
            <a:ext cx="1909823" cy="830997"/>
          </a:xfrm>
          <a:prstGeom prst="rightArrow">
            <a:avLst/>
          </a:prstGeom>
          <a:solidFill>
            <a:srgbClr val="1299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2389032" y="208010"/>
            <a:ext cx="7284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 x SCRUM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C76A674-96A6-A0A0-61F4-43B9F45F7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52" y="2975763"/>
            <a:ext cx="4819333" cy="196355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113B8297-0E04-1F0E-93DE-161C4A4CD8EB}"/>
              </a:ext>
            </a:extLst>
          </p:cNvPr>
          <p:cNvSpPr txBox="1"/>
          <p:nvPr/>
        </p:nvSpPr>
        <p:spPr>
          <a:xfrm>
            <a:off x="440752" y="1990834"/>
            <a:ext cx="4819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IMERSÃO E IDEAÇÃO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E5813C-4974-525E-63D0-6DD34940FDE3}"/>
              </a:ext>
            </a:extLst>
          </p:cNvPr>
          <p:cNvSpPr txBox="1"/>
          <p:nvPr/>
        </p:nvSpPr>
        <p:spPr>
          <a:xfrm>
            <a:off x="6518396" y="1990833"/>
            <a:ext cx="4819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CONSTRUÇÃO DA SOLUÇÃO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272403B-C2EB-922C-7681-0BB3D9F047DE}"/>
              </a:ext>
            </a:extLst>
          </p:cNvPr>
          <p:cNvSpPr/>
          <p:nvPr/>
        </p:nvSpPr>
        <p:spPr>
          <a:xfrm>
            <a:off x="6003984" y="3033638"/>
            <a:ext cx="836654" cy="1862455"/>
          </a:xfrm>
          <a:prstGeom prst="roundRect">
            <a:avLst/>
          </a:prstGeom>
          <a:noFill/>
          <a:ln w="28575">
            <a:solidFill>
              <a:srgbClr val="439A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220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4" grpId="0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1667277" y="1297079"/>
            <a:ext cx="9151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PROCESSO COLABORATIVO, ITERATIVO E EVOLUTIVO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118759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958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F418580-0CE1-4964-9B04-8CE434620739}"/>
              </a:ext>
            </a:extLst>
          </p:cNvPr>
          <p:cNvSpPr txBox="1"/>
          <p:nvPr/>
        </p:nvSpPr>
        <p:spPr>
          <a:xfrm>
            <a:off x="1669143" y="1297079"/>
            <a:ext cx="9149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CRIANDO EMPATIA COM A IMERSÃO NO PROBLEMA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9A9464E-1EB6-45AF-A376-701782AAEB69}"/>
              </a:ext>
            </a:extLst>
          </p:cNvPr>
          <p:cNvSpPr/>
          <p:nvPr/>
        </p:nvSpPr>
        <p:spPr>
          <a:xfrm>
            <a:off x="4051911" y="1881854"/>
            <a:ext cx="7461662" cy="4871644"/>
          </a:xfrm>
          <a:prstGeom prst="roundRect">
            <a:avLst>
              <a:gd name="adj" fmla="val 2246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cap="small" dirty="0">
                <a:solidFill>
                  <a:schemeClr val="tx1"/>
                </a:solidFill>
              </a:rPr>
              <a:t>Imersão Preliminar </a:t>
            </a:r>
            <a:r>
              <a:rPr lang="pt-BR" cap="small" dirty="0">
                <a:solidFill>
                  <a:schemeClr val="tx1"/>
                </a:solidFill>
              </a:rPr>
              <a:t>- Conduzida para se obter mais informações de contexto que ajudem a compreender o tema que tratamos, os atores envolvidos, buscando não só conhecer o problema, mas também reenquadrá-lo, se for necessário</a:t>
            </a:r>
          </a:p>
          <a:p>
            <a:pPr lvl="1" algn="just"/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Reenquadramento 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– Olhando o problema por novas perspectivas</a:t>
            </a:r>
          </a:p>
          <a:p>
            <a:pPr lvl="1" algn="just"/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Pesquisa Exploratória 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– Pesquisa de campo para mapeamento preliminar</a:t>
            </a:r>
          </a:p>
          <a:p>
            <a:pPr lvl="1" algn="just"/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Pesquisa Desk 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– Pesquisa bibliográfica e digital em busca de informações complementares</a:t>
            </a:r>
          </a:p>
          <a:p>
            <a:pPr lvl="1" algn="just"/>
            <a:endParaRPr lang="pt-BR" sz="1600" cap="small" dirty="0">
              <a:solidFill>
                <a:schemeClr val="tx1"/>
              </a:solidFill>
            </a:endParaRPr>
          </a:p>
          <a:p>
            <a:pPr algn="just"/>
            <a:r>
              <a:rPr lang="pt-BR" b="1" cap="small" dirty="0">
                <a:solidFill>
                  <a:schemeClr val="tx1"/>
                </a:solidFill>
              </a:rPr>
              <a:t>Imersão Profunda </a:t>
            </a:r>
            <a:r>
              <a:rPr lang="pt-BR" cap="small" dirty="0">
                <a:solidFill>
                  <a:schemeClr val="tx1"/>
                </a:solidFill>
              </a:rPr>
              <a:t>– Aprofundamento no problema com visando criar empatia com o problema, o usuário, suas dores... Aplicação de praticas de pesquisa etnográfica</a:t>
            </a:r>
          </a:p>
          <a:p>
            <a:pPr lvl="1" algn="just"/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Entrevistas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– Conversas semiestruturadas para coleta de dados com os envolvidos no problema (abrangendo os 5Ws </a:t>
            </a:r>
            <a:r>
              <a:rPr lang="en-US" sz="1600" cap="small" dirty="0">
                <a:solidFill>
                  <a:schemeClr val="bg2">
                    <a:lumMod val="25000"/>
                  </a:schemeClr>
                </a:solidFill>
              </a:rPr>
              <a:t>– Who, Why, What, Where e When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  <a:p>
            <a:pPr lvl="1" algn="just"/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Observação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– Observação do problema e seus atores </a:t>
            </a:r>
            <a:r>
              <a:rPr lang="pt-BR" sz="1600" cap="small" dirty="0" err="1">
                <a:solidFill>
                  <a:schemeClr val="bg2">
                    <a:lumMod val="25000"/>
                  </a:schemeClr>
                </a:solidFill>
              </a:rPr>
              <a:t>in-loco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permite coletar dados não explicitados ou subestimados pelos atores</a:t>
            </a:r>
          </a:p>
          <a:p>
            <a:pPr lvl="1" algn="just"/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Empatia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– Colocando-se no lugar do cliente, executando suas tarefas, sentindo suas dores, participando do problema</a:t>
            </a:r>
            <a:endParaRPr lang="pt-BR" cap="small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102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958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F418580-0CE1-4964-9B04-8CE434620739}"/>
              </a:ext>
            </a:extLst>
          </p:cNvPr>
          <p:cNvSpPr txBox="1"/>
          <p:nvPr/>
        </p:nvSpPr>
        <p:spPr>
          <a:xfrm>
            <a:off x="1669143" y="1297079"/>
            <a:ext cx="9149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CRIANDO EMPATIA COM A IMERSÃO NO PROBLEMA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9A9464E-1EB6-45AF-A376-701782AAEB69}"/>
              </a:ext>
            </a:extLst>
          </p:cNvPr>
          <p:cNvSpPr/>
          <p:nvPr/>
        </p:nvSpPr>
        <p:spPr>
          <a:xfrm>
            <a:off x="509451" y="1881853"/>
            <a:ext cx="11004122" cy="4768137"/>
          </a:xfrm>
          <a:prstGeom prst="roundRect">
            <a:avLst>
              <a:gd name="adj" fmla="val 5500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b="1" cap="small" dirty="0">
                <a:solidFill>
                  <a:schemeClr val="tx1"/>
                </a:solidFill>
              </a:rPr>
              <a:t>Documentando as Descobertas</a:t>
            </a:r>
          </a:p>
          <a:p>
            <a:pPr algn="just"/>
            <a:endParaRPr lang="pt-BR" cap="small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20EC2A-A1B9-1D05-C34B-E67A2B76F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32" y="2833304"/>
            <a:ext cx="2817774" cy="22601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0E972A-C953-6B8A-94C2-40E06EE1E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742" y="2697020"/>
            <a:ext cx="3187466" cy="226800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582E704-181B-5390-C5AB-708169B9EB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860"/>
          <a:stretch/>
        </p:blipFill>
        <p:spPr>
          <a:xfrm>
            <a:off x="3447310" y="4316562"/>
            <a:ext cx="4667186" cy="2177599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7B3826-4E30-DDCF-48F2-5B34E5817464}"/>
              </a:ext>
            </a:extLst>
          </p:cNvPr>
          <p:cNvSpPr txBox="1"/>
          <p:nvPr/>
        </p:nvSpPr>
        <p:spPr>
          <a:xfrm>
            <a:off x="1898577" y="2372149"/>
            <a:ext cx="1128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b="1" cap="small" dirty="0">
                <a:solidFill>
                  <a:srgbClr val="C00000"/>
                </a:solidFill>
              </a:rPr>
              <a:t>Personas</a:t>
            </a:r>
            <a:endParaRPr lang="pt-BR" b="1" cap="small" dirty="0">
              <a:solidFill>
                <a:srgbClr val="C0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6E69EF0-1BCF-1A60-6B29-479260A214BE}"/>
              </a:ext>
            </a:extLst>
          </p:cNvPr>
          <p:cNvSpPr txBox="1"/>
          <p:nvPr/>
        </p:nvSpPr>
        <p:spPr>
          <a:xfrm>
            <a:off x="8405342" y="2267928"/>
            <a:ext cx="1888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b="1" cap="small" dirty="0">
                <a:solidFill>
                  <a:srgbClr val="C00000"/>
                </a:solidFill>
              </a:rPr>
              <a:t>Mapa de Empatia</a:t>
            </a:r>
            <a:endParaRPr lang="pt-BR" b="1" cap="small" dirty="0">
              <a:solidFill>
                <a:srgbClr val="C0000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C93FA2-DF57-B0A7-A78E-E27C469CB597}"/>
              </a:ext>
            </a:extLst>
          </p:cNvPr>
          <p:cNvSpPr txBox="1"/>
          <p:nvPr/>
        </p:nvSpPr>
        <p:spPr>
          <a:xfrm>
            <a:off x="4478441" y="3824132"/>
            <a:ext cx="2220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b="1" cap="small" dirty="0">
                <a:solidFill>
                  <a:srgbClr val="C00000"/>
                </a:solidFill>
              </a:rPr>
              <a:t>Registro de Insights</a:t>
            </a:r>
            <a:endParaRPr lang="pt-BR" b="1" cap="smal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0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8189079-67BB-6563-4445-D5BE5AD95E3B}"/>
              </a:ext>
            </a:extLst>
          </p:cNvPr>
          <p:cNvSpPr txBox="1"/>
          <p:nvPr/>
        </p:nvSpPr>
        <p:spPr>
          <a:xfrm>
            <a:off x="3528511" y="208010"/>
            <a:ext cx="4958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718A14-E5D2-F0B8-3BC1-D7F68D1640B3}"/>
              </a:ext>
            </a:extLst>
          </p:cNvPr>
          <p:cNvSpPr txBox="1"/>
          <p:nvPr/>
        </p:nvSpPr>
        <p:spPr>
          <a:xfrm>
            <a:off x="526958" y="1297079"/>
            <a:ext cx="11433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MAPA DE EMPATIA X PERSONAS ?</a:t>
            </a:r>
          </a:p>
          <a:p>
            <a:pPr algn="ctr"/>
            <a:r>
              <a:rPr lang="pt-BR" sz="2800" dirty="0"/>
              <a:t>PRÁTICAS ALTERNATIVAS E/OU COMPLEMENTARES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23AB0AC-5F1E-DED2-0733-489714B63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2359742"/>
            <a:ext cx="5740470" cy="376718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695B5F2-FBB7-A4A0-1E65-AB398F164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6628" t="19173" r="5886" b="8343"/>
          <a:stretch/>
        </p:blipFill>
        <p:spPr>
          <a:xfrm>
            <a:off x="526958" y="2760374"/>
            <a:ext cx="5170771" cy="296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13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8189079-67BB-6563-4445-D5BE5AD95E3B}"/>
              </a:ext>
            </a:extLst>
          </p:cNvPr>
          <p:cNvSpPr txBox="1"/>
          <p:nvPr/>
        </p:nvSpPr>
        <p:spPr>
          <a:xfrm>
            <a:off x="3528511" y="208010"/>
            <a:ext cx="4958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718A14-E5D2-F0B8-3BC1-D7F68D1640B3}"/>
              </a:ext>
            </a:extLst>
          </p:cNvPr>
          <p:cNvSpPr txBox="1"/>
          <p:nvPr/>
        </p:nvSpPr>
        <p:spPr>
          <a:xfrm>
            <a:off x="526958" y="1297079"/>
            <a:ext cx="11433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PERSONAS - HUMANIZANDO NOSSO CLIENTE/USUÁRIO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A4CC8B0-3327-0E4F-245E-B7842FBD5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6958" y="2139926"/>
            <a:ext cx="6146157" cy="4033416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BF951BE-7DBE-4524-FEBC-9DAA4F3C669D}"/>
              </a:ext>
            </a:extLst>
          </p:cNvPr>
          <p:cNvSpPr/>
          <p:nvPr/>
        </p:nvSpPr>
        <p:spPr>
          <a:xfrm>
            <a:off x="6875291" y="2938141"/>
            <a:ext cx="5085651" cy="2189443"/>
          </a:xfrm>
          <a:prstGeom prst="roundRect">
            <a:avLst>
              <a:gd name="adj" fmla="val 12366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36550" algn="ctr"/>
            <a:r>
              <a:rPr lang="pt-BR" sz="2400" b="1" cap="small" dirty="0">
                <a:solidFill>
                  <a:schemeClr val="tx1"/>
                </a:solidFill>
              </a:rPr>
              <a:t>DIFERENTES TIPOS / USOS</a:t>
            </a:r>
          </a:p>
          <a:p>
            <a:pPr marL="336550" algn="ctr"/>
            <a:endParaRPr lang="pt-BR" sz="1050" b="1" cap="small" dirty="0">
              <a:solidFill>
                <a:schemeClr val="tx1"/>
              </a:solidFill>
            </a:endParaRPr>
          </a:p>
          <a:p>
            <a:pPr marL="358775" indent="-285750">
              <a:buFont typeface="Wingdings" panose="05000000000000000000" pitchFamily="2" charset="2"/>
              <a:buChar char=""/>
              <a:tabLst>
                <a:tab pos="2152650" algn="l"/>
              </a:tabLst>
            </a:pPr>
            <a:r>
              <a:rPr lang="pt-BR" sz="2000" cap="small" dirty="0">
                <a:solidFill>
                  <a:schemeClr val="tx1"/>
                </a:solidFill>
              </a:rPr>
              <a:t> </a:t>
            </a:r>
            <a:r>
              <a:rPr lang="pt-BR" sz="2000" cap="small" dirty="0" err="1">
                <a:solidFill>
                  <a:schemeClr val="tx1"/>
                </a:solidFill>
              </a:rPr>
              <a:t>Buyer</a:t>
            </a:r>
            <a:r>
              <a:rPr lang="pt-BR" sz="2000" cap="small" dirty="0">
                <a:solidFill>
                  <a:schemeClr val="tx1"/>
                </a:solidFill>
              </a:rPr>
              <a:t> Personas	</a:t>
            </a:r>
            <a:r>
              <a:rPr lang="pt-BR" sz="2000" cap="small" dirty="0">
                <a:solidFill>
                  <a:schemeClr val="tx1"/>
                </a:solidFill>
                <a:sym typeface="Wingdings" panose="05000000000000000000" pitchFamily="2" charset="2"/>
              </a:rPr>
              <a:t> Comprador</a:t>
            </a:r>
            <a:endParaRPr lang="pt-BR" sz="2000" cap="small" dirty="0">
              <a:solidFill>
                <a:schemeClr val="tx1"/>
              </a:solidFill>
            </a:endParaRPr>
          </a:p>
          <a:p>
            <a:pPr marL="358775" indent="-285750">
              <a:buFont typeface="Wingdings" panose="05000000000000000000" pitchFamily="2" charset="2"/>
              <a:buChar char=""/>
              <a:tabLst>
                <a:tab pos="2152650" algn="l"/>
              </a:tabLst>
            </a:pPr>
            <a:r>
              <a:rPr lang="pt-BR" sz="2000" cap="small" dirty="0">
                <a:solidFill>
                  <a:schemeClr val="tx1"/>
                </a:solidFill>
              </a:rPr>
              <a:t> </a:t>
            </a:r>
            <a:r>
              <a:rPr lang="pt-BR" sz="2000" b="1" cap="small" dirty="0">
                <a:solidFill>
                  <a:srgbClr val="C00000"/>
                </a:solidFill>
              </a:rPr>
              <a:t>User Personas	</a:t>
            </a:r>
            <a:r>
              <a:rPr lang="pt-BR" sz="2000" b="1" cap="small" dirty="0">
                <a:solidFill>
                  <a:srgbClr val="C00000"/>
                </a:solidFill>
                <a:sym typeface="Wingdings" panose="05000000000000000000" pitchFamily="2" charset="2"/>
              </a:rPr>
              <a:t> Usuário/Consumidor</a:t>
            </a:r>
          </a:p>
          <a:p>
            <a:pPr marL="358775" indent="-285750">
              <a:buFont typeface="Wingdings" panose="05000000000000000000" pitchFamily="2" charset="2"/>
              <a:buChar char=""/>
              <a:tabLst>
                <a:tab pos="2152650" algn="l"/>
              </a:tabLst>
            </a:pPr>
            <a:r>
              <a:rPr lang="pt-BR" sz="2000" cap="small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pt-BR" sz="2000" cap="small" dirty="0" err="1">
                <a:solidFill>
                  <a:schemeClr val="tx1"/>
                </a:solidFill>
                <a:sym typeface="Wingdings" panose="05000000000000000000" pitchFamily="2" charset="2"/>
              </a:rPr>
              <a:t>Proto-Personas</a:t>
            </a:r>
            <a:r>
              <a:rPr lang="pt-BR" sz="2000" cap="small" dirty="0">
                <a:solidFill>
                  <a:schemeClr val="tx1"/>
                </a:solidFill>
                <a:sym typeface="Wingdings" panose="05000000000000000000" pitchFamily="2" charset="2"/>
              </a:rPr>
              <a:t>	 Versão preliminar</a:t>
            </a:r>
            <a:endParaRPr lang="pt-BR" sz="2000" cap="small" dirty="0">
              <a:solidFill>
                <a:schemeClr val="tx1"/>
              </a:solidFill>
            </a:endParaRPr>
          </a:p>
          <a:p>
            <a:pPr marL="358775" indent="-285750">
              <a:buFont typeface="Wingdings" panose="05000000000000000000" pitchFamily="2" charset="2"/>
              <a:buChar char=""/>
              <a:tabLst>
                <a:tab pos="2152650" algn="l"/>
              </a:tabLst>
            </a:pPr>
            <a:r>
              <a:rPr lang="pt-BR" sz="2000" cap="small" dirty="0">
                <a:solidFill>
                  <a:schemeClr val="tx1"/>
                </a:solidFill>
              </a:rPr>
              <a:t> Brand Persona	</a:t>
            </a:r>
            <a:r>
              <a:rPr lang="pt-BR" sz="2000" cap="small" dirty="0">
                <a:solidFill>
                  <a:schemeClr val="tx1"/>
                </a:solidFill>
                <a:sym typeface="Wingdings" panose="05000000000000000000" pitchFamily="2" charset="2"/>
              </a:rPr>
              <a:t> Identidade de Marca</a:t>
            </a:r>
            <a:endParaRPr lang="pt-BR" sz="2000" cap="smal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539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8189079-67BB-6563-4445-D5BE5AD95E3B}"/>
              </a:ext>
            </a:extLst>
          </p:cNvPr>
          <p:cNvSpPr txBox="1"/>
          <p:nvPr/>
        </p:nvSpPr>
        <p:spPr>
          <a:xfrm>
            <a:off x="3528511" y="208010"/>
            <a:ext cx="4958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718A14-E5D2-F0B8-3BC1-D7F68D1640B3}"/>
              </a:ext>
            </a:extLst>
          </p:cNvPr>
          <p:cNvSpPr txBox="1"/>
          <p:nvPr/>
        </p:nvSpPr>
        <p:spPr>
          <a:xfrm>
            <a:off x="526958" y="1297079"/>
            <a:ext cx="11433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ANOTANDO INSIGHTS – REGISTRANDO AS OBSERVAÇÕES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9C3CEF-F25D-AE6C-F85D-A3CC08034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018" y="3095665"/>
            <a:ext cx="2721729" cy="277161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D94AEB7-D874-079C-0E06-267C988B459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9202" y="5062112"/>
            <a:ext cx="1621631" cy="162163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8DB5221-8369-A345-F835-427715E13D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860"/>
          <a:stretch/>
        </p:blipFill>
        <p:spPr>
          <a:xfrm>
            <a:off x="526957" y="2381698"/>
            <a:ext cx="8226317" cy="3838206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F68C36B-0A4F-E0D9-82A6-3505099AA0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598" r="33598"/>
          <a:stretch/>
        </p:blipFill>
        <p:spPr>
          <a:xfrm rot="1128397">
            <a:off x="9611621" y="2121094"/>
            <a:ext cx="923536" cy="162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2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8189079-67BB-6563-4445-D5BE5AD95E3B}"/>
              </a:ext>
            </a:extLst>
          </p:cNvPr>
          <p:cNvSpPr txBox="1"/>
          <p:nvPr/>
        </p:nvSpPr>
        <p:spPr>
          <a:xfrm>
            <a:off x="3528511" y="208010"/>
            <a:ext cx="4958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C0D22D-6AFF-29CB-E10E-D301C412B750}"/>
              </a:ext>
            </a:extLst>
          </p:cNvPr>
          <p:cNvSpPr txBox="1"/>
          <p:nvPr/>
        </p:nvSpPr>
        <p:spPr>
          <a:xfrm>
            <a:off x="526958" y="1297079"/>
            <a:ext cx="11433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MAPA DE EMPATIA - ENTENDENDO NOSSO CLIENTE/USUÁRIO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99BA56-8857-62D9-CC44-C2C7AF2260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6628" t="19173" r="5886" b="8343"/>
          <a:stretch/>
        </p:blipFill>
        <p:spPr>
          <a:xfrm>
            <a:off x="2218544" y="2049924"/>
            <a:ext cx="8019737" cy="460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17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05C4BA6-4712-4182-9E6F-D819D57FBEBE}"/>
              </a:ext>
            </a:extLst>
          </p:cNvPr>
          <p:cNvSpPr/>
          <p:nvPr/>
        </p:nvSpPr>
        <p:spPr>
          <a:xfrm>
            <a:off x="5603965" y="2139926"/>
            <a:ext cx="6415523" cy="4510064"/>
          </a:xfrm>
          <a:prstGeom prst="roundRect">
            <a:avLst>
              <a:gd name="adj" fmla="val 5563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cap="small" dirty="0">
                <a:solidFill>
                  <a:schemeClr val="tx1"/>
                </a:solidFill>
              </a:rPr>
              <a:t>TRANSFORMANDO INSIGHTS EM CONHECIMENTO</a:t>
            </a:r>
          </a:p>
          <a:p>
            <a:pPr algn="just"/>
            <a:r>
              <a:rPr lang="pt-BR" cap="small" dirty="0">
                <a:solidFill>
                  <a:schemeClr val="tx1"/>
                </a:solidFill>
              </a:rPr>
              <a:t>Analise e discussão dos dados coletados utilizando técnicas de limpeza e classificação de dados </a:t>
            </a:r>
          </a:p>
          <a:p>
            <a:pPr algn="just"/>
            <a:endParaRPr lang="pt-BR" cap="small" dirty="0">
              <a:solidFill>
                <a:schemeClr val="tx1"/>
              </a:solidFill>
            </a:endParaRPr>
          </a:p>
          <a:p>
            <a:pPr algn="just"/>
            <a:r>
              <a:rPr lang="pt-BR" b="1" cap="small" dirty="0">
                <a:solidFill>
                  <a:schemeClr val="bg2">
                    <a:lumMod val="25000"/>
                  </a:schemeClr>
                </a:solidFill>
              </a:rPr>
              <a:t>Diagrama de Afinidades </a:t>
            </a:r>
            <a:r>
              <a:rPr lang="pt-BR" cap="small" dirty="0">
                <a:solidFill>
                  <a:schemeClr val="bg2">
                    <a:lumMod val="25000"/>
                  </a:schemeClr>
                </a:solidFill>
              </a:rPr>
              <a:t>- ordenação e agrupamento de dados em sessões de brainstorming e construção com os seguintes passos: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Cartões de Insight 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– Redação das descobertas mais importantes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Organização dos insights 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– Agrupamento dos insights por afinidade, similaridade, proximidade e ou dependência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Identificação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– Nomeação de grupos de afinidade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Relacionamento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– Identificando os relacionamentos entre grupos de afinidade e construção de estórias</a:t>
            </a:r>
          </a:p>
          <a:p>
            <a:pPr lvl="1" algn="just"/>
            <a:endParaRPr lang="pt-BR" sz="1600" cap="small" dirty="0">
              <a:solidFill>
                <a:schemeClr val="bg2">
                  <a:lumMod val="25000"/>
                </a:schemeClr>
              </a:solidFill>
            </a:endParaRPr>
          </a:p>
          <a:p>
            <a:pPr algn="just"/>
            <a:r>
              <a:rPr lang="pt-BR" b="1" cap="small" dirty="0">
                <a:solidFill>
                  <a:schemeClr val="bg2">
                    <a:lumMod val="25000"/>
                  </a:schemeClr>
                </a:solidFill>
              </a:rPr>
              <a:t>Mapas Mentais </a:t>
            </a:r>
            <a:r>
              <a:rPr lang="pt-BR" cap="small" dirty="0">
                <a:solidFill>
                  <a:schemeClr val="bg2">
                    <a:lumMod val="25000"/>
                  </a:schemeClr>
                </a:solidFill>
              </a:rPr>
              <a:t>– Organizando insights e conceitos através de suas conexões, montando um quadro lógico de associações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52E5F2-24DB-4C20-89C3-61E30706E4EC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ANALISANDO OS DADOS COLETADOS E DEFININDO O PROBLEMA</a:t>
            </a:r>
          </a:p>
        </p:txBody>
      </p:sp>
    </p:spTree>
    <p:extLst>
      <p:ext uri="{BB962C8B-B14F-4D97-AF65-F5344CB8AC3E}">
        <p14:creationId xmlns:p14="http://schemas.microsoft.com/office/powerpoint/2010/main" val="18666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4049545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1985118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381146"/>
            <a:ext cx="2163336" cy="1864944"/>
          </a:xfrm>
          <a:prstGeom prst="hexagon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392297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324557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05C4BA6-4712-4182-9E6F-D819D57FBEBE}"/>
              </a:ext>
            </a:extLst>
          </p:cNvPr>
          <p:cNvSpPr/>
          <p:nvPr/>
        </p:nvSpPr>
        <p:spPr>
          <a:xfrm>
            <a:off x="451413" y="2087674"/>
            <a:ext cx="11515823" cy="4718074"/>
          </a:xfrm>
          <a:prstGeom prst="roundRect">
            <a:avLst>
              <a:gd name="adj" fmla="val 8899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b="1" cap="small" dirty="0">
                <a:solidFill>
                  <a:schemeClr val="tx1"/>
                </a:solidFill>
              </a:rPr>
              <a:t>DIAGRAMA DE AFINIDADES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52E5F2-24DB-4C20-89C3-61E30706E4EC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ANALISANDO OS DADOS COLETADOS E DEFININDO O PROBLEMA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2BDB1D-E673-B1DA-4776-1574DF5897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69"/>
          <a:stretch/>
        </p:blipFill>
        <p:spPr>
          <a:xfrm>
            <a:off x="848440" y="2663593"/>
            <a:ext cx="4045184" cy="3913992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BFC380F-2B36-AD95-1CDF-114F3649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420" y="2798101"/>
            <a:ext cx="5540794" cy="3391400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E6B9FB0D-A413-04F3-1921-B2619F914C4A}"/>
              </a:ext>
            </a:extLst>
          </p:cNvPr>
          <p:cNvCxnSpPr>
            <a:cxnSpLocks/>
          </p:cNvCxnSpPr>
          <p:nvPr/>
        </p:nvCxnSpPr>
        <p:spPr>
          <a:xfrm>
            <a:off x="4884693" y="4750603"/>
            <a:ext cx="135637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75E2D43C-5376-B7A6-C5E0-50C4671A1335}"/>
              </a:ext>
            </a:extLst>
          </p:cNvPr>
          <p:cNvSpPr/>
          <p:nvPr/>
        </p:nvSpPr>
        <p:spPr>
          <a:xfrm>
            <a:off x="6241063" y="2867330"/>
            <a:ext cx="5510267" cy="3405724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56822A6-DB21-965B-37F7-000C8A2DE2A1}"/>
              </a:ext>
            </a:extLst>
          </p:cNvPr>
          <p:cNvSpPr txBox="1"/>
          <p:nvPr/>
        </p:nvSpPr>
        <p:spPr>
          <a:xfrm>
            <a:off x="4782190" y="3879331"/>
            <a:ext cx="15650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cap="small" dirty="0"/>
              <a:t>Transformando Informações em Conhecimento</a:t>
            </a:r>
          </a:p>
        </p:txBody>
      </p:sp>
    </p:spTree>
    <p:extLst>
      <p:ext uri="{BB962C8B-B14F-4D97-AF65-F5344CB8AC3E}">
        <p14:creationId xmlns:p14="http://schemas.microsoft.com/office/powerpoint/2010/main" val="1222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ta para a direita 1"/>
          <p:cNvSpPr/>
          <p:nvPr/>
        </p:nvSpPr>
        <p:spPr>
          <a:xfrm>
            <a:off x="969110" y="1985118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05C4BA6-4712-4182-9E6F-D819D57FBEBE}"/>
              </a:ext>
            </a:extLst>
          </p:cNvPr>
          <p:cNvSpPr/>
          <p:nvPr/>
        </p:nvSpPr>
        <p:spPr>
          <a:xfrm>
            <a:off x="451413" y="2087674"/>
            <a:ext cx="11515823" cy="4718074"/>
          </a:xfrm>
          <a:prstGeom prst="roundRect">
            <a:avLst>
              <a:gd name="adj" fmla="val 8899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b="1" cap="small" dirty="0">
                <a:solidFill>
                  <a:schemeClr val="tx1"/>
                </a:solidFill>
              </a:rPr>
              <a:t>DIAGRAMA DE AFINIDADES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52E5F2-24DB-4C20-89C3-61E30706E4EC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ANALISANDO OS DADOS COLETADOS E DEFININDO O PROBLEMA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B4248C0-F809-5B10-F6F7-F05499106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218" y="3294109"/>
            <a:ext cx="4329197" cy="2649808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203530AF-A634-0699-3A6F-A74EA28E958E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6799576" y="4615536"/>
            <a:ext cx="738642" cy="3477"/>
          </a:xfrm>
          <a:prstGeom prst="straightConnector1">
            <a:avLst/>
          </a:prstGeom>
          <a:noFill/>
          <a:ln w="571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B36EED53-D5FF-9F2B-33CC-F4E17DE8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651" y="3479388"/>
            <a:ext cx="2759826" cy="2440884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D1005949-79E7-479B-9EB3-30CE6896372F}"/>
              </a:ext>
            </a:extLst>
          </p:cNvPr>
          <p:cNvSpPr txBox="1"/>
          <p:nvPr/>
        </p:nvSpPr>
        <p:spPr>
          <a:xfrm>
            <a:off x="898483" y="2944634"/>
            <a:ext cx="2759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Classificando os insights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DD3349B-60CD-FF71-085A-74AAFDA8328A}"/>
              </a:ext>
            </a:extLst>
          </p:cNvPr>
          <p:cNvSpPr txBox="1"/>
          <p:nvPr/>
        </p:nvSpPr>
        <p:spPr>
          <a:xfrm>
            <a:off x="4021421" y="2926256"/>
            <a:ext cx="3246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Organizando por afinidade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29CC568-1BCC-22DA-E497-C9244966D175}"/>
              </a:ext>
            </a:extLst>
          </p:cNvPr>
          <p:cNvSpPr txBox="1"/>
          <p:nvPr/>
        </p:nvSpPr>
        <p:spPr>
          <a:xfrm>
            <a:off x="8052702" y="2636858"/>
            <a:ext cx="34440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Definindo relações entre os grupos de afinidade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D41D6C2-A98D-636E-01EF-7454317E9324}"/>
              </a:ext>
            </a:extLst>
          </p:cNvPr>
          <p:cNvCxnSpPr>
            <a:cxnSpLocks/>
          </p:cNvCxnSpPr>
          <p:nvPr/>
        </p:nvCxnSpPr>
        <p:spPr>
          <a:xfrm>
            <a:off x="3588860" y="4615536"/>
            <a:ext cx="633132" cy="0"/>
          </a:xfrm>
          <a:prstGeom prst="straightConnector1">
            <a:avLst/>
          </a:prstGeom>
          <a:noFill/>
          <a:ln w="571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602B10CE-3B07-B56B-9ABC-8F154F588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468" y="3479388"/>
            <a:ext cx="2759826" cy="250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6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18045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1985118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149646"/>
            <a:ext cx="2163336" cy="1864944"/>
          </a:xfrm>
          <a:prstGeom prst="hexagon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160797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093057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05C4BA6-4712-4182-9E6F-D819D57FBEBE}"/>
              </a:ext>
            </a:extLst>
          </p:cNvPr>
          <p:cNvSpPr/>
          <p:nvPr/>
        </p:nvSpPr>
        <p:spPr>
          <a:xfrm>
            <a:off x="451413" y="2087674"/>
            <a:ext cx="11515823" cy="4718074"/>
          </a:xfrm>
          <a:prstGeom prst="roundRect">
            <a:avLst>
              <a:gd name="adj" fmla="val 8899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b="1" cap="small" dirty="0">
                <a:solidFill>
                  <a:schemeClr val="tx1"/>
                </a:solidFill>
              </a:rPr>
              <a:t>DIAGRAMA DE AFINIDADES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52E5F2-24DB-4C20-89C3-61E30706E4EC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ANALISANDO OS DADOS COLETADOS E DEFININDO O PROBLEMA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08E5882-A34D-5B8E-C77A-8E57BB3F59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67" t="10352" r="20728" b="8924"/>
          <a:stretch/>
        </p:blipFill>
        <p:spPr>
          <a:xfrm>
            <a:off x="807695" y="3070722"/>
            <a:ext cx="4798940" cy="306013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D9EEC65-51EC-5CF9-18C2-8C319374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85" y="2899404"/>
            <a:ext cx="5467266" cy="334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25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rgbClr val="FF99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05C4BA6-4712-4182-9E6F-D819D57FBEBE}"/>
              </a:ext>
            </a:extLst>
          </p:cNvPr>
          <p:cNvSpPr/>
          <p:nvPr/>
        </p:nvSpPr>
        <p:spPr>
          <a:xfrm>
            <a:off x="1852183" y="4400087"/>
            <a:ext cx="9132833" cy="2192754"/>
          </a:xfrm>
          <a:prstGeom prst="roundRect">
            <a:avLst>
              <a:gd name="adj" fmla="val 8899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cap="small" dirty="0">
                <a:solidFill>
                  <a:schemeClr val="tx1"/>
                </a:solidFill>
              </a:rPr>
              <a:t>Ideação por Brainstorming</a:t>
            </a:r>
          </a:p>
          <a:p>
            <a:r>
              <a:rPr lang="pt-BR" cap="small" dirty="0">
                <a:solidFill>
                  <a:schemeClr val="tx1"/>
                </a:solidFill>
              </a:rPr>
              <a:t>Geração de ideias em sessões de brainstorming a partir das descobertas e definições da fase de analise.   Este processo deve gerar multiplicidade de ideias em um ambiente livre de julgamentos e que permita a livre criatividade de todos os participantes.</a:t>
            </a:r>
          </a:p>
          <a:p>
            <a:r>
              <a:rPr lang="pt-BR" cap="small" dirty="0">
                <a:solidFill>
                  <a:schemeClr val="tx1"/>
                </a:solidFill>
              </a:rPr>
              <a:t>Ao final das sessões as ideias são avaliadas e o grupo decide quais podem ter maior sucesso e impacto na solução do problemas, definindo quais ideias devem ser </a:t>
            </a:r>
            <a:r>
              <a:rPr lang="pt-BR" cap="small" dirty="0" err="1">
                <a:solidFill>
                  <a:schemeClr val="tx1"/>
                </a:solidFill>
              </a:rPr>
              <a:t>prototipadas</a:t>
            </a:r>
            <a:r>
              <a:rPr lang="pt-BR" cap="small" dirty="0">
                <a:solidFill>
                  <a:schemeClr val="tx1"/>
                </a:solidFill>
              </a:rPr>
              <a:t> e testadas.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BCBAF4E-CBA0-4EC3-91E9-83A62082D3B6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GERANDO SOLUÇÕES COM CRIATIVIDADE</a:t>
            </a:r>
          </a:p>
        </p:txBody>
      </p:sp>
    </p:spTree>
    <p:extLst>
      <p:ext uri="{BB962C8B-B14F-4D97-AF65-F5344CB8AC3E}">
        <p14:creationId xmlns:p14="http://schemas.microsoft.com/office/powerpoint/2010/main" val="142724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rgbClr val="FF99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BCBAF4E-CBA0-4EC3-91E9-83A62082D3B6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GERANDO SOLUÇÕES COM CRIATIVIDADE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818C65B-AB5F-6CD2-D210-A3E8D883B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90" y="2139926"/>
            <a:ext cx="7894219" cy="444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5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6B06BF6-1D15-43ED-816B-A1986A36B5A1}"/>
              </a:ext>
            </a:extLst>
          </p:cNvPr>
          <p:cNvSpPr/>
          <p:nvPr/>
        </p:nvSpPr>
        <p:spPr>
          <a:xfrm>
            <a:off x="169302" y="2139926"/>
            <a:ext cx="6289555" cy="4465701"/>
          </a:xfrm>
          <a:prstGeom prst="roundRect">
            <a:avLst>
              <a:gd name="adj" fmla="val 4804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cap="small" dirty="0">
                <a:solidFill>
                  <a:schemeClr val="tx1"/>
                </a:solidFill>
              </a:rPr>
              <a:t>CONSTRUINDO PROTÓTIPOS</a:t>
            </a:r>
          </a:p>
          <a:p>
            <a:r>
              <a:rPr lang="pt-BR" cap="small" dirty="0">
                <a:solidFill>
                  <a:schemeClr val="tx1"/>
                </a:solidFill>
              </a:rPr>
              <a:t>Nesta etapa serão criados protótipos para cada ideia aprovada na etapa anterior. Dependendo do tipo de problema, da ideia e dos recursos e tempo disponíveis o protótipo poderá ser físico ou virtual (</a:t>
            </a:r>
            <a:r>
              <a:rPr lang="pt-BR" cap="small" dirty="0" err="1">
                <a:solidFill>
                  <a:schemeClr val="tx1"/>
                </a:solidFill>
              </a:rPr>
              <a:t>storyboards</a:t>
            </a:r>
            <a:r>
              <a:rPr lang="pt-BR" cap="small" dirty="0">
                <a:solidFill>
                  <a:schemeClr val="tx1"/>
                </a:solidFill>
              </a:rPr>
              <a:t>, </a:t>
            </a:r>
            <a:r>
              <a:rPr lang="pt-BR" cap="small" dirty="0" err="1">
                <a:solidFill>
                  <a:schemeClr val="tx1"/>
                </a:solidFill>
              </a:rPr>
              <a:t>wireframes</a:t>
            </a:r>
            <a:r>
              <a:rPr lang="pt-BR" cap="small" dirty="0">
                <a:solidFill>
                  <a:schemeClr val="tx1"/>
                </a:solidFill>
              </a:rPr>
              <a:t> ...). É importante lembrar que protótipos podem (e devem) considerar o produto em si, o processo e a experiência do cliente</a:t>
            </a:r>
          </a:p>
          <a:p>
            <a:endParaRPr lang="pt-BR" cap="small" dirty="0">
              <a:solidFill>
                <a:schemeClr val="tx1"/>
              </a:solidFill>
            </a:endParaRPr>
          </a:p>
          <a:p>
            <a:r>
              <a:rPr lang="pt-BR" sz="1600" b="1" cap="all" dirty="0">
                <a:solidFill>
                  <a:schemeClr val="bg2">
                    <a:lumMod val="25000"/>
                  </a:schemeClr>
                </a:solidFill>
              </a:rPr>
              <a:t>Diferentes níveis de prototipagem de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cap="small" dirty="0" err="1">
                <a:solidFill>
                  <a:schemeClr val="bg2">
                    <a:lumMod val="25000"/>
                  </a:schemeClr>
                </a:solidFill>
              </a:rPr>
              <a:t>Wireframes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- representações de baixa fidelidade e baixa complexidade, sem compromisso com a exatidão das proporções ou escalas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cap="small" dirty="0" err="1">
                <a:solidFill>
                  <a:schemeClr val="bg2">
                    <a:lumMod val="25000"/>
                  </a:schemeClr>
                </a:solidFill>
              </a:rPr>
              <a:t>Mockups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- mais realísticos do ponto de vista visual, tem fidelidade e complexidade média, mas não são operáveis ou navegáveis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cap="small" dirty="0">
                <a:solidFill>
                  <a:schemeClr val="bg2">
                    <a:lumMod val="25000"/>
                  </a:schemeClr>
                </a:solidFill>
              </a:rPr>
              <a:t>Protótipos</a:t>
            </a:r>
            <a:r>
              <a:rPr lang="pt-BR" sz="1600" cap="small" dirty="0">
                <a:solidFill>
                  <a:schemeClr val="bg2">
                    <a:lumMod val="25000"/>
                  </a:schemeClr>
                </a:solidFill>
              </a:rPr>
              <a:t> - representações de alta fidelidade do produto final, podendo inclusive ser navegável ou simular operações e comportamentos esperados para o produto final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A0AFF19-3C81-45D3-992D-27038F06FE54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DANDO FORMA E VIDA ÀS IDEIAS</a:t>
            </a:r>
          </a:p>
        </p:txBody>
      </p:sp>
    </p:spTree>
    <p:extLst>
      <p:ext uri="{BB962C8B-B14F-4D97-AF65-F5344CB8AC3E}">
        <p14:creationId xmlns:p14="http://schemas.microsoft.com/office/powerpoint/2010/main" val="129745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ta para a direita 1"/>
          <p:cNvSpPr/>
          <p:nvPr/>
        </p:nvSpPr>
        <p:spPr>
          <a:xfrm>
            <a:off x="969110" y="1985118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15676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05C4BA6-4712-4182-9E6F-D819D57FBEBE}"/>
              </a:ext>
            </a:extLst>
          </p:cNvPr>
          <p:cNvSpPr/>
          <p:nvPr/>
        </p:nvSpPr>
        <p:spPr>
          <a:xfrm>
            <a:off x="338087" y="1985118"/>
            <a:ext cx="11515823" cy="4718074"/>
          </a:xfrm>
          <a:prstGeom prst="roundRect">
            <a:avLst>
              <a:gd name="adj" fmla="val 8899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pt-BR" b="1" cap="small" dirty="0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52E5F2-24DB-4C20-89C3-61E30706E4EC}"/>
              </a:ext>
            </a:extLst>
          </p:cNvPr>
          <p:cNvSpPr txBox="1"/>
          <p:nvPr/>
        </p:nvSpPr>
        <p:spPr>
          <a:xfrm>
            <a:off x="587828" y="1297079"/>
            <a:ext cx="1101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DIFERENTES NÍVEIS DE PROTOTIPAGEM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BE222B-10EC-C83B-A05D-3ABCE93236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53"/>
          <a:stretch/>
        </p:blipFill>
        <p:spPr>
          <a:xfrm>
            <a:off x="1574183" y="2079922"/>
            <a:ext cx="9114259" cy="458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0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6B06BF6-1D15-43ED-816B-A1986A36B5A1}"/>
              </a:ext>
            </a:extLst>
          </p:cNvPr>
          <p:cNvSpPr/>
          <p:nvPr/>
        </p:nvSpPr>
        <p:spPr>
          <a:xfrm>
            <a:off x="1756228" y="2385711"/>
            <a:ext cx="8418285" cy="3637716"/>
          </a:xfrm>
          <a:prstGeom prst="roundRect">
            <a:avLst>
              <a:gd name="adj" fmla="val 8899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cap="small" dirty="0">
                <a:solidFill>
                  <a:schemeClr val="tx1"/>
                </a:solidFill>
              </a:rPr>
              <a:t>7 perguntas a serem respondidas para planejar seu protótipo:</a:t>
            </a:r>
          </a:p>
          <a:p>
            <a:endParaRPr lang="pt-BR" sz="2000" cap="small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Qual a essência da minha ideia?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O que preciso aprender com esse teste?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Como posso executá-lo? Como posso apresentar a essência da minha ideia a alguém?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Para quem é este protótipo?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De quê preciso para executá-lo? (materiais, local, pessoas)?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Qual o melhor momento para realizar o teste?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Quais ferramentas posso precisar durante o teste?</a:t>
            </a:r>
            <a:endParaRPr lang="pt-BR" cap="small" dirty="0">
              <a:solidFill>
                <a:schemeClr val="tx1"/>
              </a:solidFill>
            </a:endParaRPr>
          </a:p>
        </p:txBody>
      </p:sp>
      <p:sp>
        <p:nvSpPr>
          <p:cNvPr id="4" name="Elipse 3">
            <a:hlinkClick r:id="rId2"/>
            <a:extLst>
              <a:ext uri="{FF2B5EF4-FFF2-40B4-BE49-F238E27FC236}">
                <a16:creationId xmlns:a16="http://schemas.microsoft.com/office/drawing/2014/main" id="{88A6AFB1-49F7-4F85-B94C-6645BE4F824A}"/>
              </a:ext>
            </a:extLst>
          </p:cNvPr>
          <p:cNvSpPr/>
          <p:nvPr/>
        </p:nvSpPr>
        <p:spPr>
          <a:xfrm>
            <a:off x="8347844" y="5426122"/>
            <a:ext cx="2499804" cy="105191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cap="small" dirty="0">
                <a:solidFill>
                  <a:schemeClr val="tx1"/>
                </a:solidFill>
              </a:rPr>
              <a:t>Vídeo </a:t>
            </a:r>
          </a:p>
          <a:p>
            <a:pPr algn="ctr"/>
            <a:r>
              <a:rPr lang="pt-BR" b="1" cap="small" dirty="0">
                <a:solidFill>
                  <a:schemeClr val="tx1"/>
                </a:solidFill>
              </a:rPr>
              <a:t>Fome de Poder</a:t>
            </a:r>
          </a:p>
          <a:p>
            <a:pPr algn="ctr"/>
            <a:r>
              <a:rPr lang="pt-BR" cap="small" dirty="0" err="1">
                <a:solidFill>
                  <a:schemeClr val="tx1"/>
                </a:solidFill>
              </a:rPr>
              <a:t>McDonalds</a:t>
            </a:r>
            <a:endParaRPr lang="pt-BR" cap="small" dirty="0">
              <a:solidFill>
                <a:schemeClr val="tx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E4CB86-6EA1-4B0F-A863-90877465A17F}"/>
              </a:ext>
            </a:extLst>
          </p:cNvPr>
          <p:cNvSpPr txBox="1"/>
          <p:nvPr/>
        </p:nvSpPr>
        <p:spPr>
          <a:xfrm>
            <a:off x="587828" y="1297079"/>
            <a:ext cx="10705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PLANEJANDO OS TESTES DE PROTÓTIPO</a:t>
            </a:r>
          </a:p>
        </p:txBody>
      </p:sp>
    </p:spTree>
    <p:extLst>
      <p:ext uri="{BB962C8B-B14F-4D97-AF65-F5344CB8AC3E}">
        <p14:creationId xmlns:p14="http://schemas.microsoft.com/office/powerpoint/2010/main" val="1863042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6B06BF6-1D15-43ED-816B-A1986A36B5A1}"/>
              </a:ext>
            </a:extLst>
          </p:cNvPr>
          <p:cNvSpPr/>
          <p:nvPr/>
        </p:nvSpPr>
        <p:spPr>
          <a:xfrm>
            <a:off x="551543" y="937409"/>
            <a:ext cx="11379200" cy="5818993"/>
          </a:xfrm>
          <a:prstGeom prst="roundRect">
            <a:avLst>
              <a:gd name="adj" fmla="val 3162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pt-BR" sz="2400" b="1" cap="small" dirty="0">
                <a:solidFill>
                  <a:srgbClr val="444444"/>
                </a:solidFill>
              </a:rPr>
              <a:t>E se os fundadores do Mc </a:t>
            </a:r>
            <a:r>
              <a:rPr lang="pt-BR" sz="2400" b="1" cap="small" dirty="0" err="1">
                <a:solidFill>
                  <a:srgbClr val="444444"/>
                </a:solidFill>
              </a:rPr>
              <a:t>Donald’s</a:t>
            </a:r>
            <a:r>
              <a:rPr lang="pt-BR" sz="2400" b="1" cap="small" dirty="0">
                <a:solidFill>
                  <a:srgbClr val="444444"/>
                </a:solidFill>
              </a:rPr>
              <a:t> tivessem respondido às 7 perguntas?</a:t>
            </a:r>
          </a:p>
          <a:p>
            <a:pPr fontAlgn="base"/>
            <a:endParaRPr lang="pt-BR" sz="1100" b="1" cap="small" dirty="0">
              <a:solidFill>
                <a:srgbClr val="444444"/>
              </a:solidFill>
            </a:endParaRPr>
          </a:p>
          <a:p>
            <a:pPr fontAlgn="base">
              <a:buFont typeface="+mj-lt"/>
              <a:buAutoNum type="arabicPeriod"/>
            </a:pPr>
            <a:r>
              <a:rPr lang="pt-BR" sz="2000" b="1" cap="small" dirty="0">
                <a:solidFill>
                  <a:srgbClr val="444444"/>
                </a:solidFill>
              </a:rPr>
              <a:t> Qual a essência da minha ideia?</a:t>
            </a:r>
            <a:br>
              <a:rPr lang="pt-BR" sz="2000" cap="small" dirty="0">
                <a:solidFill>
                  <a:srgbClr val="444444"/>
                </a:solidFill>
              </a:rPr>
            </a:br>
            <a:r>
              <a:rPr lang="pt-BR" sz="2000" cap="small" dirty="0">
                <a:solidFill>
                  <a:srgbClr val="444444"/>
                </a:solidFill>
              </a:rPr>
              <a:t>    </a:t>
            </a:r>
            <a:r>
              <a:rPr lang="pt-BR" sz="2000" i="1" cap="small" dirty="0">
                <a:solidFill>
                  <a:srgbClr val="444444"/>
                </a:solidFill>
              </a:rPr>
              <a:t>R: Organizar a cozinha de forma a reduzir o tempo de espera dos clientes.</a:t>
            </a:r>
            <a:endParaRPr lang="pt-BR" sz="2000" cap="small" dirty="0">
              <a:solidFill>
                <a:srgbClr val="444444"/>
              </a:solidFill>
            </a:endParaRPr>
          </a:p>
          <a:p>
            <a:pPr fontAlgn="base">
              <a:buFont typeface="+mj-lt"/>
              <a:buAutoNum type="arabicPeriod"/>
            </a:pPr>
            <a:r>
              <a:rPr lang="pt-BR" sz="2000" b="1" cap="small" dirty="0">
                <a:solidFill>
                  <a:srgbClr val="444444"/>
                </a:solidFill>
              </a:rPr>
              <a:t> O que preciso aprender com esse teste?</a:t>
            </a:r>
            <a:br>
              <a:rPr lang="pt-BR" sz="2000" cap="small" dirty="0">
                <a:solidFill>
                  <a:srgbClr val="444444"/>
                </a:solidFill>
              </a:rPr>
            </a:br>
            <a:r>
              <a:rPr lang="pt-BR" sz="2000" cap="small" dirty="0">
                <a:solidFill>
                  <a:srgbClr val="444444"/>
                </a:solidFill>
              </a:rPr>
              <a:t>    </a:t>
            </a:r>
            <a:r>
              <a:rPr lang="pt-BR" sz="2000" i="1" cap="small" dirty="0">
                <a:solidFill>
                  <a:srgbClr val="444444"/>
                </a:solidFill>
              </a:rPr>
              <a:t>R: Qual a melhor disposição das áreas de trabalho da cozinha para reduzir o tempo de preparo dos sanduíches.</a:t>
            </a:r>
          </a:p>
          <a:p>
            <a:pPr fontAlgn="base">
              <a:buFont typeface="+mj-lt"/>
              <a:buAutoNum type="arabicPeriod"/>
            </a:pPr>
            <a:r>
              <a:rPr lang="pt-BR" sz="2000" b="1" cap="small" dirty="0">
                <a:solidFill>
                  <a:srgbClr val="444444"/>
                </a:solidFill>
              </a:rPr>
              <a:t> Como posso executá-lo? Como posso apresentar a essência da minha ideia a alguém?</a:t>
            </a:r>
            <a:br>
              <a:rPr lang="pt-BR" sz="2000" cap="small" dirty="0">
                <a:solidFill>
                  <a:srgbClr val="444444"/>
                </a:solidFill>
              </a:rPr>
            </a:br>
            <a:r>
              <a:rPr lang="pt-BR" sz="2000" cap="small" dirty="0">
                <a:solidFill>
                  <a:srgbClr val="444444"/>
                </a:solidFill>
              </a:rPr>
              <a:t>    </a:t>
            </a:r>
            <a:r>
              <a:rPr lang="pt-BR" sz="2000" i="1" cap="small" dirty="0">
                <a:solidFill>
                  <a:srgbClr val="444444"/>
                </a:solidFill>
              </a:rPr>
              <a:t>R: Simulando a cozinha e as áreas de trabalho em uma quadra.</a:t>
            </a:r>
          </a:p>
          <a:p>
            <a:pPr fontAlgn="base">
              <a:buFont typeface="+mj-lt"/>
              <a:buAutoNum type="arabicPeriod"/>
            </a:pPr>
            <a:r>
              <a:rPr lang="pt-BR" sz="2000" b="1" cap="small" dirty="0">
                <a:solidFill>
                  <a:srgbClr val="444444"/>
                </a:solidFill>
              </a:rPr>
              <a:t> Para quem é este protótipo?</a:t>
            </a:r>
            <a:br>
              <a:rPr lang="pt-BR" sz="2000" cap="small" dirty="0">
                <a:solidFill>
                  <a:srgbClr val="444444"/>
                </a:solidFill>
              </a:rPr>
            </a:br>
            <a:r>
              <a:rPr lang="pt-BR" sz="2000" cap="small" dirty="0">
                <a:solidFill>
                  <a:srgbClr val="444444"/>
                </a:solidFill>
              </a:rPr>
              <a:t>    </a:t>
            </a:r>
            <a:r>
              <a:rPr lang="pt-BR" sz="2000" i="1" cap="small" dirty="0">
                <a:solidFill>
                  <a:srgbClr val="444444"/>
                </a:solidFill>
              </a:rPr>
              <a:t>R: Para os funcionários.</a:t>
            </a:r>
          </a:p>
          <a:p>
            <a:pPr fontAlgn="base">
              <a:buFont typeface="+mj-lt"/>
              <a:buAutoNum type="arabicPeriod"/>
            </a:pPr>
            <a:r>
              <a:rPr lang="pt-BR" sz="2000" b="1" cap="small" dirty="0">
                <a:solidFill>
                  <a:srgbClr val="444444"/>
                </a:solidFill>
              </a:rPr>
              <a:t> De quê preciso para executá-lo? (materiais para construir um modelo físico, local, pessoas)?</a:t>
            </a:r>
            <a:br>
              <a:rPr lang="pt-BR" sz="2000" cap="small" dirty="0">
                <a:solidFill>
                  <a:srgbClr val="444444"/>
                </a:solidFill>
              </a:rPr>
            </a:br>
            <a:r>
              <a:rPr lang="pt-BR" sz="2000" cap="small" dirty="0">
                <a:solidFill>
                  <a:srgbClr val="444444"/>
                </a:solidFill>
              </a:rPr>
              <a:t>    </a:t>
            </a:r>
            <a:r>
              <a:rPr lang="pt-BR" sz="2000" i="1" cap="small" dirty="0">
                <a:solidFill>
                  <a:srgbClr val="444444"/>
                </a:solidFill>
              </a:rPr>
              <a:t>R: Medidas da cozinha, medidas das áreas de trabalho, descrição do processo de preparo dos sanduíches, giz, </a:t>
            </a:r>
          </a:p>
          <a:p>
            <a:pPr fontAlgn="base"/>
            <a:r>
              <a:rPr lang="pt-BR" sz="2000" i="1" cap="small" dirty="0">
                <a:solidFill>
                  <a:srgbClr val="444444"/>
                </a:solidFill>
              </a:rPr>
              <a:t>          escada, cronômetro, funcionários da cozinha…</a:t>
            </a:r>
          </a:p>
          <a:p>
            <a:pPr fontAlgn="base">
              <a:buFont typeface="+mj-lt"/>
              <a:buAutoNum type="arabicPeriod"/>
            </a:pPr>
            <a:r>
              <a:rPr lang="pt-BR" sz="2000" b="1" cap="small" dirty="0">
                <a:solidFill>
                  <a:srgbClr val="444444"/>
                </a:solidFill>
              </a:rPr>
              <a:t> Qual o melhor momento para realizar o teste?</a:t>
            </a:r>
            <a:br>
              <a:rPr lang="pt-BR" sz="2000" cap="small" dirty="0">
                <a:solidFill>
                  <a:srgbClr val="444444"/>
                </a:solidFill>
              </a:rPr>
            </a:br>
            <a:r>
              <a:rPr lang="pt-BR" sz="2000" cap="small" dirty="0">
                <a:solidFill>
                  <a:srgbClr val="444444"/>
                </a:solidFill>
              </a:rPr>
              <a:t>    </a:t>
            </a:r>
            <a:r>
              <a:rPr lang="pt-BR" sz="2000" i="1" cap="small" dirty="0">
                <a:solidFill>
                  <a:srgbClr val="444444"/>
                </a:solidFill>
              </a:rPr>
              <a:t>R: Um momento em que consigamos reunir toda a equipe da cozinha e a quadra esteja disponível.</a:t>
            </a:r>
          </a:p>
          <a:p>
            <a:pPr fontAlgn="base">
              <a:buFont typeface="+mj-lt"/>
              <a:buAutoNum type="arabicPeriod"/>
            </a:pPr>
            <a:r>
              <a:rPr lang="pt-BR" sz="2000" b="1" cap="small" dirty="0">
                <a:solidFill>
                  <a:srgbClr val="444444"/>
                </a:solidFill>
              </a:rPr>
              <a:t> Quais ferramentas posso precisar durante o teste?</a:t>
            </a:r>
            <a:br>
              <a:rPr lang="pt-BR" sz="2000" cap="small" dirty="0">
                <a:solidFill>
                  <a:srgbClr val="444444"/>
                </a:solidFill>
              </a:rPr>
            </a:br>
            <a:r>
              <a:rPr lang="pt-BR" sz="2000" cap="small" dirty="0">
                <a:solidFill>
                  <a:srgbClr val="444444"/>
                </a:solidFill>
              </a:rPr>
              <a:t>    </a:t>
            </a:r>
            <a:r>
              <a:rPr lang="pt-BR" sz="2000" i="1" cap="small" dirty="0">
                <a:solidFill>
                  <a:srgbClr val="444444"/>
                </a:solidFill>
              </a:rPr>
              <a:t>R: Giz, escada, cronômetro, papel, prancheta, caneta…</a:t>
            </a:r>
            <a:endParaRPr lang="pt-BR" sz="2000" cap="small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990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DD94CC2-2DBA-49BC-BAD4-DB0C1D5800A0}"/>
              </a:ext>
            </a:extLst>
          </p:cNvPr>
          <p:cNvSpPr/>
          <p:nvPr/>
        </p:nvSpPr>
        <p:spPr>
          <a:xfrm>
            <a:off x="626414" y="2835798"/>
            <a:ext cx="7056314" cy="3291060"/>
          </a:xfrm>
          <a:prstGeom prst="roundRect">
            <a:avLst>
              <a:gd name="adj" fmla="val 3162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cap="small" dirty="0">
                <a:solidFill>
                  <a:schemeClr val="tx1"/>
                </a:solidFill>
              </a:rPr>
              <a:t>RECOMENDAÇÕES</a:t>
            </a:r>
          </a:p>
          <a:p>
            <a:endParaRPr lang="pt-BR" b="1" cap="small" dirty="0">
              <a:solidFill>
                <a:schemeClr val="tx1"/>
              </a:solidFill>
            </a:endParaRPr>
          </a:p>
          <a:p>
            <a:r>
              <a:rPr lang="pt-BR" cap="small" dirty="0">
                <a:solidFill>
                  <a:schemeClr val="tx1"/>
                </a:solidFill>
              </a:rPr>
              <a:t>Planeje o que quer observar em cada teste (monte uma lista de questões)</a:t>
            </a:r>
          </a:p>
          <a:p>
            <a:endParaRPr lang="pt-BR" cap="small" dirty="0">
              <a:solidFill>
                <a:schemeClr val="tx1"/>
              </a:solidFill>
            </a:endParaRPr>
          </a:p>
          <a:p>
            <a:r>
              <a:rPr lang="pt-BR" cap="small" dirty="0">
                <a:solidFill>
                  <a:schemeClr val="tx1"/>
                </a:solidFill>
              </a:rPr>
              <a:t>Teste o protótipo junto ao(s) cliente(s) e anote os resultados de cada teste</a:t>
            </a:r>
          </a:p>
          <a:p>
            <a:endParaRPr lang="pt-BR" cap="small" dirty="0">
              <a:solidFill>
                <a:schemeClr val="tx1"/>
              </a:solidFill>
            </a:endParaRPr>
          </a:p>
          <a:p>
            <a:r>
              <a:rPr lang="pt-BR" cap="small" dirty="0">
                <a:solidFill>
                  <a:schemeClr val="tx1"/>
                </a:solidFill>
              </a:rPr>
              <a:t>Se não for possível testar o protótipo funcionalmente elabore uma pesquisa para checar a viabilidade do projeto através de entrevistas</a:t>
            </a:r>
          </a:p>
          <a:p>
            <a:endParaRPr lang="pt-BR" cap="small" dirty="0">
              <a:solidFill>
                <a:schemeClr val="tx1"/>
              </a:solidFill>
            </a:endParaRPr>
          </a:p>
          <a:p>
            <a:r>
              <a:rPr lang="pt-BR" cap="small" dirty="0">
                <a:solidFill>
                  <a:schemeClr val="tx1"/>
                </a:solidFill>
              </a:rPr>
              <a:t>Tabule e analise as anotações dos testes ou as respostas da pesquisa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A44393-D379-40FC-A364-C157E4DECC16}"/>
              </a:ext>
            </a:extLst>
          </p:cNvPr>
          <p:cNvSpPr txBox="1"/>
          <p:nvPr/>
        </p:nvSpPr>
        <p:spPr>
          <a:xfrm>
            <a:off x="587828" y="1297079"/>
            <a:ext cx="10705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PLANEJANDO OS TESTES DE PROTÓTIPO</a:t>
            </a:r>
          </a:p>
        </p:txBody>
      </p:sp>
    </p:spTree>
    <p:extLst>
      <p:ext uri="{BB962C8B-B14F-4D97-AF65-F5344CB8AC3E}">
        <p14:creationId xmlns:p14="http://schemas.microsoft.com/office/powerpoint/2010/main" val="218133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ta para a direita 39"/>
          <p:cNvSpPr/>
          <p:nvPr/>
        </p:nvSpPr>
        <p:spPr>
          <a:xfrm rot="10800000">
            <a:off x="969110" y="3870297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1"/>
          <p:cNvSpPr/>
          <p:nvPr/>
        </p:nvSpPr>
        <p:spPr>
          <a:xfrm>
            <a:off x="969110" y="2037370"/>
            <a:ext cx="10324407" cy="19285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/>
          <p:cNvSpPr/>
          <p:nvPr/>
        </p:nvSpPr>
        <p:spPr>
          <a:xfrm>
            <a:off x="1538870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CRIAR “EMPATIA”</a:t>
            </a:r>
          </a:p>
        </p:txBody>
      </p:sp>
      <p:sp>
        <p:nvSpPr>
          <p:cNvPr id="7" name="Hexágono 6"/>
          <p:cNvSpPr/>
          <p:nvPr/>
        </p:nvSpPr>
        <p:spPr>
          <a:xfrm>
            <a:off x="3294258" y="320189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ANALISE E INSIGHTS</a:t>
            </a:r>
          </a:p>
        </p:txBody>
      </p:sp>
      <p:sp>
        <p:nvSpPr>
          <p:cNvPr id="8" name="Hexágono 7"/>
          <p:cNvSpPr/>
          <p:nvPr/>
        </p:nvSpPr>
        <p:spPr>
          <a:xfrm>
            <a:off x="5049646" y="2267928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GERAR IDEIAS</a:t>
            </a:r>
          </a:p>
        </p:txBody>
      </p:sp>
      <p:sp>
        <p:nvSpPr>
          <p:cNvPr id="9" name="Hexágono 8"/>
          <p:cNvSpPr/>
          <p:nvPr/>
        </p:nvSpPr>
        <p:spPr>
          <a:xfrm>
            <a:off x="6805034" y="3213049"/>
            <a:ext cx="2163336" cy="1864944"/>
          </a:xfrm>
          <a:prstGeom prst="hexag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PROTOTIPAR</a:t>
            </a:r>
          </a:p>
        </p:txBody>
      </p:sp>
      <p:sp>
        <p:nvSpPr>
          <p:cNvPr id="10" name="Hexágono 9"/>
          <p:cNvSpPr/>
          <p:nvPr/>
        </p:nvSpPr>
        <p:spPr>
          <a:xfrm>
            <a:off x="8560422" y="4145309"/>
            <a:ext cx="2163336" cy="1864944"/>
          </a:xfrm>
          <a:prstGeom prst="hexagon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TESTAR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DD94CC2-2DBA-49BC-BAD4-DB0C1D5800A0}"/>
              </a:ext>
            </a:extLst>
          </p:cNvPr>
          <p:cNvSpPr/>
          <p:nvPr/>
        </p:nvSpPr>
        <p:spPr>
          <a:xfrm>
            <a:off x="532091" y="2267928"/>
            <a:ext cx="7458572" cy="3873069"/>
          </a:xfrm>
          <a:prstGeom prst="roundRect">
            <a:avLst>
              <a:gd name="adj" fmla="val 3162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b="1" cap="small" dirty="0">
                <a:solidFill>
                  <a:schemeClr val="tx1"/>
                </a:solidFill>
              </a:rPr>
              <a:t>O MELHOR TESTADOR É O USUÁRIO</a:t>
            </a:r>
          </a:p>
          <a:p>
            <a:r>
              <a:rPr lang="pt-BR" sz="2000" cap="small" dirty="0">
                <a:solidFill>
                  <a:schemeClr val="tx1"/>
                </a:solidFill>
              </a:rPr>
              <a:t>Sempre que possível teste protótipos junto ao usuário final, em seu próprio ambiente de trabalho ou uso</a:t>
            </a:r>
          </a:p>
          <a:p>
            <a:endParaRPr lang="pt-BR" sz="2000" b="1" cap="small" dirty="0">
              <a:solidFill>
                <a:schemeClr val="tx1"/>
              </a:solidFill>
            </a:endParaRPr>
          </a:p>
          <a:p>
            <a:r>
              <a:rPr lang="pt-BR" sz="2000" cap="small" dirty="0">
                <a:solidFill>
                  <a:schemeClr val="tx1"/>
                </a:solidFill>
              </a:rPr>
              <a:t>A cada rodada de teste procure responder às seguintes questões:</a:t>
            </a:r>
          </a:p>
          <a:p>
            <a:pPr marL="623888" indent="-342900" fontAlgn="base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O que funcionou no protótipo?</a:t>
            </a:r>
          </a:p>
          <a:p>
            <a:pPr marL="623888" indent="-342900" fontAlgn="base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O que não funcionou?</a:t>
            </a:r>
          </a:p>
          <a:p>
            <a:pPr marL="623888" indent="-342900" fontAlgn="base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Que perguntas foram feitas durante o teste?</a:t>
            </a:r>
          </a:p>
          <a:p>
            <a:pPr marL="623888" indent="-342900" fontAlgn="base"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Que novas inspirações surgiram?</a:t>
            </a:r>
          </a:p>
          <a:p>
            <a:endParaRPr lang="pt-BR" sz="2000" cap="small" dirty="0">
              <a:solidFill>
                <a:schemeClr val="tx1"/>
              </a:solidFill>
            </a:endParaRPr>
          </a:p>
          <a:p>
            <a:r>
              <a:rPr lang="pt-BR" sz="2000" cap="small" dirty="0">
                <a:solidFill>
                  <a:schemeClr val="tx1"/>
                </a:solidFill>
              </a:rPr>
              <a:t>Se necessário faça adequações no protótipo e refaça os testes até que seja possível considerar o protótipo pronto para ser usado/aplicado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7993F72-ED97-4D10-83BE-5991D2263D65}"/>
              </a:ext>
            </a:extLst>
          </p:cNvPr>
          <p:cNvSpPr txBox="1"/>
          <p:nvPr/>
        </p:nvSpPr>
        <p:spPr>
          <a:xfrm>
            <a:off x="587828" y="1297079"/>
            <a:ext cx="10428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TESTANDO O PROTÓTIPO</a:t>
            </a:r>
          </a:p>
        </p:txBody>
      </p:sp>
    </p:spTree>
    <p:extLst>
      <p:ext uri="{BB962C8B-B14F-4D97-AF65-F5344CB8AC3E}">
        <p14:creationId xmlns:p14="http://schemas.microsoft.com/office/powerpoint/2010/main" val="1381553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aixaDeTexto 40"/>
          <p:cNvSpPr txBox="1"/>
          <p:nvPr/>
        </p:nvSpPr>
        <p:spPr>
          <a:xfrm>
            <a:off x="1186482" y="1039007"/>
            <a:ext cx="9819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UM PROCESSO COLABORATIVO, ITERATIVO E EVOLUTIVO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8CF93F-2862-5087-9E63-DEDD0ED99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95" y="2096700"/>
            <a:ext cx="9048208" cy="426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33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aixaDeTexto 40"/>
          <p:cNvSpPr txBox="1"/>
          <p:nvPr/>
        </p:nvSpPr>
        <p:spPr>
          <a:xfrm>
            <a:off x="3327752" y="1191822"/>
            <a:ext cx="5020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DESIGN SPRINT DA GOOGLE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528511" y="208010"/>
            <a:ext cx="481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E12CF3-5CD5-2B87-FA03-4FF0BF0F9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9" y="2316044"/>
            <a:ext cx="11138641" cy="382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87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aixaDeTexto 41"/>
          <p:cNvSpPr txBox="1"/>
          <p:nvPr/>
        </p:nvSpPr>
        <p:spPr>
          <a:xfrm>
            <a:off x="3528511" y="208010"/>
            <a:ext cx="44650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LEAN INCEPTION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287A691-8F77-E16A-018E-6780759B9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76" y="1146016"/>
            <a:ext cx="9116248" cy="512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79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ADCA9FAD-DE01-F492-3BF6-066DDD3BB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094" y="2387235"/>
            <a:ext cx="6049949" cy="286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86ED4BD4-3E95-F123-25FE-D3F6D7953E99}"/>
              </a:ext>
            </a:extLst>
          </p:cNvPr>
          <p:cNvSpPr/>
          <p:nvPr/>
        </p:nvSpPr>
        <p:spPr>
          <a:xfrm>
            <a:off x="4094161" y="3521725"/>
            <a:ext cx="1909823" cy="830997"/>
          </a:xfrm>
          <a:prstGeom prst="rightArrow">
            <a:avLst/>
          </a:prstGeom>
          <a:solidFill>
            <a:srgbClr val="1299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2389032" y="208010"/>
            <a:ext cx="7284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DESIGN THINKING x SCRUM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C76A674-96A6-A0A0-61F4-43B9F45F7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52" y="2975763"/>
            <a:ext cx="4819333" cy="196355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113B8297-0E04-1F0E-93DE-161C4A4CD8EB}"/>
              </a:ext>
            </a:extLst>
          </p:cNvPr>
          <p:cNvSpPr txBox="1"/>
          <p:nvPr/>
        </p:nvSpPr>
        <p:spPr>
          <a:xfrm>
            <a:off x="440752" y="1990834"/>
            <a:ext cx="4819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IMERSÃO E IDEAÇÃO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E5813C-4974-525E-63D0-6DD34940FDE3}"/>
              </a:ext>
            </a:extLst>
          </p:cNvPr>
          <p:cNvSpPr txBox="1"/>
          <p:nvPr/>
        </p:nvSpPr>
        <p:spPr>
          <a:xfrm>
            <a:off x="6518396" y="1990833"/>
            <a:ext cx="4819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CONSTRUÇÃO DA SOLUÇÃO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272403B-C2EB-922C-7681-0BB3D9F047DE}"/>
              </a:ext>
            </a:extLst>
          </p:cNvPr>
          <p:cNvSpPr/>
          <p:nvPr/>
        </p:nvSpPr>
        <p:spPr>
          <a:xfrm>
            <a:off x="6003984" y="3033638"/>
            <a:ext cx="836654" cy="1862455"/>
          </a:xfrm>
          <a:prstGeom prst="roundRect">
            <a:avLst/>
          </a:prstGeom>
          <a:noFill/>
          <a:ln w="28575">
            <a:solidFill>
              <a:srgbClr val="439A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80A688-EBDA-D6D3-27EA-278372DDA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085" y="5384180"/>
            <a:ext cx="3520270" cy="120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42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4" grpId="0"/>
      <p:bldP spid="27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1482</Words>
  <Application>Microsoft Office PowerPoint</Application>
  <PresentationFormat>Widescreen</PresentationFormat>
  <Paragraphs>236</Paragraphs>
  <Slides>27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 Cordeiro</dc:creator>
  <cp:lastModifiedBy>José Henrique Dell'Osso Cordeiro</cp:lastModifiedBy>
  <cp:revision>50</cp:revision>
  <cp:lastPrinted>2015-05-14T22:07:15Z</cp:lastPrinted>
  <dcterms:created xsi:type="dcterms:W3CDTF">2015-05-14T20:38:00Z</dcterms:created>
  <dcterms:modified xsi:type="dcterms:W3CDTF">2025-04-15T13:18:10Z</dcterms:modified>
</cp:coreProperties>
</file>