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53"/>
  </p:notesMasterIdLst>
  <p:sldIdLst>
    <p:sldId id="256" r:id="rId4"/>
    <p:sldId id="257" r:id="rId5"/>
    <p:sldId id="258" r:id="rId6"/>
    <p:sldId id="259" r:id="rId7"/>
    <p:sldId id="260" r:id="rId8"/>
    <p:sldId id="261" r:id="rId9"/>
    <p:sldId id="754" r:id="rId10"/>
    <p:sldId id="757" r:id="rId11"/>
    <p:sldId id="758" r:id="rId12"/>
    <p:sldId id="760" r:id="rId13"/>
    <p:sldId id="607" r:id="rId14"/>
    <p:sldId id="763" r:id="rId15"/>
    <p:sldId id="764" r:id="rId16"/>
    <p:sldId id="743" r:id="rId17"/>
    <p:sldId id="765" r:id="rId18"/>
    <p:sldId id="766" r:id="rId19"/>
    <p:sldId id="768" r:id="rId20"/>
    <p:sldId id="769" r:id="rId21"/>
    <p:sldId id="772" r:id="rId22"/>
    <p:sldId id="269" r:id="rId23"/>
    <p:sldId id="262" r:id="rId24"/>
    <p:sldId id="263" r:id="rId25"/>
    <p:sldId id="264" r:id="rId26"/>
    <p:sldId id="265" r:id="rId27"/>
    <p:sldId id="266" r:id="rId28"/>
    <p:sldId id="267" r:id="rId29"/>
    <p:sldId id="759" r:id="rId30"/>
    <p:sldId id="268" r:id="rId31"/>
    <p:sldId id="761" r:id="rId32"/>
    <p:sldId id="271" r:id="rId33"/>
    <p:sldId id="272" r:id="rId34"/>
    <p:sldId id="273" r:id="rId35"/>
    <p:sldId id="274" r:id="rId36"/>
    <p:sldId id="275" r:id="rId37"/>
    <p:sldId id="287" r:id="rId38"/>
    <p:sldId id="288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771" r:id="rId51"/>
    <p:sldId id="289" r:id="rId5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6" autoAdjust="0"/>
    <p:restoredTop sz="94660"/>
  </p:normalViewPr>
  <p:slideViewPr>
    <p:cSldViewPr>
      <p:cViewPr varScale="1">
        <p:scale>
          <a:sx n="107" d="100"/>
          <a:sy n="107" d="100"/>
        </p:scale>
        <p:origin x="125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1AFC9-9B69-4811-9451-EB9B30D72BA8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EA26F-2A2A-4622-B3B1-03C6307208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83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CD5E-26BD-9B45-BB2F-78648736C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808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439A-974A-365D-3E28-C0743B71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846725-E1E8-FD9D-0137-1D687FBF1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85B4AF-CE5C-EA84-CF3C-4EDD9B588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D07EC1-7212-E2F6-F68D-B74F317F4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C6CD5E-26BD-9B45-BB2F-78648736C2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626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 dirty="0"/>
          </a:p>
        </p:txBody>
      </p:sp>
      <p:sp>
        <p:nvSpPr>
          <p:cNvPr id="27652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90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B1F4F-E8C0-45D8-B9BF-190594F935A9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90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668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A13D-921B-18F1-9B25-F42D8E20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D23D325C-E880-1472-ED5B-DD30D4FD8C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FF2E2419-B23F-8F3A-D599-1AB0E452FA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682053C9-3422-F8C6-6886-A1D593E04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90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B1F4F-E8C0-45D8-B9BF-190594F935A9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90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740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62BE5-F404-495E-99CB-845127BCCF9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642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4C4B-A9BD-EEAC-7C69-4163DD52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801DCDD1-F11A-722E-2EC8-C0C3DF1E53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BD163F96-36DC-B79E-405D-CB7AB5747D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96AD70D0-AEC9-F6C1-2AED-F8FB69454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90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B1F4F-E8C0-45D8-B9BF-190594F935A9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90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98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EBE0-E194-065F-62E8-2BF9B3FA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71C3FCC2-377C-D6EE-BD07-4B8FAEFB7B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34CBD346-7379-9634-6D27-70D081E2AF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1AF4F07D-15AA-E97C-4211-3C8DAE5B4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90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B1F4F-E8C0-45D8-B9BF-190594F935A9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90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583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B407-B0EF-032D-6AF0-72B62E9F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CB81826A-18AD-1B0E-C632-DF1E6BB4AF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2E64CB77-9C20-1496-5AC6-CA71D0BD6B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A5C14964-7845-ECD0-C025-913539B68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90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B1F4F-E8C0-45D8-B9BF-190594F935A9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90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42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C438-C917-DDED-DE95-094191A5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D9C80095-F27B-C4CB-7B5D-F84F33823D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6D12F039-04C0-5C33-9624-52110C2D39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7652" name="Espaço Reservado para Número de Slide 3">
            <a:extLst>
              <a:ext uri="{FF2B5EF4-FFF2-40B4-BE49-F238E27FC236}">
                <a16:creationId xmlns:a16="http://schemas.microsoft.com/office/drawing/2014/main" id="{3F1DD95E-403D-EF33-E2D1-67F6FFF8F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90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B1F4F-E8C0-45D8-B9BF-190594F935A9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90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79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46396" y="1575562"/>
            <a:ext cx="3754754" cy="450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9375"/>
          </a:xfrm>
          <a:custGeom>
            <a:avLst/>
            <a:gdLst/>
            <a:ahLst/>
            <a:cxnLst/>
            <a:rect l="l" t="t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248"/>
                </a:lnTo>
                <a:lnTo>
                  <a:pt x="9144000" y="7924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13495" y="327562"/>
            <a:ext cx="20320" cy="274955"/>
          </a:xfrm>
          <a:custGeom>
            <a:avLst/>
            <a:gdLst/>
            <a:ahLst/>
            <a:cxnLst/>
            <a:rect l="l" t="t" r="r" b="b"/>
            <a:pathLst>
              <a:path w="20320" h="274955">
                <a:moveTo>
                  <a:pt x="19827" y="0"/>
                </a:moveTo>
                <a:lnTo>
                  <a:pt x="0" y="0"/>
                </a:lnTo>
                <a:lnTo>
                  <a:pt x="0" y="274624"/>
                </a:lnTo>
                <a:lnTo>
                  <a:pt x="19827" y="274624"/>
                </a:lnTo>
                <a:lnTo>
                  <a:pt x="1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02541" y="457940"/>
            <a:ext cx="97790" cy="19685"/>
          </a:xfrm>
          <a:custGeom>
            <a:avLst/>
            <a:gdLst/>
            <a:ahLst/>
            <a:cxnLst/>
            <a:rect l="l" t="t" r="r" b="b"/>
            <a:pathLst>
              <a:path w="97790" h="19684">
                <a:moveTo>
                  <a:pt x="97548" y="0"/>
                </a:moveTo>
                <a:lnTo>
                  <a:pt x="0" y="0"/>
                </a:lnTo>
                <a:lnTo>
                  <a:pt x="0" y="19564"/>
                </a:lnTo>
                <a:lnTo>
                  <a:pt x="97548" y="19564"/>
                </a:lnTo>
                <a:lnTo>
                  <a:pt x="97548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828788" y="328129"/>
            <a:ext cx="226060" cy="274320"/>
          </a:xfrm>
          <a:custGeom>
            <a:avLst/>
            <a:gdLst/>
            <a:ahLst/>
            <a:cxnLst/>
            <a:rect l="l" t="t" r="r" b="b"/>
            <a:pathLst>
              <a:path w="226059" h="274320">
                <a:moveTo>
                  <a:pt x="226009" y="0"/>
                </a:moveTo>
                <a:lnTo>
                  <a:pt x="0" y="0"/>
                </a:lnTo>
                <a:lnTo>
                  <a:pt x="0" y="16725"/>
                </a:lnTo>
                <a:lnTo>
                  <a:pt x="0" y="273850"/>
                </a:lnTo>
                <a:lnTo>
                  <a:pt x="19824" y="273862"/>
                </a:lnTo>
                <a:lnTo>
                  <a:pt x="19824" y="16725"/>
                </a:lnTo>
                <a:lnTo>
                  <a:pt x="226009" y="16725"/>
                </a:lnTo>
                <a:lnTo>
                  <a:pt x="22600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73468" y="329187"/>
            <a:ext cx="252095" cy="271780"/>
          </a:xfrm>
          <a:custGeom>
            <a:avLst/>
            <a:gdLst/>
            <a:ahLst/>
            <a:cxnLst/>
            <a:rect l="l" t="t" r="r" b="b"/>
            <a:pathLst>
              <a:path w="252095" h="271780">
                <a:moveTo>
                  <a:pt x="175803" y="0"/>
                </a:moveTo>
                <a:lnTo>
                  <a:pt x="0" y="0"/>
                </a:lnTo>
                <a:lnTo>
                  <a:pt x="0" y="271369"/>
                </a:lnTo>
                <a:lnTo>
                  <a:pt x="19827" y="271369"/>
                </a:lnTo>
                <a:lnTo>
                  <a:pt x="19827" y="15480"/>
                </a:lnTo>
                <a:lnTo>
                  <a:pt x="222712" y="15480"/>
                </a:lnTo>
                <a:lnTo>
                  <a:pt x="198518" y="3091"/>
                </a:lnTo>
                <a:lnTo>
                  <a:pt x="175803" y="0"/>
                </a:lnTo>
                <a:close/>
              </a:path>
              <a:path w="252095" h="271780">
                <a:moveTo>
                  <a:pt x="222712" y="15480"/>
                </a:moveTo>
                <a:lnTo>
                  <a:pt x="156230" y="15480"/>
                </a:lnTo>
                <a:lnTo>
                  <a:pt x="189400" y="19722"/>
                </a:lnTo>
                <a:lnTo>
                  <a:pt x="215209" y="32291"/>
                </a:lnTo>
                <a:lnTo>
                  <a:pt x="231948" y="52957"/>
                </a:lnTo>
                <a:lnTo>
                  <a:pt x="237908" y="81488"/>
                </a:lnTo>
                <a:lnTo>
                  <a:pt x="237908" y="82311"/>
                </a:lnTo>
                <a:lnTo>
                  <a:pt x="231812" y="110067"/>
                </a:lnTo>
                <a:lnTo>
                  <a:pt x="214714" y="131406"/>
                </a:lnTo>
                <a:lnTo>
                  <a:pt x="188397" y="145105"/>
                </a:lnTo>
                <a:lnTo>
                  <a:pt x="154645" y="149943"/>
                </a:lnTo>
                <a:lnTo>
                  <a:pt x="91199" y="149943"/>
                </a:lnTo>
                <a:lnTo>
                  <a:pt x="91199" y="168689"/>
                </a:lnTo>
                <a:lnTo>
                  <a:pt x="153060" y="168689"/>
                </a:lnTo>
                <a:lnTo>
                  <a:pt x="193167" y="163201"/>
                </a:lnTo>
                <a:lnTo>
                  <a:pt x="249297" y="119523"/>
                </a:lnTo>
                <a:lnTo>
                  <a:pt x="252015" y="107271"/>
                </a:lnTo>
                <a:lnTo>
                  <a:pt x="252015" y="52796"/>
                </a:lnTo>
                <a:lnTo>
                  <a:pt x="250486" y="45343"/>
                </a:lnTo>
                <a:lnTo>
                  <a:pt x="230077" y="19252"/>
                </a:lnTo>
                <a:lnTo>
                  <a:pt x="222712" y="1548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180108" y="329196"/>
            <a:ext cx="351155" cy="272415"/>
          </a:xfrm>
          <a:custGeom>
            <a:avLst/>
            <a:gdLst/>
            <a:ahLst/>
            <a:cxnLst/>
            <a:rect l="l" t="t" r="r" b="b"/>
            <a:pathLst>
              <a:path w="351154" h="272415">
                <a:moveTo>
                  <a:pt x="277558" y="149936"/>
                </a:moveTo>
                <a:lnTo>
                  <a:pt x="198031" y="17932"/>
                </a:lnTo>
                <a:lnTo>
                  <a:pt x="187223" y="0"/>
                </a:lnTo>
                <a:lnTo>
                  <a:pt x="162509" y="0"/>
                </a:lnTo>
                <a:lnTo>
                  <a:pt x="0" y="272186"/>
                </a:lnTo>
                <a:lnTo>
                  <a:pt x="20612" y="272186"/>
                </a:lnTo>
                <a:lnTo>
                  <a:pt x="174472" y="17932"/>
                </a:lnTo>
                <a:lnTo>
                  <a:pt x="254558" y="149936"/>
                </a:lnTo>
                <a:lnTo>
                  <a:pt x="277558" y="149936"/>
                </a:lnTo>
                <a:close/>
              </a:path>
              <a:path w="351154" h="272415">
                <a:moveTo>
                  <a:pt x="350532" y="272186"/>
                </a:moveTo>
                <a:lnTo>
                  <a:pt x="307708" y="201282"/>
                </a:lnTo>
                <a:lnTo>
                  <a:pt x="285496" y="201282"/>
                </a:lnTo>
                <a:lnTo>
                  <a:pt x="329120" y="272186"/>
                </a:lnTo>
                <a:lnTo>
                  <a:pt x="350532" y="27218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92B08807-1DE1-AFBA-8C96-917A17D1794A}"/>
              </a:ext>
            </a:extLst>
          </p:cNvPr>
          <p:cNvSpPr/>
          <p:nvPr userDrawn="1"/>
        </p:nvSpPr>
        <p:spPr>
          <a:xfrm>
            <a:off x="765572" y="8429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100" b="1">
                <a:latin typeface="Gotham HTF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4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7F6D4CEB-12C2-531E-E902-33A75922DC51}"/>
              </a:ext>
            </a:extLst>
          </p:cNvPr>
          <p:cNvSpPr/>
          <p:nvPr userDrawn="1"/>
        </p:nvSpPr>
        <p:spPr>
          <a:xfrm>
            <a:off x="765572" y="8048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7411A5A-69A3-C243-4F6D-670CA1A7363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6547" y="747713"/>
            <a:ext cx="4870847" cy="3831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pt-BR" sz="2100" b="1">
                <a:solidFill>
                  <a:srgbClr val="303030"/>
                </a:solidFill>
                <a:latin typeface="Gotham HTF"/>
                <a:ea typeface="Gotham-Bold"/>
                <a:cs typeface="Gotham-Bold"/>
              </a:rPr>
              <a:t>SHORT </a:t>
            </a:r>
            <a:r>
              <a:rPr lang="en-US" altLang="pt-BR" sz="2100" b="1">
                <a:solidFill>
                  <a:srgbClr val="303030"/>
                </a:solidFill>
                <a:latin typeface="Gotham HTF"/>
                <a:ea typeface="Gotham-Book"/>
                <a:cs typeface="Gotham-Book"/>
              </a:rPr>
              <a:t>BIO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D37385C0-26C7-D2EC-520B-FE9B47093147}"/>
              </a:ext>
            </a:extLst>
          </p:cNvPr>
          <p:cNvSpPr/>
          <p:nvPr userDrawn="1"/>
        </p:nvSpPr>
        <p:spPr>
          <a:xfrm>
            <a:off x="3789760" y="4911726"/>
            <a:ext cx="4576763" cy="957263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 baseline="-25000"/>
          </a:p>
        </p:txBody>
      </p:sp>
      <p:sp>
        <p:nvSpPr>
          <p:cNvPr id="6" name="Isosceles Triangle 2">
            <a:extLst>
              <a:ext uri="{FF2B5EF4-FFF2-40B4-BE49-F238E27FC236}">
                <a16:creationId xmlns:a16="http://schemas.microsoft.com/office/drawing/2014/main" id="{F7AD236D-FD72-DDBD-90AC-B8F2D8A5B273}"/>
              </a:ext>
            </a:extLst>
          </p:cNvPr>
          <p:cNvSpPr/>
          <p:nvPr userDrawn="1"/>
        </p:nvSpPr>
        <p:spPr>
          <a:xfrm rot="16200000">
            <a:off x="3494287" y="4970265"/>
            <a:ext cx="358775" cy="241697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 baseline="-25000"/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1" y="1600199"/>
            <a:ext cx="2875280" cy="4249172"/>
          </a:xfrm>
        </p:spPr>
        <p:txBody>
          <a:bodyPr rtlCol="0">
            <a:normAutofit/>
          </a:bodyPr>
          <a:lstStyle/>
          <a:p>
            <a:pPr lvl="0"/>
            <a:endParaRPr lang="pt-BR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5" y="1600202"/>
            <a:ext cx="4207871" cy="2933299"/>
          </a:xfrm>
        </p:spPr>
        <p:txBody>
          <a:bodyPr>
            <a:normAutofit/>
          </a:bodyPr>
          <a:lstStyle>
            <a:lvl1pPr>
              <a:defRPr sz="1200">
                <a:latin typeface="Gotham-Book"/>
              </a:defRPr>
            </a:lvl1pPr>
            <a:lvl2pPr>
              <a:defRPr sz="1200">
                <a:latin typeface="Gotham-Book"/>
              </a:defRPr>
            </a:lvl2pPr>
            <a:lvl3pPr>
              <a:defRPr sz="1200">
                <a:latin typeface="Gotham-Book"/>
              </a:defRPr>
            </a:lvl3pPr>
            <a:lvl4pPr>
              <a:defRPr sz="1200">
                <a:latin typeface="Gotham-Book"/>
              </a:defRPr>
            </a:lvl4pPr>
            <a:lvl5pPr>
              <a:defRPr sz="12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>
          <a:xfrm>
            <a:off x="4090988" y="5039805"/>
            <a:ext cx="3868737" cy="828675"/>
          </a:xfrm>
        </p:spPr>
        <p:txBody>
          <a:bodyPr/>
          <a:lstStyle>
            <a:lvl1pPr marL="0" indent="0">
              <a:buNone/>
              <a:defRPr sz="1500" baseline="0">
                <a:solidFill>
                  <a:schemeClr val="bg1"/>
                </a:solidFill>
                <a:latin typeface="Gotham-Bold"/>
              </a:defRPr>
            </a:lvl1pPr>
            <a:lvl2pPr>
              <a:defRPr sz="135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44435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59405377-2596-38EB-9D98-294703EA89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6547" y="746125"/>
            <a:ext cx="4870847" cy="3831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pt-BR" sz="2100" b="1">
                <a:solidFill>
                  <a:srgbClr val="303030"/>
                </a:solidFill>
                <a:latin typeface="Gotham HTF"/>
                <a:ea typeface="Gotham-Bold"/>
                <a:cs typeface="Gotham-Bold"/>
              </a:rPr>
              <a:t>CONTEÚDO </a:t>
            </a:r>
            <a:r>
              <a:rPr lang="en-US" altLang="pt-BR" sz="2100" b="1">
                <a:solidFill>
                  <a:srgbClr val="303030"/>
                </a:solidFill>
                <a:latin typeface="Gotham HTF"/>
                <a:ea typeface="Gotham-Book"/>
                <a:cs typeface="Gotham-Book"/>
              </a:rPr>
              <a:t>DO CURSO</a:t>
            </a: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BBE8CCB2-AE9C-D875-A8F6-3B71C9C6C86C}"/>
              </a:ext>
            </a:extLst>
          </p:cNvPr>
          <p:cNvSpPr/>
          <p:nvPr userDrawn="1"/>
        </p:nvSpPr>
        <p:spPr>
          <a:xfrm>
            <a:off x="765572" y="8048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>
          <a:xfrm>
            <a:off x="914401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latin typeface="Gotham HTF" pitchFamily="2" charset="0"/>
              </a:defRPr>
            </a:lvl1pPr>
            <a:lvl2pPr>
              <a:defRPr sz="1500">
                <a:latin typeface="Gotham-Bold"/>
              </a:defRPr>
            </a:lvl2pPr>
            <a:lvl3pPr>
              <a:defRPr sz="1500">
                <a:latin typeface="Gotham-Bold"/>
              </a:defRPr>
            </a:lvl3pPr>
            <a:lvl4pPr>
              <a:defRPr sz="1500">
                <a:latin typeface="Gotham-Bold"/>
              </a:defRPr>
            </a:lvl4pPr>
            <a:lvl5pPr>
              <a:defRPr sz="1500">
                <a:latin typeface="Gotham-Bold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1" y="2319340"/>
            <a:ext cx="7238198" cy="1607769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 marL="557213" indent="-214313"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/>
          </p:nvPr>
        </p:nvSpPr>
        <p:spPr>
          <a:xfrm>
            <a:off x="914401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latin typeface="Gotham HTF" pitchFamily="2" charset="0"/>
              </a:defRPr>
            </a:lvl1pPr>
            <a:lvl2pPr>
              <a:defRPr sz="1500">
                <a:latin typeface="Gotham-Bold"/>
              </a:defRPr>
            </a:lvl2pPr>
            <a:lvl3pPr>
              <a:defRPr sz="1500">
                <a:latin typeface="Gotham-Bold"/>
              </a:defRPr>
            </a:lvl3pPr>
            <a:lvl4pPr>
              <a:defRPr sz="1500">
                <a:latin typeface="Gotham-Bold"/>
              </a:defRPr>
            </a:lvl4pPr>
            <a:lvl5pPr>
              <a:defRPr sz="1500">
                <a:latin typeface="Gotham-Bold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1" y="4784124"/>
            <a:ext cx="7238198" cy="1607769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 marL="557213" indent="-214313"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0445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28CDC297-B6EF-E07E-5D29-7D8FEEB25945}"/>
              </a:ext>
            </a:extLst>
          </p:cNvPr>
          <p:cNvSpPr/>
          <p:nvPr userDrawn="1"/>
        </p:nvSpPr>
        <p:spPr>
          <a:xfrm>
            <a:off x="0" y="1"/>
            <a:ext cx="9144000" cy="7937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540" y="2857500"/>
            <a:ext cx="6294922" cy="1143000"/>
          </a:xfrm>
        </p:spPr>
        <p:txBody>
          <a:bodyPr>
            <a:noAutofit/>
          </a:bodyPr>
          <a:lstStyle>
            <a:lvl1pPr>
              <a:defRPr sz="27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527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>
            <a:extLst>
              <a:ext uri="{FF2B5EF4-FFF2-40B4-BE49-F238E27FC236}">
                <a16:creationId xmlns:a16="http://schemas.microsoft.com/office/drawing/2014/main" id="{E6BF9179-A452-5FAD-490E-9CD3CD7633DB}"/>
              </a:ext>
            </a:extLst>
          </p:cNvPr>
          <p:cNvSpPr/>
          <p:nvPr userDrawn="1"/>
        </p:nvSpPr>
        <p:spPr>
          <a:xfrm>
            <a:off x="765572" y="8048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5" y="749165"/>
            <a:ext cx="7315197" cy="397308"/>
          </a:xfrm>
        </p:spPr>
        <p:txBody>
          <a:bodyPr>
            <a:noAutofit/>
          </a:bodyPr>
          <a:lstStyle>
            <a:lvl1pPr algn="l">
              <a:defRPr sz="2100" b="1">
                <a:latin typeface="Gotham HTF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1500" b="1">
                <a:latin typeface="Gotham HTF" pitchFamily="2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defRPr sz="1200">
                <a:latin typeface="Gotham-Book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defRPr sz="1200">
                <a:latin typeface="Gotham-Book"/>
              </a:defRPr>
            </a:lvl4pPr>
            <a:lvl5pPr>
              <a:defRPr sz="1200">
                <a:latin typeface="Gotham-Book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06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aomputador.png">
            <a:extLst>
              <a:ext uri="{FF2B5EF4-FFF2-40B4-BE49-F238E27FC236}">
                <a16:creationId xmlns:a16="http://schemas.microsoft.com/office/drawing/2014/main" id="{771BDF42-C2B2-A8BE-17EF-9107670CDB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56" y="1422401"/>
            <a:ext cx="3063479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chicara.png">
            <a:extLst>
              <a:ext uri="{FF2B5EF4-FFF2-40B4-BE49-F238E27FC236}">
                <a16:creationId xmlns:a16="http://schemas.microsoft.com/office/drawing/2014/main" id="{216D0B4A-A735-2BA8-F3F3-06BFE8C103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76259">
            <a:off x="2056210" y="3444876"/>
            <a:ext cx="1558528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livros.png">
            <a:extLst>
              <a:ext uri="{FF2B5EF4-FFF2-40B4-BE49-F238E27FC236}">
                <a16:creationId xmlns:a16="http://schemas.microsoft.com/office/drawing/2014/main" id="{78F2FDEF-B17A-7AEF-5353-14BA960B93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87626">
            <a:off x="648891" y="4397376"/>
            <a:ext cx="2063353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5F48453B-23D4-70EE-C1B2-23AD76A434F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6548" y="736600"/>
            <a:ext cx="6802040" cy="3831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pt-BR" sz="2100" b="1">
                <a:solidFill>
                  <a:srgbClr val="303030"/>
                </a:solidFill>
                <a:latin typeface="Gotham HTF"/>
                <a:ea typeface="Gotham-Bold"/>
                <a:cs typeface="Gotham-Bold"/>
              </a:rPr>
              <a:t>REFERÊNCIAS</a:t>
            </a:r>
            <a:endParaRPr lang="en-US" altLang="pt-BR" sz="2100" b="1">
              <a:solidFill>
                <a:srgbClr val="303030"/>
              </a:solidFill>
              <a:latin typeface="Gotham HTF"/>
              <a:ea typeface="Gotham-Book"/>
              <a:cs typeface="Gotham-Book"/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83CBA6C3-F542-4454-0F35-3B8B0839A6E7}"/>
              </a:ext>
            </a:extLst>
          </p:cNvPr>
          <p:cNvSpPr/>
          <p:nvPr userDrawn="1"/>
        </p:nvSpPr>
        <p:spPr>
          <a:xfrm>
            <a:off x="765572" y="8048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4" y="1421810"/>
            <a:ext cx="4380748" cy="4873112"/>
          </a:xfrm>
        </p:spPr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 marL="6000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 marL="9429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 marL="12858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 marL="1628775" indent="-257175"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26319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FD1D9F02-359E-65B7-3D43-11F8DC299ECA}"/>
              </a:ext>
            </a:extLst>
          </p:cNvPr>
          <p:cNvSpPr/>
          <p:nvPr userDrawn="1"/>
        </p:nvSpPr>
        <p:spPr>
          <a:xfrm>
            <a:off x="765572" y="8048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100" b="1">
                <a:latin typeface="Gotham HTF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5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9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9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9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9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900">
                <a:latin typeface="Gotham-Book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2"/>
            <a:ext cx="7469188" cy="2589213"/>
          </a:xfrm>
        </p:spPr>
        <p:txBody>
          <a:bodyPr rtlCol="0">
            <a:normAutofit/>
          </a:bodyPr>
          <a:lstStyle>
            <a:lvl1pPr>
              <a:defRPr sz="900">
                <a:latin typeface="Gotham HTF Book" pitchFamily="2" charset="0"/>
              </a:defRPr>
            </a:lvl1pPr>
          </a:lstStyle>
          <a:p>
            <a:pPr lvl="0"/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63976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extLst>
              <a:ext uri="{FF2B5EF4-FFF2-40B4-BE49-F238E27FC236}">
                <a16:creationId xmlns:a16="http://schemas.microsoft.com/office/drawing/2014/main" id="{9B9ADFC8-65F7-C8ED-1352-ACFDABB81971}"/>
              </a:ext>
            </a:extLst>
          </p:cNvPr>
          <p:cNvSpPr/>
          <p:nvPr userDrawn="1"/>
        </p:nvSpPr>
        <p:spPr>
          <a:xfrm>
            <a:off x="765572" y="8048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914400" y="721027"/>
            <a:ext cx="7305575" cy="471234"/>
          </a:xfrm>
        </p:spPr>
        <p:txBody>
          <a:bodyPr>
            <a:normAutofit/>
          </a:bodyPr>
          <a:lstStyle>
            <a:lvl1pPr algn="l">
              <a:defRPr sz="2100" b="1">
                <a:latin typeface="Gotham HTF" pitchFamily="2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014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391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C792C8-AA23-8C7D-D64F-0DFF7E25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A7D44-7BD5-4029-9EA1-67D191B0303F}" type="datetimeFigureOut">
              <a:rPr lang="pt-BR"/>
              <a:pPr>
                <a:defRPr/>
              </a:pPr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0DC283-9214-8111-58E0-11F8685E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EA13D1-56BC-0F13-BCC1-CEEC4265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26EB9-3FEE-49CB-9950-D800DE4890D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436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CC57E-C12F-B56C-9786-F32457E9D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09D2CE-EA6E-F5A5-59F3-BCE71876F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907D76-D7CA-9BDD-7A97-736F3617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46591EE-0E9B-4104-B6CE-39BABEFBE397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AE05AF-6399-BC13-CE59-6417A757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5174E-C8CB-1100-C234-233F1DDF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533352-7AB8-4D60-B8BF-F9E8E0E594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226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99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911963"/>
            <a:ext cx="4576305" cy="9566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503980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986346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349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29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83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81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080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66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070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DF35F-0E25-4F1E-A339-C32D36C15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8303EF-B289-418F-BFFE-D5E437D51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0EC6FE-4AC2-4A8E-9354-30E44379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8AD0-9F2B-498D-B354-9C407DD81F12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94DBE2-0088-4CEA-BAAC-62D8BED8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F875CA-1B14-4E68-B609-7A531B55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B8A5-201E-4EDA-94F7-B3720097DD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0653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D392B7-B9EB-4ACB-A55F-6B02672EA5BD}" type="datetimeFigureOut">
              <a:rPr lang="pt-BR" smtClean="0">
                <a:solidFill>
                  <a:prstClr val="black"/>
                </a:solidFill>
              </a:rPr>
              <a:pPr/>
              <a:t>24/02/2026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>
              <a:solidFill>
                <a:prstClr val="black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53F0C37-8E4D-49AA-BDCC-E9053823A152}" type="slidenum">
              <a:rPr lang="pt-BR" smtClean="0">
                <a:solidFill>
                  <a:prstClr val="black"/>
                </a:solidFill>
              </a:rPr>
              <a:pPr/>
              <a:t>‹nº›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2204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B78D073-5C98-EDDF-8230-F3D61363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CB53-4F78-4B09-85B7-7C36C56F0B21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57117E-79F9-643E-60F7-1B518C01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AB3CC7-DD82-4834-06F7-CC334CFC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6B1-58E9-4040-8AE3-DF10BA733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57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9375"/>
          </a:xfrm>
          <a:custGeom>
            <a:avLst/>
            <a:gdLst/>
            <a:ahLst/>
            <a:cxnLst/>
            <a:rect l="l" t="t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248"/>
                </a:lnTo>
                <a:lnTo>
                  <a:pt x="9144000" y="7924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13495" y="327562"/>
            <a:ext cx="20320" cy="274955"/>
          </a:xfrm>
          <a:custGeom>
            <a:avLst/>
            <a:gdLst/>
            <a:ahLst/>
            <a:cxnLst/>
            <a:rect l="l" t="t" r="r" b="b"/>
            <a:pathLst>
              <a:path w="20320" h="274955">
                <a:moveTo>
                  <a:pt x="19827" y="0"/>
                </a:moveTo>
                <a:lnTo>
                  <a:pt x="0" y="0"/>
                </a:lnTo>
                <a:lnTo>
                  <a:pt x="0" y="274624"/>
                </a:lnTo>
                <a:lnTo>
                  <a:pt x="19827" y="274624"/>
                </a:lnTo>
                <a:lnTo>
                  <a:pt x="1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02541" y="457940"/>
            <a:ext cx="97790" cy="19685"/>
          </a:xfrm>
          <a:custGeom>
            <a:avLst/>
            <a:gdLst/>
            <a:ahLst/>
            <a:cxnLst/>
            <a:rect l="l" t="t" r="r" b="b"/>
            <a:pathLst>
              <a:path w="97790" h="19684">
                <a:moveTo>
                  <a:pt x="97548" y="0"/>
                </a:moveTo>
                <a:lnTo>
                  <a:pt x="0" y="0"/>
                </a:lnTo>
                <a:lnTo>
                  <a:pt x="0" y="19564"/>
                </a:lnTo>
                <a:lnTo>
                  <a:pt x="97548" y="19564"/>
                </a:lnTo>
                <a:lnTo>
                  <a:pt x="97548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828788" y="328129"/>
            <a:ext cx="226060" cy="274320"/>
          </a:xfrm>
          <a:custGeom>
            <a:avLst/>
            <a:gdLst/>
            <a:ahLst/>
            <a:cxnLst/>
            <a:rect l="l" t="t" r="r" b="b"/>
            <a:pathLst>
              <a:path w="226059" h="274320">
                <a:moveTo>
                  <a:pt x="226009" y="0"/>
                </a:moveTo>
                <a:lnTo>
                  <a:pt x="0" y="0"/>
                </a:lnTo>
                <a:lnTo>
                  <a:pt x="0" y="16725"/>
                </a:lnTo>
                <a:lnTo>
                  <a:pt x="0" y="273850"/>
                </a:lnTo>
                <a:lnTo>
                  <a:pt x="19824" y="273862"/>
                </a:lnTo>
                <a:lnTo>
                  <a:pt x="19824" y="16725"/>
                </a:lnTo>
                <a:lnTo>
                  <a:pt x="226009" y="16725"/>
                </a:lnTo>
                <a:lnTo>
                  <a:pt x="22600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73468" y="329187"/>
            <a:ext cx="252095" cy="271780"/>
          </a:xfrm>
          <a:custGeom>
            <a:avLst/>
            <a:gdLst/>
            <a:ahLst/>
            <a:cxnLst/>
            <a:rect l="l" t="t" r="r" b="b"/>
            <a:pathLst>
              <a:path w="252095" h="271780">
                <a:moveTo>
                  <a:pt x="175803" y="0"/>
                </a:moveTo>
                <a:lnTo>
                  <a:pt x="0" y="0"/>
                </a:lnTo>
                <a:lnTo>
                  <a:pt x="0" y="271369"/>
                </a:lnTo>
                <a:lnTo>
                  <a:pt x="19827" y="271369"/>
                </a:lnTo>
                <a:lnTo>
                  <a:pt x="19827" y="15480"/>
                </a:lnTo>
                <a:lnTo>
                  <a:pt x="222712" y="15480"/>
                </a:lnTo>
                <a:lnTo>
                  <a:pt x="198518" y="3091"/>
                </a:lnTo>
                <a:lnTo>
                  <a:pt x="175803" y="0"/>
                </a:lnTo>
                <a:close/>
              </a:path>
              <a:path w="252095" h="271780">
                <a:moveTo>
                  <a:pt x="222712" y="15480"/>
                </a:moveTo>
                <a:lnTo>
                  <a:pt x="156230" y="15480"/>
                </a:lnTo>
                <a:lnTo>
                  <a:pt x="189400" y="19722"/>
                </a:lnTo>
                <a:lnTo>
                  <a:pt x="215209" y="32291"/>
                </a:lnTo>
                <a:lnTo>
                  <a:pt x="231948" y="52957"/>
                </a:lnTo>
                <a:lnTo>
                  <a:pt x="237908" y="81488"/>
                </a:lnTo>
                <a:lnTo>
                  <a:pt x="237908" y="82311"/>
                </a:lnTo>
                <a:lnTo>
                  <a:pt x="231812" y="110067"/>
                </a:lnTo>
                <a:lnTo>
                  <a:pt x="214714" y="131406"/>
                </a:lnTo>
                <a:lnTo>
                  <a:pt x="188397" y="145105"/>
                </a:lnTo>
                <a:lnTo>
                  <a:pt x="154645" y="149943"/>
                </a:lnTo>
                <a:lnTo>
                  <a:pt x="91199" y="149943"/>
                </a:lnTo>
                <a:lnTo>
                  <a:pt x="91199" y="168689"/>
                </a:lnTo>
                <a:lnTo>
                  <a:pt x="153060" y="168689"/>
                </a:lnTo>
                <a:lnTo>
                  <a:pt x="193167" y="163201"/>
                </a:lnTo>
                <a:lnTo>
                  <a:pt x="249297" y="119523"/>
                </a:lnTo>
                <a:lnTo>
                  <a:pt x="252015" y="107271"/>
                </a:lnTo>
                <a:lnTo>
                  <a:pt x="252015" y="52796"/>
                </a:lnTo>
                <a:lnTo>
                  <a:pt x="250486" y="45343"/>
                </a:lnTo>
                <a:lnTo>
                  <a:pt x="230077" y="19252"/>
                </a:lnTo>
                <a:lnTo>
                  <a:pt x="222712" y="1548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180108" y="329196"/>
            <a:ext cx="351155" cy="272415"/>
          </a:xfrm>
          <a:custGeom>
            <a:avLst/>
            <a:gdLst/>
            <a:ahLst/>
            <a:cxnLst/>
            <a:rect l="l" t="t" r="r" b="b"/>
            <a:pathLst>
              <a:path w="351154" h="272415">
                <a:moveTo>
                  <a:pt x="277558" y="149936"/>
                </a:moveTo>
                <a:lnTo>
                  <a:pt x="198031" y="17932"/>
                </a:lnTo>
                <a:lnTo>
                  <a:pt x="187223" y="0"/>
                </a:lnTo>
                <a:lnTo>
                  <a:pt x="162509" y="0"/>
                </a:lnTo>
                <a:lnTo>
                  <a:pt x="0" y="272186"/>
                </a:lnTo>
                <a:lnTo>
                  <a:pt x="20612" y="272186"/>
                </a:lnTo>
                <a:lnTo>
                  <a:pt x="174472" y="17932"/>
                </a:lnTo>
                <a:lnTo>
                  <a:pt x="254558" y="149936"/>
                </a:lnTo>
                <a:lnTo>
                  <a:pt x="277558" y="149936"/>
                </a:lnTo>
                <a:close/>
              </a:path>
              <a:path w="351154" h="272415">
                <a:moveTo>
                  <a:pt x="350532" y="272186"/>
                </a:moveTo>
                <a:lnTo>
                  <a:pt x="307708" y="201282"/>
                </a:lnTo>
                <a:lnTo>
                  <a:pt x="285496" y="201282"/>
                </a:lnTo>
                <a:lnTo>
                  <a:pt x="329120" y="272186"/>
                </a:lnTo>
                <a:lnTo>
                  <a:pt x="350532" y="27218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662" y="721233"/>
            <a:ext cx="644779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81098" y="2000050"/>
            <a:ext cx="6488430" cy="322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81694" y="6263132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>
            <a:extLst>
              <a:ext uri="{FF2B5EF4-FFF2-40B4-BE49-F238E27FC236}">
                <a16:creationId xmlns:a16="http://schemas.microsoft.com/office/drawing/2014/main" id="{7A7C1E51-DC21-E0E4-142E-65FE98137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696914"/>
            <a:ext cx="74437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>
            <a:extLst>
              <a:ext uri="{FF2B5EF4-FFF2-40B4-BE49-F238E27FC236}">
                <a16:creationId xmlns:a16="http://schemas.microsoft.com/office/drawing/2014/main" id="{2473C30D-BF4C-9AAD-5ECA-66A490418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33450" y="1600201"/>
            <a:ext cx="744378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899809-002E-DA0B-FB9F-2339F6E0D1CA}"/>
              </a:ext>
            </a:extLst>
          </p:cNvPr>
          <p:cNvSpPr/>
          <p:nvPr userDrawn="1"/>
        </p:nvSpPr>
        <p:spPr>
          <a:xfrm>
            <a:off x="0" y="1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7173" name="Picture 17">
            <a:extLst>
              <a:ext uri="{FF2B5EF4-FFF2-40B4-BE49-F238E27FC236}">
                <a16:creationId xmlns:a16="http://schemas.microsoft.com/office/drawing/2014/main" id="{10A28FE9-8C8B-C490-BD82-C6724AAB1E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550" y="328613"/>
            <a:ext cx="996554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1">
            <a:extLst>
              <a:ext uri="{FF2B5EF4-FFF2-40B4-BE49-F238E27FC236}">
                <a16:creationId xmlns:a16="http://schemas.microsoft.com/office/drawing/2014/main" id="{B6F1EAD5-28EC-C191-10DF-E14EBFD4A577}"/>
              </a:ext>
            </a:extLst>
          </p:cNvPr>
          <p:cNvSpPr/>
          <p:nvPr userDrawn="1"/>
        </p:nvSpPr>
        <p:spPr>
          <a:xfrm>
            <a:off x="8366522" y="6140451"/>
            <a:ext cx="789384" cy="411163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175" name="Rectangle 28">
            <a:extLst>
              <a:ext uri="{FF2B5EF4-FFF2-40B4-BE49-F238E27FC236}">
                <a16:creationId xmlns:a16="http://schemas.microsoft.com/office/drawing/2014/main" id="{7EF5B5BF-E7B3-EAA3-A66F-D50D17C094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30998" y="6199189"/>
            <a:ext cx="331821" cy="208232"/>
          </a:xfrm>
          <a:prstGeom prst="rect">
            <a:avLst/>
          </a:prstGeom>
          <a:noFill/>
          <a:ln>
            <a:noFill/>
          </a:ln>
        </p:spPr>
        <p:txBody>
          <a:bodyPr wrap="none" lIns="69056" tIns="34529" rIns="69056" bIns="34529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fld id="{0619AEB8-15B3-46BF-ABA3-D8CF01F6F571}" type="slidenum">
              <a:rPr lang="en-US" altLang="pt-BR" sz="900" b="1" smtClean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altLang="pt-BR" sz="900" b="1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4AA263BB-66C5-0297-DA9A-B281E8370488}"/>
              </a:ext>
            </a:extLst>
          </p:cNvPr>
          <p:cNvSpPr/>
          <p:nvPr userDrawn="1"/>
        </p:nvSpPr>
        <p:spPr>
          <a:xfrm>
            <a:off x="765572" y="842963"/>
            <a:ext cx="71438" cy="284162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09645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342900" rtl="0" eaLnBrk="0" fontAlgn="base" hangingPunct="0">
        <a:spcBef>
          <a:spcPct val="0"/>
        </a:spcBef>
        <a:spcAft>
          <a:spcPct val="0"/>
        </a:spcAft>
        <a:defRPr sz="21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  <a:lvl2pPr algn="l" defTabSz="3429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2pPr>
      <a:lvl3pPr algn="l" defTabSz="3429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3pPr>
      <a:lvl4pPr algn="l" defTabSz="3429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4pPr>
      <a:lvl5pPr algn="l" defTabSz="342900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5pPr>
      <a:lvl6pPr marL="342900" algn="l" defTabSz="3429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6pPr>
      <a:lvl7pPr marL="685800" algn="l" defTabSz="3429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7pPr>
      <a:lvl8pPr marL="1028700" algn="l" defTabSz="3429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8pPr>
      <a:lvl9pPr marL="1371600" algn="l" defTabSz="342900" rtl="0" fontAlgn="base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Gotham HTF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942975" indent="-257175" algn="l" defTabSz="342900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jp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jp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6" Type="http://schemas.microsoft.com/office/2007/relationships/hdphoto" Target="../media/hdphoto2.wdp"/><Relationship Id="rId5" Type="http://schemas.openxmlformats.org/officeDocument/2006/relationships/image" Target="../media/image4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4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7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7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5.png"/><Relationship Id="rId5" Type="http://schemas.openxmlformats.org/officeDocument/2006/relationships/image" Target="../media/image46.png"/><Relationship Id="rId4" Type="http://schemas.openxmlformats.org/officeDocument/2006/relationships/image" Target="../media/image4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4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hyperlink" Target="Aula%202a%20-%20FIAP%20-%20Human-Computer%20Interaction%20-%202024%20-%20Design%20Thinking.pptx" TargetMode="External"/><Relationship Id="rId4" Type="http://schemas.openxmlformats.org/officeDocument/2006/relationships/image" Target="../media/image72.png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7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79.jpg"/><Relationship Id="rId4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deglobo.globo.com/milhoes-de-uns/playlist/milhoes-de-uns.ghtml" TargetMode="External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53.png"/><Relationship Id="rId10" Type="http://schemas.openxmlformats.org/officeDocument/2006/relationships/image" Target="../media/image92.jpg"/><Relationship Id="rId4" Type="http://schemas.openxmlformats.org/officeDocument/2006/relationships/image" Target="../media/image88.png"/><Relationship Id="rId9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19.png"/><Relationship Id="rId7" Type="http://schemas.openxmlformats.org/officeDocument/2006/relationships/image" Target="../media/image62.png"/><Relationship Id="rId12" Type="http://schemas.openxmlformats.org/officeDocument/2006/relationships/image" Target="../media/image124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123.png"/><Relationship Id="rId4" Type="http://schemas.openxmlformats.org/officeDocument/2006/relationships/image" Target="../media/image120.png"/><Relationship Id="rId9" Type="http://schemas.openxmlformats.org/officeDocument/2006/relationships/image" Target="../media/image12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25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53.png"/><Relationship Id="rId10" Type="http://schemas.openxmlformats.org/officeDocument/2006/relationships/image" Target="../media/image92.jpg"/><Relationship Id="rId4" Type="http://schemas.openxmlformats.org/officeDocument/2006/relationships/image" Target="../media/image88.png"/><Relationship Id="rId9" Type="http://schemas.openxmlformats.org/officeDocument/2006/relationships/image" Target="../media/image5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91674" y="3079965"/>
            <a:ext cx="50165" cy="676910"/>
          </a:xfrm>
          <a:custGeom>
            <a:avLst/>
            <a:gdLst/>
            <a:ahLst/>
            <a:cxnLst/>
            <a:rect l="l" t="t" r="r" b="b"/>
            <a:pathLst>
              <a:path w="50164" h="676910">
                <a:moveTo>
                  <a:pt x="49624" y="0"/>
                </a:moveTo>
                <a:lnTo>
                  <a:pt x="0" y="0"/>
                </a:lnTo>
                <a:lnTo>
                  <a:pt x="0" y="676863"/>
                </a:lnTo>
                <a:lnTo>
                  <a:pt x="49625" y="676863"/>
                </a:lnTo>
                <a:lnTo>
                  <a:pt x="49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0017" y="3403370"/>
            <a:ext cx="245110" cy="46990"/>
          </a:xfrm>
          <a:custGeom>
            <a:avLst/>
            <a:gdLst/>
            <a:ahLst/>
            <a:cxnLst/>
            <a:rect l="l" t="t" r="r" b="b"/>
            <a:pathLst>
              <a:path w="245110" h="46989">
                <a:moveTo>
                  <a:pt x="244964" y="0"/>
                </a:moveTo>
                <a:lnTo>
                  <a:pt x="0" y="0"/>
                </a:lnTo>
                <a:lnTo>
                  <a:pt x="0" y="46652"/>
                </a:lnTo>
                <a:lnTo>
                  <a:pt x="244964" y="46652"/>
                </a:lnTo>
                <a:lnTo>
                  <a:pt x="2449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3339" y="3079800"/>
            <a:ext cx="569595" cy="676910"/>
          </a:xfrm>
          <a:custGeom>
            <a:avLst/>
            <a:gdLst/>
            <a:ahLst/>
            <a:cxnLst/>
            <a:rect l="l" t="t" r="r" b="b"/>
            <a:pathLst>
              <a:path w="569594" h="676910">
                <a:moveTo>
                  <a:pt x="569468" y="0"/>
                </a:moveTo>
                <a:lnTo>
                  <a:pt x="0" y="0"/>
                </a:lnTo>
                <a:lnTo>
                  <a:pt x="0" y="45796"/>
                </a:lnTo>
                <a:lnTo>
                  <a:pt x="0" y="676846"/>
                </a:lnTo>
                <a:lnTo>
                  <a:pt x="49631" y="676846"/>
                </a:lnTo>
                <a:lnTo>
                  <a:pt x="49631" y="45796"/>
                </a:lnTo>
                <a:lnTo>
                  <a:pt x="569468" y="45796"/>
                </a:lnTo>
                <a:lnTo>
                  <a:pt x="5694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49460" y="3081546"/>
            <a:ext cx="650240" cy="672465"/>
          </a:xfrm>
          <a:custGeom>
            <a:avLst/>
            <a:gdLst/>
            <a:ahLst/>
            <a:cxnLst/>
            <a:rect l="l" t="t" r="r" b="b"/>
            <a:pathLst>
              <a:path w="650239" h="672464">
                <a:moveTo>
                  <a:pt x="454829" y="0"/>
                </a:moveTo>
                <a:lnTo>
                  <a:pt x="0" y="0"/>
                </a:lnTo>
                <a:lnTo>
                  <a:pt x="0" y="672120"/>
                </a:lnTo>
                <a:lnTo>
                  <a:pt x="49667" y="672120"/>
                </a:lnTo>
                <a:lnTo>
                  <a:pt x="49666" y="41119"/>
                </a:lnTo>
                <a:lnTo>
                  <a:pt x="395445" y="41119"/>
                </a:lnTo>
                <a:lnTo>
                  <a:pt x="452669" y="45775"/>
                </a:lnTo>
                <a:lnTo>
                  <a:pt x="502242" y="59656"/>
                </a:lnTo>
                <a:lnTo>
                  <a:pt x="542936" y="82630"/>
                </a:lnTo>
                <a:lnTo>
                  <a:pt x="573524" y="114566"/>
                </a:lnTo>
                <a:lnTo>
                  <a:pt x="592777" y="155332"/>
                </a:lnTo>
                <a:lnTo>
                  <a:pt x="599468" y="204798"/>
                </a:lnTo>
                <a:lnTo>
                  <a:pt x="599468" y="207169"/>
                </a:lnTo>
                <a:lnTo>
                  <a:pt x="594391" y="247989"/>
                </a:lnTo>
                <a:lnTo>
                  <a:pt x="579684" y="284007"/>
                </a:lnTo>
                <a:lnTo>
                  <a:pt x="556131" y="314686"/>
                </a:lnTo>
                <a:lnTo>
                  <a:pt x="524517" y="339485"/>
                </a:lnTo>
                <a:lnTo>
                  <a:pt x="485624" y="357866"/>
                </a:lnTo>
                <a:lnTo>
                  <a:pt x="440239" y="369290"/>
                </a:lnTo>
                <a:lnTo>
                  <a:pt x="389145" y="373218"/>
                </a:lnTo>
                <a:lnTo>
                  <a:pt x="231639" y="373218"/>
                </a:lnTo>
                <a:lnTo>
                  <a:pt x="231639" y="419881"/>
                </a:lnTo>
                <a:lnTo>
                  <a:pt x="386730" y="419881"/>
                </a:lnTo>
                <a:lnTo>
                  <a:pt x="438314" y="416443"/>
                </a:lnTo>
                <a:lnTo>
                  <a:pt x="487028" y="406166"/>
                </a:lnTo>
                <a:lnTo>
                  <a:pt x="531638" y="389105"/>
                </a:lnTo>
                <a:lnTo>
                  <a:pt x="570907" y="365317"/>
                </a:lnTo>
                <a:lnTo>
                  <a:pt x="603600" y="334858"/>
                </a:lnTo>
                <a:lnTo>
                  <a:pt x="628482" y="297782"/>
                </a:lnTo>
                <a:lnTo>
                  <a:pt x="644317" y="254147"/>
                </a:lnTo>
                <a:lnTo>
                  <a:pt x="649870" y="204007"/>
                </a:lnTo>
                <a:lnTo>
                  <a:pt x="649870" y="202427"/>
                </a:lnTo>
                <a:lnTo>
                  <a:pt x="645182" y="155872"/>
                </a:lnTo>
                <a:lnTo>
                  <a:pt x="631558" y="114803"/>
                </a:lnTo>
                <a:lnTo>
                  <a:pt x="609663" y="79443"/>
                </a:lnTo>
                <a:lnTo>
                  <a:pt x="580160" y="50014"/>
                </a:lnTo>
                <a:lnTo>
                  <a:pt x="543712" y="26737"/>
                </a:lnTo>
                <a:lnTo>
                  <a:pt x="500982" y="9836"/>
                </a:lnTo>
                <a:lnTo>
                  <a:pt x="454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8643" y="3081553"/>
            <a:ext cx="883919" cy="675005"/>
          </a:xfrm>
          <a:custGeom>
            <a:avLst/>
            <a:gdLst/>
            <a:ahLst/>
            <a:cxnLst/>
            <a:rect l="l" t="t" r="r" b="b"/>
            <a:pathLst>
              <a:path w="883920" h="675004">
                <a:moveTo>
                  <a:pt x="699427" y="373214"/>
                </a:moveTo>
                <a:lnTo>
                  <a:pt x="499033" y="47447"/>
                </a:lnTo>
                <a:lnTo>
                  <a:pt x="469849" y="0"/>
                </a:lnTo>
                <a:lnTo>
                  <a:pt x="412305" y="0"/>
                </a:lnTo>
                <a:lnTo>
                  <a:pt x="0" y="674497"/>
                </a:lnTo>
                <a:lnTo>
                  <a:pt x="51993" y="674497"/>
                </a:lnTo>
                <a:lnTo>
                  <a:pt x="440270" y="47447"/>
                </a:lnTo>
                <a:lnTo>
                  <a:pt x="641883" y="373214"/>
                </a:lnTo>
                <a:lnTo>
                  <a:pt x="699427" y="373214"/>
                </a:lnTo>
                <a:close/>
              </a:path>
              <a:path w="883920" h="675004">
                <a:moveTo>
                  <a:pt x="883704" y="674497"/>
                </a:moveTo>
                <a:lnTo>
                  <a:pt x="775868" y="498944"/>
                </a:lnTo>
                <a:lnTo>
                  <a:pt x="719899" y="498944"/>
                </a:lnTo>
                <a:lnTo>
                  <a:pt x="829424" y="674497"/>
                </a:lnTo>
                <a:lnTo>
                  <a:pt x="883704" y="674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30129" y="3264993"/>
            <a:ext cx="294005" cy="320675"/>
          </a:xfrm>
          <a:custGeom>
            <a:avLst/>
            <a:gdLst/>
            <a:ahLst/>
            <a:cxnLst/>
            <a:rect l="l" t="t" r="r" b="b"/>
            <a:pathLst>
              <a:path w="294004" h="320675">
                <a:moveTo>
                  <a:pt x="161391" y="0"/>
                </a:moveTo>
                <a:lnTo>
                  <a:pt x="117169" y="5736"/>
                </a:lnTo>
                <a:lnTo>
                  <a:pt x="78247" y="21905"/>
                </a:lnTo>
                <a:lnTo>
                  <a:pt x="45847" y="46948"/>
                </a:lnTo>
                <a:lnTo>
                  <a:pt x="21191" y="79306"/>
                </a:lnTo>
                <a:lnTo>
                  <a:pt x="5501" y="117418"/>
                </a:lnTo>
                <a:lnTo>
                  <a:pt x="0" y="159726"/>
                </a:lnTo>
                <a:lnTo>
                  <a:pt x="5345" y="204197"/>
                </a:lnTo>
                <a:lnTo>
                  <a:pt x="20709" y="242693"/>
                </a:lnTo>
                <a:lnTo>
                  <a:pt x="45086" y="274776"/>
                </a:lnTo>
                <a:lnTo>
                  <a:pt x="77469" y="299215"/>
                </a:lnTo>
                <a:lnTo>
                  <a:pt x="116853" y="314781"/>
                </a:lnTo>
                <a:lnTo>
                  <a:pt x="162231" y="320243"/>
                </a:lnTo>
                <a:lnTo>
                  <a:pt x="201909" y="316363"/>
                </a:lnTo>
                <a:lnTo>
                  <a:pt x="237099" y="305812"/>
                </a:lnTo>
                <a:lnTo>
                  <a:pt x="267721" y="290221"/>
                </a:lnTo>
                <a:lnTo>
                  <a:pt x="293696" y="271219"/>
                </a:lnTo>
                <a:lnTo>
                  <a:pt x="293696" y="136795"/>
                </a:lnTo>
                <a:lnTo>
                  <a:pt x="159816" y="136795"/>
                </a:lnTo>
                <a:lnTo>
                  <a:pt x="159816" y="195313"/>
                </a:lnTo>
                <a:lnTo>
                  <a:pt x="228383" y="195313"/>
                </a:lnTo>
                <a:lnTo>
                  <a:pt x="228383" y="239595"/>
                </a:lnTo>
                <a:lnTo>
                  <a:pt x="214539" y="247895"/>
                </a:lnTo>
                <a:lnTo>
                  <a:pt x="199140" y="253826"/>
                </a:lnTo>
                <a:lnTo>
                  <a:pt x="182402" y="257387"/>
                </a:lnTo>
                <a:lnTo>
                  <a:pt x="164541" y="258574"/>
                </a:lnTo>
                <a:lnTo>
                  <a:pt x="126649" y="251136"/>
                </a:lnTo>
                <a:lnTo>
                  <a:pt x="97036" y="230501"/>
                </a:lnTo>
                <a:lnTo>
                  <a:pt x="77760" y="199191"/>
                </a:lnTo>
                <a:lnTo>
                  <a:pt x="70877" y="159726"/>
                </a:lnTo>
                <a:lnTo>
                  <a:pt x="70877" y="158936"/>
                </a:lnTo>
                <a:lnTo>
                  <a:pt x="77793" y="121847"/>
                </a:lnTo>
                <a:lnTo>
                  <a:pt x="96669" y="91133"/>
                </a:lnTo>
                <a:lnTo>
                  <a:pt x="124700" y="70204"/>
                </a:lnTo>
                <a:lnTo>
                  <a:pt x="159081" y="62470"/>
                </a:lnTo>
                <a:lnTo>
                  <a:pt x="183707" y="64631"/>
                </a:lnTo>
                <a:lnTo>
                  <a:pt x="204337" y="70868"/>
                </a:lnTo>
                <a:lnTo>
                  <a:pt x="222605" y="80813"/>
                </a:lnTo>
                <a:lnTo>
                  <a:pt x="240144" y="94095"/>
                </a:lnTo>
                <a:lnTo>
                  <a:pt x="282671" y="41910"/>
                </a:lnTo>
                <a:lnTo>
                  <a:pt x="257991" y="24020"/>
                </a:lnTo>
                <a:lnTo>
                  <a:pt x="230930" y="10874"/>
                </a:lnTo>
                <a:lnTo>
                  <a:pt x="199419" y="2768"/>
                </a:lnTo>
                <a:lnTo>
                  <a:pt x="161391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89233" y="3268167"/>
            <a:ext cx="619125" cy="311785"/>
          </a:xfrm>
          <a:custGeom>
            <a:avLst/>
            <a:gdLst/>
            <a:ahLst/>
            <a:cxnLst/>
            <a:rect l="l" t="t" r="r" b="b"/>
            <a:pathLst>
              <a:path w="619125" h="311785">
                <a:moveTo>
                  <a:pt x="266192" y="311543"/>
                </a:moveTo>
                <a:lnTo>
                  <a:pt x="199440" y="212712"/>
                </a:lnTo>
                <a:lnTo>
                  <a:pt x="191427" y="200837"/>
                </a:lnTo>
                <a:lnTo>
                  <a:pt x="218376" y="186893"/>
                </a:lnTo>
                <a:lnTo>
                  <a:pt x="239268" y="166344"/>
                </a:lnTo>
                <a:lnTo>
                  <a:pt x="246087" y="152603"/>
                </a:lnTo>
                <a:lnTo>
                  <a:pt x="252780" y="139128"/>
                </a:lnTo>
                <a:lnTo>
                  <a:pt x="257581" y="105168"/>
                </a:lnTo>
                <a:lnTo>
                  <a:pt x="257581" y="104368"/>
                </a:lnTo>
                <a:lnTo>
                  <a:pt x="249923" y="63258"/>
                </a:lnTo>
                <a:lnTo>
                  <a:pt x="249555" y="61290"/>
                </a:lnTo>
                <a:lnTo>
                  <a:pt x="226466" y="28956"/>
                </a:lnTo>
                <a:lnTo>
                  <a:pt x="189801" y="8636"/>
                </a:lnTo>
                <a:lnTo>
                  <a:pt x="188277" y="8420"/>
                </a:lnTo>
                <a:lnTo>
                  <a:pt x="188277" y="107530"/>
                </a:lnTo>
                <a:lnTo>
                  <a:pt x="188277" y="108331"/>
                </a:lnTo>
                <a:lnTo>
                  <a:pt x="184810" y="126250"/>
                </a:lnTo>
                <a:lnTo>
                  <a:pt x="174688" y="140246"/>
                </a:lnTo>
                <a:lnTo>
                  <a:pt x="158369" y="149352"/>
                </a:lnTo>
                <a:lnTo>
                  <a:pt x="136296" y="152603"/>
                </a:lnTo>
                <a:lnTo>
                  <a:pt x="67729" y="152603"/>
                </a:lnTo>
                <a:lnTo>
                  <a:pt x="67729" y="63258"/>
                </a:lnTo>
                <a:lnTo>
                  <a:pt x="135458" y="63258"/>
                </a:lnTo>
                <a:lnTo>
                  <a:pt x="157670" y="66065"/>
                </a:lnTo>
                <a:lnTo>
                  <a:pt x="174269" y="74422"/>
                </a:lnTo>
                <a:lnTo>
                  <a:pt x="184670" y="88277"/>
                </a:lnTo>
                <a:lnTo>
                  <a:pt x="188277" y="107530"/>
                </a:lnTo>
                <a:lnTo>
                  <a:pt x="188277" y="8420"/>
                </a:lnTo>
                <a:lnTo>
                  <a:pt x="141020" y="1574"/>
                </a:lnTo>
                <a:lnTo>
                  <a:pt x="0" y="1574"/>
                </a:lnTo>
                <a:lnTo>
                  <a:pt x="0" y="311543"/>
                </a:lnTo>
                <a:lnTo>
                  <a:pt x="67729" y="311543"/>
                </a:lnTo>
                <a:lnTo>
                  <a:pt x="67729" y="212712"/>
                </a:lnTo>
                <a:lnTo>
                  <a:pt x="121285" y="212712"/>
                </a:lnTo>
                <a:lnTo>
                  <a:pt x="187439" y="311543"/>
                </a:lnTo>
                <a:lnTo>
                  <a:pt x="266192" y="311543"/>
                </a:lnTo>
                <a:close/>
              </a:path>
              <a:path w="619125" h="311785">
                <a:moveTo>
                  <a:pt x="619112" y="311543"/>
                </a:moveTo>
                <a:lnTo>
                  <a:pt x="589559" y="241960"/>
                </a:lnTo>
                <a:lnTo>
                  <a:pt x="564032" y="181864"/>
                </a:lnTo>
                <a:lnTo>
                  <a:pt x="521385" y="81445"/>
                </a:lnTo>
                <a:lnTo>
                  <a:pt x="495414" y="20281"/>
                </a:lnTo>
                <a:lnTo>
                  <a:pt x="495414" y="181864"/>
                </a:lnTo>
                <a:lnTo>
                  <a:pt x="413512" y="181864"/>
                </a:lnTo>
                <a:lnTo>
                  <a:pt x="454456" y="81445"/>
                </a:lnTo>
                <a:lnTo>
                  <a:pt x="495414" y="181864"/>
                </a:lnTo>
                <a:lnTo>
                  <a:pt x="495414" y="20281"/>
                </a:lnTo>
                <a:lnTo>
                  <a:pt x="486803" y="0"/>
                </a:lnTo>
                <a:lnTo>
                  <a:pt x="424535" y="0"/>
                </a:lnTo>
                <a:lnTo>
                  <a:pt x="292227" y="311543"/>
                </a:lnTo>
                <a:lnTo>
                  <a:pt x="361530" y="311543"/>
                </a:lnTo>
                <a:lnTo>
                  <a:pt x="389890" y="241960"/>
                </a:lnTo>
                <a:lnTo>
                  <a:pt x="519874" y="241960"/>
                </a:lnTo>
                <a:lnTo>
                  <a:pt x="548233" y="311543"/>
                </a:lnTo>
                <a:lnTo>
                  <a:pt x="619112" y="311543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56335" y="3269736"/>
            <a:ext cx="283845" cy="310515"/>
          </a:xfrm>
          <a:custGeom>
            <a:avLst/>
            <a:gdLst/>
            <a:ahLst/>
            <a:cxnLst/>
            <a:rect l="l" t="t" r="r" b="b"/>
            <a:pathLst>
              <a:path w="283845" h="310514">
                <a:moveTo>
                  <a:pt x="119809" y="0"/>
                </a:moveTo>
                <a:lnTo>
                  <a:pt x="0" y="0"/>
                </a:lnTo>
                <a:lnTo>
                  <a:pt x="0" y="309968"/>
                </a:lnTo>
                <a:lnTo>
                  <a:pt x="119809" y="309968"/>
                </a:lnTo>
                <a:lnTo>
                  <a:pt x="165559" y="304583"/>
                </a:lnTo>
                <a:lnTo>
                  <a:pt x="205306" y="289292"/>
                </a:lnTo>
                <a:lnTo>
                  <a:pt x="238018" y="265391"/>
                </a:lnTo>
                <a:lnTo>
                  <a:pt x="251519" y="248289"/>
                </a:lnTo>
                <a:lnTo>
                  <a:pt x="67727" y="248289"/>
                </a:lnTo>
                <a:lnTo>
                  <a:pt x="67727" y="61679"/>
                </a:lnTo>
                <a:lnTo>
                  <a:pt x="253148" y="61679"/>
                </a:lnTo>
                <a:lnTo>
                  <a:pt x="219293" y="29225"/>
                </a:lnTo>
                <a:lnTo>
                  <a:pt x="174022" y="7685"/>
                </a:lnTo>
                <a:lnTo>
                  <a:pt x="119809" y="0"/>
                </a:lnTo>
                <a:close/>
              </a:path>
              <a:path w="283845" h="310514">
                <a:moveTo>
                  <a:pt x="253148" y="61679"/>
                </a:moveTo>
                <a:lnTo>
                  <a:pt x="119809" y="61679"/>
                </a:lnTo>
                <a:lnTo>
                  <a:pt x="157896" y="68586"/>
                </a:lnTo>
                <a:lnTo>
                  <a:pt x="187222" y="87873"/>
                </a:lnTo>
                <a:lnTo>
                  <a:pt x="206073" y="117389"/>
                </a:lnTo>
                <a:lnTo>
                  <a:pt x="212738" y="154984"/>
                </a:lnTo>
                <a:lnTo>
                  <a:pt x="212738" y="155774"/>
                </a:lnTo>
                <a:lnTo>
                  <a:pt x="206073" y="193583"/>
                </a:lnTo>
                <a:lnTo>
                  <a:pt x="187222" y="222790"/>
                </a:lnTo>
                <a:lnTo>
                  <a:pt x="157896" y="241618"/>
                </a:lnTo>
                <a:lnTo>
                  <a:pt x="119809" y="248289"/>
                </a:lnTo>
                <a:lnTo>
                  <a:pt x="251519" y="248289"/>
                </a:lnTo>
                <a:lnTo>
                  <a:pt x="262662" y="234175"/>
                </a:lnTo>
                <a:lnTo>
                  <a:pt x="278205" y="196941"/>
                </a:lnTo>
                <a:lnTo>
                  <a:pt x="283514" y="155774"/>
                </a:lnTo>
                <a:lnTo>
                  <a:pt x="283616" y="154194"/>
                </a:lnTo>
                <a:lnTo>
                  <a:pt x="275874" y="104756"/>
                </a:lnTo>
                <a:lnTo>
                  <a:pt x="253838" y="62341"/>
                </a:lnTo>
                <a:lnTo>
                  <a:pt x="253148" y="6167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95810" y="3174072"/>
            <a:ext cx="1663064" cy="482600"/>
          </a:xfrm>
          <a:custGeom>
            <a:avLst/>
            <a:gdLst/>
            <a:ahLst/>
            <a:cxnLst/>
            <a:rect l="l" t="t" r="r" b="b"/>
            <a:pathLst>
              <a:path w="1663065" h="482600">
                <a:moveTo>
                  <a:pt x="268592" y="96456"/>
                </a:moveTo>
                <a:lnTo>
                  <a:pt x="200875" y="96456"/>
                </a:lnTo>
                <a:lnTo>
                  <a:pt x="200875" y="273583"/>
                </a:lnTo>
                <a:lnTo>
                  <a:pt x="196291" y="305879"/>
                </a:lnTo>
                <a:lnTo>
                  <a:pt x="183146" y="329133"/>
                </a:lnTo>
                <a:lnTo>
                  <a:pt x="162331" y="343192"/>
                </a:lnTo>
                <a:lnTo>
                  <a:pt x="134721" y="347916"/>
                </a:lnTo>
                <a:lnTo>
                  <a:pt x="106616" y="343039"/>
                </a:lnTo>
                <a:lnTo>
                  <a:pt x="85547" y="328536"/>
                </a:lnTo>
                <a:lnTo>
                  <a:pt x="72313" y="304546"/>
                </a:lnTo>
                <a:lnTo>
                  <a:pt x="67729" y="271208"/>
                </a:lnTo>
                <a:lnTo>
                  <a:pt x="67729" y="96456"/>
                </a:lnTo>
                <a:lnTo>
                  <a:pt x="0" y="96456"/>
                </a:lnTo>
                <a:lnTo>
                  <a:pt x="0" y="272796"/>
                </a:lnTo>
                <a:lnTo>
                  <a:pt x="5905" y="322326"/>
                </a:lnTo>
                <a:lnTo>
                  <a:pt x="23037" y="360845"/>
                </a:lnTo>
                <a:lnTo>
                  <a:pt x="50533" y="388366"/>
                </a:lnTo>
                <a:lnTo>
                  <a:pt x="87515" y="404876"/>
                </a:lnTo>
                <a:lnTo>
                  <a:pt x="133146" y="410375"/>
                </a:lnTo>
                <a:lnTo>
                  <a:pt x="179285" y="404863"/>
                </a:lnTo>
                <a:lnTo>
                  <a:pt x="216890" y="388264"/>
                </a:lnTo>
                <a:lnTo>
                  <a:pt x="244957" y="360502"/>
                </a:lnTo>
                <a:lnTo>
                  <a:pt x="262521" y="321513"/>
                </a:lnTo>
                <a:lnTo>
                  <a:pt x="268592" y="271208"/>
                </a:lnTo>
                <a:lnTo>
                  <a:pt x="268592" y="96456"/>
                </a:lnTo>
                <a:close/>
              </a:path>
              <a:path w="1663065" h="482600">
                <a:moveTo>
                  <a:pt x="627811" y="405638"/>
                </a:moveTo>
                <a:lnTo>
                  <a:pt x="598246" y="336054"/>
                </a:lnTo>
                <a:lnTo>
                  <a:pt x="572706" y="275958"/>
                </a:lnTo>
                <a:lnTo>
                  <a:pt x="530021" y="175539"/>
                </a:lnTo>
                <a:lnTo>
                  <a:pt x="504126" y="114630"/>
                </a:lnTo>
                <a:lnTo>
                  <a:pt x="504126" y="275958"/>
                </a:lnTo>
                <a:lnTo>
                  <a:pt x="422224" y="275958"/>
                </a:lnTo>
                <a:lnTo>
                  <a:pt x="463169" y="175539"/>
                </a:lnTo>
                <a:lnTo>
                  <a:pt x="504126" y="275958"/>
                </a:lnTo>
                <a:lnTo>
                  <a:pt x="504126" y="114630"/>
                </a:lnTo>
                <a:lnTo>
                  <a:pt x="495401" y="94094"/>
                </a:lnTo>
                <a:lnTo>
                  <a:pt x="432409" y="94094"/>
                </a:lnTo>
                <a:lnTo>
                  <a:pt x="300939" y="405638"/>
                </a:lnTo>
                <a:lnTo>
                  <a:pt x="369404" y="405638"/>
                </a:lnTo>
                <a:lnTo>
                  <a:pt x="397751" y="336054"/>
                </a:lnTo>
                <a:lnTo>
                  <a:pt x="528586" y="336054"/>
                </a:lnTo>
                <a:lnTo>
                  <a:pt x="556933" y="405638"/>
                </a:lnTo>
                <a:lnTo>
                  <a:pt x="627811" y="405638"/>
                </a:lnTo>
                <a:close/>
              </a:path>
              <a:path w="1663065" h="482600">
                <a:moveTo>
                  <a:pt x="945984" y="355828"/>
                </a:moveTo>
                <a:lnTo>
                  <a:pt x="902716" y="312331"/>
                </a:lnTo>
                <a:lnTo>
                  <a:pt x="884999" y="327228"/>
                </a:lnTo>
                <a:lnTo>
                  <a:pt x="866508" y="338429"/>
                </a:lnTo>
                <a:lnTo>
                  <a:pt x="845820" y="345465"/>
                </a:lnTo>
                <a:lnTo>
                  <a:pt x="821550" y="347916"/>
                </a:lnTo>
                <a:lnTo>
                  <a:pt x="785355" y="340169"/>
                </a:lnTo>
                <a:lnTo>
                  <a:pt x="757224" y="319151"/>
                </a:lnTo>
                <a:lnTo>
                  <a:pt x="738987" y="288201"/>
                </a:lnTo>
                <a:lnTo>
                  <a:pt x="732510" y="250659"/>
                </a:lnTo>
                <a:lnTo>
                  <a:pt x="739114" y="212775"/>
                </a:lnTo>
                <a:lnTo>
                  <a:pt x="757529" y="181864"/>
                </a:lnTo>
                <a:lnTo>
                  <a:pt x="785710" y="161036"/>
                </a:lnTo>
                <a:lnTo>
                  <a:pt x="821550" y="153403"/>
                </a:lnTo>
                <a:lnTo>
                  <a:pt x="843838" y="155829"/>
                </a:lnTo>
                <a:lnTo>
                  <a:pt x="863981" y="162788"/>
                </a:lnTo>
                <a:lnTo>
                  <a:pt x="882815" y="173736"/>
                </a:lnTo>
                <a:lnTo>
                  <a:pt x="901141" y="188188"/>
                </a:lnTo>
                <a:lnTo>
                  <a:pt x="943673" y="138366"/>
                </a:lnTo>
                <a:lnTo>
                  <a:pt x="920940" y="118948"/>
                </a:lnTo>
                <a:lnTo>
                  <a:pt x="894194" y="103974"/>
                </a:lnTo>
                <a:lnTo>
                  <a:pt x="861847" y="94335"/>
                </a:lnTo>
                <a:lnTo>
                  <a:pt x="822286" y="90932"/>
                </a:lnTo>
                <a:lnTo>
                  <a:pt x="777570" y="96672"/>
                </a:lnTo>
                <a:lnTo>
                  <a:pt x="738632" y="112864"/>
                </a:lnTo>
                <a:lnTo>
                  <a:pt x="706513" y="137972"/>
                </a:lnTo>
                <a:lnTo>
                  <a:pt x="682282" y="170472"/>
                </a:lnTo>
                <a:lnTo>
                  <a:pt x="666965" y="208800"/>
                </a:lnTo>
                <a:lnTo>
                  <a:pt x="661631" y="251447"/>
                </a:lnTo>
                <a:lnTo>
                  <a:pt x="667283" y="295503"/>
                </a:lnTo>
                <a:lnTo>
                  <a:pt x="683399" y="334581"/>
                </a:lnTo>
                <a:lnTo>
                  <a:pt x="708761" y="367131"/>
                </a:lnTo>
                <a:lnTo>
                  <a:pt x="742099" y="391604"/>
                </a:lnTo>
                <a:lnTo>
                  <a:pt x="782167" y="406425"/>
                </a:lnTo>
                <a:lnTo>
                  <a:pt x="746683" y="458609"/>
                </a:lnTo>
                <a:lnTo>
                  <a:pt x="802652" y="482333"/>
                </a:lnTo>
                <a:lnTo>
                  <a:pt x="830999" y="410375"/>
                </a:lnTo>
                <a:lnTo>
                  <a:pt x="867117" y="405307"/>
                </a:lnTo>
                <a:lnTo>
                  <a:pt x="897343" y="394068"/>
                </a:lnTo>
                <a:lnTo>
                  <a:pt x="923150" y="377355"/>
                </a:lnTo>
                <a:lnTo>
                  <a:pt x="945984" y="355828"/>
                </a:lnTo>
                <a:close/>
              </a:path>
              <a:path w="1663065" h="482600">
                <a:moveTo>
                  <a:pt x="1227912" y="11074"/>
                </a:moveTo>
                <a:lnTo>
                  <a:pt x="1192530" y="0"/>
                </a:lnTo>
                <a:lnTo>
                  <a:pt x="1187805" y="9004"/>
                </a:lnTo>
                <a:lnTo>
                  <a:pt x="1182560" y="15709"/>
                </a:lnTo>
                <a:lnTo>
                  <a:pt x="1176007" y="19900"/>
                </a:lnTo>
                <a:lnTo>
                  <a:pt x="1167333" y="21348"/>
                </a:lnTo>
                <a:lnTo>
                  <a:pt x="1154214" y="18630"/>
                </a:lnTo>
                <a:lnTo>
                  <a:pt x="1138656" y="12649"/>
                </a:lnTo>
                <a:lnTo>
                  <a:pt x="1120902" y="6667"/>
                </a:lnTo>
                <a:lnTo>
                  <a:pt x="1081138" y="8229"/>
                </a:lnTo>
                <a:lnTo>
                  <a:pt x="1055293" y="39636"/>
                </a:lnTo>
                <a:lnTo>
                  <a:pt x="1046784" y="64833"/>
                </a:lnTo>
                <a:lnTo>
                  <a:pt x="1082268" y="75895"/>
                </a:lnTo>
                <a:lnTo>
                  <a:pt x="1086980" y="66560"/>
                </a:lnTo>
                <a:lnTo>
                  <a:pt x="1092200" y="59893"/>
                </a:lnTo>
                <a:lnTo>
                  <a:pt x="1098753" y="55880"/>
                </a:lnTo>
                <a:lnTo>
                  <a:pt x="1107478" y="54546"/>
                </a:lnTo>
                <a:lnTo>
                  <a:pt x="1120571" y="57264"/>
                </a:lnTo>
                <a:lnTo>
                  <a:pt x="1136103" y="63246"/>
                </a:lnTo>
                <a:lnTo>
                  <a:pt x="1153858" y="69227"/>
                </a:lnTo>
                <a:lnTo>
                  <a:pt x="1173632" y="71945"/>
                </a:lnTo>
                <a:lnTo>
                  <a:pt x="1193609" y="67665"/>
                </a:lnTo>
                <a:lnTo>
                  <a:pt x="1208455" y="55448"/>
                </a:lnTo>
                <a:lnTo>
                  <a:pt x="1208963" y="54546"/>
                </a:lnTo>
                <a:lnTo>
                  <a:pt x="1219441" y="36258"/>
                </a:lnTo>
                <a:lnTo>
                  <a:pt x="1224457" y="21348"/>
                </a:lnTo>
                <a:lnTo>
                  <a:pt x="1227912" y="11074"/>
                </a:lnTo>
                <a:close/>
              </a:path>
              <a:path w="1663065" h="482600">
                <a:moveTo>
                  <a:pt x="1301203" y="405638"/>
                </a:moveTo>
                <a:lnTo>
                  <a:pt x="1271663" y="336054"/>
                </a:lnTo>
                <a:lnTo>
                  <a:pt x="1246136" y="275958"/>
                </a:lnTo>
                <a:lnTo>
                  <a:pt x="1203490" y="175539"/>
                </a:lnTo>
                <a:lnTo>
                  <a:pt x="1177518" y="114376"/>
                </a:lnTo>
                <a:lnTo>
                  <a:pt x="1177518" y="275958"/>
                </a:lnTo>
                <a:lnTo>
                  <a:pt x="1095603" y="275958"/>
                </a:lnTo>
                <a:lnTo>
                  <a:pt x="1136561" y="175539"/>
                </a:lnTo>
                <a:lnTo>
                  <a:pt x="1177518" y="275958"/>
                </a:lnTo>
                <a:lnTo>
                  <a:pt x="1177518" y="114376"/>
                </a:lnTo>
                <a:lnTo>
                  <a:pt x="1168908" y="94094"/>
                </a:lnTo>
                <a:lnTo>
                  <a:pt x="1105903" y="94094"/>
                </a:lnTo>
                <a:lnTo>
                  <a:pt x="974331" y="405638"/>
                </a:lnTo>
                <a:lnTo>
                  <a:pt x="1042898" y="405638"/>
                </a:lnTo>
                <a:lnTo>
                  <a:pt x="1071245" y="336054"/>
                </a:lnTo>
                <a:lnTo>
                  <a:pt x="1201978" y="336054"/>
                </a:lnTo>
                <a:lnTo>
                  <a:pt x="1230325" y="405638"/>
                </a:lnTo>
                <a:lnTo>
                  <a:pt x="1301203" y="405638"/>
                </a:lnTo>
                <a:close/>
              </a:path>
              <a:path w="1663065" h="482600">
                <a:moveTo>
                  <a:pt x="1662734" y="249859"/>
                </a:moveTo>
                <a:lnTo>
                  <a:pt x="1657223" y="207619"/>
                </a:lnTo>
                <a:lnTo>
                  <a:pt x="1641436" y="169646"/>
                </a:lnTo>
                <a:lnTo>
                  <a:pt x="1628863" y="153403"/>
                </a:lnTo>
                <a:lnTo>
                  <a:pt x="1616544" y="137477"/>
                </a:lnTo>
                <a:lnTo>
                  <a:pt x="1591856" y="118783"/>
                </a:lnTo>
                <a:lnTo>
                  <a:pt x="1591856" y="250659"/>
                </a:lnTo>
                <a:lnTo>
                  <a:pt x="1591856" y="251447"/>
                </a:lnTo>
                <a:lnTo>
                  <a:pt x="1585087" y="289204"/>
                </a:lnTo>
                <a:lnTo>
                  <a:pt x="1566062" y="319849"/>
                </a:lnTo>
                <a:lnTo>
                  <a:pt x="1536712" y="340398"/>
                </a:lnTo>
                <a:lnTo>
                  <a:pt x="1498930" y="347916"/>
                </a:lnTo>
                <a:lnTo>
                  <a:pt x="1461465" y="340169"/>
                </a:lnTo>
                <a:lnTo>
                  <a:pt x="1432064" y="319151"/>
                </a:lnTo>
                <a:lnTo>
                  <a:pt x="1412875" y="288201"/>
                </a:lnTo>
                <a:lnTo>
                  <a:pt x="1406004" y="250659"/>
                </a:lnTo>
                <a:lnTo>
                  <a:pt x="1406004" y="249859"/>
                </a:lnTo>
                <a:lnTo>
                  <a:pt x="1412760" y="212445"/>
                </a:lnTo>
                <a:lnTo>
                  <a:pt x="1431683" y="181762"/>
                </a:lnTo>
                <a:lnTo>
                  <a:pt x="1460804" y="161023"/>
                </a:lnTo>
                <a:lnTo>
                  <a:pt x="1498092" y="153403"/>
                </a:lnTo>
                <a:lnTo>
                  <a:pt x="1536001" y="161150"/>
                </a:lnTo>
                <a:lnTo>
                  <a:pt x="1565643" y="182156"/>
                </a:lnTo>
                <a:lnTo>
                  <a:pt x="1584960" y="213106"/>
                </a:lnTo>
                <a:lnTo>
                  <a:pt x="1591856" y="250659"/>
                </a:lnTo>
                <a:lnTo>
                  <a:pt x="1591856" y="118783"/>
                </a:lnTo>
                <a:lnTo>
                  <a:pt x="1583728" y="112623"/>
                </a:lnTo>
                <a:lnTo>
                  <a:pt x="1544129" y="96608"/>
                </a:lnTo>
                <a:lnTo>
                  <a:pt x="1498930" y="90932"/>
                </a:lnTo>
                <a:lnTo>
                  <a:pt x="1453984" y="96659"/>
                </a:lnTo>
                <a:lnTo>
                  <a:pt x="1414462" y="112839"/>
                </a:lnTo>
                <a:lnTo>
                  <a:pt x="1381594" y="137871"/>
                </a:lnTo>
                <a:lnTo>
                  <a:pt x="1356588" y="170230"/>
                </a:lnTo>
                <a:lnTo>
                  <a:pt x="1340700" y="208343"/>
                </a:lnTo>
                <a:lnTo>
                  <a:pt x="1335227" y="249859"/>
                </a:lnTo>
                <a:lnTo>
                  <a:pt x="1335125" y="251447"/>
                </a:lnTo>
                <a:lnTo>
                  <a:pt x="1340637" y="294030"/>
                </a:lnTo>
                <a:lnTo>
                  <a:pt x="1356372" y="332219"/>
                </a:lnTo>
                <a:lnTo>
                  <a:pt x="1381163" y="364515"/>
                </a:lnTo>
                <a:lnTo>
                  <a:pt x="1413840" y="389445"/>
                </a:lnTo>
                <a:lnTo>
                  <a:pt x="1453210" y="405485"/>
                </a:lnTo>
                <a:lnTo>
                  <a:pt x="1498092" y="411175"/>
                </a:lnTo>
                <a:lnTo>
                  <a:pt x="1543392" y="405434"/>
                </a:lnTo>
                <a:lnTo>
                  <a:pt x="1583156" y="389242"/>
                </a:lnTo>
                <a:lnTo>
                  <a:pt x="1616163" y="364121"/>
                </a:lnTo>
                <a:lnTo>
                  <a:pt x="1641233" y="331635"/>
                </a:lnTo>
                <a:lnTo>
                  <a:pt x="1657159" y="293293"/>
                </a:lnTo>
                <a:lnTo>
                  <a:pt x="1662633" y="251447"/>
                </a:lnTo>
                <a:lnTo>
                  <a:pt x="1662734" y="24985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1674" y="3079965"/>
            <a:ext cx="50165" cy="676910"/>
          </a:xfrm>
          <a:custGeom>
            <a:avLst/>
            <a:gdLst/>
            <a:ahLst/>
            <a:cxnLst/>
            <a:rect l="l" t="t" r="r" b="b"/>
            <a:pathLst>
              <a:path w="50164" h="676910">
                <a:moveTo>
                  <a:pt x="49624" y="0"/>
                </a:moveTo>
                <a:lnTo>
                  <a:pt x="0" y="0"/>
                </a:lnTo>
                <a:lnTo>
                  <a:pt x="0" y="676863"/>
                </a:lnTo>
                <a:lnTo>
                  <a:pt x="49625" y="676863"/>
                </a:lnTo>
                <a:lnTo>
                  <a:pt x="49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60017" y="3403370"/>
            <a:ext cx="245110" cy="46990"/>
          </a:xfrm>
          <a:custGeom>
            <a:avLst/>
            <a:gdLst/>
            <a:ahLst/>
            <a:cxnLst/>
            <a:rect l="l" t="t" r="r" b="b"/>
            <a:pathLst>
              <a:path w="245110" h="46989">
                <a:moveTo>
                  <a:pt x="244964" y="0"/>
                </a:moveTo>
                <a:lnTo>
                  <a:pt x="0" y="0"/>
                </a:lnTo>
                <a:lnTo>
                  <a:pt x="0" y="46652"/>
                </a:lnTo>
                <a:lnTo>
                  <a:pt x="244964" y="46652"/>
                </a:lnTo>
                <a:lnTo>
                  <a:pt x="2449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73339" y="3079800"/>
            <a:ext cx="569595" cy="676910"/>
          </a:xfrm>
          <a:custGeom>
            <a:avLst/>
            <a:gdLst/>
            <a:ahLst/>
            <a:cxnLst/>
            <a:rect l="l" t="t" r="r" b="b"/>
            <a:pathLst>
              <a:path w="569594" h="676910">
                <a:moveTo>
                  <a:pt x="569468" y="0"/>
                </a:moveTo>
                <a:lnTo>
                  <a:pt x="0" y="0"/>
                </a:lnTo>
                <a:lnTo>
                  <a:pt x="0" y="45796"/>
                </a:lnTo>
                <a:lnTo>
                  <a:pt x="0" y="676846"/>
                </a:lnTo>
                <a:lnTo>
                  <a:pt x="49631" y="676846"/>
                </a:lnTo>
                <a:lnTo>
                  <a:pt x="49631" y="45796"/>
                </a:lnTo>
                <a:lnTo>
                  <a:pt x="569468" y="45796"/>
                </a:lnTo>
                <a:lnTo>
                  <a:pt x="5694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49460" y="3081546"/>
            <a:ext cx="650240" cy="672465"/>
          </a:xfrm>
          <a:custGeom>
            <a:avLst/>
            <a:gdLst/>
            <a:ahLst/>
            <a:cxnLst/>
            <a:rect l="l" t="t" r="r" b="b"/>
            <a:pathLst>
              <a:path w="650239" h="672464">
                <a:moveTo>
                  <a:pt x="454829" y="0"/>
                </a:moveTo>
                <a:lnTo>
                  <a:pt x="0" y="0"/>
                </a:lnTo>
                <a:lnTo>
                  <a:pt x="0" y="672120"/>
                </a:lnTo>
                <a:lnTo>
                  <a:pt x="49667" y="672120"/>
                </a:lnTo>
                <a:lnTo>
                  <a:pt x="49666" y="41119"/>
                </a:lnTo>
                <a:lnTo>
                  <a:pt x="395445" y="41119"/>
                </a:lnTo>
                <a:lnTo>
                  <a:pt x="452669" y="45775"/>
                </a:lnTo>
                <a:lnTo>
                  <a:pt x="502242" y="59656"/>
                </a:lnTo>
                <a:lnTo>
                  <a:pt x="542936" y="82630"/>
                </a:lnTo>
                <a:lnTo>
                  <a:pt x="573524" y="114566"/>
                </a:lnTo>
                <a:lnTo>
                  <a:pt x="592777" y="155332"/>
                </a:lnTo>
                <a:lnTo>
                  <a:pt x="599468" y="204798"/>
                </a:lnTo>
                <a:lnTo>
                  <a:pt x="599468" y="207169"/>
                </a:lnTo>
                <a:lnTo>
                  <a:pt x="594391" y="247989"/>
                </a:lnTo>
                <a:lnTo>
                  <a:pt x="579684" y="284007"/>
                </a:lnTo>
                <a:lnTo>
                  <a:pt x="556131" y="314686"/>
                </a:lnTo>
                <a:lnTo>
                  <a:pt x="524517" y="339485"/>
                </a:lnTo>
                <a:lnTo>
                  <a:pt x="485624" y="357866"/>
                </a:lnTo>
                <a:lnTo>
                  <a:pt x="440239" y="369290"/>
                </a:lnTo>
                <a:lnTo>
                  <a:pt x="389145" y="373218"/>
                </a:lnTo>
                <a:lnTo>
                  <a:pt x="231639" y="373218"/>
                </a:lnTo>
                <a:lnTo>
                  <a:pt x="231639" y="419881"/>
                </a:lnTo>
                <a:lnTo>
                  <a:pt x="386730" y="419881"/>
                </a:lnTo>
                <a:lnTo>
                  <a:pt x="438314" y="416443"/>
                </a:lnTo>
                <a:lnTo>
                  <a:pt x="487028" y="406166"/>
                </a:lnTo>
                <a:lnTo>
                  <a:pt x="531638" y="389105"/>
                </a:lnTo>
                <a:lnTo>
                  <a:pt x="570907" y="365317"/>
                </a:lnTo>
                <a:lnTo>
                  <a:pt x="603600" y="334858"/>
                </a:lnTo>
                <a:lnTo>
                  <a:pt x="628482" y="297782"/>
                </a:lnTo>
                <a:lnTo>
                  <a:pt x="644317" y="254147"/>
                </a:lnTo>
                <a:lnTo>
                  <a:pt x="649870" y="204007"/>
                </a:lnTo>
                <a:lnTo>
                  <a:pt x="649870" y="202427"/>
                </a:lnTo>
                <a:lnTo>
                  <a:pt x="645182" y="155872"/>
                </a:lnTo>
                <a:lnTo>
                  <a:pt x="631558" y="114803"/>
                </a:lnTo>
                <a:lnTo>
                  <a:pt x="609663" y="79443"/>
                </a:lnTo>
                <a:lnTo>
                  <a:pt x="580160" y="50014"/>
                </a:lnTo>
                <a:lnTo>
                  <a:pt x="543712" y="26737"/>
                </a:lnTo>
                <a:lnTo>
                  <a:pt x="500982" y="9836"/>
                </a:lnTo>
                <a:lnTo>
                  <a:pt x="4548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58643" y="3081553"/>
            <a:ext cx="883919" cy="675005"/>
          </a:xfrm>
          <a:custGeom>
            <a:avLst/>
            <a:gdLst/>
            <a:ahLst/>
            <a:cxnLst/>
            <a:rect l="l" t="t" r="r" b="b"/>
            <a:pathLst>
              <a:path w="883920" h="675004">
                <a:moveTo>
                  <a:pt x="699427" y="373214"/>
                </a:moveTo>
                <a:lnTo>
                  <a:pt x="499033" y="47447"/>
                </a:lnTo>
                <a:lnTo>
                  <a:pt x="469849" y="0"/>
                </a:lnTo>
                <a:lnTo>
                  <a:pt x="412305" y="0"/>
                </a:lnTo>
                <a:lnTo>
                  <a:pt x="0" y="674497"/>
                </a:lnTo>
                <a:lnTo>
                  <a:pt x="51993" y="674497"/>
                </a:lnTo>
                <a:lnTo>
                  <a:pt x="440270" y="47447"/>
                </a:lnTo>
                <a:lnTo>
                  <a:pt x="641883" y="373214"/>
                </a:lnTo>
                <a:lnTo>
                  <a:pt x="699427" y="373214"/>
                </a:lnTo>
                <a:close/>
              </a:path>
              <a:path w="883920" h="675004">
                <a:moveTo>
                  <a:pt x="883704" y="674497"/>
                </a:moveTo>
                <a:lnTo>
                  <a:pt x="775868" y="498944"/>
                </a:lnTo>
                <a:lnTo>
                  <a:pt x="719899" y="498944"/>
                </a:lnTo>
                <a:lnTo>
                  <a:pt x="829424" y="674497"/>
                </a:lnTo>
                <a:lnTo>
                  <a:pt x="883704" y="6744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30129" y="3264993"/>
            <a:ext cx="294005" cy="320675"/>
          </a:xfrm>
          <a:custGeom>
            <a:avLst/>
            <a:gdLst/>
            <a:ahLst/>
            <a:cxnLst/>
            <a:rect l="l" t="t" r="r" b="b"/>
            <a:pathLst>
              <a:path w="294004" h="320675">
                <a:moveTo>
                  <a:pt x="161391" y="0"/>
                </a:moveTo>
                <a:lnTo>
                  <a:pt x="117169" y="5736"/>
                </a:lnTo>
                <a:lnTo>
                  <a:pt x="78247" y="21905"/>
                </a:lnTo>
                <a:lnTo>
                  <a:pt x="45847" y="46948"/>
                </a:lnTo>
                <a:lnTo>
                  <a:pt x="21191" y="79306"/>
                </a:lnTo>
                <a:lnTo>
                  <a:pt x="5501" y="117418"/>
                </a:lnTo>
                <a:lnTo>
                  <a:pt x="0" y="159726"/>
                </a:lnTo>
                <a:lnTo>
                  <a:pt x="5345" y="204197"/>
                </a:lnTo>
                <a:lnTo>
                  <a:pt x="20709" y="242693"/>
                </a:lnTo>
                <a:lnTo>
                  <a:pt x="45086" y="274776"/>
                </a:lnTo>
                <a:lnTo>
                  <a:pt x="77469" y="299215"/>
                </a:lnTo>
                <a:lnTo>
                  <a:pt x="116853" y="314781"/>
                </a:lnTo>
                <a:lnTo>
                  <a:pt x="162231" y="320243"/>
                </a:lnTo>
                <a:lnTo>
                  <a:pt x="201909" y="316363"/>
                </a:lnTo>
                <a:lnTo>
                  <a:pt x="237099" y="305812"/>
                </a:lnTo>
                <a:lnTo>
                  <a:pt x="267721" y="290221"/>
                </a:lnTo>
                <a:lnTo>
                  <a:pt x="293696" y="271219"/>
                </a:lnTo>
                <a:lnTo>
                  <a:pt x="293696" y="136795"/>
                </a:lnTo>
                <a:lnTo>
                  <a:pt x="159816" y="136795"/>
                </a:lnTo>
                <a:lnTo>
                  <a:pt x="159816" y="195313"/>
                </a:lnTo>
                <a:lnTo>
                  <a:pt x="228383" y="195313"/>
                </a:lnTo>
                <a:lnTo>
                  <a:pt x="228383" y="239595"/>
                </a:lnTo>
                <a:lnTo>
                  <a:pt x="214539" y="247895"/>
                </a:lnTo>
                <a:lnTo>
                  <a:pt x="199140" y="253826"/>
                </a:lnTo>
                <a:lnTo>
                  <a:pt x="182402" y="257387"/>
                </a:lnTo>
                <a:lnTo>
                  <a:pt x="164541" y="258574"/>
                </a:lnTo>
                <a:lnTo>
                  <a:pt x="126649" y="251136"/>
                </a:lnTo>
                <a:lnTo>
                  <a:pt x="97036" y="230501"/>
                </a:lnTo>
                <a:lnTo>
                  <a:pt x="77760" y="199191"/>
                </a:lnTo>
                <a:lnTo>
                  <a:pt x="70877" y="159726"/>
                </a:lnTo>
                <a:lnTo>
                  <a:pt x="70877" y="158936"/>
                </a:lnTo>
                <a:lnTo>
                  <a:pt x="77793" y="121847"/>
                </a:lnTo>
                <a:lnTo>
                  <a:pt x="96669" y="91133"/>
                </a:lnTo>
                <a:lnTo>
                  <a:pt x="124700" y="70204"/>
                </a:lnTo>
                <a:lnTo>
                  <a:pt x="159081" y="62470"/>
                </a:lnTo>
                <a:lnTo>
                  <a:pt x="183707" y="64631"/>
                </a:lnTo>
                <a:lnTo>
                  <a:pt x="204337" y="70868"/>
                </a:lnTo>
                <a:lnTo>
                  <a:pt x="222605" y="80813"/>
                </a:lnTo>
                <a:lnTo>
                  <a:pt x="240144" y="94095"/>
                </a:lnTo>
                <a:lnTo>
                  <a:pt x="282671" y="41910"/>
                </a:lnTo>
                <a:lnTo>
                  <a:pt x="257991" y="24020"/>
                </a:lnTo>
                <a:lnTo>
                  <a:pt x="230930" y="10874"/>
                </a:lnTo>
                <a:lnTo>
                  <a:pt x="199419" y="2768"/>
                </a:lnTo>
                <a:lnTo>
                  <a:pt x="161391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89233" y="3268167"/>
            <a:ext cx="619125" cy="311785"/>
          </a:xfrm>
          <a:custGeom>
            <a:avLst/>
            <a:gdLst/>
            <a:ahLst/>
            <a:cxnLst/>
            <a:rect l="l" t="t" r="r" b="b"/>
            <a:pathLst>
              <a:path w="619125" h="311785">
                <a:moveTo>
                  <a:pt x="266192" y="311543"/>
                </a:moveTo>
                <a:lnTo>
                  <a:pt x="199440" y="212712"/>
                </a:lnTo>
                <a:lnTo>
                  <a:pt x="191427" y="200837"/>
                </a:lnTo>
                <a:lnTo>
                  <a:pt x="218376" y="186893"/>
                </a:lnTo>
                <a:lnTo>
                  <a:pt x="239268" y="166344"/>
                </a:lnTo>
                <a:lnTo>
                  <a:pt x="246087" y="152603"/>
                </a:lnTo>
                <a:lnTo>
                  <a:pt x="252780" y="139128"/>
                </a:lnTo>
                <a:lnTo>
                  <a:pt x="257581" y="105168"/>
                </a:lnTo>
                <a:lnTo>
                  <a:pt x="257581" y="104368"/>
                </a:lnTo>
                <a:lnTo>
                  <a:pt x="249923" y="63258"/>
                </a:lnTo>
                <a:lnTo>
                  <a:pt x="249555" y="61290"/>
                </a:lnTo>
                <a:lnTo>
                  <a:pt x="226466" y="28956"/>
                </a:lnTo>
                <a:lnTo>
                  <a:pt x="189801" y="8636"/>
                </a:lnTo>
                <a:lnTo>
                  <a:pt x="188277" y="8420"/>
                </a:lnTo>
                <a:lnTo>
                  <a:pt x="188277" y="107530"/>
                </a:lnTo>
                <a:lnTo>
                  <a:pt x="188277" y="108331"/>
                </a:lnTo>
                <a:lnTo>
                  <a:pt x="184810" y="126250"/>
                </a:lnTo>
                <a:lnTo>
                  <a:pt x="174688" y="140246"/>
                </a:lnTo>
                <a:lnTo>
                  <a:pt x="158369" y="149352"/>
                </a:lnTo>
                <a:lnTo>
                  <a:pt x="136296" y="152603"/>
                </a:lnTo>
                <a:lnTo>
                  <a:pt x="67729" y="152603"/>
                </a:lnTo>
                <a:lnTo>
                  <a:pt x="67729" y="63258"/>
                </a:lnTo>
                <a:lnTo>
                  <a:pt x="135458" y="63258"/>
                </a:lnTo>
                <a:lnTo>
                  <a:pt x="157670" y="66065"/>
                </a:lnTo>
                <a:lnTo>
                  <a:pt x="174269" y="74422"/>
                </a:lnTo>
                <a:lnTo>
                  <a:pt x="184670" y="88277"/>
                </a:lnTo>
                <a:lnTo>
                  <a:pt x="188277" y="107530"/>
                </a:lnTo>
                <a:lnTo>
                  <a:pt x="188277" y="8420"/>
                </a:lnTo>
                <a:lnTo>
                  <a:pt x="141020" y="1574"/>
                </a:lnTo>
                <a:lnTo>
                  <a:pt x="0" y="1574"/>
                </a:lnTo>
                <a:lnTo>
                  <a:pt x="0" y="311543"/>
                </a:lnTo>
                <a:lnTo>
                  <a:pt x="67729" y="311543"/>
                </a:lnTo>
                <a:lnTo>
                  <a:pt x="67729" y="212712"/>
                </a:lnTo>
                <a:lnTo>
                  <a:pt x="121285" y="212712"/>
                </a:lnTo>
                <a:lnTo>
                  <a:pt x="187439" y="311543"/>
                </a:lnTo>
                <a:lnTo>
                  <a:pt x="266192" y="311543"/>
                </a:lnTo>
                <a:close/>
              </a:path>
              <a:path w="619125" h="311785">
                <a:moveTo>
                  <a:pt x="619112" y="311543"/>
                </a:moveTo>
                <a:lnTo>
                  <a:pt x="589559" y="241960"/>
                </a:lnTo>
                <a:lnTo>
                  <a:pt x="564032" y="181864"/>
                </a:lnTo>
                <a:lnTo>
                  <a:pt x="521385" y="81445"/>
                </a:lnTo>
                <a:lnTo>
                  <a:pt x="495414" y="20281"/>
                </a:lnTo>
                <a:lnTo>
                  <a:pt x="495414" y="181864"/>
                </a:lnTo>
                <a:lnTo>
                  <a:pt x="413512" y="181864"/>
                </a:lnTo>
                <a:lnTo>
                  <a:pt x="454456" y="81445"/>
                </a:lnTo>
                <a:lnTo>
                  <a:pt x="495414" y="181864"/>
                </a:lnTo>
                <a:lnTo>
                  <a:pt x="495414" y="20281"/>
                </a:lnTo>
                <a:lnTo>
                  <a:pt x="486803" y="0"/>
                </a:lnTo>
                <a:lnTo>
                  <a:pt x="424535" y="0"/>
                </a:lnTo>
                <a:lnTo>
                  <a:pt x="292227" y="311543"/>
                </a:lnTo>
                <a:lnTo>
                  <a:pt x="361530" y="311543"/>
                </a:lnTo>
                <a:lnTo>
                  <a:pt x="389890" y="241960"/>
                </a:lnTo>
                <a:lnTo>
                  <a:pt x="519874" y="241960"/>
                </a:lnTo>
                <a:lnTo>
                  <a:pt x="548233" y="311543"/>
                </a:lnTo>
                <a:lnTo>
                  <a:pt x="619112" y="311543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56335" y="3269736"/>
            <a:ext cx="283845" cy="310515"/>
          </a:xfrm>
          <a:custGeom>
            <a:avLst/>
            <a:gdLst/>
            <a:ahLst/>
            <a:cxnLst/>
            <a:rect l="l" t="t" r="r" b="b"/>
            <a:pathLst>
              <a:path w="283845" h="310514">
                <a:moveTo>
                  <a:pt x="119809" y="0"/>
                </a:moveTo>
                <a:lnTo>
                  <a:pt x="0" y="0"/>
                </a:lnTo>
                <a:lnTo>
                  <a:pt x="0" y="309968"/>
                </a:lnTo>
                <a:lnTo>
                  <a:pt x="119809" y="309968"/>
                </a:lnTo>
                <a:lnTo>
                  <a:pt x="165559" y="304583"/>
                </a:lnTo>
                <a:lnTo>
                  <a:pt x="205306" y="289292"/>
                </a:lnTo>
                <a:lnTo>
                  <a:pt x="238018" y="265391"/>
                </a:lnTo>
                <a:lnTo>
                  <a:pt x="251519" y="248289"/>
                </a:lnTo>
                <a:lnTo>
                  <a:pt x="67727" y="248289"/>
                </a:lnTo>
                <a:lnTo>
                  <a:pt x="67727" y="61679"/>
                </a:lnTo>
                <a:lnTo>
                  <a:pt x="253148" y="61679"/>
                </a:lnTo>
                <a:lnTo>
                  <a:pt x="219293" y="29225"/>
                </a:lnTo>
                <a:lnTo>
                  <a:pt x="174022" y="7685"/>
                </a:lnTo>
                <a:lnTo>
                  <a:pt x="119809" y="0"/>
                </a:lnTo>
                <a:close/>
              </a:path>
              <a:path w="283845" h="310514">
                <a:moveTo>
                  <a:pt x="253148" y="61679"/>
                </a:moveTo>
                <a:lnTo>
                  <a:pt x="119809" y="61679"/>
                </a:lnTo>
                <a:lnTo>
                  <a:pt x="157896" y="68586"/>
                </a:lnTo>
                <a:lnTo>
                  <a:pt x="187222" y="87873"/>
                </a:lnTo>
                <a:lnTo>
                  <a:pt x="206073" y="117389"/>
                </a:lnTo>
                <a:lnTo>
                  <a:pt x="212738" y="154984"/>
                </a:lnTo>
                <a:lnTo>
                  <a:pt x="212738" y="155774"/>
                </a:lnTo>
                <a:lnTo>
                  <a:pt x="206073" y="193583"/>
                </a:lnTo>
                <a:lnTo>
                  <a:pt x="187222" y="222790"/>
                </a:lnTo>
                <a:lnTo>
                  <a:pt x="157896" y="241618"/>
                </a:lnTo>
                <a:lnTo>
                  <a:pt x="119809" y="248289"/>
                </a:lnTo>
                <a:lnTo>
                  <a:pt x="251519" y="248289"/>
                </a:lnTo>
                <a:lnTo>
                  <a:pt x="262662" y="234175"/>
                </a:lnTo>
                <a:lnTo>
                  <a:pt x="278205" y="196941"/>
                </a:lnTo>
                <a:lnTo>
                  <a:pt x="283514" y="155774"/>
                </a:lnTo>
                <a:lnTo>
                  <a:pt x="283616" y="154194"/>
                </a:lnTo>
                <a:lnTo>
                  <a:pt x="275874" y="104756"/>
                </a:lnTo>
                <a:lnTo>
                  <a:pt x="253838" y="62341"/>
                </a:lnTo>
                <a:lnTo>
                  <a:pt x="253148" y="6167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95810" y="3174072"/>
            <a:ext cx="1663064" cy="482600"/>
          </a:xfrm>
          <a:custGeom>
            <a:avLst/>
            <a:gdLst/>
            <a:ahLst/>
            <a:cxnLst/>
            <a:rect l="l" t="t" r="r" b="b"/>
            <a:pathLst>
              <a:path w="1663065" h="482600">
                <a:moveTo>
                  <a:pt x="268592" y="96456"/>
                </a:moveTo>
                <a:lnTo>
                  <a:pt x="200875" y="96456"/>
                </a:lnTo>
                <a:lnTo>
                  <a:pt x="200875" y="273583"/>
                </a:lnTo>
                <a:lnTo>
                  <a:pt x="196291" y="305879"/>
                </a:lnTo>
                <a:lnTo>
                  <a:pt x="183146" y="329133"/>
                </a:lnTo>
                <a:lnTo>
                  <a:pt x="162331" y="343192"/>
                </a:lnTo>
                <a:lnTo>
                  <a:pt x="134721" y="347916"/>
                </a:lnTo>
                <a:lnTo>
                  <a:pt x="106616" y="343039"/>
                </a:lnTo>
                <a:lnTo>
                  <a:pt x="85547" y="328536"/>
                </a:lnTo>
                <a:lnTo>
                  <a:pt x="72313" y="304546"/>
                </a:lnTo>
                <a:lnTo>
                  <a:pt x="67729" y="271208"/>
                </a:lnTo>
                <a:lnTo>
                  <a:pt x="67729" y="96456"/>
                </a:lnTo>
                <a:lnTo>
                  <a:pt x="0" y="96456"/>
                </a:lnTo>
                <a:lnTo>
                  <a:pt x="0" y="272796"/>
                </a:lnTo>
                <a:lnTo>
                  <a:pt x="5905" y="322326"/>
                </a:lnTo>
                <a:lnTo>
                  <a:pt x="23037" y="360845"/>
                </a:lnTo>
                <a:lnTo>
                  <a:pt x="50533" y="388366"/>
                </a:lnTo>
                <a:lnTo>
                  <a:pt x="87515" y="404876"/>
                </a:lnTo>
                <a:lnTo>
                  <a:pt x="133146" y="410375"/>
                </a:lnTo>
                <a:lnTo>
                  <a:pt x="179285" y="404863"/>
                </a:lnTo>
                <a:lnTo>
                  <a:pt x="216890" y="388264"/>
                </a:lnTo>
                <a:lnTo>
                  <a:pt x="244957" y="360502"/>
                </a:lnTo>
                <a:lnTo>
                  <a:pt x="262521" y="321513"/>
                </a:lnTo>
                <a:lnTo>
                  <a:pt x="268592" y="271208"/>
                </a:lnTo>
                <a:lnTo>
                  <a:pt x="268592" y="96456"/>
                </a:lnTo>
                <a:close/>
              </a:path>
              <a:path w="1663065" h="482600">
                <a:moveTo>
                  <a:pt x="627811" y="405638"/>
                </a:moveTo>
                <a:lnTo>
                  <a:pt x="598246" y="336054"/>
                </a:lnTo>
                <a:lnTo>
                  <a:pt x="572706" y="275958"/>
                </a:lnTo>
                <a:lnTo>
                  <a:pt x="530021" y="175539"/>
                </a:lnTo>
                <a:lnTo>
                  <a:pt x="504126" y="114630"/>
                </a:lnTo>
                <a:lnTo>
                  <a:pt x="504126" y="275958"/>
                </a:lnTo>
                <a:lnTo>
                  <a:pt x="422224" y="275958"/>
                </a:lnTo>
                <a:lnTo>
                  <a:pt x="463169" y="175539"/>
                </a:lnTo>
                <a:lnTo>
                  <a:pt x="504126" y="275958"/>
                </a:lnTo>
                <a:lnTo>
                  <a:pt x="504126" y="114630"/>
                </a:lnTo>
                <a:lnTo>
                  <a:pt x="495401" y="94094"/>
                </a:lnTo>
                <a:lnTo>
                  <a:pt x="432409" y="94094"/>
                </a:lnTo>
                <a:lnTo>
                  <a:pt x="300939" y="405638"/>
                </a:lnTo>
                <a:lnTo>
                  <a:pt x="369404" y="405638"/>
                </a:lnTo>
                <a:lnTo>
                  <a:pt x="397751" y="336054"/>
                </a:lnTo>
                <a:lnTo>
                  <a:pt x="528586" y="336054"/>
                </a:lnTo>
                <a:lnTo>
                  <a:pt x="556933" y="405638"/>
                </a:lnTo>
                <a:lnTo>
                  <a:pt x="627811" y="405638"/>
                </a:lnTo>
                <a:close/>
              </a:path>
              <a:path w="1663065" h="482600">
                <a:moveTo>
                  <a:pt x="945984" y="355828"/>
                </a:moveTo>
                <a:lnTo>
                  <a:pt x="902716" y="312331"/>
                </a:lnTo>
                <a:lnTo>
                  <a:pt x="884999" y="327228"/>
                </a:lnTo>
                <a:lnTo>
                  <a:pt x="866508" y="338429"/>
                </a:lnTo>
                <a:lnTo>
                  <a:pt x="845820" y="345465"/>
                </a:lnTo>
                <a:lnTo>
                  <a:pt x="821550" y="347916"/>
                </a:lnTo>
                <a:lnTo>
                  <a:pt x="785355" y="340169"/>
                </a:lnTo>
                <a:lnTo>
                  <a:pt x="757224" y="319151"/>
                </a:lnTo>
                <a:lnTo>
                  <a:pt x="738987" y="288201"/>
                </a:lnTo>
                <a:lnTo>
                  <a:pt x="732510" y="250659"/>
                </a:lnTo>
                <a:lnTo>
                  <a:pt x="739114" y="212775"/>
                </a:lnTo>
                <a:lnTo>
                  <a:pt x="757529" y="181864"/>
                </a:lnTo>
                <a:lnTo>
                  <a:pt x="785710" y="161036"/>
                </a:lnTo>
                <a:lnTo>
                  <a:pt x="821550" y="153403"/>
                </a:lnTo>
                <a:lnTo>
                  <a:pt x="843838" y="155829"/>
                </a:lnTo>
                <a:lnTo>
                  <a:pt x="863981" y="162788"/>
                </a:lnTo>
                <a:lnTo>
                  <a:pt x="882815" y="173736"/>
                </a:lnTo>
                <a:lnTo>
                  <a:pt x="901141" y="188188"/>
                </a:lnTo>
                <a:lnTo>
                  <a:pt x="943673" y="138366"/>
                </a:lnTo>
                <a:lnTo>
                  <a:pt x="920940" y="118948"/>
                </a:lnTo>
                <a:lnTo>
                  <a:pt x="894194" y="103974"/>
                </a:lnTo>
                <a:lnTo>
                  <a:pt x="861847" y="94335"/>
                </a:lnTo>
                <a:lnTo>
                  <a:pt x="822286" y="90932"/>
                </a:lnTo>
                <a:lnTo>
                  <a:pt x="777570" y="96672"/>
                </a:lnTo>
                <a:lnTo>
                  <a:pt x="738632" y="112864"/>
                </a:lnTo>
                <a:lnTo>
                  <a:pt x="706513" y="137972"/>
                </a:lnTo>
                <a:lnTo>
                  <a:pt x="682282" y="170472"/>
                </a:lnTo>
                <a:lnTo>
                  <a:pt x="666965" y="208800"/>
                </a:lnTo>
                <a:lnTo>
                  <a:pt x="661631" y="251447"/>
                </a:lnTo>
                <a:lnTo>
                  <a:pt x="667283" y="295503"/>
                </a:lnTo>
                <a:lnTo>
                  <a:pt x="683399" y="334581"/>
                </a:lnTo>
                <a:lnTo>
                  <a:pt x="708761" y="367131"/>
                </a:lnTo>
                <a:lnTo>
                  <a:pt x="742099" y="391604"/>
                </a:lnTo>
                <a:lnTo>
                  <a:pt x="782167" y="406425"/>
                </a:lnTo>
                <a:lnTo>
                  <a:pt x="746683" y="458609"/>
                </a:lnTo>
                <a:lnTo>
                  <a:pt x="802652" y="482333"/>
                </a:lnTo>
                <a:lnTo>
                  <a:pt x="830999" y="410375"/>
                </a:lnTo>
                <a:lnTo>
                  <a:pt x="867117" y="405307"/>
                </a:lnTo>
                <a:lnTo>
                  <a:pt x="897343" y="394068"/>
                </a:lnTo>
                <a:lnTo>
                  <a:pt x="923150" y="377355"/>
                </a:lnTo>
                <a:lnTo>
                  <a:pt x="945984" y="355828"/>
                </a:lnTo>
                <a:close/>
              </a:path>
              <a:path w="1663065" h="482600">
                <a:moveTo>
                  <a:pt x="1227912" y="11074"/>
                </a:moveTo>
                <a:lnTo>
                  <a:pt x="1192530" y="0"/>
                </a:lnTo>
                <a:lnTo>
                  <a:pt x="1187805" y="9004"/>
                </a:lnTo>
                <a:lnTo>
                  <a:pt x="1182560" y="15709"/>
                </a:lnTo>
                <a:lnTo>
                  <a:pt x="1176007" y="19900"/>
                </a:lnTo>
                <a:lnTo>
                  <a:pt x="1167333" y="21348"/>
                </a:lnTo>
                <a:lnTo>
                  <a:pt x="1154214" y="18630"/>
                </a:lnTo>
                <a:lnTo>
                  <a:pt x="1138656" y="12649"/>
                </a:lnTo>
                <a:lnTo>
                  <a:pt x="1120902" y="6667"/>
                </a:lnTo>
                <a:lnTo>
                  <a:pt x="1081138" y="8229"/>
                </a:lnTo>
                <a:lnTo>
                  <a:pt x="1055293" y="39636"/>
                </a:lnTo>
                <a:lnTo>
                  <a:pt x="1046784" y="64833"/>
                </a:lnTo>
                <a:lnTo>
                  <a:pt x="1082268" y="75895"/>
                </a:lnTo>
                <a:lnTo>
                  <a:pt x="1086980" y="66560"/>
                </a:lnTo>
                <a:lnTo>
                  <a:pt x="1092200" y="59893"/>
                </a:lnTo>
                <a:lnTo>
                  <a:pt x="1098753" y="55880"/>
                </a:lnTo>
                <a:lnTo>
                  <a:pt x="1107478" y="54546"/>
                </a:lnTo>
                <a:lnTo>
                  <a:pt x="1120571" y="57264"/>
                </a:lnTo>
                <a:lnTo>
                  <a:pt x="1136103" y="63246"/>
                </a:lnTo>
                <a:lnTo>
                  <a:pt x="1153858" y="69227"/>
                </a:lnTo>
                <a:lnTo>
                  <a:pt x="1173632" y="71945"/>
                </a:lnTo>
                <a:lnTo>
                  <a:pt x="1193609" y="67665"/>
                </a:lnTo>
                <a:lnTo>
                  <a:pt x="1208455" y="55448"/>
                </a:lnTo>
                <a:lnTo>
                  <a:pt x="1208963" y="54546"/>
                </a:lnTo>
                <a:lnTo>
                  <a:pt x="1219441" y="36258"/>
                </a:lnTo>
                <a:lnTo>
                  <a:pt x="1224457" y="21348"/>
                </a:lnTo>
                <a:lnTo>
                  <a:pt x="1227912" y="11074"/>
                </a:lnTo>
                <a:close/>
              </a:path>
              <a:path w="1663065" h="482600">
                <a:moveTo>
                  <a:pt x="1301203" y="405638"/>
                </a:moveTo>
                <a:lnTo>
                  <a:pt x="1271663" y="336054"/>
                </a:lnTo>
                <a:lnTo>
                  <a:pt x="1246136" y="275958"/>
                </a:lnTo>
                <a:lnTo>
                  <a:pt x="1203490" y="175539"/>
                </a:lnTo>
                <a:lnTo>
                  <a:pt x="1177518" y="114376"/>
                </a:lnTo>
                <a:lnTo>
                  <a:pt x="1177518" y="275958"/>
                </a:lnTo>
                <a:lnTo>
                  <a:pt x="1095603" y="275958"/>
                </a:lnTo>
                <a:lnTo>
                  <a:pt x="1136561" y="175539"/>
                </a:lnTo>
                <a:lnTo>
                  <a:pt x="1177518" y="275958"/>
                </a:lnTo>
                <a:lnTo>
                  <a:pt x="1177518" y="114376"/>
                </a:lnTo>
                <a:lnTo>
                  <a:pt x="1168908" y="94094"/>
                </a:lnTo>
                <a:lnTo>
                  <a:pt x="1105903" y="94094"/>
                </a:lnTo>
                <a:lnTo>
                  <a:pt x="974331" y="405638"/>
                </a:lnTo>
                <a:lnTo>
                  <a:pt x="1042898" y="405638"/>
                </a:lnTo>
                <a:lnTo>
                  <a:pt x="1071245" y="336054"/>
                </a:lnTo>
                <a:lnTo>
                  <a:pt x="1201978" y="336054"/>
                </a:lnTo>
                <a:lnTo>
                  <a:pt x="1230325" y="405638"/>
                </a:lnTo>
                <a:lnTo>
                  <a:pt x="1301203" y="405638"/>
                </a:lnTo>
                <a:close/>
              </a:path>
              <a:path w="1663065" h="482600">
                <a:moveTo>
                  <a:pt x="1662734" y="249859"/>
                </a:moveTo>
                <a:lnTo>
                  <a:pt x="1657223" y="207619"/>
                </a:lnTo>
                <a:lnTo>
                  <a:pt x="1641436" y="169646"/>
                </a:lnTo>
                <a:lnTo>
                  <a:pt x="1628863" y="153403"/>
                </a:lnTo>
                <a:lnTo>
                  <a:pt x="1616544" y="137477"/>
                </a:lnTo>
                <a:lnTo>
                  <a:pt x="1591856" y="118783"/>
                </a:lnTo>
                <a:lnTo>
                  <a:pt x="1591856" y="250659"/>
                </a:lnTo>
                <a:lnTo>
                  <a:pt x="1591856" y="251447"/>
                </a:lnTo>
                <a:lnTo>
                  <a:pt x="1585087" y="289204"/>
                </a:lnTo>
                <a:lnTo>
                  <a:pt x="1566062" y="319849"/>
                </a:lnTo>
                <a:lnTo>
                  <a:pt x="1536712" y="340398"/>
                </a:lnTo>
                <a:lnTo>
                  <a:pt x="1498930" y="347916"/>
                </a:lnTo>
                <a:lnTo>
                  <a:pt x="1461465" y="340169"/>
                </a:lnTo>
                <a:lnTo>
                  <a:pt x="1432064" y="319151"/>
                </a:lnTo>
                <a:lnTo>
                  <a:pt x="1412875" y="288201"/>
                </a:lnTo>
                <a:lnTo>
                  <a:pt x="1406004" y="250659"/>
                </a:lnTo>
                <a:lnTo>
                  <a:pt x="1406004" y="249859"/>
                </a:lnTo>
                <a:lnTo>
                  <a:pt x="1412760" y="212445"/>
                </a:lnTo>
                <a:lnTo>
                  <a:pt x="1431683" y="181762"/>
                </a:lnTo>
                <a:lnTo>
                  <a:pt x="1460804" y="161023"/>
                </a:lnTo>
                <a:lnTo>
                  <a:pt x="1498092" y="153403"/>
                </a:lnTo>
                <a:lnTo>
                  <a:pt x="1536001" y="161150"/>
                </a:lnTo>
                <a:lnTo>
                  <a:pt x="1565643" y="182156"/>
                </a:lnTo>
                <a:lnTo>
                  <a:pt x="1584960" y="213106"/>
                </a:lnTo>
                <a:lnTo>
                  <a:pt x="1591856" y="250659"/>
                </a:lnTo>
                <a:lnTo>
                  <a:pt x="1591856" y="118783"/>
                </a:lnTo>
                <a:lnTo>
                  <a:pt x="1583728" y="112623"/>
                </a:lnTo>
                <a:lnTo>
                  <a:pt x="1544129" y="96608"/>
                </a:lnTo>
                <a:lnTo>
                  <a:pt x="1498930" y="90932"/>
                </a:lnTo>
                <a:lnTo>
                  <a:pt x="1453984" y="96659"/>
                </a:lnTo>
                <a:lnTo>
                  <a:pt x="1414462" y="112839"/>
                </a:lnTo>
                <a:lnTo>
                  <a:pt x="1381594" y="137871"/>
                </a:lnTo>
                <a:lnTo>
                  <a:pt x="1356588" y="170230"/>
                </a:lnTo>
                <a:lnTo>
                  <a:pt x="1340700" y="208343"/>
                </a:lnTo>
                <a:lnTo>
                  <a:pt x="1335227" y="249859"/>
                </a:lnTo>
                <a:lnTo>
                  <a:pt x="1335125" y="251447"/>
                </a:lnTo>
                <a:lnTo>
                  <a:pt x="1340637" y="294030"/>
                </a:lnTo>
                <a:lnTo>
                  <a:pt x="1356372" y="332219"/>
                </a:lnTo>
                <a:lnTo>
                  <a:pt x="1381163" y="364515"/>
                </a:lnTo>
                <a:lnTo>
                  <a:pt x="1413840" y="389445"/>
                </a:lnTo>
                <a:lnTo>
                  <a:pt x="1453210" y="405485"/>
                </a:lnTo>
                <a:lnTo>
                  <a:pt x="1498092" y="411175"/>
                </a:lnTo>
                <a:lnTo>
                  <a:pt x="1543392" y="405434"/>
                </a:lnTo>
                <a:lnTo>
                  <a:pt x="1583156" y="389242"/>
                </a:lnTo>
                <a:lnTo>
                  <a:pt x="1616163" y="364121"/>
                </a:lnTo>
                <a:lnTo>
                  <a:pt x="1641233" y="331635"/>
                </a:lnTo>
                <a:lnTo>
                  <a:pt x="1657159" y="293293"/>
                </a:lnTo>
                <a:lnTo>
                  <a:pt x="1662633" y="251447"/>
                </a:lnTo>
                <a:lnTo>
                  <a:pt x="1662734" y="249859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28672"/>
            <a:ext cx="9143998" cy="27904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144000" cy="79375"/>
          </a:xfrm>
          <a:custGeom>
            <a:avLst/>
            <a:gdLst/>
            <a:ahLst/>
            <a:cxnLst/>
            <a:rect l="l" t="t" r="r" b="b"/>
            <a:pathLst>
              <a:path w="9144000" h="79375">
                <a:moveTo>
                  <a:pt x="9144000" y="0"/>
                </a:moveTo>
                <a:lnTo>
                  <a:pt x="0" y="0"/>
                </a:lnTo>
                <a:lnTo>
                  <a:pt x="0" y="79248"/>
                </a:lnTo>
                <a:lnTo>
                  <a:pt x="9144000" y="7924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13495" y="327562"/>
            <a:ext cx="20320" cy="274955"/>
          </a:xfrm>
          <a:custGeom>
            <a:avLst/>
            <a:gdLst/>
            <a:ahLst/>
            <a:cxnLst/>
            <a:rect l="l" t="t" r="r" b="b"/>
            <a:pathLst>
              <a:path w="20320" h="274955">
                <a:moveTo>
                  <a:pt x="19827" y="0"/>
                </a:moveTo>
                <a:lnTo>
                  <a:pt x="0" y="0"/>
                </a:lnTo>
                <a:lnTo>
                  <a:pt x="0" y="274624"/>
                </a:lnTo>
                <a:lnTo>
                  <a:pt x="19827" y="274624"/>
                </a:lnTo>
                <a:lnTo>
                  <a:pt x="19827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02541" y="457940"/>
            <a:ext cx="97790" cy="19685"/>
          </a:xfrm>
          <a:custGeom>
            <a:avLst/>
            <a:gdLst/>
            <a:ahLst/>
            <a:cxnLst/>
            <a:rect l="l" t="t" r="r" b="b"/>
            <a:pathLst>
              <a:path w="97790" h="19684">
                <a:moveTo>
                  <a:pt x="97548" y="0"/>
                </a:moveTo>
                <a:lnTo>
                  <a:pt x="0" y="0"/>
                </a:lnTo>
                <a:lnTo>
                  <a:pt x="0" y="19564"/>
                </a:lnTo>
                <a:lnTo>
                  <a:pt x="97548" y="19564"/>
                </a:lnTo>
                <a:lnTo>
                  <a:pt x="97548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28788" y="328129"/>
            <a:ext cx="226060" cy="274320"/>
          </a:xfrm>
          <a:custGeom>
            <a:avLst/>
            <a:gdLst/>
            <a:ahLst/>
            <a:cxnLst/>
            <a:rect l="l" t="t" r="r" b="b"/>
            <a:pathLst>
              <a:path w="226059" h="274320">
                <a:moveTo>
                  <a:pt x="226009" y="0"/>
                </a:moveTo>
                <a:lnTo>
                  <a:pt x="0" y="0"/>
                </a:lnTo>
                <a:lnTo>
                  <a:pt x="0" y="16725"/>
                </a:lnTo>
                <a:lnTo>
                  <a:pt x="0" y="273850"/>
                </a:lnTo>
                <a:lnTo>
                  <a:pt x="19824" y="273862"/>
                </a:lnTo>
                <a:lnTo>
                  <a:pt x="19824" y="16725"/>
                </a:lnTo>
                <a:lnTo>
                  <a:pt x="226009" y="16725"/>
                </a:lnTo>
                <a:lnTo>
                  <a:pt x="22600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73468" y="329187"/>
            <a:ext cx="252095" cy="271780"/>
          </a:xfrm>
          <a:custGeom>
            <a:avLst/>
            <a:gdLst/>
            <a:ahLst/>
            <a:cxnLst/>
            <a:rect l="l" t="t" r="r" b="b"/>
            <a:pathLst>
              <a:path w="252095" h="271780">
                <a:moveTo>
                  <a:pt x="175803" y="0"/>
                </a:moveTo>
                <a:lnTo>
                  <a:pt x="0" y="0"/>
                </a:lnTo>
                <a:lnTo>
                  <a:pt x="0" y="271369"/>
                </a:lnTo>
                <a:lnTo>
                  <a:pt x="19827" y="271369"/>
                </a:lnTo>
                <a:lnTo>
                  <a:pt x="19827" y="15480"/>
                </a:lnTo>
                <a:lnTo>
                  <a:pt x="222712" y="15480"/>
                </a:lnTo>
                <a:lnTo>
                  <a:pt x="198518" y="3091"/>
                </a:lnTo>
                <a:lnTo>
                  <a:pt x="175803" y="0"/>
                </a:lnTo>
                <a:close/>
              </a:path>
              <a:path w="252095" h="271780">
                <a:moveTo>
                  <a:pt x="222712" y="15480"/>
                </a:moveTo>
                <a:lnTo>
                  <a:pt x="156230" y="15480"/>
                </a:lnTo>
                <a:lnTo>
                  <a:pt x="189400" y="19722"/>
                </a:lnTo>
                <a:lnTo>
                  <a:pt x="215209" y="32291"/>
                </a:lnTo>
                <a:lnTo>
                  <a:pt x="231948" y="52957"/>
                </a:lnTo>
                <a:lnTo>
                  <a:pt x="237908" y="81488"/>
                </a:lnTo>
                <a:lnTo>
                  <a:pt x="237908" y="82311"/>
                </a:lnTo>
                <a:lnTo>
                  <a:pt x="231812" y="110067"/>
                </a:lnTo>
                <a:lnTo>
                  <a:pt x="214714" y="131406"/>
                </a:lnTo>
                <a:lnTo>
                  <a:pt x="188397" y="145105"/>
                </a:lnTo>
                <a:lnTo>
                  <a:pt x="154645" y="149943"/>
                </a:lnTo>
                <a:lnTo>
                  <a:pt x="91199" y="149943"/>
                </a:lnTo>
                <a:lnTo>
                  <a:pt x="91199" y="168689"/>
                </a:lnTo>
                <a:lnTo>
                  <a:pt x="153060" y="168689"/>
                </a:lnTo>
                <a:lnTo>
                  <a:pt x="193167" y="163201"/>
                </a:lnTo>
                <a:lnTo>
                  <a:pt x="249297" y="119523"/>
                </a:lnTo>
                <a:lnTo>
                  <a:pt x="252015" y="107271"/>
                </a:lnTo>
                <a:lnTo>
                  <a:pt x="252015" y="52796"/>
                </a:lnTo>
                <a:lnTo>
                  <a:pt x="250486" y="45343"/>
                </a:lnTo>
                <a:lnTo>
                  <a:pt x="230077" y="19252"/>
                </a:lnTo>
                <a:lnTo>
                  <a:pt x="222712" y="1548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80108" y="329196"/>
            <a:ext cx="351155" cy="272415"/>
          </a:xfrm>
          <a:custGeom>
            <a:avLst/>
            <a:gdLst/>
            <a:ahLst/>
            <a:cxnLst/>
            <a:rect l="l" t="t" r="r" b="b"/>
            <a:pathLst>
              <a:path w="351154" h="272415">
                <a:moveTo>
                  <a:pt x="277558" y="149936"/>
                </a:moveTo>
                <a:lnTo>
                  <a:pt x="198031" y="17932"/>
                </a:lnTo>
                <a:lnTo>
                  <a:pt x="187223" y="0"/>
                </a:lnTo>
                <a:lnTo>
                  <a:pt x="162509" y="0"/>
                </a:lnTo>
                <a:lnTo>
                  <a:pt x="0" y="272186"/>
                </a:lnTo>
                <a:lnTo>
                  <a:pt x="20612" y="272186"/>
                </a:lnTo>
                <a:lnTo>
                  <a:pt x="174472" y="17932"/>
                </a:lnTo>
                <a:lnTo>
                  <a:pt x="254558" y="149936"/>
                </a:lnTo>
                <a:lnTo>
                  <a:pt x="277558" y="149936"/>
                </a:lnTo>
                <a:close/>
              </a:path>
              <a:path w="351154" h="272415">
                <a:moveTo>
                  <a:pt x="350532" y="272186"/>
                </a:moveTo>
                <a:lnTo>
                  <a:pt x="307708" y="201282"/>
                </a:lnTo>
                <a:lnTo>
                  <a:pt x="285496" y="201282"/>
                </a:lnTo>
                <a:lnTo>
                  <a:pt x="329120" y="272186"/>
                </a:lnTo>
                <a:lnTo>
                  <a:pt x="350532" y="272186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1809" y="6296659"/>
            <a:ext cx="2092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2F2F2F"/>
                </a:solidFill>
                <a:latin typeface="Calibri"/>
                <a:cs typeface="Calibri"/>
              </a:rPr>
              <a:t>Versão</a:t>
            </a:r>
            <a:r>
              <a:rPr sz="1400" b="1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F2F2F"/>
                </a:solidFill>
                <a:latin typeface="Calibri"/>
                <a:cs typeface="Calibri"/>
              </a:rPr>
              <a:t>1.0</a:t>
            </a:r>
            <a:r>
              <a:rPr sz="1400" b="1" spc="-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2F2F2F"/>
                </a:solidFill>
                <a:latin typeface="Calibri"/>
                <a:cs typeface="Calibri"/>
              </a:rPr>
              <a:t>–</a:t>
            </a:r>
            <a:r>
              <a:rPr sz="1400" b="1" spc="-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F2F2F"/>
                </a:solidFill>
                <a:latin typeface="Calibri"/>
                <a:cs typeface="Calibri"/>
              </a:rPr>
              <a:t>Fevereiro/2021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5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4380" y="3140964"/>
            <a:ext cx="45720" cy="1290955"/>
          </a:xfrm>
          <a:custGeom>
            <a:avLst/>
            <a:gdLst/>
            <a:ahLst/>
            <a:cxnLst/>
            <a:rect l="l" t="t" r="r" b="b"/>
            <a:pathLst>
              <a:path w="45720" h="1290954">
                <a:moveTo>
                  <a:pt x="45720" y="0"/>
                </a:moveTo>
                <a:lnTo>
                  <a:pt x="0" y="0"/>
                </a:lnTo>
                <a:lnTo>
                  <a:pt x="0" y="1290828"/>
                </a:lnTo>
                <a:lnTo>
                  <a:pt x="45720" y="1290828"/>
                </a:lnTo>
                <a:lnTo>
                  <a:pt x="45720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81227" y="3287516"/>
            <a:ext cx="5451475" cy="102996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78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ENGENHARIA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32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COMPUTAÇÃO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HUMAN-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COMPUTER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INTERACTION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9690" y="4532757"/>
            <a:ext cx="2653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HENRIQUE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CORDEIRO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5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DESIGN</a:t>
            </a:r>
            <a:r>
              <a:rPr spc="-7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SISTEMAS</a:t>
            </a:r>
            <a:r>
              <a:rPr spc="-60" dirty="0"/>
              <a:t> </a:t>
            </a:r>
            <a:r>
              <a:rPr spc="-20" dirty="0"/>
              <a:t>INTERATIVOS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8145" y="1376289"/>
            <a:ext cx="616770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7375E"/>
                </a:solidFill>
                <a:latin typeface="Calibri"/>
                <a:cs typeface="Calibri"/>
              </a:rPr>
              <a:t>INTERAÇÃO</a:t>
            </a:r>
            <a:r>
              <a:rPr sz="3200" b="1" spc="-11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7375E"/>
                </a:solidFill>
                <a:latin typeface="Calibri"/>
                <a:cs typeface="Calibri"/>
              </a:rPr>
              <a:t>HOMEM-</a:t>
            </a:r>
            <a:r>
              <a:rPr lang="pt-BR" sz="3200" b="1" spc="-10" dirty="0">
                <a:solidFill>
                  <a:srgbClr val="17375E"/>
                </a:solidFill>
                <a:latin typeface="Calibri"/>
                <a:cs typeface="Calibri"/>
              </a:rPr>
              <a:t>COMPUTADOR</a:t>
            </a:r>
            <a:endParaRPr sz="32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80891" y="2043491"/>
            <a:ext cx="6131560" cy="4254500"/>
            <a:chOff x="1680891" y="2043491"/>
            <a:chExt cx="6131560" cy="42545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0891" y="2043491"/>
              <a:ext cx="6131213" cy="42539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9468" y="2202180"/>
              <a:ext cx="5634228" cy="37566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0772" y="4824958"/>
              <a:ext cx="2033016" cy="43131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933444" y="4936236"/>
              <a:ext cx="1778635" cy="173990"/>
            </a:xfrm>
            <a:custGeom>
              <a:avLst/>
              <a:gdLst/>
              <a:ahLst/>
              <a:cxnLst/>
              <a:rect l="l" t="t" r="r" b="b"/>
              <a:pathLst>
                <a:path w="1778635" h="173989">
                  <a:moveTo>
                    <a:pt x="1604390" y="0"/>
                  </a:moveTo>
                  <a:lnTo>
                    <a:pt x="1604390" y="173736"/>
                  </a:lnTo>
                  <a:lnTo>
                    <a:pt x="1720214" y="115824"/>
                  </a:lnTo>
                  <a:lnTo>
                    <a:pt x="1633346" y="115824"/>
                  </a:lnTo>
                  <a:lnTo>
                    <a:pt x="1633346" y="57912"/>
                  </a:lnTo>
                  <a:lnTo>
                    <a:pt x="1720214" y="57912"/>
                  </a:lnTo>
                  <a:lnTo>
                    <a:pt x="1604390" y="0"/>
                  </a:lnTo>
                  <a:close/>
                </a:path>
                <a:path w="1778635" h="173989">
                  <a:moveTo>
                    <a:pt x="1604390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1604390" y="115824"/>
                  </a:lnTo>
                  <a:lnTo>
                    <a:pt x="1604390" y="57912"/>
                  </a:lnTo>
                  <a:close/>
                </a:path>
                <a:path w="1778635" h="173989">
                  <a:moveTo>
                    <a:pt x="1720214" y="57912"/>
                  </a:moveTo>
                  <a:lnTo>
                    <a:pt x="1633346" y="57912"/>
                  </a:lnTo>
                  <a:lnTo>
                    <a:pt x="1633346" y="115824"/>
                  </a:lnTo>
                  <a:lnTo>
                    <a:pt x="1720214" y="115824"/>
                  </a:lnTo>
                  <a:lnTo>
                    <a:pt x="1778127" y="86868"/>
                  </a:lnTo>
                  <a:lnTo>
                    <a:pt x="1720214" y="579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7036" y="3492982"/>
              <a:ext cx="2029967" cy="4313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934968" y="3604260"/>
              <a:ext cx="1774825" cy="173990"/>
            </a:xfrm>
            <a:custGeom>
              <a:avLst/>
              <a:gdLst/>
              <a:ahLst/>
              <a:cxnLst/>
              <a:rect l="l" t="t" r="r" b="b"/>
              <a:pathLst>
                <a:path w="1774825" h="173989">
                  <a:moveTo>
                    <a:pt x="173736" y="0"/>
                  </a:moveTo>
                  <a:lnTo>
                    <a:pt x="0" y="86867"/>
                  </a:lnTo>
                  <a:lnTo>
                    <a:pt x="173736" y="173735"/>
                  </a:lnTo>
                  <a:lnTo>
                    <a:pt x="173736" y="115823"/>
                  </a:lnTo>
                  <a:lnTo>
                    <a:pt x="144780" y="115823"/>
                  </a:lnTo>
                  <a:lnTo>
                    <a:pt x="144780" y="57912"/>
                  </a:lnTo>
                  <a:lnTo>
                    <a:pt x="173736" y="57912"/>
                  </a:lnTo>
                  <a:lnTo>
                    <a:pt x="173736" y="0"/>
                  </a:lnTo>
                  <a:close/>
                </a:path>
                <a:path w="1774825" h="173989">
                  <a:moveTo>
                    <a:pt x="173736" y="57912"/>
                  </a:moveTo>
                  <a:lnTo>
                    <a:pt x="144780" y="57912"/>
                  </a:lnTo>
                  <a:lnTo>
                    <a:pt x="144780" y="115823"/>
                  </a:lnTo>
                  <a:lnTo>
                    <a:pt x="173736" y="115823"/>
                  </a:lnTo>
                  <a:lnTo>
                    <a:pt x="173736" y="57912"/>
                  </a:lnTo>
                  <a:close/>
                </a:path>
                <a:path w="1774825" h="173989">
                  <a:moveTo>
                    <a:pt x="1774444" y="57912"/>
                  </a:moveTo>
                  <a:lnTo>
                    <a:pt x="173736" y="57912"/>
                  </a:lnTo>
                  <a:lnTo>
                    <a:pt x="173736" y="115823"/>
                  </a:lnTo>
                  <a:lnTo>
                    <a:pt x="1774444" y="115823"/>
                  </a:lnTo>
                  <a:lnTo>
                    <a:pt x="1774444" y="5791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58996" y="4623828"/>
              <a:ext cx="1334262" cy="5112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9684" y="3270516"/>
              <a:ext cx="997458" cy="51128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61764" y="3319653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00"/>
                </a:solidFill>
                <a:latin typeface="Calibri"/>
                <a:cs typeface="Calibri"/>
              </a:rPr>
              <a:t>SAÍDAS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69007" y="3863327"/>
            <a:ext cx="1898650" cy="1561465"/>
            <a:chOff x="1969007" y="3863327"/>
            <a:chExt cx="1898650" cy="156146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8543" y="4786871"/>
              <a:ext cx="1038606" cy="3985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375" y="4425683"/>
              <a:ext cx="854201" cy="39853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76627" y="4648187"/>
              <a:ext cx="840486" cy="39853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1239" y="5026139"/>
              <a:ext cx="799338" cy="39853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59735" y="3863327"/>
              <a:ext cx="534149" cy="39853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69007" y="4146791"/>
              <a:ext cx="845057" cy="39853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068448" y="3828008"/>
            <a:ext cx="1686560" cy="1233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78840" indent="490855">
              <a:lnSpc>
                <a:spcPct val="133200"/>
              </a:lnSpc>
              <a:spcBef>
                <a:spcPts val="95"/>
              </a:spcBef>
            </a:pP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VOZ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MENTAL</a:t>
            </a:r>
            <a:endParaRPr sz="1400">
              <a:latin typeface="Calibri"/>
              <a:cs typeface="Calibri"/>
            </a:endParaRPr>
          </a:p>
          <a:p>
            <a:pPr marL="671195">
              <a:lnSpc>
                <a:spcPct val="100000"/>
              </a:lnSpc>
              <a:spcBef>
                <a:spcPts val="51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CLIQUES</a:t>
            </a:r>
            <a:endParaRPr sz="1400">
              <a:latin typeface="Calibri"/>
              <a:cs typeface="Calibri"/>
            </a:endParaRPr>
          </a:p>
          <a:p>
            <a:pPr marL="20955">
              <a:lnSpc>
                <a:spcPts val="1385"/>
              </a:lnSpc>
              <a:spcBef>
                <a:spcPts val="7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TOQUES</a:t>
            </a:r>
            <a:endParaRPr sz="1400">
              <a:latin typeface="Calibri"/>
              <a:cs typeface="Calibri"/>
            </a:endParaRPr>
          </a:p>
          <a:p>
            <a:pPr marL="872490">
              <a:lnSpc>
                <a:spcPts val="1385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DIGITAÇÃO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84620" y="3561575"/>
            <a:ext cx="1080135" cy="612140"/>
            <a:chOff x="6484620" y="3561575"/>
            <a:chExt cx="1080135" cy="61214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84620" y="3561575"/>
              <a:ext cx="1079753" cy="3985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47688" y="3774935"/>
              <a:ext cx="753618" cy="39853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584060" y="3596385"/>
            <a:ext cx="86741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marR="5080" indent="-163195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CONTEÚDO VISUAL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990088" y="5180063"/>
            <a:ext cx="1535430" cy="39853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2400045" y="5061330"/>
            <a:ext cx="2011680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45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GESTOS</a:t>
            </a:r>
            <a:endParaRPr sz="1400">
              <a:latin typeface="Calibri"/>
              <a:cs typeface="Calibri"/>
            </a:endParaRPr>
          </a:p>
          <a:p>
            <a:pPr marL="702310">
              <a:lnSpc>
                <a:spcPts val="1445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CONTROLADORES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338571" y="2827007"/>
            <a:ext cx="1119505" cy="612140"/>
            <a:chOff x="5338571" y="2827007"/>
            <a:chExt cx="1119505" cy="612140"/>
          </a:xfrm>
        </p:grpSpPr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38571" y="2827007"/>
              <a:ext cx="1119377" cy="39853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02579" y="3040367"/>
              <a:ext cx="953262" cy="39853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502909" y="3074288"/>
            <a:ext cx="741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AUDITIVO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405371" y="2968739"/>
            <a:ext cx="1119505" cy="612140"/>
            <a:chOff x="6405371" y="2968739"/>
            <a:chExt cx="1119505" cy="612140"/>
          </a:xfrm>
        </p:grpSpPr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05371" y="2968739"/>
              <a:ext cx="1119377" cy="39853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41591" y="3182099"/>
              <a:ext cx="607301" cy="398538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505702" y="3002737"/>
            <a:ext cx="86804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CONTEÚDO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TÁTIL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68567" y="2424671"/>
            <a:ext cx="1189990" cy="612140"/>
            <a:chOff x="6068567" y="2424671"/>
            <a:chExt cx="1189990" cy="612140"/>
          </a:xfrm>
        </p:grpSpPr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05143" y="2424671"/>
              <a:ext cx="1119377" cy="39853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68567" y="2638031"/>
              <a:ext cx="1189482" cy="39853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438902" y="2459227"/>
            <a:ext cx="1668780" cy="641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2315" marR="5080" indent="3619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CONTEÚDO 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PALATÁVEL...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485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CONTEÚDO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995671" y="3840479"/>
            <a:ext cx="726440" cy="942975"/>
            <a:chOff x="4995671" y="3840479"/>
            <a:chExt cx="726440" cy="942975"/>
          </a:xfrm>
        </p:grpSpPr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95671" y="3840479"/>
              <a:ext cx="726186" cy="45491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70931" y="4084319"/>
              <a:ext cx="377189" cy="45491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20055" y="4328159"/>
              <a:ext cx="677418" cy="45491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291329" y="3883533"/>
            <a:ext cx="1300480" cy="1089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3119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FF00"/>
                </a:solidFill>
                <a:latin typeface="Calibri"/>
                <a:cs typeface="Calibri"/>
              </a:rPr>
              <a:t>PUSH </a:t>
            </a:r>
            <a:r>
              <a:rPr sz="1600" spc="-50" dirty="0">
                <a:solidFill>
                  <a:srgbClr val="FFFF00"/>
                </a:solidFill>
                <a:latin typeface="Calibri"/>
                <a:cs typeface="Calibri"/>
              </a:rPr>
              <a:t>X </a:t>
            </a:r>
            <a:r>
              <a:rPr sz="1600" spc="-20" dirty="0">
                <a:solidFill>
                  <a:srgbClr val="FFFF00"/>
                </a:solidFill>
                <a:latin typeface="Calibri"/>
                <a:cs typeface="Calibri"/>
              </a:rPr>
              <a:t>PULL</a:t>
            </a:r>
            <a:endParaRPr sz="1600">
              <a:latin typeface="Calibri"/>
              <a:cs typeface="Calibri"/>
            </a:endParaRPr>
          </a:p>
          <a:p>
            <a:pPr marR="238125" algn="ctr">
              <a:lnSpc>
                <a:spcPct val="100000"/>
              </a:lnSpc>
              <a:spcBef>
                <a:spcPts val="459"/>
              </a:spcBef>
            </a:pPr>
            <a:r>
              <a:rPr sz="1800" b="1" spc="-10" dirty="0">
                <a:solidFill>
                  <a:srgbClr val="FFFF00"/>
                </a:solidFill>
                <a:latin typeface="Calibri"/>
                <a:cs typeface="Calibri"/>
              </a:rPr>
              <a:t>ENTRADAS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5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DESIGN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SISTEMAS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INTERATIVOS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8969" y="6065621"/>
            <a:ext cx="16014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CENTRADO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NO</a:t>
            </a:r>
            <a:endParaRPr sz="2000">
              <a:latin typeface="Calibri"/>
              <a:cs typeface="Calibri"/>
            </a:endParaRPr>
          </a:p>
          <a:p>
            <a:pPr marL="5651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SER</a:t>
            </a:r>
            <a:r>
              <a:rPr sz="2000" b="1" spc="-10" dirty="0">
                <a:latin typeface="Calibri"/>
                <a:cs typeface="Calibri"/>
              </a:rPr>
              <a:t> HUMANO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44395" y="2007133"/>
            <a:ext cx="6204585" cy="4326890"/>
            <a:chOff x="1644395" y="2007133"/>
            <a:chExt cx="6204585" cy="432689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4395" y="2007133"/>
              <a:ext cx="6204204" cy="43266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9467" y="2202180"/>
              <a:ext cx="5634228" cy="37566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238115" y="6054344"/>
            <a:ext cx="158305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CENTRADO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NA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libri"/>
                <a:cs typeface="Calibri"/>
              </a:rPr>
              <a:t>MÁQUINA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2121" y="6118656"/>
            <a:ext cx="24955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11223" y="6011062"/>
            <a:ext cx="260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30922" y="6011062"/>
            <a:ext cx="260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0" dirty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0469" y="3518407"/>
            <a:ext cx="15722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MÁQUINAS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50" dirty="0">
                <a:latin typeface="Calibri"/>
                <a:cs typeface="Calibri"/>
              </a:rPr>
              <a:t>SÃO </a:t>
            </a:r>
            <a:r>
              <a:rPr sz="1800" cap="small" spc="-10" dirty="0">
                <a:latin typeface="Calibri"/>
                <a:cs typeface="Calibri"/>
              </a:rPr>
              <a:t>Precisas Organizadas</a:t>
            </a:r>
            <a:endParaRPr sz="1800">
              <a:latin typeface="Calibri"/>
              <a:cs typeface="Calibri"/>
            </a:endParaRPr>
          </a:p>
          <a:p>
            <a:pPr marL="326390" marR="321310" algn="ctr">
              <a:lnSpc>
                <a:spcPct val="100000"/>
              </a:lnSpc>
            </a:pPr>
            <a:r>
              <a:rPr sz="1800" cap="small" spc="-45" dirty="0">
                <a:latin typeface="Calibri"/>
                <a:cs typeface="Calibri"/>
              </a:rPr>
              <a:t>“Focadas” </a:t>
            </a:r>
            <a:r>
              <a:rPr sz="1800" cap="small" spc="-10" dirty="0">
                <a:latin typeface="Calibri"/>
                <a:cs typeface="Calibri"/>
              </a:rPr>
              <a:t>“Frias” Lógicas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-11480" y="3518407"/>
            <a:ext cx="18230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25717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PESSOAS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120" dirty="0">
                <a:latin typeface="Calibri"/>
                <a:cs typeface="Calibri"/>
              </a:rPr>
              <a:t>SÃO </a:t>
            </a:r>
            <a:r>
              <a:rPr sz="1800" cap="small" spc="-10" dirty="0">
                <a:latin typeface="Calibri"/>
                <a:cs typeface="Calibri"/>
              </a:rPr>
              <a:t>Criativas Flexíveis Mutáveis Engenhosas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cap="small" spc="-25" dirty="0">
                <a:latin typeface="Calibri"/>
                <a:cs typeface="Calibri"/>
              </a:rPr>
              <a:t>Reativas</a:t>
            </a:r>
            <a:r>
              <a:rPr sz="1800" cap="small" spc="3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a</a:t>
            </a:r>
            <a:r>
              <a:rPr sz="1800" cap="small" spc="45" dirty="0">
                <a:latin typeface="Calibri"/>
                <a:cs typeface="Calibri"/>
              </a:rPr>
              <a:t> </a:t>
            </a:r>
            <a:r>
              <a:rPr sz="1800" cap="small" spc="-45" dirty="0">
                <a:latin typeface="Calibri"/>
                <a:cs typeface="Calibri"/>
              </a:rPr>
              <a:t>conteúdo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167127" y="3028188"/>
            <a:ext cx="4806950" cy="3825240"/>
            <a:chOff x="2167127" y="3028188"/>
            <a:chExt cx="4806950" cy="382524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3207" y="6009127"/>
              <a:ext cx="1880615" cy="82602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42738" y="6049517"/>
              <a:ext cx="1774825" cy="708025"/>
            </a:xfrm>
            <a:custGeom>
              <a:avLst/>
              <a:gdLst/>
              <a:ahLst/>
              <a:cxnLst/>
              <a:rect l="l" t="t" r="r" b="b"/>
              <a:pathLst>
                <a:path w="1774825" h="708025">
                  <a:moveTo>
                    <a:pt x="0" y="0"/>
                  </a:moveTo>
                  <a:lnTo>
                    <a:pt x="1774443" y="707885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3207" y="6056381"/>
              <a:ext cx="1746504" cy="70253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42738" y="6098286"/>
              <a:ext cx="1639570" cy="584835"/>
            </a:xfrm>
            <a:custGeom>
              <a:avLst/>
              <a:gdLst/>
              <a:ahLst/>
              <a:cxnLst/>
              <a:rect l="l" t="t" r="r" b="b"/>
              <a:pathLst>
                <a:path w="1639570" h="584834">
                  <a:moveTo>
                    <a:pt x="0" y="584771"/>
                  </a:moveTo>
                  <a:lnTo>
                    <a:pt x="1639315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7127" y="5998463"/>
              <a:ext cx="2103120" cy="85496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28849" y="6037326"/>
              <a:ext cx="1984375" cy="736600"/>
            </a:xfrm>
            <a:custGeom>
              <a:avLst/>
              <a:gdLst/>
              <a:ahLst/>
              <a:cxnLst/>
              <a:rect l="l" t="t" r="r" b="b"/>
              <a:pathLst>
                <a:path w="1984375" h="736600">
                  <a:moveTo>
                    <a:pt x="0" y="368046"/>
                  </a:moveTo>
                  <a:lnTo>
                    <a:pt x="2866" y="321879"/>
                  </a:lnTo>
                  <a:lnTo>
                    <a:pt x="11236" y="277424"/>
                  </a:lnTo>
                  <a:lnTo>
                    <a:pt x="24766" y="235025"/>
                  </a:lnTo>
                  <a:lnTo>
                    <a:pt x="43110" y="195026"/>
                  </a:lnTo>
                  <a:lnTo>
                    <a:pt x="65924" y="157774"/>
                  </a:lnTo>
                  <a:lnTo>
                    <a:pt x="92865" y="123613"/>
                  </a:lnTo>
                  <a:lnTo>
                    <a:pt x="123587" y="92887"/>
                  </a:lnTo>
                  <a:lnTo>
                    <a:pt x="157746" y="65942"/>
                  </a:lnTo>
                  <a:lnTo>
                    <a:pt x="194998" y="43122"/>
                  </a:lnTo>
                  <a:lnTo>
                    <a:pt x="234999" y="24774"/>
                  </a:lnTo>
                  <a:lnTo>
                    <a:pt x="277403" y="11240"/>
                  </a:lnTo>
                  <a:lnTo>
                    <a:pt x="321867" y="2867"/>
                  </a:lnTo>
                  <a:lnTo>
                    <a:pt x="368045" y="0"/>
                  </a:lnTo>
                  <a:lnTo>
                    <a:pt x="1616202" y="0"/>
                  </a:lnTo>
                  <a:lnTo>
                    <a:pt x="1662380" y="2867"/>
                  </a:lnTo>
                  <a:lnTo>
                    <a:pt x="1706844" y="11240"/>
                  </a:lnTo>
                  <a:lnTo>
                    <a:pt x="1749248" y="24774"/>
                  </a:lnTo>
                  <a:lnTo>
                    <a:pt x="1789249" y="43122"/>
                  </a:lnTo>
                  <a:lnTo>
                    <a:pt x="1826501" y="65942"/>
                  </a:lnTo>
                  <a:lnTo>
                    <a:pt x="1860660" y="92887"/>
                  </a:lnTo>
                  <a:lnTo>
                    <a:pt x="1891382" y="123613"/>
                  </a:lnTo>
                  <a:lnTo>
                    <a:pt x="1918323" y="157774"/>
                  </a:lnTo>
                  <a:lnTo>
                    <a:pt x="1941137" y="195026"/>
                  </a:lnTo>
                  <a:lnTo>
                    <a:pt x="1959481" y="235025"/>
                  </a:lnTo>
                  <a:lnTo>
                    <a:pt x="1973011" y="277424"/>
                  </a:lnTo>
                  <a:lnTo>
                    <a:pt x="1981381" y="321879"/>
                  </a:lnTo>
                  <a:lnTo>
                    <a:pt x="1984248" y="368046"/>
                  </a:lnTo>
                  <a:lnTo>
                    <a:pt x="1981381" y="414212"/>
                  </a:lnTo>
                  <a:lnTo>
                    <a:pt x="1973011" y="458667"/>
                  </a:lnTo>
                  <a:lnTo>
                    <a:pt x="1959481" y="501066"/>
                  </a:lnTo>
                  <a:lnTo>
                    <a:pt x="1941137" y="541065"/>
                  </a:lnTo>
                  <a:lnTo>
                    <a:pt x="1918323" y="578317"/>
                  </a:lnTo>
                  <a:lnTo>
                    <a:pt x="1891382" y="612478"/>
                  </a:lnTo>
                  <a:lnTo>
                    <a:pt x="1860660" y="643204"/>
                  </a:lnTo>
                  <a:lnTo>
                    <a:pt x="1826501" y="670149"/>
                  </a:lnTo>
                  <a:lnTo>
                    <a:pt x="1789249" y="692969"/>
                  </a:lnTo>
                  <a:lnTo>
                    <a:pt x="1749248" y="711317"/>
                  </a:lnTo>
                  <a:lnTo>
                    <a:pt x="1706844" y="724851"/>
                  </a:lnTo>
                  <a:lnTo>
                    <a:pt x="1662380" y="733224"/>
                  </a:lnTo>
                  <a:lnTo>
                    <a:pt x="1616202" y="736092"/>
                  </a:lnTo>
                  <a:lnTo>
                    <a:pt x="368045" y="736092"/>
                  </a:lnTo>
                  <a:lnTo>
                    <a:pt x="321867" y="733224"/>
                  </a:lnTo>
                  <a:lnTo>
                    <a:pt x="277403" y="724851"/>
                  </a:lnTo>
                  <a:lnTo>
                    <a:pt x="234999" y="711317"/>
                  </a:lnTo>
                  <a:lnTo>
                    <a:pt x="194998" y="692969"/>
                  </a:lnTo>
                  <a:lnTo>
                    <a:pt x="157746" y="670149"/>
                  </a:lnTo>
                  <a:lnTo>
                    <a:pt x="123587" y="643204"/>
                  </a:lnTo>
                  <a:lnTo>
                    <a:pt x="92865" y="612478"/>
                  </a:lnTo>
                  <a:lnTo>
                    <a:pt x="65924" y="578317"/>
                  </a:lnTo>
                  <a:lnTo>
                    <a:pt x="43110" y="541065"/>
                  </a:lnTo>
                  <a:lnTo>
                    <a:pt x="24766" y="501066"/>
                  </a:lnTo>
                  <a:lnTo>
                    <a:pt x="11236" y="458667"/>
                  </a:lnTo>
                  <a:lnTo>
                    <a:pt x="2866" y="414212"/>
                  </a:lnTo>
                  <a:lnTo>
                    <a:pt x="0" y="36804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3755" y="3028188"/>
              <a:ext cx="1361694" cy="56464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8016" y="3332988"/>
              <a:ext cx="1774698" cy="56464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42588" y="3637788"/>
              <a:ext cx="1709165" cy="564642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084446" y="3081274"/>
            <a:ext cx="140716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0574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00"/>
                </a:solidFill>
                <a:latin typeface="Calibri"/>
                <a:cs typeface="Calibri"/>
              </a:rPr>
              <a:t>FOCO</a:t>
            </a:r>
            <a:r>
              <a:rPr sz="2000" b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00"/>
                </a:solidFill>
                <a:latin typeface="Calibri"/>
                <a:cs typeface="Calibri"/>
              </a:rPr>
              <a:t>NA </a:t>
            </a:r>
            <a:r>
              <a:rPr sz="2000" b="1" spc="-10" dirty="0">
                <a:solidFill>
                  <a:srgbClr val="FFFF00"/>
                </a:solidFill>
                <a:latin typeface="Calibri"/>
                <a:cs typeface="Calibri"/>
              </a:rPr>
              <a:t>EXPERIÊNCIA </a:t>
            </a:r>
            <a:r>
              <a:rPr sz="2000" b="1" dirty="0">
                <a:solidFill>
                  <a:srgbClr val="FFFF00"/>
                </a:solidFill>
                <a:latin typeface="Calibri"/>
                <a:cs typeface="Calibri"/>
              </a:rPr>
              <a:t>DO</a:t>
            </a:r>
            <a:r>
              <a:rPr sz="20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00"/>
                </a:solidFill>
                <a:latin typeface="Calibri"/>
                <a:cs typeface="Calibri"/>
              </a:rPr>
              <a:t>USUÁRIO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5F02036C-42AE-57DC-A83A-526E3065C3AD}"/>
              </a:ext>
            </a:extLst>
          </p:cNvPr>
          <p:cNvSpPr txBox="1"/>
          <p:nvPr/>
        </p:nvSpPr>
        <p:spPr>
          <a:xfrm>
            <a:off x="1488145" y="1376289"/>
            <a:ext cx="616770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7375E"/>
                </a:solidFill>
                <a:latin typeface="Calibri"/>
                <a:cs typeface="Calibri"/>
              </a:rPr>
              <a:t>INTERAÇÃO</a:t>
            </a:r>
            <a:r>
              <a:rPr sz="3200" b="1" spc="-11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7375E"/>
                </a:solidFill>
                <a:latin typeface="Calibri"/>
                <a:cs typeface="Calibri"/>
              </a:rPr>
              <a:t>HOMEM-</a:t>
            </a:r>
            <a:r>
              <a:rPr lang="pt-BR" sz="3200" b="1" spc="-10" dirty="0">
                <a:solidFill>
                  <a:srgbClr val="17375E"/>
                </a:solidFill>
                <a:latin typeface="Calibri"/>
                <a:cs typeface="Calibri"/>
              </a:rPr>
              <a:t>COMPUTADOR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DESIGN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SISTEMAS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INTERATIVOS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7560" y="1494789"/>
            <a:ext cx="53911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7375E"/>
                </a:solidFill>
              </a:rPr>
              <a:t>MAS</a:t>
            </a:r>
            <a:r>
              <a:rPr sz="3200" spc="-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AFINAL,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O</a:t>
            </a:r>
            <a:r>
              <a:rPr sz="3200" spc="-10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QUE</a:t>
            </a:r>
            <a:r>
              <a:rPr sz="3200" spc="-10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É</a:t>
            </a:r>
            <a:r>
              <a:rPr sz="3200" spc="10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DESIGN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50" dirty="0">
                <a:solidFill>
                  <a:srgbClr val="17375E"/>
                </a:solidFill>
              </a:rPr>
              <a:t>?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1127861" y="2337638"/>
            <a:ext cx="7212330" cy="1609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É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ONDE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VOCÊ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FICA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OS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PÉS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DOIS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MUNDOS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MUNDO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TECNOLOGIA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MUNDO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PESSOAS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OBJETIVOS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HUMANOS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VOCÊ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TENTA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JUNTAR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DOIS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429885">
              <a:lnSpc>
                <a:spcPct val="100000"/>
              </a:lnSpc>
              <a:spcBef>
                <a:spcPts val="10"/>
              </a:spcBef>
            </a:pPr>
            <a:r>
              <a:rPr sz="1800" cap="small" dirty="0">
                <a:latin typeface="Calibri"/>
                <a:cs typeface="Calibri"/>
              </a:rPr>
              <a:t>Mitch</a:t>
            </a:r>
            <a:r>
              <a:rPr sz="1800" cap="small" spc="2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Kapor</a:t>
            </a:r>
            <a:r>
              <a:rPr sz="1800" cap="small" spc="6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-</a:t>
            </a:r>
            <a:r>
              <a:rPr sz="1800" cap="small" spc="-45" dirty="0">
                <a:latin typeface="Calibri"/>
                <a:cs typeface="Calibri"/>
              </a:rPr>
              <a:t> </a:t>
            </a:r>
            <a:r>
              <a:rPr sz="1800" cap="small" spc="-65" dirty="0">
                <a:latin typeface="Calibri"/>
                <a:cs typeface="Calibri"/>
              </a:rPr>
              <a:t>1996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45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250" spc="-30" dirty="0">
                <a:latin typeface="Calibri"/>
                <a:cs typeface="Calibri"/>
              </a:rPr>
              <a:t>TANTO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O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PROCESSO</a:t>
            </a:r>
            <a:r>
              <a:rPr sz="2250" spc="5" dirty="0">
                <a:latin typeface="Calibri"/>
                <a:cs typeface="Calibri"/>
              </a:rPr>
              <a:t> </a:t>
            </a:r>
            <a:r>
              <a:rPr sz="2250" spc="-20" dirty="0">
                <a:latin typeface="Calibri"/>
                <a:cs typeface="Calibri"/>
              </a:rPr>
              <a:t>CRIATIVO</a:t>
            </a:r>
            <a:r>
              <a:rPr sz="2250" spc="20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QUANTO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dirty="0">
                <a:latin typeface="Calibri"/>
                <a:cs typeface="Calibri"/>
              </a:rPr>
              <a:t>SEU</a:t>
            </a:r>
            <a:r>
              <a:rPr sz="2250" spc="25" dirty="0">
                <a:latin typeface="Calibri"/>
                <a:cs typeface="Calibri"/>
              </a:rPr>
              <a:t> </a:t>
            </a:r>
            <a:r>
              <a:rPr sz="2250" spc="-10" dirty="0">
                <a:latin typeface="Calibri"/>
                <a:cs typeface="Calibri"/>
              </a:rPr>
              <a:t>RESULTADO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2822" y="4303521"/>
            <a:ext cx="1360170" cy="821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103505">
              <a:lnSpc>
                <a:spcPct val="117400"/>
              </a:lnSpc>
              <a:spcBef>
                <a:spcPts val="195"/>
              </a:spcBef>
            </a:pPr>
            <a:r>
              <a:rPr sz="2400" cap="small" dirty="0">
                <a:latin typeface="Calibri"/>
                <a:cs typeface="Calibri"/>
              </a:rPr>
              <a:t>Design</a:t>
            </a:r>
            <a:r>
              <a:rPr sz="2400" cap="small" spc="120" dirty="0">
                <a:latin typeface="Calibri"/>
                <a:cs typeface="Calibri"/>
              </a:rPr>
              <a:t> </a:t>
            </a:r>
            <a:r>
              <a:rPr sz="2400" cap="small" spc="-25" dirty="0">
                <a:latin typeface="Calibri"/>
                <a:cs typeface="Calibri"/>
              </a:rPr>
              <a:t>de </a:t>
            </a:r>
            <a:r>
              <a:rPr sz="2400" cap="small" spc="-30" dirty="0">
                <a:latin typeface="Calibri"/>
                <a:cs typeface="Calibri"/>
              </a:rPr>
              <a:t>engenharia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1021" y="5115509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(</a:t>
            </a:r>
            <a:r>
              <a:rPr sz="1450" spc="-20" dirty="0">
                <a:latin typeface="Calibri"/>
                <a:cs typeface="Calibri"/>
              </a:rPr>
              <a:t>PROJETO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45857" y="4303521"/>
            <a:ext cx="1056640" cy="821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121920">
              <a:lnSpc>
                <a:spcPct val="117400"/>
              </a:lnSpc>
              <a:spcBef>
                <a:spcPts val="195"/>
              </a:spcBef>
            </a:pPr>
            <a:r>
              <a:rPr sz="2400" cap="small" spc="-10" dirty="0">
                <a:latin typeface="Calibri"/>
                <a:cs typeface="Calibri"/>
              </a:rPr>
              <a:t>Design </a:t>
            </a:r>
            <a:r>
              <a:rPr sz="2400" cap="small" spc="-35" dirty="0">
                <a:latin typeface="Calibri"/>
                <a:cs typeface="Calibri"/>
              </a:rPr>
              <a:t>artístico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03185" y="5115509"/>
            <a:ext cx="1143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</a:t>
            </a:r>
            <a:r>
              <a:rPr sz="1450" dirty="0">
                <a:latin typeface="Calibri"/>
                <a:cs typeface="Calibri"/>
              </a:rPr>
              <a:t>OU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CRIATIVO</a:t>
            </a:r>
            <a:r>
              <a:rPr sz="1800" spc="-2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16094" y="4685989"/>
            <a:ext cx="4610735" cy="567690"/>
            <a:chOff x="2516094" y="4685989"/>
            <a:chExt cx="4610735" cy="56769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6094" y="4685989"/>
              <a:ext cx="4610159" cy="5675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40508" y="4687823"/>
              <a:ext cx="4566285" cy="523240"/>
            </a:xfrm>
            <a:custGeom>
              <a:avLst/>
              <a:gdLst/>
              <a:ahLst/>
              <a:cxnLst/>
              <a:rect l="l" t="t" r="r" b="b"/>
              <a:pathLst>
                <a:path w="4566284" h="523239">
                  <a:moveTo>
                    <a:pt x="4304538" y="0"/>
                  </a:moveTo>
                  <a:lnTo>
                    <a:pt x="4304538" y="130682"/>
                  </a:lnTo>
                  <a:lnTo>
                    <a:pt x="261366" y="130682"/>
                  </a:lnTo>
                  <a:lnTo>
                    <a:pt x="261366" y="0"/>
                  </a:lnTo>
                  <a:lnTo>
                    <a:pt x="0" y="261365"/>
                  </a:lnTo>
                  <a:lnTo>
                    <a:pt x="261366" y="522731"/>
                  </a:lnTo>
                  <a:lnTo>
                    <a:pt x="261366" y="392049"/>
                  </a:lnTo>
                  <a:lnTo>
                    <a:pt x="4304538" y="392049"/>
                  </a:lnTo>
                  <a:lnTo>
                    <a:pt x="4304538" y="522731"/>
                  </a:lnTo>
                  <a:lnTo>
                    <a:pt x="4565904" y="261365"/>
                  </a:lnTo>
                  <a:lnTo>
                    <a:pt x="430453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59834" y="5238394"/>
            <a:ext cx="21145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95"/>
              </a:spcBef>
            </a:pPr>
            <a:r>
              <a:rPr sz="2800" cap="small" dirty="0">
                <a:solidFill>
                  <a:srgbClr val="0F243E"/>
                </a:solidFill>
                <a:latin typeface="Calibri"/>
                <a:cs typeface="Calibri"/>
              </a:rPr>
              <a:t>Design</a:t>
            </a:r>
            <a:r>
              <a:rPr sz="2800" cap="small" spc="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800" cap="small" spc="-20" dirty="0">
                <a:solidFill>
                  <a:srgbClr val="0F243E"/>
                </a:solidFill>
                <a:latin typeface="Calibri"/>
                <a:cs typeface="Calibri"/>
              </a:rPr>
              <a:t>como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30" dirty="0">
                <a:solidFill>
                  <a:srgbClr val="0F243E"/>
                </a:solidFill>
                <a:latin typeface="Calibri"/>
                <a:cs typeface="Calibri"/>
              </a:rPr>
              <a:t>“</a:t>
            </a:r>
            <a:r>
              <a:rPr sz="2250" spc="-30" dirty="0">
                <a:solidFill>
                  <a:srgbClr val="0F243E"/>
                </a:solidFill>
                <a:latin typeface="Calibri"/>
                <a:cs typeface="Calibri"/>
              </a:rPr>
              <a:t>ARTE</a:t>
            </a:r>
            <a:r>
              <a:rPr sz="2250" spc="-5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0F243E"/>
                </a:solidFill>
                <a:latin typeface="Calibri"/>
                <a:cs typeface="Calibri"/>
              </a:rPr>
              <a:t>APLICADA</a:t>
            </a:r>
            <a:r>
              <a:rPr sz="2800" spc="-10" dirty="0">
                <a:solidFill>
                  <a:srgbClr val="0F243E"/>
                </a:solidFill>
                <a:latin typeface="Calibri"/>
                <a:cs typeface="Calibri"/>
              </a:rPr>
              <a:t>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46972" y="6263132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5579745" cy="523240"/>
            <a:chOff x="765048" y="704087"/>
            <a:chExt cx="557974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5501640" cy="523240"/>
            </a:xfrm>
            <a:custGeom>
              <a:avLst/>
              <a:gdLst/>
              <a:ahLst/>
              <a:cxnLst/>
              <a:rect l="l" t="t" r="r" b="b"/>
              <a:pathLst>
                <a:path w="5501640" h="523240">
                  <a:moveTo>
                    <a:pt x="5501640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5501640" y="522731"/>
                  </a:lnTo>
                  <a:lnTo>
                    <a:pt x="5501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22121" y="714248"/>
            <a:ext cx="5200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DESIGN</a:t>
            </a:r>
            <a:r>
              <a:rPr spc="-7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SISTEMAS</a:t>
            </a:r>
            <a:r>
              <a:rPr spc="-60" dirty="0"/>
              <a:t> </a:t>
            </a:r>
            <a:r>
              <a:rPr spc="-20" dirty="0"/>
              <a:t>INTERATIVOS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60879" y="1494789"/>
            <a:ext cx="56762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7375E"/>
                </a:solidFill>
                <a:latin typeface="Calibri"/>
                <a:cs typeface="Calibri"/>
              </a:rPr>
              <a:t>DESIGN</a:t>
            </a:r>
            <a:r>
              <a:rPr sz="3200" b="1" spc="-7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7375E"/>
                </a:solidFill>
                <a:latin typeface="Calibri"/>
                <a:cs typeface="Calibri"/>
              </a:rPr>
              <a:t>CENTRADO</a:t>
            </a:r>
            <a:r>
              <a:rPr sz="3200" b="1" spc="-6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7375E"/>
                </a:solidFill>
                <a:latin typeface="Calibri"/>
                <a:cs typeface="Calibri"/>
              </a:rPr>
              <a:t>NO</a:t>
            </a:r>
            <a:r>
              <a:rPr sz="3200" b="1" spc="-6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7375E"/>
                </a:solidFill>
                <a:latin typeface="Calibri"/>
                <a:cs typeface="Calibri"/>
              </a:rPr>
              <a:t>HUMANO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2998" y="2560446"/>
            <a:ext cx="1088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HOMEM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30633" y="2477998"/>
            <a:ext cx="2959735" cy="629920"/>
            <a:chOff x="2930633" y="2477998"/>
            <a:chExt cx="2959735" cy="6299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0633" y="2500699"/>
              <a:ext cx="2959645" cy="6069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55035" y="2502407"/>
              <a:ext cx="2915920" cy="562610"/>
            </a:xfrm>
            <a:custGeom>
              <a:avLst/>
              <a:gdLst/>
              <a:ahLst/>
              <a:cxnLst/>
              <a:rect l="l" t="t" r="r" b="b"/>
              <a:pathLst>
                <a:path w="2915920" h="562610">
                  <a:moveTo>
                    <a:pt x="2634234" y="0"/>
                  </a:moveTo>
                  <a:lnTo>
                    <a:pt x="2634234" y="140588"/>
                  </a:lnTo>
                  <a:lnTo>
                    <a:pt x="281177" y="140588"/>
                  </a:lnTo>
                  <a:lnTo>
                    <a:pt x="281177" y="0"/>
                  </a:lnTo>
                  <a:lnTo>
                    <a:pt x="0" y="281177"/>
                  </a:lnTo>
                  <a:lnTo>
                    <a:pt x="281177" y="562355"/>
                  </a:lnTo>
                  <a:lnTo>
                    <a:pt x="281177" y="421766"/>
                  </a:lnTo>
                  <a:lnTo>
                    <a:pt x="2634234" y="421766"/>
                  </a:lnTo>
                  <a:lnTo>
                    <a:pt x="2634234" y="562355"/>
                  </a:lnTo>
                  <a:lnTo>
                    <a:pt x="2915412" y="281177"/>
                  </a:lnTo>
                  <a:lnTo>
                    <a:pt x="263423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9291" y="2477998"/>
              <a:ext cx="1847088" cy="5959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0083" y="2528303"/>
              <a:ext cx="1363980" cy="5608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6535" y="2502407"/>
              <a:ext cx="1757172" cy="50596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526535" y="2502407"/>
              <a:ext cx="1757680" cy="506095"/>
            </a:xfrm>
            <a:custGeom>
              <a:avLst/>
              <a:gdLst/>
              <a:ahLst/>
              <a:cxnLst/>
              <a:rect l="l" t="t" r="r" b="b"/>
              <a:pathLst>
                <a:path w="1757679" h="506094">
                  <a:moveTo>
                    <a:pt x="0" y="252983"/>
                  </a:moveTo>
                  <a:lnTo>
                    <a:pt x="11498" y="211953"/>
                  </a:lnTo>
                  <a:lnTo>
                    <a:pt x="44787" y="173028"/>
                  </a:lnTo>
                  <a:lnTo>
                    <a:pt x="98059" y="136731"/>
                  </a:lnTo>
                  <a:lnTo>
                    <a:pt x="169505" y="103583"/>
                  </a:lnTo>
                  <a:lnTo>
                    <a:pt x="211478" y="88352"/>
                  </a:lnTo>
                  <a:lnTo>
                    <a:pt x="257317" y="74104"/>
                  </a:lnTo>
                  <a:lnTo>
                    <a:pt x="306796" y="60904"/>
                  </a:lnTo>
                  <a:lnTo>
                    <a:pt x="359688" y="48816"/>
                  </a:lnTo>
                  <a:lnTo>
                    <a:pt x="415767" y="37907"/>
                  </a:lnTo>
                  <a:lnTo>
                    <a:pt x="474808" y="28241"/>
                  </a:lnTo>
                  <a:lnTo>
                    <a:pt x="536584" y="19883"/>
                  </a:lnTo>
                  <a:lnTo>
                    <a:pt x="600870" y="12899"/>
                  </a:lnTo>
                  <a:lnTo>
                    <a:pt x="667439" y="7353"/>
                  </a:lnTo>
                  <a:lnTo>
                    <a:pt x="736065" y="3311"/>
                  </a:lnTo>
                  <a:lnTo>
                    <a:pt x="806523" y="838"/>
                  </a:lnTo>
                  <a:lnTo>
                    <a:pt x="878586" y="0"/>
                  </a:lnTo>
                  <a:lnTo>
                    <a:pt x="950648" y="838"/>
                  </a:lnTo>
                  <a:lnTo>
                    <a:pt x="1021106" y="3311"/>
                  </a:lnTo>
                  <a:lnTo>
                    <a:pt x="1089732" y="7353"/>
                  </a:lnTo>
                  <a:lnTo>
                    <a:pt x="1156301" y="12899"/>
                  </a:lnTo>
                  <a:lnTo>
                    <a:pt x="1220587" y="19883"/>
                  </a:lnTo>
                  <a:lnTo>
                    <a:pt x="1282363" y="28241"/>
                  </a:lnTo>
                  <a:lnTo>
                    <a:pt x="1341404" y="37907"/>
                  </a:lnTo>
                  <a:lnTo>
                    <a:pt x="1397483" y="48816"/>
                  </a:lnTo>
                  <a:lnTo>
                    <a:pt x="1450375" y="60904"/>
                  </a:lnTo>
                  <a:lnTo>
                    <a:pt x="1499854" y="74104"/>
                  </a:lnTo>
                  <a:lnTo>
                    <a:pt x="1545693" y="88352"/>
                  </a:lnTo>
                  <a:lnTo>
                    <a:pt x="1587666" y="103583"/>
                  </a:lnTo>
                  <a:lnTo>
                    <a:pt x="1625548" y="119731"/>
                  </a:lnTo>
                  <a:lnTo>
                    <a:pt x="1688133" y="154519"/>
                  </a:lnTo>
                  <a:lnTo>
                    <a:pt x="1731640" y="192195"/>
                  </a:lnTo>
                  <a:lnTo>
                    <a:pt x="1754259" y="232237"/>
                  </a:lnTo>
                  <a:lnTo>
                    <a:pt x="1757172" y="252983"/>
                  </a:lnTo>
                  <a:lnTo>
                    <a:pt x="1754259" y="273730"/>
                  </a:lnTo>
                  <a:lnTo>
                    <a:pt x="1731640" y="313772"/>
                  </a:lnTo>
                  <a:lnTo>
                    <a:pt x="1688133" y="351448"/>
                  </a:lnTo>
                  <a:lnTo>
                    <a:pt x="1625548" y="386236"/>
                  </a:lnTo>
                  <a:lnTo>
                    <a:pt x="1587666" y="402384"/>
                  </a:lnTo>
                  <a:lnTo>
                    <a:pt x="1545693" y="417615"/>
                  </a:lnTo>
                  <a:lnTo>
                    <a:pt x="1499854" y="431863"/>
                  </a:lnTo>
                  <a:lnTo>
                    <a:pt x="1450375" y="445063"/>
                  </a:lnTo>
                  <a:lnTo>
                    <a:pt x="1397483" y="457151"/>
                  </a:lnTo>
                  <a:lnTo>
                    <a:pt x="1341404" y="468060"/>
                  </a:lnTo>
                  <a:lnTo>
                    <a:pt x="1282363" y="477726"/>
                  </a:lnTo>
                  <a:lnTo>
                    <a:pt x="1220587" y="486084"/>
                  </a:lnTo>
                  <a:lnTo>
                    <a:pt x="1156301" y="493068"/>
                  </a:lnTo>
                  <a:lnTo>
                    <a:pt x="1089732" y="498614"/>
                  </a:lnTo>
                  <a:lnTo>
                    <a:pt x="1021106" y="502656"/>
                  </a:lnTo>
                  <a:lnTo>
                    <a:pt x="950648" y="505129"/>
                  </a:lnTo>
                  <a:lnTo>
                    <a:pt x="878586" y="505967"/>
                  </a:lnTo>
                  <a:lnTo>
                    <a:pt x="806523" y="505129"/>
                  </a:lnTo>
                  <a:lnTo>
                    <a:pt x="736065" y="502656"/>
                  </a:lnTo>
                  <a:lnTo>
                    <a:pt x="667439" y="498614"/>
                  </a:lnTo>
                  <a:lnTo>
                    <a:pt x="600870" y="493068"/>
                  </a:lnTo>
                  <a:lnTo>
                    <a:pt x="536584" y="486084"/>
                  </a:lnTo>
                  <a:lnTo>
                    <a:pt x="474808" y="477726"/>
                  </a:lnTo>
                  <a:lnTo>
                    <a:pt x="415767" y="468060"/>
                  </a:lnTo>
                  <a:lnTo>
                    <a:pt x="359688" y="457151"/>
                  </a:lnTo>
                  <a:lnTo>
                    <a:pt x="306796" y="445063"/>
                  </a:lnTo>
                  <a:lnTo>
                    <a:pt x="257317" y="431863"/>
                  </a:lnTo>
                  <a:lnTo>
                    <a:pt x="211478" y="417615"/>
                  </a:lnTo>
                  <a:lnTo>
                    <a:pt x="169505" y="402384"/>
                  </a:lnTo>
                  <a:lnTo>
                    <a:pt x="131623" y="386236"/>
                  </a:lnTo>
                  <a:lnTo>
                    <a:pt x="69038" y="351448"/>
                  </a:lnTo>
                  <a:lnTo>
                    <a:pt x="25531" y="313772"/>
                  </a:lnTo>
                  <a:lnTo>
                    <a:pt x="2912" y="273730"/>
                  </a:lnTo>
                  <a:lnTo>
                    <a:pt x="0" y="25298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08370" y="2561971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COMPUTADOR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9" name="object 19"/>
          <p:cNvSpPr txBox="1"/>
          <p:nvPr/>
        </p:nvSpPr>
        <p:spPr>
          <a:xfrm>
            <a:off x="3888104" y="2590927"/>
            <a:ext cx="1034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F243E"/>
                </a:solidFill>
                <a:latin typeface="Calibri"/>
                <a:cs typeface="Calibri"/>
              </a:rPr>
              <a:t>INTERFACE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1868" y="3777742"/>
            <a:ext cx="7883525" cy="232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CENTRADO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SIGNIFICA: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39"/>
              </a:spcBef>
            </a:pP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Pensar</a:t>
            </a:r>
            <a:r>
              <a:rPr sz="2000" cap="small" spc="6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no</a:t>
            </a:r>
            <a:r>
              <a:rPr sz="2000" cap="small" spc="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que</a:t>
            </a:r>
            <a:r>
              <a:rPr sz="2000" cap="small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as</a:t>
            </a:r>
            <a:r>
              <a:rPr sz="2000" cap="small" spc="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pessoas</a:t>
            </a:r>
            <a:r>
              <a:rPr sz="2000" cap="small" spc="4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querem</a:t>
            </a:r>
            <a:r>
              <a:rPr sz="2000" cap="small" spc="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fazer</a:t>
            </a:r>
            <a:r>
              <a:rPr sz="2000" cap="small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ao</a:t>
            </a:r>
            <a:r>
              <a:rPr sz="2000" cap="small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invés</a:t>
            </a:r>
            <a:r>
              <a:rPr sz="2000" cap="small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do</a:t>
            </a:r>
            <a:r>
              <a:rPr sz="2000" cap="small" spc="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que</a:t>
            </a:r>
            <a:r>
              <a:rPr sz="2000" cap="small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a</a:t>
            </a:r>
            <a:r>
              <a:rPr sz="2000" cap="small" spc="3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tecnologia</a:t>
            </a:r>
            <a:r>
              <a:rPr sz="2000" cap="small" spc="6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pode</a:t>
            </a:r>
            <a:r>
              <a:rPr sz="2000" cap="small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spc="-10" dirty="0">
                <a:solidFill>
                  <a:srgbClr val="0F243E"/>
                </a:solidFill>
                <a:latin typeface="Calibri"/>
                <a:cs typeface="Calibri"/>
              </a:rPr>
              <a:t>fazer</a:t>
            </a:r>
            <a:endParaRPr sz="20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200"/>
              </a:spcBef>
            </a:pPr>
            <a:r>
              <a:rPr sz="2000" cap="small" spc="-20" dirty="0">
                <a:solidFill>
                  <a:srgbClr val="0F243E"/>
                </a:solidFill>
                <a:latin typeface="Calibri"/>
                <a:cs typeface="Calibri"/>
              </a:rPr>
              <a:t>Projetar</a:t>
            </a:r>
            <a:r>
              <a:rPr sz="2000" cap="small" spc="1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novas</a:t>
            </a:r>
            <a:r>
              <a:rPr sz="2000" cap="small" spc="1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maneiras</a:t>
            </a:r>
            <a:r>
              <a:rPr sz="2000" cap="small" spc="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de</a:t>
            </a:r>
            <a:r>
              <a:rPr sz="2000" cap="small" spc="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spc="-10" dirty="0">
                <a:solidFill>
                  <a:srgbClr val="0F243E"/>
                </a:solidFill>
                <a:latin typeface="Calibri"/>
                <a:cs typeface="Calibri"/>
              </a:rPr>
              <a:t>conectar pessoas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000" cap="small" spc="-10" dirty="0">
                <a:solidFill>
                  <a:srgbClr val="0F243E"/>
                </a:solidFill>
                <a:latin typeface="Calibri"/>
                <a:cs typeface="Calibri"/>
              </a:rPr>
              <a:t>Envolver</a:t>
            </a:r>
            <a:r>
              <a:rPr sz="2000" cap="small" spc="6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as</a:t>
            </a:r>
            <a:r>
              <a:rPr sz="2000" cap="small" spc="2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pessoas</a:t>
            </a:r>
            <a:r>
              <a:rPr sz="2000" cap="small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no</a:t>
            </a:r>
            <a:r>
              <a:rPr sz="2000" cap="small" spc="3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processo</a:t>
            </a:r>
            <a:r>
              <a:rPr sz="2000" cap="small" spc="4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de</a:t>
            </a:r>
            <a:r>
              <a:rPr sz="2000" cap="small" spc="2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spc="-10" dirty="0">
                <a:solidFill>
                  <a:srgbClr val="0F243E"/>
                </a:solidFill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1200"/>
              </a:spcBef>
            </a:pPr>
            <a:r>
              <a:rPr sz="2000" cap="small" spc="-10" dirty="0">
                <a:solidFill>
                  <a:srgbClr val="0F243E"/>
                </a:solidFill>
                <a:latin typeface="Calibri"/>
                <a:cs typeface="Calibri"/>
              </a:rPr>
              <a:t>Projetar</a:t>
            </a:r>
            <a:r>
              <a:rPr sz="2000" cap="small" spc="1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para</a:t>
            </a:r>
            <a:r>
              <a:rPr sz="2000" cap="small" spc="-20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dirty="0">
                <a:solidFill>
                  <a:srgbClr val="0F243E"/>
                </a:solidFill>
                <a:latin typeface="Calibri"/>
                <a:cs typeface="Calibri"/>
              </a:rPr>
              <a:t>a</a:t>
            </a:r>
            <a:r>
              <a:rPr sz="2000" cap="small" spc="-15" dirty="0">
                <a:solidFill>
                  <a:srgbClr val="0F243E"/>
                </a:solidFill>
                <a:latin typeface="Calibri"/>
                <a:cs typeface="Calibri"/>
              </a:rPr>
              <a:t> </a:t>
            </a:r>
            <a:r>
              <a:rPr sz="2000" cap="small" spc="-10" dirty="0">
                <a:solidFill>
                  <a:srgbClr val="0F243E"/>
                </a:solidFill>
                <a:latin typeface="Calibri"/>
                <a:cs typeface="Calibri"/>
              </a:rPr>
              <a:t>diversidade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992D2F7-B30D-1E5A-CF4E-8850B081F06C}"/>
              </a:ext>
            </a:extLst>
          </p:cNvPr>
          <p:cNvSpPr/>
          <p:nvPr/>
        </p:nvSpPr>
        <p:spPr>
          <a:xfrm>
            <a:off x="987624" y="757847"/>
            <a:ext cx="6847838" cy="415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de software x engenharia de software</a:t>
            </a:r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13B6ACEA-DD85-584D-9A13-7B97C6E27364}"/>
              </a:ext>
            </a:extLst>
          </p:cNvPr>
          <p:cNvSpPr/>
          <p:nvPr/>
        </p:nvSpPr>
        <p:spPr>
          <a:xfrm>
            <a:off x="1618733" y="3436757"/>
            <a:ext cx="40974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09D588C6-B8A1-9966-BA57-88444CBDB1CD}"/>
              </a:ext>
            </a:extLst>
          </p:cNvPr>
          <p:cNvSpPr/>
          <p:nvPr/>
        </p:nvSpPr>
        <p:spPr>
          <a:xfrm>
            <a:off x="3436457" y="3427464"/>
            <a:ext cx="40974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E12F6FE8-1B27-DD98-1ADF-35C4CD684440}"/>
              </a:ext>
            </a:extLst>
          </p:cNvPr>
          <p:cNvSpPr/>
          <p:nvPr/>
        </p:nvSpPr>
        <p:spPr>
          <a:xfrm>
            <a:off x="5254181" y="3418171"/>
            <a:ext cx="453360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0F6F98A-F9C3-2AD4-CDB3-2BEBB038D765}"/>
              </a:ext>
            </a:extLst>
          </p:cNvPr>
          <p:cNvSpPr txBox="1"/>
          <p:nvPr/>
        </p:nvSpPr>
        <p:spPr>
          <a:xfrm>
            <a:off x="500395" y="4610688"/>
            <a:ext cx="78909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Abrange todo o ciclo de vida do software, desde a concepção até a entrega, manutenção e evolução do sistema.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FEA5DCF-52C1-12A3-8260-A7E355F4E68B}"/>
              </a:ext>
            </a:extLst>
          </p:cNvPr>
          <p:cNvSpPr txBox="1"/>
          <p:nvPr/>
        </p:nvSpPr>
        <p:spPr>
          <a:xfrm>
            <a:off x="466066" y="1690066"/>
            <a:ext cx="78909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engenharia de software </a:t>
            </a:r>
            <a:r>
              <a:rPr kumimoji="0" lang="pt-BR" sz="20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 uma disciplina que se concentra na aplicação de princípios científicos e técnicas para o desenvolvimento de software de alta qualidade e confiabilidade. </a:t>
            </a:r>
          </a:p>
        </p:txBody>
      </p:sp>
      <p:sp>
        <p:nvSpPr>
          <p:cNvPr id="45" name="Seta: para a Direita 44">
            <a:extLst>
              <a:ext uri="{FF2B5EF4-FFF2-40B4-BE49-F238E27FC236}">
                <a16:creationId xmlns:a16="http://schemas.microsoft.com/office/drawing/2014/main" id="{CC74ED81-DBD7-24BF-ADAF-896A04F3795D}"/>
              </a:ext>
            </a:extLst>
          </p:cNvPr>
          <p:cNvSpPr/>
          <p:nvPr/>
        </p:nvSpPr>
        <p:spPr>
          <a:xfrm>
            <a:off x="7071905" y="3418171"/>
            <a:ext cx="453360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A67A9E7-5144-B012-73F2-896DA9D5722A}"/>
              </a:ext>
            </a:extLst>
          </p:cNvPr>
          <p:cNvSpPr/>
          <p:nvPr/>
        </p:nvSpPr>
        <p:spPr>
          <a:xfrm>
            <a:off x="254371" y="3084629"/>
            <a:ext cx="1450038" cy="1008564"/>
          </a:xfrm>
          <a:prstGeom prst="roundRect">
            <a:avLst>
              <a:gd name="adj" fmla="val 797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Entendimento do Problema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(Engenharia de requisitos)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F040CFC-26B5-2101-2C36-8ECB171CBFD3}"/>
              </a:ext>
            </a:extLst>
          </p:cNvPr>
          <p:cNvSpPr/>
          <p:nvPr/>
        </p:nvSpPr>
        <p:spPr>
          <a:xfrm>
            <a:off x="2072095" y="3093303"/>
            <a:ext cx="1450038" cy="1008564"/>
          </a:xfrm>
          <a:prstGeom prst="roundRect">
            <a:avLst>
              <a:gd name="adj" fmla="val 1231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Planejamento da Solução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(Modelagem e Projeto)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5B7C05D-CEDC-E97B-1F6F-763C875B9C35}"/>
              </a:ext>
            </a:extLst>
          </p:cNvPr>
          <p:cNvSpPr/>
          <p:nvPr/>
        </p:nvSpPr>
        <p:spPr>
          <a:xfrm>
            <a:off x="3889819" y="3084629"/>
            <a:ext cx="1450038" cy="1008564"/>
          </a:xfrm>
          <a:prstGeom prst="roundRect">
            <a:avLst>
              <a:gd name="adj" fmla="val 9058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Execução do Plano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(Geração de Código)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57967B9-F96B-7004-6FF3-2DB10811C9EA}"/>
              </a:ext>
            </a:extLst>
          </p:cNvPr>
          <p:cNvSpPr/>
          <p:nvPr/>
        </p:nvSpPr>
        <p:spPr>
          <a:xfrm>
            <a:off x="5707543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Exame do Resultado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(Teste e Validação)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89DF6B42-5D03-D3C9-20D0-29F2757FA468}"/>
              </a:ext>
            </a:extLst>
          </p:cNvPr>
          <p:cNvSpPr/>
          <p:nvPr/>
        </p:nvSpPr>
        <p:spPr>
          <a:xfrm>
            <a:off x="7525265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Entrega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(Implantação, Manutenção e Evolução)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64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42" grpId="0"/>
      <p:bldP spid="45" grpId="0" animBg="1"/>
      <p:bldP spid="11" grpId="0" animBg="1"/>
      <p:bldP spid="12" grpId="0" animBg="1"/>
      <p:bldP spid="13" grpId="0" animBg="1"/>
      <p:bldP spid="14" grpId="0" animBg="1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370F3ECD-2426-3DC7-7D24-CF3A2725EC72}"/>
              </a:ext>
            </a:extLst>
          </p:cNvPr>
          <p:cNvSpPr/>
          <p:nvPr/>
        </p:nvSpPr>
        <p:spPr>
          <a:xfrm>
            <a:off x="1704409" y="3436757"/>
            <a:ext cx="324068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39CAFE2B-1B94-31A9-E6DB-76AC5311E0AF}"/>
              </a:ext>
            </a:extLst>
          </p:cNvPr>
          <p:cNvSpPr/>
          <p:nvPr/>
        </p:nvSpPr>
        <p:spPr>
          <a:xfrm>
            <a:off x="3522133" y="3427464"/>
            <a:ext cx="324068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D8471C6D-F4C9-EC95-21D0-070B983FE5BF}"/>
              </a:ext>
            </a:extLst>
          </p:cNvPr>
          <p:cNvSpPr/>
          <p:nvPr/>
        </p:nvSpPr>
        <p:spPr>
          <a:xfrm>
            <a:off x="5348977" y="3418171"/>
            <a:ext cx="35856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F20E8E97-5D11-7D78-06FB-2BAA537B5D56}"/>
              </a:ext>
            </a:extLst>
          </p:cNvPr>
          <p:cNvSpPr/>
          <p:nvPr/>
        </p:nvSpPr>
        <p:spPr>
          <a:xfrm>
            <a:off x="7166701" y="3418171"/>
            <a:ext cx="35856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2A84DF3-CEB7-9B59-C326-4E19E7B02FC1}"/>
              </a:ext>
            </a:extLst>
          </p:cNvPr>
          <p:cNvSpPr/>
          <p:nvPr/>
        </p:nvSpPr>
        <p:spPr>
          <a:xfrm>
            <a:off x="254371" y="3084629"/>
            <a:ext cx="1450038" cy="1008564"/>
          </a:xfrm>
          <a:prstGeom prst="roundRect">
            <a:avLst>
              <a:gd name="adj" fmla="val 797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Entendimento do Problema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(Engenharia de requisitos)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FF5371F-908B-25E8-1F54-29E6A1B7117A}"/>
              </a:ext>
            </a:extLst>
          </p:cNvPr>
          <p:cNvSpPr/>
          <p:nvPr/>
        </p:nvSpPr>
        <p:spPr>
          <a:xfrm>
            <a:off x="2072095" y="3093303"/>
            <a:ext cx="1450038" cy="1008564"/>
          </a:xfrm>
          <a:prstGeom prst="roundRect">
            <a:avLst>
              <a:gd name="adj" fmla="val 1231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Planejamento da Solução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(Modelagem e Projeto)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1C7830F-D078-8F09-E635-FFFD336CBA78}"/>
              </a:ext>
            </a:extLst>
          </p:cNvPr>
          <p:cNvSpPr/>
          <p:nvPr/>
        </p:nvSpPr>
        <p:spPr>
          <a:xfrm>
            <a:off x="3889819" y="3084629"/>
            <a:ext cx="1450038" cy="1008564"/>
          </a:xfrm>
          <a:prstGeom prst="roundRect">
            <a:avLst>
              <a:gd name="adj" fmla="val 9058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Execução do Plano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(Geração de Código)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B3EE0921-BB1E-2315-3A35-9F34881B8405}"/>
              </a:ext>
            </a:extLst>
          </p:cNvPr>
          <p:cNvSpPr/>
          <p:nvPr/>
        </p:nvSpPr>
        <p:spPr>
          <a:xfrm>
            <a:off x="5707543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Exame do Resultado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(Teste e Validação)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B286BA0-A37C-E831-FD65-AD89506BD20B}"/>
              </a:ext>
            </a:extLst>
          </p:cNvPr>
          <p:cNvSpPr/>
          <p:nvPr/>
        </p:nvSpPr>
        <p:spPr>
          <a:xfrm>
            <a:off x="7525265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Entrega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(Implantação e Manutenção)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992D2F7-B30D-1E5A-CF4E-8850B081F06C}"/>
              </a:ext>
            </a:extLst>
          </p:cNvPr>
          <p:cNvSpPr/>
          <p:nvPr/>
        </p:nvSpPr>
        <p:spPr>
          <a:xfrm>
            <a:off x="987624" y="757847"/>
            <a:ext cx="6847838" cy="415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de software x engenharia de software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4393224-3C55-A844-655F-1AE9DBC52245}"/>
              </a:ext>
            </a:extLst>
          </p:cNvPr>
          <p:cNvSpPr/>
          <p:nvPr/>
        </p:nvSpPr>
        <p:spPr>
          <a:xfrm>
            <a:off x="1855565" y="1813723"/>
            <a:ext cx="1889108" cy="2585545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E3C4FCC-6F9F-A04D-205C-5288F4E5BEE0}"/>
              </a:ext>
            </a:extLst>
          </p:cNvPr>
          <p:cNvSpPr txBox="1"/>
          <p:nvPr/>
        </p:nvSpPr>
        <p:spPr>
          <a:xfrm>
            <a:off x="4133767" y="1662509"/>
            <a:ext cx="20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Modularidade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408A92E-7E8C-60CC-318C-5F47F3ADB884}"/>
              </a:ext>
            </a:extLst>
          </p:cNvPr>
          <p:cNvSpPr txBox="1"/>
          <p:nvPr/>
        </p:nvSpPr>
        <p:spPr>
          <a:xfrm>
            <a:off x="4481076" y="2386557"/>
            <a:ext cx="20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Modelagem ..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3FA003B-8076-54FE-FE33-0A9BFA37CB6C}"/>
              </a:ext>
            </a:extLst>
          </p:cNvPr>
          <p:cNvSpPr txBox="1"/>
          <p:nvPr/>
        </p:nvSpPr>
        <p:spPr>
          <a:xfrm>
            <a:off x="4278913" y="2017225"/>
            <a:ext cx="20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Arquitetura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3821E7E7-9660-158D-A1E7-BCCE3EF1B48A}"/>
              </a:ext>
            </a:extLst>
          </p:cNvPr>
          <p:cNvCxnSpPr>
            <a:cxnSpLocks/>
          </p:cNvCxnSpPr>
          <p:nvPr/>
        </p:nvCxnSpPr>
        <p:spPr>
          <a:xfrm flipV="1">
            <a:off x="3744673" y="2218673"/>
            <a:ext cx="961621" cy="21045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DAA6BA-4349-4EB4-2D0F-9F2E21D1481E}"/>
              </a:ext>
            </a:extLst>
          </p:cNvPr>
          <p:cNvSpPr txBox="1"/>
          <p:nvPr/>
        </p:nvSpPr>
        <p:spPr>
          <a:xfrm>
            <a:off x="2001189" y="1815251"/>
            <a:ext cx="1617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small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Visão tradicional do papel do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small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de Software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44C0BFB-2373-D080-5865-57A9B3241111}"/>
              </a:ext>
            </a:extLst>
          </p:cNvPr>
          <p:cNvSpPr txBox="1"/>
          <p:nvPr/>
        </p:nvSpPr>
        <p:spPr>
          <a:xfrm>
            <a:off x="6222975" y="1521951"/>
            <a:ext cx="29130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 abordagem técnica de planejamento da construção, que pressupõe o entendimento prévio do problema e a concepção de uma solução conceitual !</a:t>
            </a:r>
          </a:p>
        </p:txBody>
      </p:sp>
    </p:spTree>
    <p:extLst>
      <p:ext uri="{BB962C8B-B14F-4D97-AF65-F5344CB8AC3E}">
        <p14:creationId xmlns:p14="http://schemas.microsoft.com/office/powerpoint/2010/main" val="106021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1" grpId="0" animBg="1"/>
      <p:bldP spid="42" grpId="0" animBg="1"/>
      <p:bldP spid="18" grpId="0" animBg="1"/>
      <p:bldP spid="20" grpId="0"/>
      <p:bldP spid="21" grpId="0"/>
      <p:bldP spid="22" grpId="0"/>
      <p:bldP spid="19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2D36545-95D5-1823-9330-B512E5F18ED0}"/>
              </a:ext>
            </a:extLst>
          </p:cNvPr>
          <p:cNvSpPr/>
          <p:nvPr/>
        </p:nvSpPr>
        <p:spPr>
          <a:xfrm>
            <a:off x="1479437" y="5943600"/>
            <a:ext cx="1524000" cy="31036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370F3ECD-2426-3DC7-7D24-CF3A2725EC72}"/>
              </a:ext>
            </a:extLst>
          </p:cNvPr>
          <p:cNvSpPr/>
          <p:nvPr/>
        </p:nvSpPr>
        <p:spPr>
          <a:xfrm>
            <a:off x="1618733" y="3436757"/>
            <a:ext cx="40974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39CAFE2B-1B94-31A9-E6DB-76AC5311E0AF}"/>
              </a:ext>
            </a:extLst>
          </p:cNvPr>
          <p:cNvSpPr/>
          <p:nvPr/>
        </p:nvSpPr>
        <p:spPr>
          <a:xfrm>
            <a:off x="3436457" y="3427464"/>
            <a:ext cx="40974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D8471C6D-F4C9-EC95-21D0-070B983FE5BF}"/>
              </a:ext>
            </a:extLst>
          </p:cNvPr>
          <p:cNvSpPr/>
          <p:nvPr/>
        </p:nvSpPr>
        <p:spPr>
          <a:xfrm>
            <a:off x="5339857" y="3418171"/>
            <a:ext cx="367684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F20E8E97-5D11-7D78-06FB-2BAA537B5D56}"/>
              </a:ext>
            </a:extLst>
          </p:cNvPr>
          <p:cNvSpPr/>
          <p:nvPr/>
        </p:nvSpPr>
        <p:spPr>
          <a:xfrm>
            <a:off x="7071905" y="3418171"/>
            <a:ext cx="453360" cy="31791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2A84DF3-CEB7-9B59-C326-4E19E7B02FC1}"/>
              </a:ext>
            </a:extLst>
          </p:cNvPr>
          <p:cNvSpPr/>
          <p:nvPr/>
        </p:nvSpPr>
        <p:spPr>
          <a:xfrm>
            <a:off x="254371" y="3084629"/>
            <a:ext cx="1450038" cy="1008564"/>
          </a:xfrm>
          <a:prstGeom prst="roundRect">
            <a:avLst>
              <a:gd name="adj" fmla="val 797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Entendimento do Problema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(Engenharia de requisitos)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FF5371F-908B-25E8-1F54-29E6A1B7117A}"/>
              </a:ext>
            </a:extLst>
          </p:cNvPr>
          <p:cNvSpPr/>
          <p:nvPr/>
        </p:nvSpPr>
        <p:spPr>
          <a:xfrm>
            <a:off x="2072095" y="3093303"/>
            <a:ext cx="1450038" cy="1008564"/>
          </a:xfrm>
          <a:prstGeom prst="roundRect">
            <a:avLst>
              <a:gd name="adj" fmla="val 1231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Planejamento da Solução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(Modelagem e Projeto)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1C7830F-D078-8F09-E635-FFFD336CBA78}"/>
              </a:ext>
            </a:extLst>
          </p:cNvPr>
          <p:cNvSpPr/>
          <p:nvPr/>
        </p:nvSpPr>
        <p:spPr>
          <a:xfrm>
            <a:off x="3889819" y="3084629"/>
            <a:ext cx="1450038" cy="1008564"/>
          </a:xfrm>
          <a:prstGeom prst="roundRect">
            <a:avLst>
              <a:gd name="adj" fmla="val 9058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Execução do Plano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(Geração de Código)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B3EE0921-BB1E-2315-3A35-9F34881B8405}"/>
              </a:ext>
            </a:extLst>
          </p:cNvPr>
          <p:cNvSpPr/>
          <p:nvPr/>
        </p:nvSpPr>
        <p:spPr>
          <a:xfrm>
            <a:off x="5707543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Exame do Resultado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(Teste e Validação)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B286BA0-A37C-E831-FD65-AD89506BD20B}"/>
              </a:ext>
            </a:extLst>
          </p:cNvPr>
          <p:cNvSpPr/>
          <p:nvPr/>
        </p:nvSpPr>
        <p:spPr>
          <a:xfrm>
            <a:off x="7525265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Entrega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(Implantação e Manutenção)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992D2F7-B30D-1E5A-CF4E-8850B081F06C}"/>
              </a:ext>
            </a:extLst>
          </p:cNvPr>
          <p:cNvSpPr/>
          <p:nvPr/>
        </p:nvSpPr>
        <p:spPr>
          <a:xfrm>
            <a:off x="987624" y="757847"/>
            <a:ext cx="6847838" cy="415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de software x engenharia de software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21D86B-1AE7-D328-743D-71B331F3A283}"/>
              </a:ext>
            </a:extLst>
          </p:cNvPr>
          <p:cNvSpPr/>
          <p:nvPr/>
        </p:nvSpPr>
        <p:spPr>
          <a:xfrm>
            <a:off x="114049" y="2822027"/>
            <a:ext cx="3613938" cy="1876174"/>
          </a:xfrm>
          <a:prstGeom prst="rect">
            <a:avLst/>
          </a:prstGeom>
          <a:noFill/>
          <a:ln w="19050">
            <a:solidFill>
              <a:srgbClr val="F02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8252B3-61B9-CDAE-DE16-4C5ED465F1DC}"/>
              </a:ext>
            </a:extLst>
          </p:cNvPr>
          <p:cNvSpPr txBox="1"/>
          <p:nvPr/>
        </p:nvSpPr>
        <p:spPr>
          <a:xfrm>
            <a:off x="254371" y="4287627"/>
            <a:ext cx="335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rgbClr val="F0265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Visão ampla do papel do Design de Software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164BF73-7776-84E9-78DB-CA1DABBA2BFF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921018" y="2532812"/>
            <a:ext cx="15766" cy="289215"/>
          </a:xfrm>
          <a:prstGeom prst="straightConnector1">
            <a:avLst/>
          </a:prstGeom>
          <a:ln>
            <a:solidFill>
              <a:srgbClr val="F026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0189C9-3599-90A2-4285-B24BFCDD073E}"/>
              </a:ext>
            </a:extLst>
          </p:cNvPr>
          <p:cNvSpPr txBox="1"/>
          <p:nvPr/>
        </p:nvSpPr>
        <p:spPr>
          <a:xfrm>
            <a:off x="807101" y="1888072"/>
            <a:ext cx="2529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Conceitual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644D79-9F3E-A5F4-A3AF-5C95BB3927B9}"/>
              </a:ext>
            </a:extLst>
          </p:cNvPr>
          <p:cNvSpPr txBox="1"/>
          <p:nvPr/>
        </p:nvSpPr>
        <p:spPr>
          <a:xfrm>
            <a:off x="118552" y="5184613"/>
            <a:ext cx="1295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Visual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DC7C7F-97E7-394D-3CB5-6BBACE3D97B3}"/>
              </a:ext>
            </a:extLst>
          </p:cNvPr>
          <p:cNvSpPr txBox="1"/>
          <p:nvPr/>
        </p:nvSpPr>
        <p:spPr>
          <a:xfrm>
            <a:off x="2110281" y="5521286"/>
            <a:ext cx="20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Modelagem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1689040-2361-85DB-67DA-80CB249C747D}"/>
              </a:ext>
            </a:extLst>
          </p:cNvPr>
          <p:cNvSpPr txBox="1"/>
          <p:nvPr/>
        </p:nvSpPr>
        <p:spPr>
          <a:xfrm>
            <a:off x="1414467" y="5203283"/>
            <a:ext cx="20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Arquitetura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F281E0C-C027-A8DE-8246-F1A61F57FED9}"/>
              </a:ext>
            </a:extLst>
          </p:cNvPr>
          <p:cNvSpPr txBox="1"/>
          <p:nvPr/>
        </p:nvSpPr>
        <p:spPr>
          <a:xfrm>
            <a:off x="2110281" y="1477497"/>
            <a:ext cx="2089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Levantamento de Requisitos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FD4EDA-CDF7-0C7E-BFEF-E12BA64B72B2}"/>
              </a:ext>
            </a:extLst>
          </p:cNvPr>
          <p:cNvSpPr txBox="1"/>
          <p:nvPr/>
        </p:nvSpPr>
        <p:spPr>
          <a:xfrm>
            <a:off x="-319307" y="1530430"/>
            <a:ext cx="2347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Entendimento do problema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F2A094D-1A80-F212-B3EF-8F40EAC7745D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704409" y="4698201"/>
            <a:ext cx="216609" cy="629369"/>
          </a:xfrm>
          <a:prstGeom prst="straightConnector1">
            <a:avLst/>
          </a:prstGeom>
          <a:ln>
            <a:solidFill>
              <a:srgbClr val="F026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B773A3-8B05-35D4-2284-75AEFA96931E}"/>
              </a:ext>
            </a:extLst>
          </p:cNvPr>
          <p:cNvSpPr txBox="1"/>
          <p:nvPr/>
        </p:nvSpPr>
        <p:spPr>
          <a:xfrm>
            <a:off x="982058" y="5530082"/>
            <a:ext cx="1122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UX Design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03F5CA6-E55C-84C0-8964-2EEA04555A76}"/>
              </a:ext>
            </a:extLst>
          </p:cNvPr>
          <p:cNvSpPr/>
          <p:nvPr/>
        </p:nvSpPr>
        <p:spPr>
          <a:xfrm>
            <a:off x="5501689" y="2819392"/>
            <a:ext cx="1850581" cy="1876174"/>
          </a:xfrm>
          <a:prstGeom prst="rect">
            <a:avLst/>
          </a:prstGeom>
          <a:noFill/>
          <a:ln w="19050">
            <a:solidFill>
              <a:srgbClr val="F02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DCA656E-E4A3-1498-8BA0-6E8054C3DEF0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426980" y="4695566"/>
            <a:ext cx="115534" cy="658324"/>
          </a:xfrm>
          <a:prstGeom prst="straightConnector1">
            <a:avLst/>
          </a:prstGeom>
          <a:ln>
            <a:solidFill>
              <a:srgbClr val="F026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92CC700-E658-B8D1-73FE-86DF9D34F504}"/>
              </a:ext>
            </a:extLst>
          </p:cNvPr>
          <p:cNvSpPr txBox="1"/>
          <p:nvPr/>
        </p:nvSpPr>
        <p:spPr>
          <a:xfrm>
            <a:off x="5817195" y="5433956"/>
            <a:ext cx="1912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Validação do Design e da UX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659F1253-A1E1-6692-CB7D-41C3E753D8E2}"/>
              </a:ext>
            </a:extLst>
          </p:cNvPr>
          <p:cNvCxnSpPr>
            <a:cxnSpLocks/>
          </p:cNvCxnSpPr>
          <p:nvPr/>
        </p:nvCxnSpPr>
        <p:spPr>
          <a:xfrm>
            <a:off x="3743753" y="4418518"/>
            <a:ext cx="1757936" cy="0"/>
          </a:xfrm>
          <a:prstGeom prst="straightConnector1">
            <a:avLst/>
          </a:prstGeom>
          <a:ln w="28575">
            <a:solidFill>
              <a:srgbClr val="F0265D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D8865AB-3D84-6212-051A-11A7A62A40B2}"/>
              </a:ext>
            </a:extLst>
          </p:cNvPr>
          <p:cNvSpPr txBox="1"/>
          <p:nvPr/>
        </p:nvSpPr>
        <p:spPr>
          <a:xfrm>
            <a:off x="5590070" y="4287626"/>
            <a:ext cx="1636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small" spc="0" normalizeH="0" baseline="0" noProof="0" dirty="0">
                <a:ln>
                  <a:noFill/>
                </a:ln>
                <a:solidFill>
                  <a:srgbClr val="F0265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Validação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46D0FC2C-A354-26CD-CD92-A013914751E9}"/>
              </a:ext>
            </a:extLst>
          </p:cNvPr>
          <p:cNvSpPr txBox="1"/>
          <p:nvPr/>
        </p:nvSpPr>
        <p:spPr>
          <a:xfrm>
            <a:off x="4411543" y="1352364"/>
            <a:ext cx="4534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small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Entendimento, empatia, design e validação para a criação de uma solução de software com qualidade e capaz de proporcionar uma experiência do usuário impactante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0FE4D77-DAAC-4650-A0EA-18440C2147D5}"/>
              </a:ext>
            </a:extLst>
          </p:cNvPr>
          <p:cNvSpPr txBox="1"/>
          <p:nvPr/>
        </p:nvSpPr>
        <p:spPr>
          <a:xfrm>
            <a:off x="1196833" y="5930876"/>
            <a:ext cx="2089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da IHC</a:t>
            </a:r>
          </a:p>
        </p:txBody>
      </p:sp>
    </p:spTree>
    <p:extLst>
      <p:ext uri="{BB962C8B-B14F-4D97-AF65-F5344CB8AC3E}">
        <p14:creationId xmlns:p14="http://schemas.microsoft.com/office/powerpoint/2010/main" val="391641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6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0" grpId="0" animBg="1"/>
      <p:bldP spid="42" grpId="0" animBg="1"/>
      <p:bldP spid="3" grpId="0" animBg="1"/>
      <p:bldP spid="4" grpId="0"/>
      <p:bldP spid="6" grpId="0"/>
      <p:bldP spid="7" grpId="0"/>
      <p:bldP spid="8" grpId="0"/>
      <p:bldP spid="10" grpId="0"/>
      <p:bldP spid="11" grpId="0"/>
      <p:bldP spid="12" grpId="0"/>
      <p:bldP spid="14" grpId="0"/>
      <p:bldP spid="15" grpId="0" animBg="1"/>
      <p:bldP spid="17" grpId="0"/>
      <p:bldP spid="24" grpId="0"/>
      <p:bldP spid="49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9C8C2-3829-682E-EF57-6D485503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DDE045DF-4F56-2C20-6380-9AF68AA070A3}"/>
              </a:ext>
            </a:extLst>
          </p:cNvPr>
          <p:cNvSpPr/>
          <p:nvPr/>
        </p:nvSpPr>
        <p:spPr>
          <a:xfrm>
            <a:off x="114049" y="2895600"/>
            <a:ext cx="1790951" cy="1445173"/>
          </a:xfrm>
          <a:prstGeom prst="rect">
            <a:avLst/>
          </a:prstGeom>
          <a:solidFill>
            <a:srgbClr val="FFFFFF">
              <a:alpha val="60000"/>
            </a:srgbClr>
          </a:solidFill>
          <a:ln w="19050">
            <a:solidFill>
              <a:srgbClr val="F026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F6B3D8B-34E2-207C-7922-2FC0FFD68129}"/>
              </a:ext>
            </a:extLst>
          </p:cNvPr>
          <p:cNvSpPr/>
          <p:nvPr/>
        </p:nvSpPr>
        <p:spPr>
          <a:xfrm>
            <a:off x="254371" y="3084629"/>
            <a:ext cx="1450038" cy="1008564"/>
          </a:xfrm>
          <a:prstGeom prst="roundRect">
            <a:avLst>
              <a:gd name="adj" fmla="val 797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Entendimento do Problema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(Engenharia de requisitos)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4431011-E512-51A0-A04C-7C9EF3642E29}"/>
              </a:ext>
            </a:extLst>
          </p:cNvPr>
          <p:cNvSpPr/>
          <p:nvPr/>
        </p:nvSpPr>
        <p:spPr>
          <a:xfrm>
            <a:off x="2072095" y="3093303"/>
            <a:ext cx="1450038" cy="1008564"/>
          </a:xfrm>
          <a:prstGeom prst="roundRect">
            <a:avLst>
              <a:gd name="adj" fmla="val 1231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Planejamento da Solução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(Modelagem e Projeto)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8E70DAD-7869-3212-A62C-6C0661B934EC}"/>
              </a:ext>
            </a:extLst>
          </p:cNvPr>
          <p:cNvSpPr/>
          <p:nvPr/>
        </p:nvSpPr>
        <p:spPr>
          <a:xfrm>
            <a:off x="3889819" y="3084629"/>
            <a:ext cx="1450038" cy="1008564"/>
          </a:xfrm>
          <a:prstGeom prst="roundRect">
            <a:avLst>
              <a:gd name="adj" fmla="val 9058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Execução do Plano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(Geração de Código)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94FA860E-4A9E-6435-002F-6250F3596B43}"/>
              </a:ext>
            </a:extLst>
          </p:cNvPr>
          <p:cNvSpPr/>
          <p:nvPr/>
        </p:nvSpPr>
        <p:spPr>
          <a:xfrm>
            <a:off x="5707543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Exame do Resultado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(Teste e Validação)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14EA790C-854E-8CF7-F064-32B8676513C3}"/>
              </a:ext>
            </a:extLst>
          </p:cNvPr>
          <p:cNvSpPr/>
          <p:nvPr/>
        </p:nvSpPr>
        <p:spPr>
          <a:xfrm>
            <a:off x="7525265" y="3084629"/>
            <a:ext cx="1450038" cy="1008564"/>
          </a:xfrm>
          <a:prstGeom prst="roundRect">
            <a:avLst>
              <a:gd name="adj" fmla="val 1340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Entrega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sm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(Implantação e Manutenção)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sm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204267-6235-E619-82C2-A087003FC092}"/>
              </a:ext>
            </a:extLst>
          </p:cNvPr>
          <p:cNvSpPr/>
          <p:nvPr/>
        </p:nvSpPr>
        <p:spPr>
          <a:xfrm>
            <a:off x="987624" y="757847"/>
            <a:ext cx="6847838" cy="415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de software x engenharia de software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DCE5885-D30A-CBC6-DCA4-8E41CFB7D7E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9525" y="4340773"/>
            <a:ext cx="514475" cy="612227"/>
          </a:xfrm>
          <a:prstGeom prst="straightConnector1">
            <a:avLst/>
          </a:prstGeom>
          <a:ln>
            <a:solidFill>
              <a:srgbClr val="F026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05F206-FF82-E025-D31E-3A575F601EE4}"/>
              </a:ext>
            </a:extLst>
          </p:cNvPr>
          <p:cNvSpPr txBox="1"/>
          <p:nvPr/>
        </p:nvSpPr>
        <p:spPr>
          <a:xfrm>
            <a:off x="1266762" y="5031303"/>
            <a:ext cx="200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Etapa “minimizada” nos métodos ágeis</a:t>
            </a:r>
          </a:p>
        </p:txBody>
      </p:sp>
    </p:spTree>
    <p:extLst>
      <p:ext uri="{BB962C8B-B14F-4D97-AF65-F5344CB8AC3E}">
        <p14:creationId xmlns:p14="http://schemas.microsoft.com/office/powerpoint/2010/main" val="54439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0" grpId="0" animBg="1"/>
      <p:bldP spid="42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1774D92-B8F4-421F-ABA2-8EC033AAB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6202" y="2091696"/>
            <a:ext cx="5597376" cy="266311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759FCC0-7FAF-4E2A-8F2E-E64341D1B50E}"/>
              </a:ext>
            </a:extLst>
          </p:cNvPr>
          <p:cNvCxnSpPr>
            <a:cxnSpLocks/>
          </p:cNvCxnSpPr>
          <p:nvPr/>
        </p:nvCxnSpPr>
        <p:spPr>
          <a:xfrm>
            <a:off x="3263743" y="3634529"/>
            <a:ext cx="248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1E48095-AAC4-4EB3-BDA9-940B6FB7054B}"/>
              </a:ext>
            </a:extLst>
          </p:cNvPr>
          <p:cNvSpPr/>
          <p:nvPr/>
        </p:nvSpPr>
        <p:spPr>
          <a:xfrm>
            <a:off x="3496828" y="2838921"/>
            <a:ext cx="697801" cy="15153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FE8DC1C-D759-42BC-B296-4A734E82DA35}"/>
              </a:ext>
            </a:extLst>
          </p:cNvPr>
          <p:cNvSpPr txBox="1"/>
          <p:nvPr/>
        </p:nvSpPr>
        <p:spPr>
          <a:xfrm>
            <a:off x="260406" y="2276156"/>
            <a:ext cx="288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IMERSÃO E IDEAÇÃO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4AC0C8-2D4B-4E36-ACDB-D9791057BE37}"/>
              </a:ext>
            </a:extLst>
          </p:cNvPr>
          <p:cNvSpPr txBox="1"/>
          <p:nvPr/>
        </p:nvSpPr>
        <p:spPr>
          <a:xfrm>
            <a:off x="5257951" y="1681682"/>
            <a:ext cx="2184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scrum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BC86178-7A3E-D528-3446-8C3C2E2888E3}"/>
              </a:ext>
            </a:extLst>
          </p:cNvPr>
          <p:cNvSpPr/>
          <p:nvPr/>
        </p:nvSpPr>
        <p:spPr>
          <a:xfrm>
            <a:off x="161844" y="2212522"/>
            <a:ext cx="3101900" cy="3061442"/>
          </a:xfrm>
          <a:prstGeom prst="roundRect">
            <a:avLst>
              <a:gd name="adj" fmla="val 7505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E78BB7E-0969-EECA-B42D-B29B648B6F71}"/>
              </a:ext>
            </a:extLst>
          </p:cNvPr>
          <p:cNvSpPr txBox="1"/>
          <p:nvPr/>
        </p:nvSpPr>
        <p:spPr>
          <a:xfrm>
            <a:off x="846594" y="719910"/>
            <a:ext cx="8184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IMERSÃO E IDEAÇÃO – APLICANDO DESIGN THINKING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7FFBC6-B8D0-D641-69ED-2652676417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639" t="-54817" r="-4639" b="-54817"/>
          <a:stretch/>
        </p:blipFill>
        <p:spPr>
          <a:xfrm>
            <a:off x="260405" y="2856718"/>
            <a:ext cx="2900880" cy="227025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1411849-101B-6414-4D29-75B4EC158611}"/>
              </a:ext>
            </a:extLst>
          </p:cNvPr>
          <p:cNvSpPr txBox="1"/>
          <p:nvPr/>
        </p:nvSpPr>
        <p:spPr>
          <a:xfrm>
            <a:off x="412956" y="2838921"/>
            <a:ext cx="2537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</a:t>
            </a: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Thinking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7A4E27-4BBE-CAEC-0599-1DCEFC797C45}"/>
              </a:ext>
            </a:extLst>
          </p:cNvPr>
          <p:cNvSpPr txBox="1"/>
          <p:nvPr/>
        </p:nvSpPr>
        <p:spPr>
          <a:xfrm>
            <a:off x="180419" y="4585530"/>
            <a:ext cx="3041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(Método desenvolvido pela IDEO)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073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/>
      <p:bldP spid="29" grpId="0" animBg="1"/>
      <p:bldP spid="6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5FE6-B4A4-48E4-3B7F-9FA54638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1FE23C7-3F36-F29A-440C-2E6DEA282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6202" y="2091696"/>
            <a:ext cx="5597376" cy="266311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AEC5494-8839-0EDE-3B14-BAFAD822CE81}"/>
              </a:ext>
            </a:extLst>
          </p:cNvPr>
          <p:cNvCxnSpPr>
            <a:cxnSpLocks/>
          </p:cNvCxnSpPr>
          <p:nvPr/>
        </p:nvCxnSpPr>
        <p:spPr>
          <a:xfrm>
            <a:off x="3263743" y="3634529"/>
            <a:ext cx="248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61D5906-E181-091A-DBF6-7F6C309CB783}"/>
              </a:ext>
            </a:extLst>
          </p:cNvPr>
          <p:cNvSpPr/>
          <p:nvPr/>
        </p:nvSpPr>
        <p:spPr>
          <a:xfrm>
            <a:off x="3496828" y="2838921"/>
            <a:ext cx="697801" cy="15153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A224FF9-6187-08FF-E644-D1584835E2E2}"/>
              </a:ext>
            </a:extLst>
          </p:cNvPr>
          <p:cNvSpPr txBox="1"/>
          <p:nvPr/>
        </p:nvSpPr>
        <p:spPr>
          <a:xfrm>
            <a:off x="260406" y="2276156"/>
            <a:ext cx="288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IMERSÃO E IDEAÇÃO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9F1889F-A697-B9BD-2380-FB003632BDD4}"/>
              </a:ext>
            </a:extLst>
          </p:cNvPr>
          <p:cNvSpPr txBox="1"/>
          <p:nvPr/>
        </p:nvSpPr>
        <p:spPr>
          <a:xfrm>
            <a:off x="5257951" y="1681682"/>
            <a:ext cx="2184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scrum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D74D16-1990-ACE1-427B-0EFD48FD27E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549" y="2676266"/>
            <a:ext cx="3313492" cy="2035646"/>
          </a:xfrm>
          <a:prstGeom prst="rect">
            <a:avLst/>
          </a:prstGeom>
        </p:spPr>
      </p:pic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C6FC88E-5680-81C2-1053-384B7307F51B}"/>
              </a:ext>
            </a:extLst>
          </p:cNvPr>
          <p:cNvSpPr/>
          <p:nvPr/>
        </p:nvSpPr>
        <p:spPr>
          <a:xfrm>
            <a:off x="161844" y="2212522"/>
            <a:ext cx="3101900" cy="3061442"/>
          </a:xfrm>
          <a:prstGeom prst="roundRect">
            <a:avLst>
              <a:gd name="adj" fmla="val 7505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64E2B3-E682-1E66-F300-CFF4EC3298D7}"/>
              </a:ext>
            </a:extLst>
          </p:cNvPr>
          <p:cNvSpPr txBox="1"/>
          <p:nvPr/>
        </p:nvSpPr>
        <p:spPr>
          <a:xfrm>
            <a:off x="161843" y="4533837"/>
            <a:ext cx="3171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Método do Duplo Diamante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(British Design </a:t>
            </a:r>
            <a:r>
              <a:rPr kumimoji="0" lang="pt-BR" sz="16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Council</a:t>
            </a: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pt-BR" sz="20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BF6F4C-28D5-7A2A-297E-5D77B48BD78E}"/>
              </a:ext>
            </a:extLst>
          </p:cNvPr>
          <p:cNvSpPr txBox="1"/>
          <p:nvPr/>
        </p:nvSpPr>
        <p:spPr>
          <a:xfrm>
            <a:off x="801438" y="719910"/>
            <a:ext cx="6729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IMERSÃO E IDEAÇÃO – O DUPLO DIAMANTE</a:t>
            </a:r>
          </a:p>
        </p:txBody>
      </p:sp>
    </p:spTree>
    <p:extLst>
      <p:ext uri="{BB962C8B-B14F-4D97-AF65-F5344CB8AC3E}">
        <p14:creationId xmlns:p14="http://schemas.microsoft.com/office/powerpoint/2010/main" val="91831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ângulo 64">
            <a:extLst>
              <a:ext uri="{FF2B5EF4-FFF2-40B4-BE49-F238E27FC236}">
                <a16:creationId xmlns:a16="http://schemas.microsoft.com/office/drawing/2014/main" id="{02E3A597-F795-C063-DB36-9EEA1FD447B5}"/>
              </a:ext>
            </a:extLst>
          </p:cNvPr>
          <p:cNvSpPr/>
          <p:nvPr/>
        </p:nvSpPr>
        <p:spPr>
          <a:xfrm>
            <a:off x="5877748" y="5858930"/>
            <a:ext cx="729797" cy="27915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716358A4-AC71-273B-379D-813AA8FF0987}"/>
              </a:ext>
            </a:extLst>
          </p:cNvPr>
          <p:cNvSpPr/>
          <p:nvPr/>
        </p:nvSpPr>
        <p:spPr>
          <a:xfrm>
            <a:off x="4650047" y="5858931"/>
            <a:ext cx="729797" cy="27915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5CCA7993-0A60-2D75-7587-59D1BB77F807}"/>
              </a:ext>
            </a:extLst>
          </p:cNvPr>
          <p:cNvSpPr/>
          <p:nvPr/>
        </p:nvSpPr>
        <p:spPr>
          <a:xfrm>
            <a:off x="3164870" y="5858932"/>
            <a:ext cx="729797" cy="27915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4E97EF96-A991-CAC5-4882-C3CE85CC9E02}"/>
              </a:ext>
            </a:extLst>
          </p:cNvPr>
          <p:cNvSpPr/>
          <p:nvPr/>
        </p:nvSpPr>
        <p:spPr>
          <a:xfrm>
            <a:off x="1975556" y="5858933"/>
            <a:ext cx="729797" cy="27915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2086D531-9D92-2E8D-FBE7-464CE104CF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2184" y="1680025"/>
            <a:ext cx="8101993" cy="4977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7986AB7-36AC-702D-60F2-52FD755EC533}"/>
              </a:ext>
            </a:extLst>
          </p:cNvPr>
          <p:cNvSpPr txBox="1"/>
          <p:nvPr/>
        </p:nvSpPr>
        <p:spPr>
          <a:xfrm>
            <a:off x="796149" y="719910"/>
            <a:ext cx="6536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 DUPLO DIAMANTE COMO ABORDAGEM 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E78A79A-815D-81A4-8931-1EABB0F5B131}"/>
              </a:ext>
            </a:extLst>
          </p:cNvPr>
          <p:cNvCxnSpPr>
            <a:cxnSpLocks/>
          </p:cNvCxnSpPr>
          <p:nvPr/>
        </p:nvCxnSpPr>
        <p:spPr>
          <a:xfrm flipV="1">
            <a:off x="1566092" y="2692377"/>
            <a:ext cx="1211786" cy="118733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91AA078-5253-1094-DC45-0C134C35402E}"/>
              </a:ext>
            </a:extLst>
          </p:cNvPr>
          <p:cNvCxnSpPr>
            <a:cxnSpLocks/>
          </p:cNvCxnSpPr>
          <p:nvPr/>
        </p:nvCxnSpPr>
        <p:spPr>
          <a:xfrm>
            <a:off x="1562275" y="4165623"/>
            <a:ext cx="1075082" cy="1062778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8797DE34-CDEF-6DBE-FB32-200642FD9E7E}"/>
              </a:ext>
            </a:extLst>
          </p:cNvPr>
          <p:cNvCxnSpPr>
            <a:cxnSpLocks/>
          </p:cNvCxnSpPr>
          <p:nvPr/>
        </p:nvCxnSpPr>
        <p:spPr>
          <a:xfrm>
            <a:off x="3082755" y="2657465"/>
            <a:ext cx="1157037" cy="117942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76BDD2C5-AE44-29C9-4203-0F482C270BBE}"/>
              </a:ext>
            </a:extLst>
          </p:cNvPr>
          <p:cNvCxnSpPr>
            <a:cxnSpLocks/>
          </p:cNvCxnSpPr>
          <p:nvPr/>
        </p:nvCxnSpPr>
        <p:spPr>
          <a:xfrm flipV="1">
            <a:off x="3191055" y="4190837"/>
            <a:ext cx="1099730" cy="107729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6B1C22F-BCDD-9B22-30AE-3ECDA3FD30CE}"/>
              </a:ext>
            </a:extLst>
          </p:cNvPr>
          <p:cNvCxnSpPr>
            <a:cxnSpLocks/>
          </p:cNvCxnSpPr>
          <p:nvPr/>
        </p:nvCxnSpPr>
        <p:spPr>
          <a:xfrm flipV="1">
            <a:off x="4335149" y="2657465"/>
            <a:ext cx="1151251" cy="113326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469D0572-48CC-2390-7C3B-B1700073F801}"/>
              </a:ext>
            </a:extLst>
          </p:cNvPr>
          <p:cNvCxnSpPr>
            <a:cxnSpLocks/>
          </p:cNvCxnSpPr>
          <p:nvPr/>
        </p:nvCxnSpPr>
        <p:spPr>
          <a:xfrm>
            <a:off x="4351088" y="4221360"/>
            <a:ext cx="1135312" cy="113169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A586EA15-B5BC-458B-53B9-EAB7782B7F16}"/>
              </a:ext>
            </a:extLst>
          </p:cNvPr>
          <p:cNvCxnSpPr>
            <a:cxnSpLocks/>
          </p:cNvCxnSpPr>
          <p:nvPr/>
        </p:nvCxnSpPr>
        <p:spPr>
          <a:xfrm>
            <a:off x="5731837" y="2657465"/>
            <a:ext cx="1145213" cy="117942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1AAE707-4076-C0BE-E01D-D61AE5DFFF45}"/>
              </a:ext>
            </a:extLst>
          </p:cNvPr>
          <p:cNvCxnSpPr>
            <a:cxnSpLocks/>
          </p:cNvCxnSpPr>
          <p:nvPr/>
        </p:nvCxnSpPr>
        <p:spPr>
          <a:xfrm flipV="1">
            <a:off x="5816600" y="4190837"/>
            <a:ext cx="1060450" cy="107729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77E4F0-73CB-E59B-5B06-A23729892701}"/>
              </a:ext>
            </a:extLst>
          </p:cNvPr>
          <p:cNvSpPr txBox="1"/>
          <p:nvPr/>
        </p:nvSpPr>
        <p:spPr>
          <a:xfrm>
            <a:off x="1703847" y="2556678"/>
            <a:ext cx="100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Pensamento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Divergente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889D3D4-1A8E-B81D-91A0-C08BC0AACE5C}"/>
              </a:ext>
            </a:extLst>
          </p:cNvPr>
          <p:cNvSpPr txBox="1"/>
          <p:nvPr/>
        </p:nvSpPr>
        <p:spPr>
          <a:xfrm>
            <a:off x="4407333" y="2547588"/>
            <a:ext cx="1006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Pensamento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Divergente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00330CC-4EE0-DC3E-7656-E5BD5FED7F99}"/>
              </a:ext>
            </a:extLst>
          </p:cNvPr>
          <p:cNvSpPr txBox="1"/>
          <p:nvPr/>
        </p:nvSpPr>
        <p:spPr>
          <a:xfrm>
            <a:off x="3196446" y="2562968"/>
            <a:ext cx="104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Pensamento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Convergente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2FDA4AC-CD2C-B909-CFCB-BCED73207EB5}"/>
              </a:ext>
            </a:extLst>
          </p:cNvPr>
          <p:cNvSpPr txBox="1"/>
          <p:nvPr/>
        </p:nvSpPr>
        <p:spPr>
          <a:xfrm>
            <a:off x="5801152" y="2567617"/>
            <a:ext cx="104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Pensamento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0" cap="sm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Convergente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F4EA2D6D-7762-1A5D-45F1-EAEAC95D49EF}"/>
              </a:ext>
            </a:extLst>
          </p:cNvPr>
          <p:cNvSpPr/>
          <p:nvPr/>
        </p:nvSpPr>
        <p:spPr>
          <a:xfrm>
            <a:off x="2054660" y="2077155"/>
            <a:ext cx="1783562" cy="2605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6833DED-F468-2138-7270-F3559B9626BE}"/>
              </a:ext>
            </a:extLst>
          </p:cNvPr>
          <p:cNvSpPr/>
          <p:nvPr/>
        </p:nvSpPr>
        <p:spPr>
          <a:xfrm>
            <a:off x="4739515" y="2080590"/>
            <a:ext cx="1783562" cy="2605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C89E201-99D6-595F-2D93-938DF14654CF}"/>
              </a:ext>
            </a:extLst>
          </p:cNvPr>
          <p:cNvSpPr txBox="1"/>
          <p:nvPr/>
        </p:nvSpPr>
        <p:spPr>
          <a:xfrm>
            <a:off x="78047" y="1291045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cap="small" dirty="0"/>
              <a:t>Método de Inovação voltado à busca de soluções reais e assertivas para problemas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E22556-89FD-66CF-7824-D398EFE1BA3F}"/>
              </a:ext>
            </a:extLst>
          </p:cNvPr>
          <p:cNvSpPr txBox="1"/>
          <p:nvPr/>
        </p:nvSpPr>
        <p:spPr>
          <a:xfrm>
            <a:off x="0" y="6327703"/>
            <a:ext cx="914399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defTabSz="685800"/>
            <a:r>
              <a:rPr lang="pt-BR" sz="1600" kern="0" cap="small" dirty="0">
                <a:solidFill>
                  <a:srgbClr val="C00000"/>
                </a:solidFill>
              </a:rPr>
              <a:t>Uso combinado e alternado de Pensamento Divergente e Pensamento Convergente</a:t>
            </a:r>
          </a:p>
        </p:txBody>
      </p:sp>
    </p:spTree>
    <p:extLst>
      <p:ext uri="{BB962C8B-B14F-4D97-AF65-F5344CB8AC3E}">
        <p14:creationId xmlns:p14="http://schemas.microsoft.com/office/powerpoint/2010/main" val="982937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4" grpId="0" animBg="1"/>
      <p:bldP spid="63" grpId="0" animBg="1"/>
      <p:bldP spid="62" grpId="0" animBg="1"/>
      <p:bldP spid="27" grpId="0"/>
      <p:bldP spid="28" grpId="0"/>
      <p:bldP spid="29" grpId="0"/>
      <p:bldP spid="30" grpId="0"/>
      <p:bldP spid="59" grpId="0" animBg="1"/>
      <p:bldP spid="60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2D620-6FBC-1A2D-DF67-07772BAD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F317E779-E743-576D-CA3E-A23F3A7E854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1765" y="2503835"/>
            <a:ext cx="3734612" cy="2294361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59334E1C-33ED-E421-5223-DEF187508365}"/>
              </a:ext>
            </a:extLst>
          </p:cNvPr>
          <p:cNvSpPr txBox="1"/>
          <p:nvPr/>
        </p:nvSpPr>
        <p:spPr>
          <a:xfrm>
            <a:off x="765900" y="1854773"/>
            <a:ext cx="7580920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defTabSz="514350"/>
            <a:r>
              <a:rPr lang="pt-BR" sz="1500" cap="small" dirty="0">
                <a:solidFill>
                  <a:srgbClr val="C00000"/>
                </a:solidFill>
              </a:rPr>
              <a:t>Ambos os métodos usam a mesma abordagem com práticas um pouco diferentes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6A40087-A93C-2CAA-B532-F116F565F430}"/>
              </a:ext>
            </a:extLst>
          </p:cNvPr>
          <p:cNvSpPr txBox="1"/>
          <p:nvPr/>
        </p:nvSpPr>
        <p:spPr>
          <a:xfrm>
            <a:off x="854524" y="717851"/>
            <a:ext cx="60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+mj-lt"/>
              </a:rPr>
              <a:t>DUPLO DIAMANTE X DESIGN THINKING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3E13E-0761-AABF-4298-7B7D2C7F736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639" t="-18236" r="-4639" b="-12652"/>
          <a:stretch/>
        </p:blipFill>
        <p:spPr>
          <a:xfrm>
            <a:off x="4789645" y="2761439"/>
            <a:ext cx="3762590" cy="1838528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</p:pic>
      <p:sp>
        <p:nvSpPr>
          <p:cNvPr id="7" name="Hexágono 6">
            <a:extLst>
              <a:ext uri="{FF2B5EF4-FFF2-40B4-BE49-F238E27FC236}">
                <a16:creationId xmlns:a16="http://schemas.microsoft.com/office/drawing/2014/main" id="{14690CF1-9BE2-2B0D-65F5-2408C02C8884}"/>
              </a:ext>
            </a:extLst>
          </p:cNvPr>
          <p:cNvSpPr/>
          <p:nvPr/>
        </p:nvSpPr>
        <p:spPr>
          <a:xfrm>
            <a:off x="4947049" y="3009496"/>
            <a:ext cx="801998" cy="714983"/>
          </a:xfrm>
          <a:prstGeom prst="hexag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FF73B729-FFF3-1792-057A-2D8AC2C02BEB}"/>
              </a:ext>
            </a:extLst>
          </p:cNvPr>
          <p:cNvSpPr/>
          <p:nvPr/>
        </p:nvSpPr>
        <p:spPr>
          <a:xfrm>
            <a:off x="5605159" y="3357257"/>
            <a:ext cx="801998" cy="714983"/>
          </a:xfrm>
          <a:prstGeom prst="hexag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B693B1A1-DCB7-7EF9-B0DA-50331DA2BBED}"/>
              </a:ext>
            </a:extLst>
          </p:cNvPr>
          <p:cNvSpPr/>
          <p:nvPr/>
        </p:nvSpPr>
        <p:spPr>
          <a:xfrm>
            <a:off x="2451370" y="2892765"/>
            <a:ext cx="1231637" cy="1389304"/>
          </a:xfrm>
          <a:prstGeom prst="diamond">
            <a:avLst/>
          </a:prstGeom>
          <a:solidFill>
            <a:srgbClr val="FFFF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867D5261-179A-75D1-8ACF-0B184D621EB7}"/>
              </a:ext>
            </a:extLst>
          </p:cNvPr>
          <p:cNvSpPr/>
          <p:nvPr/>
        </p:nvSpPr>
        <p:spPr>
          <a:xfrm>
            <a:off x="6263542" y="3003997"/>
            <a:ext cx="801998" cy="714983"/>
          </a:xfrm>
          <a:prstGeom prst="hexagon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Hexágono 12">
            <a:extLst>
              <a:ext uri="{FF2B5EF4-FFF2-40B4-BE49-F238E27FC236}">
                <a16:creationId xmlns:a16="http://schemas.microsoft.com/office/drawing/2014/main" id="{50065BDC-DFB5-5437-ADBA-432401EF63F8}"/>
              </a:ext>
            </a:extLst>
          </p:cNvPr>
          <p:cNvSpPr/>
          <p:nvPr/>
        </p:nvSpPr>
        <p:spPr>
          <a:xfrm>
            <a:off x="6920827" y="3366984"/>
            <a:ext cx="801998" cy="714983"/>
          </a:xfrm>
          <a:prstGeom prst="hexagon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Hexágono 13">
            <a:extLst>
              <a:ext uri="{FF2B5EF4-FFF2-40B4-BE49-F238E27FC236}">
                <a16:creationId xmlns:a16="http://schemas.microsoft.com/office/drawing/2014/main" id="{9EDAE840-4F7A-1F49-B8EF-0A23637BF0ED}"/>
              </a:ext>
            </a:extLst>
          </p:cNvPr>
          <p:cNvSpPr/>
          <p:nvPr/>
        </p:nvSpPr>
        <p:spPr>
          <a:xfrm>
            <a:off x="7585409" y="3714748"/>
            <a:ext cx="801998" cy="714983"/>
          </a:xfrm>
          <a:prstGeom prst="hexagon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DA940631-1883-BD8E-46D5-AC73FF8299E5}"/>
              </a:ext>
            </a:extLst>
          </p:cNvPr>
          <p:cNvSpPr/>
          <p:nvPr/>
        </p:nvSpPr>
        <p:spPr>
          <a:xfrm>
            <a:off x="6178163" y="2841692"/>
            <a:ext cx="2299492" cy="1678022"/>
          </a:xfrm>
          <a:custGeom>
            <a:avLst/>
            <a:gdLst>
              <a:gd name="connsiteX0" fmla="*/ 0 w 3025302"/>
              <a:gd name="connsiteY0" fmla="*/ 515566 h 2237362"/>
              <a:gd name="connsiteX1" fmla="*/ 836579 w 3025302"/>
              <a:gd name="connsiteY1" fmla="*/ 2227634 h 2237362"/>
              <a:gd name="connsiteX2" fmla="*/ 3025302 w 3025302"/>
              <a:gd name="connsiteY2" fmla="*/ 2237362 h 2237362"/>
              <a:gd name="connsiteX3" fmla="*/ 2976664 w 3025302"/>
              <a:gd name="connsiteY3" fmla="*/ 38911 h 2237362"/>
              <a:gd name="connsiteX4" fmla="*/ 175098 w 3025302"/>
              <a:gd name="connsiteY4" fmla="*/ 0 h 2237362"/>
              <a:gd name="connsiteX5" fmla="*/ 0 w 3025302"/>
              <a:gd name="connsiteY5" fmla="*/ 515566 h 223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5302" h="2237362">
                <a:moveTo>
                  <a:pt x="0" y="515566"/>
                </a:moveTo>
                <a:lnTo>
                  <a:pt x="836579" y="2227634"/>
                </a:lnTo>
                <a:lnTo>
                  <a:pt x="3025302" y="2237362"/>
                </a:lnTo>
                <a:lnTo>
                  <a:pt x="2976664" y="38911"/>
                </a:lnTo>
                <a:lnTo>
                  <a:pt x="175098" y="0"/>
                </a:lnTo>
                <a:lnTo>
                  <a:pt x="0" y="515566"/>
                </a:lnTo>
                <a:close/>
              </a:path>
            </a:pathLst>
          </a:custGeom>
          <a:solidFill>
            <a:srgbClr val="FFFF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2BF6B388-F3AE-FA4B-5C91-A01E6F5D7FAB}"/>
              </a:ext>
            </a:extLst>
          </p:cNvPr>
          <p:cNvSpPr/>
          <p:nvPr/>
        </p:nvSpPr>
        <p:spPr>
          <a:xfrm>
            <a:off x="4782710" y="2762582"/>
            <a:ext cx="1690646" cy="1431235"/>
          </a:xfrm>
          <a:custGeom>
            <a:avLst/>
            <a:gdLst>
              <a:gd name="connsiteX0" fmla="*/ 1916264 w 2254195"/>
              <a:gd name="connsiteY0" fmla="*/ 715617 h 1908313"/>
              <a:gd name="connsiteX1" fmla="*/ 2254195 w 2254195"/>
              <a:gd name="connsiteY1" fmla="*/ 1407381 h 1908313"/>
              <a:gd name="connsiteX2" fmla="*/ 1963972 w 2254195"/>
              <a:gd name="connsiteY2" fmla="*/ 1908313 h 1908313"/>
              <a:gd name="connsiteX3" fmla="*/ 0 w 2254195"/>
              <a:gd name="connsiteY3" fmla="*/ 1900361 h 1908313"/>
              <a:gd name="connsiteX4" fmla="*/ 115294 w 2254195"/>
              <a:gd name="connsiteY4" fmla="*/ 0 h 1908313"/>
              <a:gd name="connsiteX5" fmla="*/ 1518699 w 2254195"/>
              <a:gd name="connsiteY5" fmla="*/ 206734 h 1908313"/>
              <a:gd name="connsiteX6" fmla="*/ 1916264 w 2254195"/>
              <a:gd name="connsiteY6" fmla="*/ 715617 h 1908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54195" h="1908313">
                <a:moveTo>
                  <a:pt x="1916264" y="715617"/>
                </a:moveTo>
                <a:lnTo>
                  <a:pt x="2254195" y="1407381"/>
                </a:lnTo>
                <a:lnTo>
                  <a:pt x="1963972" y="1908313"/>
                </a:lnTo>
                <a:lnTo>
                  <a:pt x="0" y="1900361"/>
                </a:lnTo>
                <a:lnTo>
                  <a:pt x="115294" y="0"/>
                </a:lnTo>
                <a:lnTo>
                  <a:pt x="1518699" y="206734"/>
                </a:lnTo>
                <a:lnTo>
                  <a:pt x="1916264" y="715617"/>
                </a:lnTo>
                <a:close/>
              </a:path>
            </a:pathLst>
          </a:custGeom>
          <a:solidFill>
            <a:srgbClr val="FFFF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472768FE-8687-8DF6-7A55-3CFCE44E9282}"/>
              </a:ext>
            </a:extLst>
          </p:cNvPr>
          <p:cNvSpPr/>
          <p:nvPr/>
        </p:nvSpPr>
        <p:spPr>
          <a:xfrm>
            <a:off x="2451370" y="2965720"/>
            <a:ext cx="1238033" cy="1265276"/>
          </a:xfrm>
          <a:prstGeom prst="diamond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2ED3B7D5-F7D0-1C11-FCED-2EBEF591175F}"/>
              </a:ext>
            </a:extLst>
          </p:cNvPr>
          <p:cNvSpPr/>
          <p:nvPr/>
        </p:nvSpPr>
        <p:spPr>
          <a:xfrm>
            <a:off x="2451370" y="2960913"/>
            <a:ext cx="1231637" cy="1240277"/>
          </a:xfrm>
          <a:prstGeom prst="diamond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1CA6F0C6-18B2-E465-6108-AB500A0CA5AD}"/>
              </a:ext>
            </a:extLst>
          </p:cNvPr>
          <p:cNvSpPr/>
          <p:nvPr/>
        </p:nvSpPr>
        <p:spPr>
          <a:xfrm>
            <a:off x="1227029" y="2965720"/>
            <a:ext cx="1231637" cy="1240277"/>
          </a:xfrm>
          <a:prstGeom prst="diamond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Losango 49">
            <a:extLst>
              <a:ext uri="{FF2B5EF4-FFF2-40B4-BE49-F238E27FC236}">
                <a16:creationId xmlns:a16="http://schemas.microsoft.com/office/drawing/2014/main" id="{368870F6-E46A-510F-C39D-A81CC3FD5F57}"/>
              </a:ext>
            </a:extLst>
          </p:cNvPr>
          <p:cNvSpPr/>
          <p:nvPr/>
        </p:nvSpPr>
        <p:spPr>
          <a:xfrm>
            <a:off x="1160024" y="2903706"/>
            <a:ext cx="1331742" cy="1389304"/>
          </a:xfrm>
          <a:prstGeom prst="diamond">
            <a:avLst/>
          </a:prstGeom>
          <a:solidFill>
            <a:srgbClr val="FFFF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628E46C-D656-E915-3E09-631FA7FAC5E4}"/>
              </a:ext>
            </a:extLst>
          </p:cNvPr>
          <p:cNvSpPr txBox="1"/>
          <p:nvPr/>
        </p:nvSpPr>
        <p:spPr>
          <a:xfrm>
            <a:off x="2726246" y="4898002"/>
            <a:ext cx="18004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700" b="1" cap="all" dirty="0">
                <a:solidFill>
                  <a:srgbClr val="C00000"/>
                </a:solidFill>
              </a:rPr>
              <a:t>Imersão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4EBBA98-8B2F-1F9F-0EA9-B5D0ABAFDB4C}"/>
              </a:ext>
            </a:extLst>
          </p:cNvPr>
          <p:cNvSpPr txBox="1"/>
          <p:nvPr/>
        </p:nvSpPr>
        <p:spPr>
          <a:xfrm>
            <a:off x="4309133" y="4898002"/>
            <a:ext cx="231345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700" b="1" cap="all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pt-BR" sz="2700" b="1" cap="all" dirty="0">
                <a:solidFill>
                  <a:schemeClr val="accent3">
                    <a:lumMod val="75000"/>
                  </a:schemeClr>
                </a:solidFill>
              </a:rPr>
              <a:t>  ideação</a:t>
            </a:r>
          </a:p>
        </p:txBody>
      </p:sp>
    </p:spTree>
    <p:extLst>
      <p:ext uri="{BB962C8B-B14F-4D97-AF65-F5344CB8AC3E}">
        <p14:creationId xmlns:p14="http://schemas.microsoft.com/office/powerpoint/2010/main" val="2267051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3" grpId="0" animBg="1"/>
      <p:bldP spid="14" grpId="0" animBg="1"/>
      <p:bldP spid="16" grpId="0" animBg="1"/>
      <p:bldP spid="16" grpId="1" animBg="1"/>
      <p:bldP spid="17" grpId="0" animBg="1"/>
      <p:bldP spid="19" grpId="0" animBg="1"/>
      <p:bldP spid="6" grpId="0" animBg="1"/>
      <p:bldP spid="6" grpId="1" animBg="1"/>
      <p:bldP spid="50" grpId="0" animBg="1"/>
      <p:bldP spid="51" grpId="0"/>
      <p:bldP spid="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3AD9-7269-1F2C-4B44-4DE8F79F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E20DC1A-7E1D-567D-1BCB-4E638EB8A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6202" y="2091696"/>
            <a:ext cx="5597376" cy="266311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2CF427F-FE69-4FC6-64BC-4645B052D503}"/>
              </a:ext>
            </a:extLst>
          </p:cNvPr>
          <p:cNvCxnSpPr>
            <a:cxnSpLocks/>
          </p:cNvCxnSpPr>
          <p:nvPr/>
        </p:nvCxnSpPr>
        <p:spPr>
          <a:xfrm>
            <a:off x="3263743" y="3634529"/>
            <a:ext cx="248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A30DBF2-9BF8-1931-2F9A-7B10DCE3EEF6}"/>
              </a:ext>
            </a:extLst>
          </p:cNvPr>
          <p:cNvSpPr/>
          <p:nvPr/>
        </p:nvSpPr>
        <p:spPr>
          <a:xfrm>
            <a:off x="3496828" y="2838921"/>
            <a:ext cx="697801" cy="15153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16505A0-CC0F-E401-7C9C-FBCFF5CC66AF}"/>
              </a:ext>
            </a:extLst>
          </p:cNvPr>
          <p:cNvSpPr txBox="1"/>
          <p:nvPr/>
        </p:nvSpPr>
        <p:spPr>
          <a:xfrm>
            <a:off x="260406" y="2276156"/>
            <a:ext cx="288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IMERSÃO E IDEAÇÃO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478EF0B-1537-4AC2-4F71-C2C7E6C292C4}"/>
              </a:ext>
            </a:extLst>
          </p:cNvPr>
          <p:cNvSpPr txBox="1"/>
          <p:nvPr/>
        </p:nvSpPr>
        <p:spPr>
          <a:xfrm>
            <a:off x="5257951" y="1681682"/>
            <a:ext cx="2184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scrum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78AC698-9570-A9CB-47CC-7809C08F7B63}"/>
              </a:ext>
            </a:extLst>
          </p:cNvPr>
          <p:cNvSpPr/>
          <p:nvPr/>
        </p:nvSpPr>
        <p:spPr>
          <a:xfrm>
            <a:off x="161844" y="2212522"/>
            <a:ext cx="3101900" cy="3061442"/>
          </a:xfrm>
          <a:prstGeom prst="roundRect">
            <a:avLst>
              <a:gd name="adj" fmla="val 7505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508CB98-A401-65C8-3F30-FA68A38FF5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099"/>
          <a:stretch/>
        </p:blipFill>
        <p:spPr>
          <a:xfrm>
            <a:off x="312870" y="2705604"/>
            <a:ext cx="2799845" cy="2035646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9D0A8F5-D56B-221B-170E-67B74A7E15C6}"/>
              </a:ext>
            </a:extLst>
          </p:cNvPr>
          <p:cNvSpPr txBox="1"/>
          <p:nvPr/>
        </p:nvSpPr>
        <p:spPr>
          <a:xfrm>
            <a:off x="839412" y="719910"/>
            <a:ext cx="7776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IMERSÃO E IDEAÇÃO – DESIGN SPRINT DA GOOGLE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4E166E-5BF0-3997-384D-397FA3454E24}"/>
              </a:ext>
            </a:extLst>
          </p:cNvPr>
          <p:cNvSpPr txBox="1"/>
          <p:nvPr/>
        </p:nvSpPr>
        <p:spPr>
          <a:xfrm>
            <a:off x="608916" y="4385027"/>
            <a:ext cx="21847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Sprint </a:t>
            </a: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(Método da Google)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209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0847-3DDC-2560-C15A-BECFCB1DC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827684C-046C-869D-E5B6-E3C6E8C91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6202" y="2091696"/>
            <a:ext cx="5597376" cy="266311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E12226E-A24E-7C36-EEC9-7EBF8DA5D420}"/>
              </a:ext>
            </a:extLst>
          </p:cNvPr>
          <p:cNvCxnSpPr>
            <a:cxnSpLocks/>
          </p:cNvCxnSpPr>
          <p:nvPr/>
        </p:nvCxnSpPr>
        <p:spPr>
          <a:xfrm>
            <a:off x="3263743" y="3634529"/>
            <a:ext cx="248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975012F-D642-7E03-94C0-0BB2916FFF74}"/>
              </a:ext>
            </a:extLst>
          </p:cNvPr>
          <p:cNvSpPr/>
          <p:nvPr/>
        </p:nvSpPr>
        <p:spPr>
          <a:xfrm>
            <a:off x="3496828" y="2838921"/>
            <a:ext cx="697801" cy="15153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9E7EFE7-74BB-4350-7B5A-A0D39B82533F}"/>
              </a:ext>
            </a:extLst>
          </p:cNvPr>
          <p:cNvSpPr txBox="1"/>
          <p:nvPr/>
        </p:nvSpPr>
        <p:spPr>
          <a:xfrm>
            <a:off x="260406" y="2276156"/>
            <a:ext cx="288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IMERSÃO E IDEAÇÃO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8A7B8D2-C872-88C6-59F6-794796C1ACE2}"/>
              </a:ext>
            </a:extLst>
          </p:cNvPr>
          <p:cNvSpPr txBox="1"/>
          <p:nvPr/>
        </p:nvSpPr>
        <p:spPr>
          <a:xfrm>
            <a:off x="5257951" y="1681682"/>
            <a:ext cx="2184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scrum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363CBCA-6F96-65F7-17D9-D98962847D33}"/>
              </a:ext>
            </a:extLst>
          </p:cNvPr>
          <p:cNvSpPr/>
          <p:nvPr/>
        </p:nvSpPr>
        <p:spPr>
          <a:xfrm>
            <a:off x="161844" y="2212522"/>
            <a:ext cx="3101900" cy="3061442"/>
          </a:xfrm>
          <a:prstGeom prst="roundRect">
            <a:avLst>
              <a:gd name="adj" fmla="val 7505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Imagem 4">
            <a:extLst>
              <a:ext uri="{FF2B5EF4-FFF2-40B4-BE49-F238E27FC236}">
                <a16:creationId xmlns:a16="http://schemas.microsoft.com/office/drawing/2014/main" id="{95CE3500-D184-39FA-48C6-1804C31334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34" t="-9078" r="6234" b="-16321"/>
          <a:stretch/>
        </p:blipFill>
        <p:spPr>
          <a:xfrm>
            <a:off x="390488" y="2739900"/>
            <a:ext cx="2621610" cy="2091596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BAFF778-696B-CAB9-A691-5AF1E12AEEFE}"/>
              </a:ext>
            </a:extLst>
          </p:cNvPr>
          <p:cNvSpPr txBox="1"/>
          <p:nvPr/>
        </p:nvSpPr>
        <p:spPr>
          <a:xfrm>
            <a:off x="390488" y="4772959"/>
            <a:ext cx="2567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Lean </a:t>
            </a: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Inception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A3DF37-7EA0-1080-6D65-407C6E218D38}"/>
              </a:ext>
            </a:extLst>
          </p:cNvPr>
          <p:cNvSpPr txBox="1"/>
          <p:nvPr/>
        </p:nvSpPr>
        <p:spPr>
          <a:xfrm>
            <a:off x="839412" y="719910"/>
            <a:ext cx="6124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IMERSÃO E IDEAÇÃO – LEAN INCEPTION</a:t>
            </a:r>
          </a:p>
        </p:txBody>
      </p:sp>
    </p:spTree>
    <p:extLst>
      <p:ext uri="{BB962C8B-B14F-4D97-AF65-F5344CB8AC3E}">
        <p14:creationId xmlns:p14="http://schemas.microsoft.com/office/powerpoint/2010/main" val="181841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2D9E-3FCF-7D4E-A127-944B7320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B68AF22-108C-8D86-ED3D-AF266F716E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34" t="2045" r="6234" b="-247"/>
          <a:stretch/>
        </p:blipFill>
        <p:spPr>
          <a:xfrm>
            <a:off x="7247477" y="1553068"/>
            <a:ext cx="1303246" cy="814249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B18F288-41D8-BF67-8164-5ACEE84CCE55}"/>
              </a:ext>
            </a:extLst>
          </p:cNvPr>
          <p:cNvSpPr txBox="1"/>
          <p:nvPr/>
        </p:nvSpPr>
        <p:spPr>
          <a:xfrm>
            <a:off x="839412" y="719910"/>
            <a:ext cx="8202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IMERSÃO E IDEAÇÃO – COMPARATIVO DOS MÉTODOS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8E2A05E-A18D-BF9C-E1CD-1993EEFEF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2481937"/>
            <a:ext cx="8496300" cy="374332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3B8A75D-8362-9ED8-EE4E-5FA8066ED5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099"/>
          <a:stretch/>
        </p:blipFill>
        <p:spPr>
          <a:xfrm>
            <a:off x="5453154" y="1553068"/>
            <a:ext cx="1214016" cy="88265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ADF789F-04FE-B983-715E-060DC82DEF2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0671" y="1541929"/>
            <a:ext cx="1436735" cy="88265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54C9F6-E658-CBA7-448F-EEBBAD2AA2F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4639" t="-54818" r="-4639" b="-20451"/>
          <a:stretch/>
        </p:blipFill>
        <p:spPr>
          <a:xfrm>
            <a:off x="1681653" y="1444225"/>
            <a:ext cx="1423646" cy="93151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A12737D-C3F0-2105-9791-DDB1D681F017}"/>
              </a:ext>
            </a:extLst>
          </p:cNvPr>
          <p:cNvSpPr/>
          <p:nvPr/>
        </p:nvSpPr>
        <p:spPr>
          <a:xfrm>
            <a:off x="1436915" y="1332253"/>
            <a:ext cx="1854925" cy="48743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AD20351-C37A-5119-390E-F4F6F7E59D98}"/>
              </a:ext>
            </a:extLst>
          </p:cNvPr>
          <p:cNvSpPr txBox="1"/>
          <p:nvPr/>
        </p:nvSpPr>
        <p:spPr>
          <a:xfrm>
            <a:off x="1393822" y="6235272"/>
            <a:ext cx="194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small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Maior aderência às características do </a:t>
            </a:r>
            <a:r>
              <a:rPr lang="pt-BR" sz="1200" b="1" kern="1200" cap="small" dirty="0" err="1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Challenge</a:t>
            </a:r>
            <a:r>
              <a:rPr lang="pt-BR" sz="1200" b="1" kern="1200" cap="small" dirty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 e do </a:t>
            </a:r>
            <a:r>
              <a:rPr lang="pt-BR" sz="1200" b="1" kern="1200" cap="small" dirty="0" err="1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StartupOne</a:t>
            </a:r>
            <a:endParaRPr kumimoji="0" lang="pt-BR" sz="1200" b="1" i="0" u="none" strike="noStrike" kern="1200" cap="small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10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256A-0A18-8BD5-8D3F-C19BA75C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A4ADAFE-9E93-8A9D-A375-F465E0379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6202" y="2091696"/>
            <a:ext cx="5597376" cy="2663111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3FD67E9-A76F-B2A9-55D3-6B59349DCC2E}"/>
              </a:ext>
            </a:extLst>
          </p:cNvPr>
          <p:cNvCxnSpPr>
            <a:cxnSpLocks/>
          </p:cNvCxnSpPr>
          <p:nvPr/>
        </p:nvCxnSpPr>
        <p:spPr>
          <a:xfrm>
            <a:off x="3263743" y="3634529"/>
            <a:ext cx="248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BD481FB-4980-7080-106E-0758DE0DE531}"/>
              </a:ext>
            </a:extLst>
          </p:cNvPr>
          <p:cNvSpPr/>
          <p:nvPr/>
        </p:nvSpPr>
        <p:spPr>
          <a:xfrm>
            <a:off x="3496828" y="2838921"/>
            <a:ext cx="697801" cy="151536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4D252F4-6FF0-C5A8-B8BB-CF65D0F3A1F1}"/>
              </a:ext>
            </a:extLst>
          </p:cNvPr>
          <p:cNvSpPr txBox="1"/>
          <p:nvPr/>
        </p:nvSpPr>
        <p:spPr>
          <a:xfrm>
            <a:off x="260406" y="2276156"/>
            <a:ext cx="2881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IMERSÃO E IDEAÇÃO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1DE8072-E574-00A2-32E6-6A98EE95595C}"/>
              </a:ext>
            </a:extLst>
          </p:cNvPr>
          <p:cNvSpPr txBox="1"/>
          <p:nvPr/>
        </p:nvSpPr>
        <p:spPr>
          <a:xfrm>
            <a:off x="5257951" y="1681682"/>
            <a:ext cx="2184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scrum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AEE62D5-DB21-3019-3131-10C96192617E}"/>
              </a:ext>
            </a:extLst>
          </p:cNvPr>
          <p:cNvSpPr/>
          <p:nvPr/>
        </p:nvSpPr>
        <p:spPr>
          <a:xfrm>
            <a:off x="161844" y="2212522"/>
            <a:ext cx="3101900" cy="3061442"/>
          </a:xfrm>
          <a:prstGeom prst="roundRect">
            <a:avLst>
              <a:gd name="adj" fmla="val 7505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99D356-AE7B-5E5C-23C2-D2DD31698146}"/>
              </a:ext>
            </a:extLst>
          </p:cNvPr>
          <p:cNvSpPr txBox="1"/>
          <p:nvPr/>
        </p:nvSpPr>
        <p:spPr>
          <a:xfrm>
            <a:off x="846594" y="719910"/>
            <a:ext cx="8184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IMERSÃO E IDEAÇÃO – APLICANDO DESIGN THINKING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CB9F12-A57B-2AD8-D3A3-522536ECF5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4639" t="-54817" r="-4639" b="-54817"/>
          <a:stretch/>
        </p:blipFill>
        <p:spPr>
          <a:xfrm>
            <a:off x="260405" y="2856718"/>
            <a:ext cx="2900880" cy="227025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8C285F2-A08F-EC70-6992-E3C9E6203995}"/>
              </a:ext>
            </a:extLst>
          </p:cNvPr>
          <p:cNvSpPr txBox="1"/>
          <p:nvPr/>
        </p:nvSpPr>
        <p:spPr>
          <a:xfrm>
            <a:off x="412956" y="2838921"/>
            <a:ext cx="2537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 </a:t>
            </a:r>
            <a:r>
              <a:rPr kumimoji="0" lang="pt-BR" sz="2800" b="1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Thinking</a:t>
            </a:r>
            <a:endParaRPr kumimoji="0" lang="pt-BR" sz="2800" b="1" i="0" u="none" strike="noStrike" kern="1200" cap="sm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2EF2CB-C9A9-3C29-E2E4-53F537AC09C6}"/>
              </a:ext>
            </a:extLst>
          </p:cNvPr>
          <p:cNvSpPr txBox="1"/>
          <p:nvPr/>
        </p:nvSpPr>
        <p:spPr>
          <a:xfrm>
            <a:off x="180419" y="4585530"/>
            <a:ext cx="3041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(Método desenvolvido pela IDEO)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176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3E8530-0017-EBE4-21AE-9095FA90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C37-8E4D-49AA-BDCC-E9053823A152}" type="slidenum">
              <a:rPr lang="pt-BR" smtClean="0">
                <a:solidFill>
                  <a:prstClr val="black"/>
                </a:solidFill>
              </a:rPr>
              <a:pPr/>
              <a:t>19</a:t>
            </a:fld>
            <a:endParaRPr lang="pt-BR">
              <a:solidFill>
                <a:prstClr val="black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F42F6B-B960-3FAD-8E81-367B08884D85}"/>
              </a:ext>
            </a:extLst>
          </p:cNvPr>
          <p:cNvSpPr txBox="1"/>
          <p:nvPr/>
        </p:nvSpPr>
        <p:spPr>
          <a:xfrm>
            <a:off x="2247900" y="2514600"/>
            <a:ext cx="464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5ECS   19/02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E697E1-192B-496E-0AEA-CFC5BFC13CA0}"/>
              </a:ext>
            </a:extLst>
          </p:cNvPr>
          <p:cNvSpPr txBox="1"/>
          <p:nvPr/>
        </p:nvSpPr>
        <p:spPr>
          <a:xfrm>
            <a:off x="2252382" y="4038600"/>
            <a:ext cx="464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dirty="0"/>
              <a:t>5ECR   24/02</a:t>
            </a:r>
          </a:p>
        </p:txBody>
      </p:sp>
    </p:spTree>
    <p:extLst>
      <p:ext uri="{BB962C8B-B14F-4D97-AF65-F5344CB8AC3E}">
        <p14:creationId xmlns:p14="http://schemas.microsoft.com/office/powerpoint/2010/main" val="225240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53667" y="301599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2" y="0"/>
                </a:moveTo>
                <a:lnTo>
                  <a:pt x="349757" y="0"/>
                </a:lnTo>
                <a:lnTo>
                  <a:pt x="0" y="699515"/>
                </a:lnTo>
                <a:lnTo>
                  <a:pt x="349757" y="1399031"/>
                </a:lnTo>
                <a:lnTo>
                  <a:pt x="1273302" y="1399031"/>
                </a:lnTo>
                <a:lnTo>
                  <a:pt x="1623059" y="699515"/>
                </a:lnTo>
                <a:lnTo>
                  <a:pt x="127330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9880" y="3401887"/>
            <a:ext cx="782320" cy="6367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pt-BR" sz="1350" dirty="0">
                <a:solidFill>
                  <a:schemeClr val="bg1"/>
                </a:solidFill>
                <a:latin typeface="Calibri"/>
                <a:cs typeface="Calibri"/>
              </a:rPr>
              <a:t>IMERSÃO &amp;</a:t>
            </a:r>
            <a:endParaRPr sz="135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350" spc="-10" dirty="0">
                <a:solidFill>
                  <a:schemeClr val="bg1"/>
                </a:solidFill>
                <a:latin typeface="Calibri"/>
                <a:cs typeface="Calibri"/>
              </a:rPr>
              <a:t>“EMPATIA”</a:t>
            </a:r>
            <a:endParaRPr sz="13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70404" y="3715511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1" y="0"/>
                </a:moveTo>
                <a:lnTo>
                  <a:pt x="349757" y="0"/>
                </a:lnTo>
                <a:lnTo>
                  <a:pt x="0" y="699515"/>
                </a:lnTo>
                <a:lnTo>
                  <a:pt x="349757" y="1399032"/>
                </a:lnTo>
                <a:lnTo>
                  <a:pt x="1273301" y="1399032"/>
                </a:lnTo>
                <a:lnTo>
                  <a:pt x="1623059" y="699515"/>
                </a:lnTo>
                <a:lnTo>
                  <a:pt x="127330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79444" y="4151063"/>
            <a:ext cx="1206756" cy="6495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 marR="5080" indent="-27940" algn="ctr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ANALISE</a:t>
            </a:r>
            <a:r>
              <a:rPr sz="13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lang="pt-BR" sz="135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40005" marR="5080" indent="-27940" algn="ctr">
              <a:lnSpc>
                <a:spcPct val="100000"/>
              </a:lnSpc>
              <a:spcBef>
                <a:spcPts val="105"/>
              </a:spcBef>
            </a:pPr>
            <a:r>
              <a:rPr lang="pt-BR" sz="1350" spc="-10" dirty="0">
                <a:solidFill>
                  <a:srgbClr val="FFFFFF"/>
                </a:solidFill>
                <a:latin typeface="Calibri"/>
                <a:cs typeface="Calibri"/>
              </a:rPr>
              <a:t>&amp; DEFINIÇÃO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7140" y="301599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2" y="0"/>
                </a:moveTo>
                <a:lnTo>
                  <a:pt x="349758" y="0"/>
                </a:lnTo>
                <a:lnTo>
                  <a:pt x="0" y="699515"/>
                </a:lnTo>
                <a:lnTo>
                  <a:pt x="349758" y="1399031"/>
                </a:lnTo>
                <a:lnTo>
                  <a:pt x="1273302" y="1399031"/>
                </a:lnTo>
                <a:lnTo>
                  <a:pt x="1623060" y="699515"/>
                </a:lnTo>
                <a:lnTo>
                  <a:pt x="127330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47464" y="3485133"/>
            <a:ext cx="5029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GERAR</a:t>
            </a:r>
            <a:endParaRPr sz="13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IDEIAS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03876" y="372465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59" h="1399539">
                <a:moveTo>
                  <a:pt x="1273302" y="0"/>
                </a:moveTo>
                <a:lnTo>
                  <a:pt x="349758" y="0"/>
                </a:lnTo>
                <a:lnTo>
                  <a:pt x="0" y="699516"/>
                </a:lnTo>
                <a:lnTo>
                  <a:pt x="349758" y="1399032"/>
                </a:lnTo>
                <a:lnTo>
                  <a:pt x="1273302" y="1399032"/>
                </a:lnTo>
                <a:lnTo>
                  <a:pt x="1623059" y="699516"/>
                </a:lnTo>
                <a:lnTo>
                  <a:pt x="1273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66079" y="4297171"/>
            <a:ext cx="9023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PROTOTIPAR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20611" y="4424171"/>
            <a:ext cx="1621790" cy="1397635"/>
          </a:xfrm>
          <a:custGeom>
            <a:avLst/>
            <a:gdLst/>
            <a:ahLst/>
            <a:cxnLst/>
            <a:rect l="l" t="t" r="r" b="b"/>
            <a:pathLst>
              <a:path w="1621790" h="1397635">
                <a:moveTo>
                  <a:pt x="1272159" y="0"/>
                </a:moveTo>
                <a:lnTo>
                  <a:pt x="349377" y="0"/>
                </a:lnTo>
                <a:lnTo>
                  <a:pt x="0" y="698753"/>
                </a:lnTo>
                <a:lnTo>
                  <a:pt x="349377" y="1397508"/>
                </a:lnTo>
                <a:lnTo>
                  <a:pt x="1272159" y="1397508"/>
                </a:lnTo>
                <a:lnTo>
                  <a:pt x="1621536" y="698753"/>
                </a:lnTo>
                <a:lnTo>
                  <a:pt x="12721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67219" y="4996129"/>
            <a:ext cx="534035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TESTAR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PROCESSOS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spc="-10" dirty="0"/>
              <a:t>THINKING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59435" y="4810759"/>
            <a:ext cx="1319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FRAMEWORK </a:t>
            </a:r>
            <a:r>
              <a:rPr sz="1800" b="1" spc="-20" dirty="0">
                <a:solidFill>
                  <a:srgbClr val="17375E"/>
                </a:solidFill>
                <a:latin typeface="Calibri"/>
                <a:cs typeface="Calibri"/>
              </a:rPr>
              <a:t>PACT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66800" y="3971518"/>
            <a:ext cx="683260" cy="887094"/>
            <a:chOff x="1066800" y="3971518"/>
            <a:chExt cx="683260" cy="887094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3971518"/>
              <a:ext cx="682739" cy="88699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08824" y="4072889"/>
              <a:ext cx="523875" cy="727710"/>
            </a:xfrm>
            <a:custGeom>
              <a:avLst/>
              <a:gdLst/>
              <a:ahLst/>
              <a:cxnLst/>
              <a:rect l="l" t="t" r="r" b="b"/>
              <a:pathLst>
                <a:path w="523875" h="727710">
                  <a:moveTo>
                    <a:pt x="467990" y="55752"/>
                  </a:moveTo>
                  <a:lnTo>
                    <a:pt x="0" y="712597"/>
                  </a:lnTo>
                  <a:lnTo>
                    <a:pt x="21107" y="727583"/>
                  </a:lnTo>
                  <a:lnTo>
                    <a:pt x="489208" y="70848"/>
                  </a:lnTo>
                  <a:lnTo>
                    <a:pt x="467990" y="55752"/>
                  </a:lnTo>
                  <a:close/>
                </a:path>
                <a:path w="523875" h="727710">
                  <a:moveTo>
                    <a:pt x="516611" y="45212"/>
                  </a:moveTo>
                  <a:lnTo>
                    <a:pt x="475500" y="45212"/>
                  </a:lnTo>
                  <a:lnTo>
                    <a:pt x="496709" y="60325"/>
                  </a:lnTo>
                  <a:lnTo>
                    <a:pt x="489208" y="70848"/>
                  </a:lnTo>
                  <a:lnTo>
                    <a:pt x="510298" y="85852"/>
                  </a:lnTo>
                  <a:lnTo>
                    <a:pt x="516611" y="45212"/>
                  </a:lnTo>
                  <a:close/>
                </a:path>
                <a:path w="523875" h="727710">
                  <a:moveTo>
                    <a:pt x="475500" y="45212"/>
                  </a:moveTo>
                  <a:lnTo>
                    <a:pt x="467990" y="55752"/>
                  </a:lnTo>
                  <a:lnTo>
                    <a:pt x="489208" y="70848"/>
                  </a:lnTo>
                  <a:lnTo>
                    <a:pt x="496709" y="60325"/>
                  </a:lnTo>
                  <a:lnTo>
                    <a:pt x="475500" y="45212"/>
                  </a:lnTo>
                  <a:close/>
                </a:path>
                <a:path w="523875" h="727710">
                  <a:moveTo>
                    <a:pt x="523633" y="0"/>
                  </a:moveTo>
                  <a:lnTo>
                    <a:pt x="446925" y="40767"/>
                  </a:lnTo>
                  <a:lnTo>
                    <a:pt x="467990" y="55752"/>
                  </a:lnTo>
                  <a:lnTo>
                    <a:pt x="475500" y="45212"/>
                  </a:lnTo>
                  <a:lnTo>
                    <a:pt x="516611" y="45212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6466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DESIGN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SISTEMAS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65885" y="1574114"/>
            <a:ext cx="6412865" cy="107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17375E"/>
                </a:solidFill>
              </a:rPr>
              <a:t>PACT</a:t>
            </a:r>
            <a:endParaRPr sz="4000"/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>
                <a:solidFill>
                  <a:srgbClr val="17375E"/>
                </a:solidFill>
              </a:rPr>
              <a:t>P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ESSOAS</a:t>
            </a:r>
            <a:r>
              <a:rPr sz="2250" b="0" spc="1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75E"/>
                </a:solidFill>
              </a:rPr>
              <a:t>A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TIVIDADES</a:t>
            </a:r>
            <a:r>
              <a:rPr sz="2250" b="0" spc="4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9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75E"/>
                </a:solidFill>
              </a:rPr>
              <a:t>C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ONTEXTO</a:t>
            </a:r>
            <a:r>
              <a:rPr sz="2250" b="0" spc="4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17375E"/>
                </a:solidFill>
              </a:rPr>
              <a:t>T</a:t>
            </a:r>
            <a:r>
              <a:rPr sz="2250" b="0" spc="-10" dirty="0">
                <a:solidFill>
                  <a:srgbClr val="17375E"/>
                </a:solidFill>
                <a:latin typeface="Calibri"/>
                <a:cs typeface="Calibri"/>
              </a:rPr>
              <a:t>ECNOLOGIA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0831" y="3950064"/>
            <a:ext cx="3013075" cy="677545"/>
            <a:chOff x="560831" y="3950064"/>
            <a:chExt cx="3013075" cy="6775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36" y="3950064"/>
              <a:ext cx="2927651" cy="6769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31" y="4035564"/>
              <a:ext cx="3012947" cy="5912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2459" y="3965448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285597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2855976" y="605027"/>
                  </a:lnTo>
                  <a:lnTo>
                    <a:pt x="2855976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459" y="3965448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0" y="605027"/>
                  </a:moveTo>
                  <a:lnTo>
                    <a:pt x="2855976" y="605027"/>
                  </a:lnTo>
                  <a:lnTo>
                    <a:pt x="285597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3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979" y="4053852"/>
              <a:ext cx="2932937" cy="5112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33755" y="4104258"/>
            <a:ext cx="265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ATIVIDADES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CONTEXTOS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05329" y="3950064"/>
            <a:ext cx="1957070" cy="677545"/>
            <a:chOff x="6405329" y="3950064"/>
            <a:chExt cx="1957070" cy="67754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5329" y="3950064"/>
              <a:ext cx="1956900" cy="6769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7960" y="4035564"/>
              <a:ext cx="1708403" cy="5912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43472" y="3965448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1885187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1885187" y="605027"/>
                  </a:lnTo>
                  <a:lnTo>
                    <a:pt x="188518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43472" y="3965448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0" y="605027"/>
                  </a:moveTo>
                  <a:lnTo>
                    <a:pt x="1885187" y="605027"/>
                  </a:lnTo>
                  <a:lnTo>
                    <a:pt x="1885187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9108" y="4053852"/>
              <a:ext cx="1628394" cy="51128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712077" y="4104258"/>
            <a:ext cx="1346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TECNOLOGIAS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54880" y="3556787"/>
            <a:ext cx="3008630" cy="325120"/>
            <a:chOff x="3454880" y="3556787"/>
            <a:chExt cx="3008630" cy="32512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4880" y="3556787"/>
              <a:ext cx="3008458" cy="32506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88436" y="3558540"/>
              <a:ext cx="2955290" cy="280670"/>
            </a:xfrm>
            <a:custGeom>
              <a:avLst/>
              <a:gdLst/>
              <a:ahLst/>
              <a:cxnLst/>
              <a:rect l="l" t="t" r="r" b="b"/>
              <a:pathLst>
                <a:path w="2955290" h="280670">
                  <a:moveTo>
                    <a:pt x="2814828" y="0"/>
                  </a:moveTo>
                  <a:lnTo>
                    <a:pt x="2814828" y="70104"/>
                  </a:lnTo>
                  <a:lnTo>
                    <a:pt x="0" y="70104"/>
                  </a:lnTo>
                  <a:lnTo>
                    <a:pt x="0" y="210312"/>
                  </a:lnTo>
                  <a:lnTo>
                    <a:pt x="2814828" y="210312"/>
                  </a:lnTo>
                  <a:lnTo>
                    <a:pt x="2814828" y="280416"/>
                  </a:lnTo>
                  <a:lnTo>
                    <a:pt x="2955036" y="140208"/>
                  </a:lnTo>
                  <a:lnTo>
                    <a:pt x="281482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463997" y="4693691"/>
            <a:ext cx="3008630" cy="325120"/>
            <a:chOff x="3463997" y="4693691"/>
            <a:chExt cx="3008630" cy="32512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3997" y="4693691"/>
              <a:ext cx="3008458" cy="32506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88436" y="4695444"/>
              <a:ext cx="2955290" cy="280670"/>
            </a:xfrm>
            <a:custGeom>
              <a:avLst/>
              <a:gdLst/>
              <a:ahLst/>
              <a:cxnLst/>
              <a:rect l="l" t="t" r="r" b="b"/>
              <a:pathLst>
                <a:path w="2955290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1"/>
                  </a:lnTo>
                  <a:lnTo>
                    <a:pt x="2955036" y="210311"/>
                  </a:lnTo>
                  <a:lnTo>
                    <a:pt x="2955036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22445" y="4000322"/>
            <a:ext cx="1339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F6128"/>
                </a:solidFill>
                <a:latin typeface="Calibri"/>
                <a:cs typeface="Calibri"/>
              </a:rPr>
              <a:t>PESSOAS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5927" y="3320288"/>
            <a:ext cx="10375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77923B"/>
                </a:solidFill>
                <a:latin typeface="Calibri"/>
                <a:cs typeface="Calibri"/>
              </a:rPr>
              <a:t>REQUISITOS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56913" y="4929885"/>
            <a:ext cx="1509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77923B"/>
                </a:solidFill>
                <a:latin typeface="Calibri"/>
                <a:cs typeface="Calibri"/>
              </a:rPr>
              <a:t>OPORTUNIDADES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445764" y="4101084"/>
            <a:ext cx="770255" cy="361315"/>
            <a:chOff x="3445764" y="4101084"/>
            <a:chExt cx="770255" cy="361315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5764" y="4101084"/>
              <a:ext cx="769632" cy="3611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488436" y="4120896"/>
              <a:ext cx="688975" cy="280670"/>
            </a:xfrm>
            <a:custGeom>
              <a:avLst/>
              <a:gdLst/>
              <a:ahLst/>
              <a:cxnLst/>
              <a:rect l="l" t="t" r="r" b="b"/>
              <a:pathLst>
                <a:path w="688975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1"/>
                  </a:lnTo>
                  <a:lnTo>
                    <a:pt x="688848" y="210311"/>
                  </a:lnTo>
                  <a:lnTo>
                    <a:pt x="688848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1952" y="4078249"/>
            <a:ext cx="770255" cy="363220"/>
            <a:chOff x="5711952" y="4078249"/>
            <a:chExt cx="770255" cy="36322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11952" y="4078249"/>
              <a:ext cx="769632" cy="3626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754624" y="4098036"/>
              <a:ext cx="688975" cy="281940"/>
            </a:xfrm>
            <a:custGeom>
              <a:avLst/>
              <a:gdLst/>
              <a:ahLst/>
              <a:cxnLst/>
              <a:rect l="l" t="t" r="r" b="b"/>
              <a:pathLst>
                <a:path w="688975" h="281939">
                  <a:moveTo>
                    <a:pt x="547877" y="0"/>
                  </a:moveTo>
                  <a:lnTo>
                    <a:pt x="547877" y="70484"/>
                  </a:lnTo>
                  <a:lnTo>
                    <a:pt x="0" y="70484"/>
                  </a:lnTo>
                  <a:lnTo>
                    <a:pt x="0" y="211455"/>
                  </a:lnTo>
                  <a:lnTo>
                    <a:pt x="547877" y="211455"/>
                  </a:lnTo>
                  <a:lnTo>
                    <a:pt x="547877" y="281939"/>
                  </a:lnTo>
                  <a:lnTo>
                    <a:pt x="688848" y="140969"/>
                  </a:lnTo>
                  <a:lnTo>
                    <a:pt x="54787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21</a:t>
            </a:fld>
            <a:endParaRPr spc="-50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0125EDC-D5E8-425D-5BC5-3423E4D7A7C9}"/>
              </a:ext>
            </a:extLst>
          </p:cNvPr>
          <p:cNvSpPr txBox="1"/>
          <p:nvPr/>
        </p:nvSpPr>
        <p:spPr>
          <a:xfrm>
            <a:off x="-76200" y="6579651"/>
            <a:ext cx="4825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/>
              <a:t>Adaptado de: Preece, Rogers &amp; Sharp – Design de Interação - 2007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5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450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PACT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-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22928" y="1345818"/>
            <a:ext cx="1899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17375E"/>
                </a:solidFill>
              </a:rPr>
              <a:t>PESSOAS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258316" y="1708284"/>
            <a:ext cx="6822440" cy="424878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143000">
              <a:lnSpc>
                <a:spcPct val="100000"/>
              </a:lnSpc>
              <a:spcBef>
                <a:spcPts val="1850"/>
              </a:spcBef>
            </a:pPr>
            <a:r>
              <a:rPr sz="2800" cap="small" dirty="0">
                <a:latin typeface="Calibri"/>
                <a:cs typeface="Calibri"/>
              </a:rPr>
              <a:t>Pessoas</a:t>
            </a:r>
            <a:r>
              <a:rPr sz="2800" cap="small" spc="1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diferem</a:t>
            </a:r>
            <a:r>
              <a:rPr sz="2800" cap="small" spc="5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umas</a:t>
            </a:r>
            <a:r>
              <a:rPr sz="2800" cap="small" spc="1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das</a:t>
            </a:r>
            <a:r>
              <a:rPr sz="2800" cap="small" spc="20" dirty="0">
                <a:latin typeface="Calibri"/>
                <a:cs typeface="Calibri"/>
              </a:rPr>
              <a:t> </a:t>
            </a:r>
            <a:r>
              <a:rPr sz="2800" cap="small" spc="-10" dirty="0">
                <a:latin typeface="Calibri"/>
                <a:cs typeface="Calibri"/>
              </a:rPr>
              <a:t>outras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DIFERENÇAS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FÍSICAS</a:t>
            </a:r>
            <a:endParaRPr sz="2000">
              <a:latin typeface="Calibri"/>
              <a:cs typeface="Calibri"/>
            </a:endParaRPr>
          </a:p>
          <a:p>
            <a:pPr marL="753745" lvl="1" indent="-283845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753745" algn="l"/>
              </a:tabLst>
            </a:pPr>
            <a:r>
              <a:rPr sz="1800" cap="small" dirty="0">
                <a:latin typeface="Calibri"/>
                <a:cs typeface="Calibri"/>
              </a:rPr>
              <a:t>Ergonomia</a:t>
            </a:r>
            <a:r>
              <a:rPr sz="1800" cap="small" spc="1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–</a:t>
            </a:r>
            <a:r>
              <a:rPr sz="1800" cap="small" spc="-4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relações</a:t>
            </a:r>
            <a:r>
              <a:rPr sz="1800" cap="small" spc="10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entre</a:t>
            </a:r>
            <a:r>
              <a:rPr sz="1800" cap="small" spc="10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as</a:t>
            </a:r>
            <a:r>
              <a:rPr sz="1800" cap="small" spc="20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pessoas</a:t>
            </a:r>
            <a:r>
              <a:rPr sz="1800" cap="small" spc="30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e o</a:t>
            </a:r>
            <a:r>
              <a:rPr sz="1800" cap="small" spc="1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ambiente</a:t>
            </a:r>
            <a:r>
              <a:rPr sz="1800" cap="small" spc="20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(objetos)</a:t>
            </a:r>
            <a:endParaRPr sz="1800">
              <a:latin typeface="Calibri"/>
              <a:cs typeface="Calibri"/>
            </a:endParaRPr>
          </a:p>
          <a:p>
            <a:pPr marL="1177925" lvl="2" indent="-25082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177925" algn="l"/>
              </a:tabLst>
            </a:pP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Antropometria</a:t>
            </a:r>
            <a:r>
              <a:rPr sz="1600" i="1" cap="small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(medidas</a:t>
            </a:r>
            <a:r>
              <a:rPr sz="1600" i="1" cap="small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do</a:t>
            </a:r>
            <a:r>
              <a:rPr sz="1600" i="1" cap="small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homem)</a:t>
            </a:r>
            <a:endParaRPr sz="1600">
              <a:latin typeface="Calibri"/>
              <a:cs typeface="Calibri"/>
            </a:endParaRPr>
          </a:p>
          <a:p>
            <a:pPr marL="1177925" lvl="2" indent="-250825">
              <a:lnSpc>
                <a:spcPct val="100000"/>
              </a:lnSpc>
              <a:buFont typeface="Arial"/>
              <a:buChar char="•"/>
              <a:tabLst>
                <a:tab pos="1177925" algn="l"/>
              </a:tabLst>
            </a:pP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Mudança</a:t>
            </a:r>
            <a:r>
              <a:rPr sz="1600" i="1" cap="small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no </a:t>
            </a:r>
            <a:r>
              <a:rPr sz="1600" i="1" cap="small" spc="-20" dirty="0">
                <a:solidFill>
                  <a:srgbClr val="7E7E7E"/>
                </a:solidFill>
                <a:latin typeface="Calibri"/>
                <a:cs typeface="Calibri"/>
              </a:rPr>
              <a:t>Papel</a:t>
            </a: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do </a:t>
            </a: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polegar</a:t>
            </a:r>
            <a:endParaRPr sz="1600">
              <a:latin typeface="Calibri"/>
              <a:cs typeface="Calibri"/>
            </a:endParaRPr>
          </a:p>
          <a:p>
            <a:pPr marL="1177925" lvl="2" indent="-250825">
              <a:lnSpc>
                <a:spcPct val="100000"/>
              </a:lnSpc>
              <a:buFont typeface="Arial"/>
              <a:buChar char="•"/>
              <a:tabLst>
                <a:tab pos="1177925" algn="l"/>
              </a:tabLst>
            </a:pP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Lei</a:t>
            </a:r>
            <a:r>
              <a:rPr sz="1600" i="1" cap="small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i="1" cap="small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Fitts</a:t>
            </a:r>
            <a:r>
              <a:rPr sz="1600" i="1" cap="small" spc="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(tempo</a:t>
            </a:r>
            <a:r>
              <a:rPr sz="1600" i="1" cap="small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i="1" cap="small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deslocamento)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1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DIFERENÇAS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PSICOLÓGICAS</a:t>
            </a:r>
            <a:endParaRPr sz="2000">
              <a:latin typeface="Calibri"/>
              <a:cs typeface="Calibri"/>
            </a:endParaRPr>
          </a:p>
          <a:p>
            <a:pPr marL="811530" lvl="1" indent="-34163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11530" algn="l"/>
              </a:tabLst>
            </a:pPr>
            <a:r>
              <a:rPr sz="1800" cap="small" dirty="0">
                <a:latin typeface="Calibri"/>
                <a:cs typeface="Calibri"/>
              </a:rPr>
              <a:t>Diferentes</a:t>
            </a:r>
            <a:r>
              <a:rPr sz="1800" cap="small" spc="20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habilidades</a:t>
            </a:r>
            <a:r>
              <a:rPr sz="1800" cap="small" spc="30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psicológicas</a:t>
            </a:r>
            <a:r>
              <a:rPr sz="1800" cap="small" spc="30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(Classificação</a:t>
            </a:r>
            <a:r>
              <a:rPr sz="1800" cap="small" spc="40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OCEAN)</a:t>
            </a:r>
            <a:endParaRPr sz="1800">
              <a:latin typeface="Calibri"/>
              <a:cs typeface="Calibri"/>
            </a:endParaRPr>
          </a:p>
          <a:p>
            <a:pPr marL="1177925" lvl="2" indent="-25082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177925" algn="l"/>
              </a:tabLst>
            </a:pP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Abertura</a:t>
            </a:r>
            <a:r>
              <a:rPr sz="1600" i="1" cap="small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dirty="0">
                <a:solidFill>
                  <a:srgbClr val="7E7E7E"/>
                </a:solidFill>
                <a:latin typeface="Calibri"/>
                <a:cs typeface="Calibri"/>
              </a:rPr>
              <a:t>à</a:t>
            </a:r>
            <a:r>
              <a:rPr sz="1600" i="1" cap="small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20" dirty="0">
                <a:solidFill>
                  <a:srgbClr val="7E7E7E"/>
                </a:solidFill>
                <a:latin typeface="Calibri"/>
                <a:cs typeface="Calibri"/>
              </a:rPr>
              <a:t>experiencias,</a:t>
            </a:r>
            <a:r>
              <a:rPr sz="1600" i="1" cap="small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20" dirty="0">
                <a:solidFill>
                  <a:srgbClr val="7E7E7E"/>
                </a:solidFill>
                <a:latin typeface="Calibri"/>
                <a:cs typeface="Calibri"/>
              </a:rPr>
              <a:t>Conscienciosidade,</a:t>
            </a:r>
            <a:r>
              <a:rPr sz="1600" i="1" cap="small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25" dirty="0">
                <a:solidFill>
                  <a:srgbClr val="7E7E7E"/>
                </a:solidFill>
                <a:latin typeface="Calibri"/>
                <a:cs typeface="Calibri"/>
              </a:rPr>
              <a:t>Extroversão,</a:t>
            </a:r>
            <a:r>
              <a:rPr sz="1600" i="1" cap="small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Amabilidade</a:t>
            </a:r>
            <a:r>
              <a:rPr sz="1600" i="1" cap="small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cap="small" spc="-50" dirty="0">
                <a:solidFill>
                  <a:srgbClr val="7E7E7E"/>
                </a:solidFill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  <a:p>
            <a:pPr marL="1178560">
              <a:lnSpc>
                <a:spcPts val="1910"/>
              </a:lnSpc>
            </a:pPr>
            <a:r>
              <a:rPr sz="1600" i="1" cap="small" spc="-10" dirty="0">
                <a:solidFill>
                  <a:srgbClr val="7E7E7E"/>
                </a:solidFill>
                <a:latin typeface="Calibri"/>
                <a:cs typeface="Calibri"/>
              </a:rPr>
              <a:t>Neuroticismo</a:t>
            </a:r>
            <a:endParaRPr sz="1600">
              <a:latin typeface="Calibri"/>
              <a:cs typeface="Calibri"/>
            </a:endParaRPr>
          </a:p>
          <a:p>
            <a:pPr marL="811530" lvl="1" indent="-341630">
              <a:lnSpc>
                <a:spcPts val="2150"/>
              </a:lnSpc>
              <a:buFont typeface="Courier New"/>
              <a:buChar char="o"/>
              <a:tabLst>
                <a:tab pos="811530" algn="l"/>
              </a:tabLst>
            </a:pPr>
            <a:r>
              <a:rPr sz="1800" cap="small" dirty="0">
                <a:latin typeface="Calibri"/>
                <a:cs typeface="Calibri"/>
              </a:rPr>
              <a:t>Modelos</a:t>
            </a:r>
            <a:r>
              <a:rPr sz="1800" cap="small" spc="-30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Mentais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85"/>
              </a:spcBef>
              <a:buFont typeface="Courier New"/>
              <a:buChar char="o"/>
            </a:pPr>
            <a:endParaRPr sz="14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DIFERENÇAS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SOCIAIS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5516" y="5932423"/>
            <a:ext cx="34874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54330" algn="l"/>
              </a:tabLst>
            </a:pPr>
            <a:r>
              <a:rPr sz="1800" cap="small" dirty="0">
                <a:latin typeface="Calibri"/>
                <a:cs typeface="Calibri"/>
              </a:rPr>
              <a:t>Objetivos</a:t>
            </a:r>
            <a:r>
              <a:rPr sz="1800" cap="small" spc="40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x</a:t>
            </a:r>
            <a:r>
              <a:rPr sz="1800" cap="small" spc="30" dirty="0">
                <a:latin typeface="Calibri"/>
                <a:cs typeface="Calibri"/>
              </a:rPr>
              <a:t> </a:t>
            </a:r>
            <a:r>
              <a:rPr sz="1800" cap="small" spc="-20" dirty="0">
                <a:latin typeface="Calibri"/>
                <a:cs typeface="Calibri"/>
              </a:rPr>
              <a:t>Motivações</a:t>
            </a:r>
            <a:r>
              <a:rPr sz="1800" cap="small" spc="30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x</a:t>
            </a:r>
            <a:r>
              <a:rPr sz="1800" cap="small" spc="25" dirty="0">
                <a:latin typeface="Calibri"/>
                <a:cs typeface="Calibri"/>
              </a:rPr>
              <a:t> </a:t>
            </a:r>
            <a:r>
              <a:rPr sz="1800" cap="small" spc="-10" dirty="0">
                <a:latin typeface="Calibri"/>
                <a:cs typeface="Calibri"/>
              </a:rPr>
              <a:t>Interesse</a:t>
            </a:r>
            <a:endParaRPr sz="1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buFont typeface="Courier New"/>
              <a:buChar char="o"/>
              <a:tabLst>
                <a:tab pos="354330" algn="l"/>
              </a:tabLst>
            </a:pPr>
            <a:r>
              <a:rPr sz="1800" cap="small" spc="-10" dirty="0">
                <a:latin typeface="Calibri"/>
                <a:cs typeface="Calibri"/>
              </a:rPr>
              <a:t>Homogeneidade</a:t>
            </a:r>
            <a:r>
              <a:rPr sz="1800" cap="small" spc="35" dirty="0">
                <a:latin typeface="Calibri"/>
                <a:cs typeface="Calibri"/>
              </a:rPr>
              <a:t> </a:t>
            </a:r>
            <a:r>
              <a:rPr sz="1800" cap="small" dirty="0">
                <a:latin typeface="Calibri"/>
                <a:cs typeface="Calibri"/>
              </a:rPr>
              <a:t>x</a:t>
            </a:r>
            <a:r>
              <a:rPr sz="1800" cap="small" spc="50" dirty="0">
                <a:latin typeface="Calibri"/>
                <a:cs typeface="Calibri"/>
              </a:rPr>
              <a:t> </a:t>
            </a:r>
            <a:r>
              <a:rPr sz="1800" cap="small" spc="-40" dirty="0">
                <a:latin typeface="Calibri"/>
                <a:cs typeface="Calibri"/>
              </a:rPr>
              <a:t>Heterogeneidade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75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450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PACT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-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05302" y="1345818"/>
            <a:ext cx="2534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17375E"/>
                </a:solidFill>
              </a:rPr>
              <a:t>ATIVIDADES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258316" y="1708284"/>
            <a:ext cx="5887720" cy="449262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001394">
              <a:lnSpc>
                <a:spcPct val="100000"/>
              </a:lnSpc>
              <a:spcBef>
                <a:spcPts val="1850"/>
              </a:spcBef>
            </a:pPr>
            <a:r>
              <a:rPr sz="2800" cap="small" spc="-10" dirty="0">
                <a:latin typeface="Calibri"/>
                <a:cs typeface="Calibri"/>
              </a:rPr>
              <a:t>Características</a:t>
            </a:r>
            <a:r>
              <a:rPr sz="2800" cap="small" spc="45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a</a:t>
            </a:r>
            <a:r>
              <a:rPr sz="2800" cap="small" spc="7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serem</a:t>
            </a:r>
            <a:r>
              <a:rPr sz="2800" cap="small" spc="70" dirty="0">
                <a:latin typeface="Calibri"/>
                <a:cs typeface="Calibri"/>
              </a:rPr>
              <a:t> </a:t>
            </a:r>
            <a:r>
              <a:rPr sz="2800" cap="small" spc="-50" dirty="0">
                <a:latin typeface="Calibri"/>
                <a:cs typeface="Calibri"/>
              </a:rPr>
              <a:t>observadas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ASPECTOS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TEMPORAIS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Regularidade</a:t>
            </a:r>
            <a:r>
              <a:rPr sz="2000" cap="small" spc="9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esporadicidade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Pressão</a:t>
            </a:r>
            <a:r>
              <a:rPr sz="2000" cap="small" spc="4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do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tempo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Execução</a:t>
            </a:r>
            <a:r>
              <a:rPr sz="2000" cap="small" spc="2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contínua</a:t>
            </a:r>
            <a:r>
              <a:rPr sz="2000" cap="small" spc="2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intermitente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Tempo</a:t>
            </a:r>
            <a:r>
              <a:rPr sz="2000" cap="small" spc="6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7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Resposta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COOPERAÇÃO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Execução</a:t>
            </a:r>
            <a:r>
              <a:rPr sz="2000" cap="small" spc="1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individual</a:t>
            </a:r>
            <a:r>
              <a:rPr sz="2000" cap="small" spc="1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ou</a:t>
            </a:r>
            <a:r>
              <a:rPr sz="2000" cap="small" spc="2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colaborativa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COMPLEXIDADE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30" dirty="0">
                <a:latin typeface="Calibri"/>
                <a:cs typeface="Calibri"/>
              </a:rPr>
              <a:t>Tarefas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bem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definidas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20" dirty="0">
                <a:latin typeface="Calibri"/>
                <a:cs typeface="Calibri"/>
              </a:rPr>
              <a:t> </a:t>
            </a:r>
            <a:r>
              <a:rPr sz="2000" cap="small" spc="-25" dirty="0">
                <a:latin typeface="Calibri"/>
                <a:cs typeface="Calibri"/>
              </a:rPr>
              <a:t>tarefas</a:t>
            </a:r>
            <a:r>
              <a:rPr sz="2000" cap="small" spc="3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vagas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CRITICIDADE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QUANTO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SEGURANÇA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Impactos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4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consequências</a:t>
            </a:r>
            <a:r>
              <a:rPr sz="2000" cap="small" spc="8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5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erros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ou</a:t>
            </a:r>
            <a:r>
              <a:rPr sz="2000" cap="small" spc="5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enganos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25" dirty="0">
                <a:latin typeface="Calibri"/>
                <a:cs typeface="Calibri"/>
              </a:rPr>
              <a:t>NATUREZA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CONTEÚDO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5516" y="6174435"/>
            <a:ext cx="51390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Volume</a:t>
            </a:r>
            <a:r>
              <a:rPr sz="2000" cap="small" spc="5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e</a:t>
            </a:r>
            <a:r>
              <a:rPr sz="2000" cap="small" spc="4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forma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dos</a:t>
            </a:r>
            <a:r>
              <a:rPr sz="2000" cap="small" spc="4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dados</a:t>
            </a:r>
            <a:r>
              <a:rPr sz="2000" cap="small" spc="6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3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mídias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spc="-40" dirty="0">
                <a:latin typeface="Calibri"/>
                <a:cs typeface="Calibri"/>
              </a:rPr>
              <a:t>demandadas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755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450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PACT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-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89553" y="1345818"/>
            <a:ext cx="2566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17375E"/>
                </a:solidFill>
              </a:rPr>
              <a:t>CONTEXTOS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258316" y="1708284"/>
            <a:ext cx="6616065" cy="418782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850"/>
              </a:spcBef>
            </a:pPr>
            <a:r>
              <a:rPr sz="2800" cap="small" spc="-25" dirty="0">
                <a:latin typeface="Calibri"/>
                <a:cs typeface="Calibri"/>
              </a:rPr>
              <a:t>Atividades</a:t>
            </a:r>
            <a:r>
              <a:rPr sz="2800" cap="small" spc="2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sempre</a:t>
            </a:r>
            <a:r>
              <a:rPr sz="2800" cap="small" spc="15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acontecem</a:t>
            </a:r>
            <a:r>
              <a:rPr sz="2800" cap="small" spc="2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em</a:t>
            </a:r>
            <a:r>
              <a:rPr sz="2800" cap="small" spc="3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um</a:t>
            </a:r>
            <a:r>
              <a:rPr sz="2800" cap="small" spc="10" dirty="0">
                <a:latin typeface="Calibri"/>
                <a:cs typeface="Calibri"/>
              </a:rPr>
              <a:t> </a:t>
            </a:r>
            <a:r>
              <a:rPr sz="2800" cap="small" spc="-40" dirty="0">
                <a:latin typeface="Calibri"/>
                <a:cs typeface="Calibri"/>
              </a:rPr>
              <a:t>contexto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AMBIENTE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FÍSICO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Interior</a:t>
            </a:r>
            <a:r>
              <a:rPr sz="2000" cap="small" spc="8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Exterior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Luminosidade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Nível</a:t>
            </a:r>
            <a:r>
              <a:rPr sz="2000" cap="small" spc="6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65" dirty="0">
                <a:latin typeface="Calibri"/>
                <a:cs typeface="Calibri"/>
              </a:rPr>
              <a:t> </a:t>
            </a:r>
            <a:r>
              <a:rPr sz="2000" cap="small" spc="-20" dirty="0">
                <a:latin typeface="Calibri"/>
                <a:cs typeface="Calibri"/>
              </a:rPr>
              <a:t>ruído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Umidade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Sujeira...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CONTEXTO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SOCIAL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Ambiente</a:t>
            </a:r>
            <a:r>
              <a:rPr sz="2000" cap="small" spc="1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favorável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Normas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sociais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CONTEXTO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ORGANIZACIONAL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Impacto</a:t>
            </a:r>
            <a:r>
              <a:rPr sz="2000" cap="small" spc="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das</a:t>
            </a:r>
            <a:r>
              <a:rPr sz="2000" cap="small" spc="2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tecnologias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nas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organizações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755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450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PACT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-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63620" y="1345818"/>
            <a:ext cx="3019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17375E"/>
                </a:solidFill>
              </a:rPr>
              <a:t>TECNOLOGIAS</a:t>
            </a:r>
            <a:endParaRPr sz="4000" dirty="0"/>
          </a:p>
        </p:txBody>
      </p:sp>
      <p:sp>
        <p:nvSpPr>
          <p:cNvPr id="10" name="object 10"/>
          <p:cNvSpPr txBox="1"/>
          <p:nvPr/>
        </p:nvSpPr>
        <p:spPr>
          <a:xfrm>
            <a:off x="1258316" y="1708284"/>
            <a:ext cx="6325235" cy="357822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850"/>
              </a:spcBef>
            </a:pPr>
            <a:r>
              <a:rPr sz="2800" cap="small" dirty="0">
                <a:latin typeface="Calibri"/>
                <a:cs typeface="Calibri"/>
              </a:rPr>
              <a:t>Demanda</a:t>
            </a:r>
            <a:r>
              <a:rPr sz="2800" cap="small" spc="6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e</a:t>
            </a:r>
            <a:r>
              <a:rPr sz="2800" cap="small" spc="60" dirty="0">
                <a:latin typeface="Calibri"/>
                <a:cs typeface="Calibri"/>
              </a:rPr>
              <a:t> </a:t>
            </a:r>
            <a:r>
              <a:rPr sz="2800" cap="small" spc="-10" dirty="0">
                <a:latin typeface="Calibri"/>
                <a:cs typeface="Calibri"/>
              </a:rPr>
              <a:t>disponibilidade</a:t>
            </a:r>
            <a:r>
              <a:rPr sz="2800" cap="small" spc="25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de</a:t>
            </a:r>
            <a:r>
              <a:rPr sz="2800" cap="small" spc="50" dirty="0">
                <a:latin typeface="Calibri"/>
                <a:cs typeface="Calibri"/>
              </a:rPr>
              <a:t> </a:t>
            </a:r>
            <a:r>
              <a:rPr sz="2800" cap="small" spc="-30" dirty="0">
                <a:latin typeface="Calibri"/>
                <a:cs typeface="Calibri"/>
              </a:rPr>
              <a:t>tecnologias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ENTRADAS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Teclados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Mouses</a:t>
            </a:r>
            <a:r>
              <a:rPr sz="2000" cap="small" spc="6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4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Apontadores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Touchscreens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Sensores</a:t>
            </a:r>
            <a:r>
              <a:rPr sz="2000" cap="small" spc="6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4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movimento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Monitores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gestos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Interpretação</a:t>
            </a:r>
            <a:r>
              <a:rPr sz="2000" cap="small" spc="1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spc="-25" dirty="0">
                <a:latin typeface="Calibri"/>
                <a:cs typeface="Calibri"/>
              </a:rPr>
              <a:t>Voz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Leitores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Controladores</a:t>
            </a:r>
            <a:r>
              <a:rPr sz="2000" cap="small" spc="5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(controle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spc="-20" dirty="0">
                <a:latin typeface="Calibri"/>
                <a:cs typeface="Calibri"/>
              </a:rPr>
              <a:t>remoto,</a:t>
            </a:r>
            <a:r>
              <a:rPr sz="2000" cap="small" spc="-4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joystick...)...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SAÍDAS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5516" y="5260340"/>
            <a:ext cx="525208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Telas</a:t>
            </a:r>
            <a:r>
              <a:rPr sz="2000" cap="small" spc="7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3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Monitores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Sistemas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spc="-25" dirty="0">
                <a:latin typeface="Calibri"/>
                <a:cs typeface="Calibri"/>
              </a:rPr>
              <a:t>som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Impressoras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(papel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5" dirty="0">
                <a:latin typeface="Calibri"/>
                <a:cs typeface="Calibri"/>
              </a:rPr>
              <a:t> </a:t>
            </a:r>
            <a:r>
              <a:rPr sz="2000" cap="small" spc="-25" dirty="0">
                <a:latin typeface="Calibri"/>
                <a:cs typeface="Calibri"/>
              </a:rPr>
              <a:t>3D)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Estimuladores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sentidos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6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Interfaces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hápticas...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755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5450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PACT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-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316" y="1831975"/>
            <a:ext cx="6325235" cy="357822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850"/>
              </a:spcBef>
            </a:pPr>
            <a:r>
              <a:rPr sz="2800" cap="small" dirty="0">
                <a:latin typeface="Calibri"/>
                <a:cs typeface="Calibri"/>
              </a:rPr>
              <a:t>Demanda</a:t>
            </a:r>
            <a:r>
              <a:rPr sz="2800" cap="small" spc="60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e</a:t>
            </a:r>
            <a:r>
              <a:rPr sz="2800" cap="small" spc="60" dirty="0">
                <a:latin typeface="Calibri"/>
                <a:cs typeface="Calibri"/>
              </a:rPr>
              <a:t> </a:t>
            </a:r>
            <a:r>
              <a:rPr sz="2800" cap="small" spc="-10" dirty="0">
                <a:latin typeface="Calibri"/>
                <a:cs typeface="Calibri"/>
              </a:rPr>
              <a:t>disponibilidade</a:t>
            </a:r>
            <a:r>
              <a:rPr sz="2800" cap="small" spc="25" dirty="0">
                <a:latin typeface="Calibri"/>
                <a:cs typeface="Calibri"/>
              </a:rPr>
              <a:t> </a:t>
            </a:r>
            <a:r>
              <a:rPr sz="2800" cap="small" dirty="0">
                <a:latin typeface="Calibri"/>
                <a:cs typeface="Calibri"/>
              </a:rPr>
              <a:t>de</a:t>
            </a:r>
            <a:r>
              <a:rPr sz="2800" cap="small" spc="50" dirty="0">
                <a:latin typeface="Calibri"/>
                <a:cs typeface="Calibri"/>
              </a:rPr>
              <a:t> </a:t>
            </a:r>
            <a:r>
              <a:rPr sz="2800" cap="small" spc="-30" dirty="0">
                <a:latin typeface="Calibri"/>
                <a:cs typeface="Calibri"/>
              </a:rPr>
              <a:t>tecnologias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COMUNICAÇÃO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Meios</a:t>
            </a:r>
            <a:r>
              <a:rPr sz="2000" cap="small" spc="4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transmissão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e</a:t>
            </a:r>
            <a:r>
              <a:rPr sz="2000" cap="small" spc="50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recepção</a:t>
            </a:r>
            <a:endParaRPr sz="2000" dirty="0">
              <a:latin typeface="Calibri"/>
              <a:cs typeface="Calibri"/>
            </a:endParaRPr>
          </a:p>
          <a:p>
            <a:pPr marL="1269365" lvl="2" indent="-342265">
              <a:lnSpc>
                <a:spcPct val="100000"/>
              </a:lnSpc>
              <a:buFont typeface="Courier New"/>
              <a:buChar char="o"/>
              <a:tabLst>
                <a:tab pos="1269365" algn="l"/>
              </a:tabLst>
            </a:pPr>
            <a:r>
              <a:rPr sz="2000" cap="small" dirty="0">
                <a:latin typeface="Calibri"/>
                <a:cs typeface="Calibri"/>
              </a:rPr>
              <a:t>Telefonia</a:t>
            </a:r>
            <a:r>
              <a:rPr sz="2000" cap="small" spc="7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fixa</a:t>
            </a:r>
            <a:r>
              <a:rPr sz="2000" cap="small" spc="4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3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móvel</a:t>
            </a:r>
            <a:endParaRPr sz="2000" dirty="0">
              <a:latin typeface="Calibri"/>
              <a:cs typeface="Calibri"/>
            </a:endParaRPr>
          </a:p>
          <a:p>
            <a:pPr marL="1269365" lvl="2" indent="-34226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1269365" algn="l"/>
              </a:tabLst>
            </a:pPr>
            <a:r>
              <a:rPr sz="2000" cap="small" dirty="0">
                <a:latin typeface="Calibri"/>
                <a:cs typeface="Calibri"/>
              </a:rPr>
              <a:t>Redes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4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dados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(cabos</a:t>
            </a:r>
            <a:r>
              <a:rPr sz="2000" cap="small" spc="6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4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wireless)</a:t>
            </a:r>
            <a:endParaRPr sz="2000" dirty="0">
              <a:latin typeface="Calibri"/>
              <a:cs typeface="Calibri"/>
            </a:endParaRPr>
          </a:p>
          <a:p>
            <a:pPr marL="1269365" lvl="2" indent="-342265">
              <a:lnSpc>
                <a:spcPct val="100000"/>
              </a:lnSpc>
              <a:buFont typeface="Courier New"/>
              <a:buChar char="o"/>
              <a:tabLst>
                <a:tab pos="1269365" algn="l"/>
              </a:tabLst>
            </a:pPr>
            <a:r>
              <a:rPr sz="2000" cap="small" spc="-10" dirty="0">
                <a:latin typeface="Calibri"/>
                <a:cs typeface="Calibri"/>
              </a:rPr>
              <a:t>Bluetooth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/</a:t>
            </a:r>
            <a:r>
              <a:rPr sz="2000" cap="small" spc="-6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NFC...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spc="-10" dirty="0">
                <a:latin typeface="Calibri"/>
                <a:cs typeface="Calibri"/>
              </a:rPr>
              <a:t>Interoperabilidade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Calibri"/>
                <a:cs typeface="Calibri"/>
              </a:rPr>
              <a:t>CONTEÚDO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Persistência</a:t>
            </a:r>
            <a:r>
              <a:rPr sz="2000" cap="small" spc="35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x</a:t>
            </a:r>
            <a:r>
              <a:rPr sz="2000" cap="small" spc="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Recuperação</a:t>
            </a:r>
            <a:endParaRPr sz="2000" dirty="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Courier New"/>
              <a:buChar char="o"/>
              <a:tabLst>
                <a:tab pos="812165" algn="l"/>
              </a:tabLst>
            </a:pPr>
            <a:r>
              <a:rPr sz="2000" cap="small" dirty="0">
                <a:latin typeface="Calibri"/>
                <a:cs typeface="Calibri"/>
              </a:rPr>
              <a:t>Características</a:t>
            </a:r>
            <a:r>
              <a:rPr sz="2000" cap="small" spc="2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dos</a:t>
            </a:r>
            <a:r>
              <a:rPr sz="2000" cap="small" spc="2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dados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2716" y="5383530"/>
            <a:ext cx="238506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54965" algn="l"/>
              </a:tabLst>
            </a:pPr>
            <a:r>
              <a:rPr sz="2000" cap="small" spc="-10" dirty="0">
                <a:latin typeface="Calibri"/>
                <a:cs typeface="Calibri"/>
              </a:rPr>
              <a:t>Caracteres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Dados</a:t>
            </a:r>
            <a:r>
              <a:rPr sz="2000" cap="small" spc="5" dirty="0">
                <a:latin typeface="Calibri"/>
                <a:cs typeface="Calibri"/>
              </a:rPr>
              <a:t> </a:t>
            </a:r>
            <a:r>
              <a:rPr sz="2000" cap="small" spc="-10" dirty="0">
                <a:latin typeface="Calibri"/>
                <a:cs typeface="Calibri"/>
              </a:rPr>
              <a:t>analógicos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ourier New"/>
              <a:buChar char="o"/>
              <a:tabLst>
                <a:tab pos="354965" algn="l"/>
              </a:tabLst>
            </a:pPr>
            <a:r>
              <a:rPr sz="2000" cap="small" spc="-10" dirty="0">
                <a:latin typeface="Calibri"/>
                <a:cs typeface="Calibri"/>
              </a:rPr>
              <a:t>Multimídia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ourier New"/>
              <a:buChar char="o"/>
              <a:tabLst>
                <a:tab pos="354965" algn="l"/>
              </a:tabLst>
            </a:pPr>
            <a:r>
              <a:rPr sz="2000" cap="small" dirty="0">
                <a:latin typeface="Calibri"/>
                <a:cs typeface="Calibri"/>
              </a:rPr>
              <a:t>Códigos</a:t>
            </a:r>
            <a:r>
              <a:rPr sz="2000" cap="small" spc="50" dirty="0">
                <a:latin typeface="Calibri"/>
                <a:cs typeface="Calibri"/>
              </a:rPr>
              <a:t> </a:t>
            </a:r>
            <a:r>
              <a:rPr sz="2000" cap="small" dirty="0">
                <a:latin typeface="Calibri"/>
                <a:cs typeface="Calibri"/>
              </a:rPr>
              <a:t>de</a:t>
            </a:r>
            <a:r>
              <a:rPr sz="2000" cap="small" spc="55" dirty="0">
                <a:latin typeface="Calibri"/>
                <a:cs typeface="Calibri"/>
              </a:rPr>
              <a:t> </a:t>
            </a:r>
            <a:r>
              <a:rPr sz="2000" cap="small" spc="-50" dirty="0">
                <a:latin typeface="Calibri"/>
                <a:cs typeface="Calibri"/>
              </a:rPr>
              <a:t>Barras...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00C7FC0E-297F-9B71-E339-3B04F3946266}"/>
              </a:ext>
            </a:extLst>
          </p:cNvPr>
          <p:cNvSpPr txBox="1">
            <a:spLocks/>
          </p:cNvSpPr>
          <p:nvPr/>
        </p:nvSpPr>
        <p:spPr>
          <a:xfrm>
            <a:off x="3063620" y="1345818"/>
            <a:ext cx="3019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z="4000" spc="-10">
                <a:solidFill>
                  <a:srgbClr val="17375E"/>
                </a:solidFill>
              </a:rPr>
              <a:t>TECNOLOGIAS</a:t>
            </a:r>
            <a:endParaRPr lang="pt-BR" sz="4000" dirty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ED97D551-04B8-BC10-3BF3-DAAEA727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6466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DESIGN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SISTEMAS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65885" y="1574114"/>
            <a:ext cx="6412865" cy="107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17375E"/>
                </a:solidFill>
              </a:rPr>
              <a:t>PACT</a:t>
            </a:r>
            <a:endParaRPr sz="4000"/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>
                <a:solidFill>
                  <a:srgbClr val="17375E"/>
                </a:solidFill>
              </a:rPr>
              <a:t>P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ESSOAS</a:t>
            </a:r>
            <a:r>
              <a:rPr sz="2250" b="0" spc="1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75E"/>
                </a:solidFill>
              </a:rPr>
              <a:t>A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TIVIDADES</a:t>
            </a:r>
            <a:r>
              <a:rPr sz="2250" b="0" spc="4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9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75E"/>
                </a:solidFill>
              </a:rPr>
              <a:t>C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ONTEXTO</a:t>
            </a:r>
            <a:r>
              <a:rPr sz="2250" b="0" spc="4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17375E"/>
                </a:solidFill>
              </a:rPr>
              <a:t>T</a:t>
            </a:r>
            <a:r>
              <a:rPr sz="2250" b="0" spc="-10" dirty="0">
                <a:solidFill>
                  <a:srgbClr val="17375E"/>
                </a:solidFill>
                <a:latin typeface="Calibri"/>
                <a:cs typeface="Calibri"/>
              </a:rPr>
              <a:t>ECNOLOGIA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0831" y="3950064"/>
            <a:ext cx="3013075" cy="677545"/>
            <a:chOff x="560831" y="3950064"/>
            <a:chExt cx="3013075" cy="6775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36" y="3950064"/>
              <a:ext cx="2927651" cy="6769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31" y="4035564"/>
              <a:ext cx="3012947" cy="5912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2459" y="3965448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285597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2855976" y="605027"/>
                  </a:lnTo>
                  <a:lnTo>
                    <a:pt x="2855976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459" y="3965448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0" y="605027"/>
                  </a:moveTo>
                  <a:lnTo>
                    <a:pt x="2855976" y="605027"/>
                  </a:lnTo>
                  <a:lnTo>
                    <a:pt x="285597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3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979" y="4053852"/>
              <a:ext cx="2932937" cy="5112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33755" y="4104258"/>
            <a:ext cx="265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ATIVIDADES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CONTEXTOS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05329" y="3950064"/>
            <a:ext cx="1957070" cy="677545"/>
            <a:chOff x="6405329" y="3950064"/>
            <a:chExt cx="1957070" cy="67754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5329" y="3950064"/>
              <a:ext cx="1956900" cy="6769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7960" y="4035564"/>
              <a:ext cx="1708403" cy="5912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43472" y="3965448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1885187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1885187" y="605027"/>
                  </a:lnTo>
                  <a:lnTo>
                    <a:pt x="188518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43472" y="3965448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0" y="605027"/>
                  </a:moveTo>
                  <a:lnTo>
                    <a:pt x="1885187" y="605027"/>
                  </a:lnTo>
                  <a:lnTo>
                    <a:pt x="1885187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9108" y="4053852"/>
              <a:ext cx="1628394" cy="51128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712077" y="4104258"/>
            <a:ext cx="1346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TECNOLOGIAS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54880" y="3556787"/>
            <a:ext cx="3008630" cy="325120"/>
            <a:chOff x="3454880" y="3556787"/>
            <a:chExt cx="3008630" cy="32512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4880" y="3556787"/>
              <a:ext cx="3008458" cy="32506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88436" y="3558540"/>
              <a:ext cx="2955290" cy="280670"/>
            </a:xfrm>
            <a:custGeom>
              <a:avLst/>
              <a:gdLst/>
              <a:ahLst/>
              <a:cxnLst/>
              <a:rect l="l" t="t" r="r" b="b"/>
              <a:pathLst>
                <a:path w="2955290" h="280670">
                  <a:moveTo>
                    <a:pt x="2814828" y="0"/>
                  </a:moveTo>
                  <a:lnTo>
                    <a:pt x="2814828" y="70104"/>
                  </a:lnTo>
                  <a:lnTo>
                    <a:pt x="0" y="70104"/>
                  </a:lnTo>
                  <a:lnTo>
                    <a:pt x="0" y="210312"/>
                  </a:lnTo>
                  <a:lnTo>
                    <a:pt x="2814828" y="210312"/>
                  </a:lnTo>
                  <a:lnTo>
                    <a:pt x="2814828" y="280416"/>
                  </a:lnTo>
                  <a:lnTo>
                    <a:pt x="2955036" y="140208"/>
                  </a:lnTo>
                  <a:lnTo>
                    <a:pt x="281482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463997" y="4693691"/>
            <a:ext cx="3008630" cy="325120"/>
            <a:chOff x="3463997" y="4693691"/>
            <a:chExt cx="3008630" cy="32512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3997" y="4693691"/>
              <a:ext cx="3008458" cy="32506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88436" y="4695444"/>
              <a:ext cx="2955290" cy="280670"/>
            </a:xfrm>
            <a:custGeom>
              <a:avLst/>
              <a:gdLst/>
              <a:ahLst/>
              <a:cxnLst/>
              <a:rect l="l" t="t" r="r" b="b"/>
              <a:pathLst>
                <a:path w="2955290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1"/>
                  </a:lnTo>
                  <a:lnTo>
                    <a:pt x="2955036" y="210311"/>
                  </a:lnTo>
                  <a:lnTo>
                    <a:pt x="2955036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22445" y="4000322"/>
            <a:ext cx="1339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F6128"/>
                </a:solidFill>
                <a:latin typeface="Calibri"/>
                <a:cs typeface="Calibri"/>
              </a:rPr>
              <a:t>PESSOAS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5927" y="3320288"/>
            <a:ext cx="10375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77923B"/>
                </a:solidFill>
                <a:latin typeface="Calibri"/>
                <a:cs typeface="Calibri"/>
              </a:rPr>
              <a:t>REQUISITOS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56913" y="4929885"/>
            <a:ext cx="1509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77923B"/>
                </a:solidFill>
                <a:latin typeface="Calibri"/>
                <a:cs typeface="Calibri"/>
              </a:rPr>
              <a:t>OPORTUNIDADES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445764" y="4101084"/>
            <a:ext cx="770255" cy="361315"/>
            <a:chOff x="3445764" y="4101084"/>
            <a:chExt cx="770255" cy="361315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5764" y="4101084"/>
              <a:ext cx="769632" cy="3611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488436" y="4120896"/>
              <a:ext cx="688975" cy="280670"/>
            </a:xfrm>
            <a:custGeom>
              <a:avLst/>
              <a:gdLst/>
              <a:ahLst/>
              <a:cxnLst/>
              <a:rect l="l" t="t" r="r" b="b"/>
              <a:pathLst>
                <a:path w="688975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1"/>
                  </a:lnTo>
                  <a:lnTo>
                    <a:pt x="688848" y="210311"/>
                  </a:lnTo>
                  <a:lnTo>
                    <a:pt x="688848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1952" y="4078249"/>
            <a:ext cx="770255" cy="363220"/>
            <a:chOff x="5711952" y="4078249"/>
            <a:chExt cx="770255" cy="363220"/>
          </a:xfrm>
        </p:grpSpPr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11952" y="4078249"/>
              <a:ext cx="769632" cy="3626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754624" y="4098036"/>
              <a:ext cx="688975" cy="281940"/>
            </a:xfrm>
            <a:custGeom>
              <a:avLst/>
              <a:gdLst/>
              <a:ahLst/>
              <a:cxnLst/>
              <a:rect l="l" t="t" r="r" b="b"/>
              <a:pathLst>
                <a:path w="688975" h="281939">
                  <a:moveTo>
                    <a:pt x="547877" y="0"/>
                  </a:moveTo>
                  <a:lnTo>
                    <a:pt x="547877" y="70484"/>
                  </a:lnTo>
                  <a:lnTo>
                    <a:pt x="0" y="70484"/>
                  </a:lnTo>
                  <a:lnTo>
                    <a:pt x="0" y="211455"/>
                  </a:lnTo>
                  <a:lnTo>
                    <a:pt x="547877" y="211455"/>
                  </a:lnTo>
                  <a:lnTo>
                    <a:pt x="547877" y="281939"/>
                  </a:lnTo>
                  <a:lnTo>
                    <a:pt x="688848" y="140969"/>
                  </a:lnTo>
                  <a:lnTo>
                    <a:pt x="54787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ts val="1240"/>
              </a:lnSpc>
            </a:pPr>
            <a:fld id="{81D60167-4931-47E6-BA6A-407CBD079E47}" type="slidenum">
              <a:rPr spc="-50" dirty="0"/>
              <a:t>27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141491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5990591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59523" y="1461190"/>
            <a:ext cx="3470275" cy="908685"/>
            <a:chOff x="859523" y="1612319"/>
            <a:chExt cx="3470275" cy="908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523" y="1612319"/>
              <a:ext cx="3470171" cy="9084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7635" y="1627632"/>
              <a:ext cx="3398520" cy="836930"/>
            </a:xfrm>
            <a:custGeom>
              <a:avLst/>
              <a:gdLst/>
              <a:ahLst/>
              <a:cxnLst/>
              <a:rect l="l" t="t" r="r" b="b"/>
              <a:pathLst>
                <a:path w="3398520" h="836930">
                  <a:moveTo>
                    <a:pt x="3398520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3398520" y="836676"/>
                  </a:lnTo>
                  <a:lnTo>
                    <a:pt x="3398520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7635" y="1627632"/>
              <a:ext cx="3398520" cy="836930"/>
            </a:xfrm>
            <a:custGeom>
              <a:avLst/>
              <a:gdLst/>
              <a:ahLst/>
              <a:cxnLst/>
              <a:rect l="l" t="t" r="r" b="b"/>
              <a:pathLst>
                <a:path w="3398520" h="836930">
                  <a:moveTo>
                    <a:pt x="0" y="836676"/>
                  </a:moveTo>
                  <a:lnTo>
                    <a:pt x="3398520" y="836676"/>
                  </a:lnTo>
                  <a:lnTo>
                    <a:pt x="3398520" y="0"/>
                  </a:lnTo>
                  <a:lnTo>
                    <a:pt x="0" y="0"/>
                  </a:lnTo>
                  <a:lnTo>
                    <a:pt x="0" y="836676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070335" y="1461190"/>
            <a:ext cx="3470275" cy="908685"/>
            <a:chOff x="5070335" y="1612319"/>
            <a:chExt cx="3470275" cy="9086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0335" y="1612319"/>
              <a:ext cx="3470171" cy="9084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08447" y="1627632"/>
              <a:ext cx="3398520" cy="836930"/>
            </a:xfrm>
            <a:custGeom>
              <a:avLst/>
              <a:gdLst/>
              <a:ahLst/>
              <a:cxnLst/>
              <a:rect l="l" t="t" r="r" b="b"/>
              <a:pathLst>
                <a:path w="3398520" h="836930">
                  <a:moveTo>
                    <a:pt x="3398520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3398520" y="836676"/>
                  </a:lnTo>
                  <a:lnTo>
                    <a:pt x="3398520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08447" y="1627632"/>
              <a:ext cx="3398520" cy="836930"/>
            </a:xfrm>
            <a:custGeom>
              <a:avLst/>
              <a:gdLst/>
              <a:ahLst/>
              <a:cxnLst/>
              <a:rect l="l" t="t" r="r" b="b"/>
              <a:pathLst>
                <a:path w="3398520" h="836930">
                  <a:moveTo>
                    <a:pt x="0" y="836676"/>
                  </a:moveTo>
                  <a:lnTo>
                    <a:pt x="3398520" y="836676"/>
                  </a:lnTo>
                  <a:lnTo>
                    <a:pt x="3398520" y="0"/>
                  </a:lnTo>
                  <a:lnTo>
                    <a:pt x="0" y="0"/>
                  </a:lnTo>
                  <a:lnTo>
                    <a:pt x="0" y="836676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7152" y="3193978"/>
            <a:ext cx="2587815" cy="90843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156443" y="5028925"/>
            <a:ext cx="5001895" cy="1330960"/>
            <a:chOff x="2156443" y="5180054"/>
            <a:chExt cx="5001895" cy="13309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6443" y="5180054"/>
              <a:ext cx="5001801" cy="12954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33800" y="5576315"/>
              <a:ext cx="1845564" cy="9342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94559" y="5195315"/>
              <a:ext cx="4930140" cy="1224280"/>
            </a:xfrm>
            <a:custGeom>
              <a:avLst/>
              <a:gdLst/>
              <a:ahLst/>
              <a:cxnLst/>
              <a:rect l="l" t="t" r="r" b="b"/>
              <a:pathLst>
                <a:path w="4930140" h="1224279">
                  <a:moveTo>
                    <a:pt x="4930140" y="0"/>
                  </a:moveTo>
                  <a:lnTo>
                    <a:pt x="0" y="0"/>
                  </a:lnTo>
                  <a:lnTo>
                    <a:pt x="0" y="1223772"/>
                  </a:lnTo>
                  <a:lnTo>
                    <a:pt x="4930140" y="1223772"/>
                  </a:lnTo>
                  <a:lnTo>
                    <a:pt x="4930140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94559" y="5195315"/>
              <a:ext cx="4930140" cy="1224280"/>
            </a:xfrm>
            <a:custGeom>
              <a:avLst/>
              <a:gdLst/>
              <a:ahLst/>
              <a:cxnLst/>
              <a:rect l="l" t="t" r="r" b="b"/>
              <a:pathLst>
                <a:path w="4930140" h="1224279">
                  <a:moveTo>
                    <a:pt x="0" y="1223772"/>
                  </a:moveTo>
                  <a:lnTo>
                    <a:pt x="4930140" y="1223772"/>
                  </a:lnTo>
                  <a:lnTo>
                    <a:pt x="4930140" y="0"/>
                  </a:lnTo>
                  <a:lnTo>
                    <a:pt x="0" y="0"/>
                  </a:lnTo>
                  <a:lnTo>
                    <a:pt x="0" y="1223772"/>
                  </a:lnTo>
                  <a:close/>
                </a:path>
              </a:pathLst>
            </a:custGeom>
            <a:ln w="9143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5662" y="721233"/>
            <a:ext cx="753729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PROCESSOS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DESIGN</a:t>
            </a:r>
            <a:r>
              <a:rPr lang="pt-BR" sz="2800" b="1" spc="-1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(Preece, Rogers &amp; Sharp)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224178" y="1614628"/>
            <a:ext cx="28105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ENTENDIMENTO</a:t>
            </a:r>
            <a:endParaRPr sz="3200"/>
          </a:p>
        </p:txBody>
      </p:sp>
      <p:sp>
        <p:nvSpPr>
          <p:cNvPr id="20" name="object 20"/>
          <p:cNvSpPr txBox="1"/>
          <p:nvPr/>
        </p:nvSpPr>
        <p:spPr>
          <a:xfrm>
            <a:off x="5598667" y="1614628"/>
            <a:ext cx="24231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30" dirty="0">
                <a:latin typeface="Calibri"/>
                <a:cs typeface="Calibri"/>
              </a:rPr>
              <a:t>ANTECIPAÇÃO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15284" y="3209291"/>
            <a:ext cx="2516505" cy="836930"/>
          </a:xfrm>
          <a:prstGeom prst="rect">
            <a:avLst/>
          </a:prstGeom>
          <a:solidFill>
            <a:srgbClr val="C3D59B"/>
          </a:solidFill>
          <a:ln w="9144">
            <a:solidFill>
              <a:srgbClr val="4F6128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330"/>
              </a:spcBef>
            </a:pPr>
            <a:r>
              <a:rPr sz="3200" b="1" spc="-10" dirty="0">
                <a:latin typeface="Calibri"/>
                <a:cs typeface="Calibri"/>
              </a:rPr>
              <a:t>AVALIAÇÃO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10992" y="5207661"/>
            <a:ext cx="3971925" cy="833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CONCEITUAL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FÍSICO</a:t>
            </a:r>
            <a:endParaRPr sz="2000">
              <a:latin typeface="Calibri"/>
              <a:cs typeface="Calibri"/>
            </a:endParaRPr>
          </a:p>
          <a:p>
            <a:pPr marL="127000" algn="ctr">
              <a:lnSpc>
                <a:spcPct val="100000"/>
              </a:lnSpc>
              <a:spcBef>
                <a:spcPts val="120"/>
              </a:spcBef>
            </a:pPr>
            <a:r>
              <a:rPr sz="3200" b="1" spc="-10" dirty="0"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84671" y="2390847"/>
            <a:ext cx="594995" cy="793115"/>
            <a:chOff x="2884671" y="2541976"/>
            <a:chExt cx="594995" cy="79311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84671" y="2541976"/>
              <a:ext cx="594918" cy="79256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09188" y="2542793"/>
              <a:ext cx="550545" cy="740410"/>
            </a:xfrm>
            <a:custGeom>
              <a:avLst/>
              <a:gdLst/>
              <a:ahLst/>
              <a:cxnLst/>
              <a:rect l="l" t="t" r="r" b="b"/>
              <a:pathLst>
                <a:path w="550545" h="740410">
                  <a:moveTo>
                    <a:pt x="68961" y="0"/>
                  </a:moveTo>
                  <a:lnTo>
                    <a:pt x="0" y="242696"/>
                  </a:lnTo>
                  <a:lnTo>
                    <a:pt x="77850" y="199262"/>
                  </a:lnTo>
                  <a:lnTo>
                    <a:pt x="316738" y="627760"/>
                  </a:lnTo>
                  <a:lnTo>
                    <a:pt x="238760" y="671067"/>
                  </a:lnTo>
                  <a:lnTo>
                    <a:pt x="481457" y="740155"/>
                  </a:lnTo>
                  <a:lnTo>
                    <a:pt x="550418" y="497458"/>
                  </a:lnTo>
                  <a:lnTo>
                    <a:pt x="472439" y="540892"/>
                  </a:lnTo>
                  <a:lnTo>
                    <a:pt x="233680" y="112394"/>
                  </a:lnTo>
                  <a:lnTo>
                    <a:pt x="311658" y="68960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879331" y="2390847"/>
            <a:ext cx="594995" cy="793115"/>
            <a:chOff x="5879331" y="2541976"/>
            <a:chExt cx="594995" cy="79311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9331" y="2541976"/>
              <a:ext cx="594918" cy="79256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903721" y="2542793"/>
              <a:ext cx="550545" cy="740410"/>
            </a:xfrm>
            <a:custGeom>
              <a:avLst/>
              <a:gdLst/>
              <a:ahLst/>
              <a:cxnLst/>
              <a:rect l="l" t="t" r="r" b="b"/>
              <a:pathLst>
                <a:path w="550545" h="740410">
                  <a:moveTo>
                    <a:pt x="481456" y="0"/>
                  </a:moveTo>
                  <a:lnTo>
                    <a:pt x="238760" y="68960"/>
                  </a:lnTo>
                  <a:lnTo>
                    <a:pt x="316738" y="112394"/>
                  </a:lnTo>
                  <a:lnTo>
                    <a:pt x="77977" y="540892"/>
                  </a:lnTo>
                  <a:lnTo>
                    <a:pt x="0" y="497458"/>
                  </a:lnTo>
                  <a:lnTo>
                    <a:pt x="68961" y="740155"/>
                  </a:lnTo>
                  <a:lnTo>
                    <a:pt x="311657" y="671067"/>
                  </a:lnTo>
                  <a:lnTo>
                    <a:pt x="233679" y="627760"/>
                  </a:lnTo>
                  <a:lnTo>
                    <a:pt x="472439" y="199262"/>
                  </a:lnTo>
                  <a:lnTo>
                    <a:pt x="550417" y="242696"/>
                  </a:lnTo>
                  <a:lnTo>
                    <a:pt x="481456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854707" y="4096259"/>
            <a:ext cx="5637530" cy="1431290"/>
            <a:chOff x="1854707" y="4247388"/>
            <a:chExt cx="5637530" cy="143129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53127" y="4247388"/>
              <a:ext cx="437349" cy="9281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95800" y="4267200"/>
              <a:ext cx="356870" cy="847725"/>
            </a:xfrm>
            <a:custGeom>
              <a:avLst/>
              <a:gdLst/>
              <a:ahLst/>
              <a:cxnLst/>
              <a:rect l="l" t="t" r="r" b="b"/>
              <a:pathLst>
                <a:path w="356870" h="847725">
                  <a:moveTo>
                    <a:pt x="178308" y="0"/>
                  </a:moveTo>
                  <a:lnTo>
                    <a:pt x="0" y="178307"/>
                  </a:lnTo>
                  <a:lnTo>
                    <a:pt x="89153" y="178307"/>
                  </a:lnTo>
                  <a:lnTo>
                    <a:pt x="89153" y="669036"/>
                  </a:lnTo>
                  <a:lnTo>
                    <a:pt x="0" y="669036"/>
                  </a:lnTo>
                  <a:lnTo>
                    <a:pt x="178308" y="847344"/>
                  </a:lnTo>
                  <a:lnTo>
                    <a:pt x="356615" y="669036"/>
                  </a:lnTo>
                  <a:lnTo>
                    <a:pt x="267462" y="669036"/>
                  </a:lnTo>
                  <a:lnTo>
                    <a:pt x="267462" y="178307"/>
                  </a:lnTo>
                  <a:lnTo>
                    <a:pt x="356615" y="178307"/>
                  </a:lnTo>
                  <a:lnTo>
                    <a:pt x="178308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4707" y="5442204"/>
              <a:ext cx="769632" cy="2361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897633" y="5500624"/>
              <a:ext cx="611505" cy="78105"/>
            </a:xfrm>
            <a:custGeom>
              <a:avLst/>
              <a:gdLst/>
              <a:ahLst/>
              <a:cxnLst/>
              <a:rect l="l" t="t" r="r" b="b"/>
              <a:pathLst>
                <a:path w="611505" h="78104">
                  <a:moveTo>
                    <a:pt x="534924" y="0"/>
                  </a:moveTo>
                  <a:lnTo>
                    <a:pt x="533952" y="25799"/>
                  </a:lnTo>
                  <a:lnTo>
                    <a:pt x="546862" y="26288"/>
                  </a:lnTo>
                  <a:lnTo>
                    <a:pt x="545973" y="52196"/>
                  </a:lnTo>
                  <a:lnTo>
                    <a:pt x="532959" y="52196"/>
                  </a:lnTo>
                  <a:lnTo>
                    <a:pt x="532003" y="77597"/>
                  </a:lnTo>
                  <a:lnTo>
                    <a:pt x="588117" y="52196"/>
                  </a:lnTo>
                  <a:lnTo>
                    <a:pt x="545973" y="52196"/>
                  </a:lnTo>
                  <a:lnTo>
                    <a:pt x="532977" y="51704"/>
                  </a:lnTo>
                  <a:lnTo>
                    <a:pt x="589205" y="51704"/>
                  </a:lnTo>
                  <a:lnTo>
                    <a:pt x="611124" y="41782"/>
                  </a:lnTo>
                  <a:lnTo>
                    <a:pt x="534924" y="0"/>
                  </a:lnTo>
                  <a:close/>
                </a:path>
                <a:path w="611505" h="78104">
                  <a:moveTo>
                    <a:pt x="533952" y="25799"/>
                  </a:moveTo>
                  <a:lnTo>
                    <a:pt x="532977" y="51704"/>
                  </a:lnTo>
                  <a:lnTo>
                    <a:pt x="545973" y="52196"/>
                  </a:lnTo>
                  <a:lnTo>
                    <a:pt x="546862" y="26288"/>
                  </a:lnTo>
                  <a:lnTo>
                    <a:pt x="533952" y="25799"/>
                  </a:lnTo>
                  <a:close/>
                </a:path>
                <a:path w="611505" h="78104">
                  <a:moveTo>
                    <a:pt x="1016" y="5587"/>
                  </a:moveTo>
                  <a:lnTo>
                    <a:pt x="0" y="31495"/>
                  </a:lnTo>
                  <a:lnTo>
                    <a:pt x="532977" y="51704"/>
                  </a:lnTo>
                  <a:lnTo>
                    <a:pt x="533952" y="25799"/>
                  </a:lnTo>
                  <a:lnTo>
                    <a:pt x="1016" y="5587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44055" y="5442204"/>
              <a:ext cx="947915" cy="23615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665213" y="5501259"/>
              <a:ext cx="788035" cy="78105"/>
            </a:xfrm>
            <a:custGeom>
              <a:avLst/>
              <a:gdLst/>
              <a:ahLst/>
              <a:cxnLst/>
              <a:rect l="l" t="t" r="r" b="b"/>
              <a:pathLst>
                <a:path w="788034" h="78104">
                  <a:moveTo>
                    <a:pt x="76580" y="0"/>
                  </a:moveTo>
                  <a:lnTo>
                    <a:pt x="0" y="41147"/>
                  </a:lnTo>
                  <a:lnTo>
                    <a:pt x="78866" y="77723"/>
                  </a:lnTo>
                  <a:lnTo>
                    <a:pt x="78116" y="52196"/>
                  </a:lnTo>
                  <a:lnTo>
                    <a:pt x="65150" y="52196"/>
                  </a:lnTo>
                  <a:lnTo>
                    <a:pt x="64388" y="26288"/>
                  </a:lnTo>
                  <a:lnTo>
                    <a:pt x="77342" y="25906"/>
                  </a:lnTo>
                  <a:lnTo>
                    <a:pt x="76580" y="0"/>
                  </a:lnTo>
                  <a:close/>
                </a:path>
                <a:path w="788034" h="78104">
                  <a:moveTo>
                    <a:pt x="77342" y="25906"/>
                  </a:moveTo>
                  <a:lnTo>
                    <a:pt x="64388" y="26288"/>
                  </a:lnTo>
                  <a:lnTo>
                    <a:pt x="65150" y="52196"/>
                  </a:lnTo>
                  <a:lnTo>
                    <a:pt x="78104" y="51814"/>
                  </a:lnTo>
                  <a:lnTo>
                    <a:pt x="77342" y="25906"/>
                  </a:lnTo>
                  <a:close/>
                </a:path>
                <a:path w="788034" h="78104">
                  <a:moveTo>
                    <a:pt x="78104" y="51814"/>
                  </a:moveTo>
                  <a:lnTo>
                    <a:pt x="65150" y="52196"/>
                  </a:lnTo>
                  <a:lnTo>
                    <a:pt x="78116" y="52196"/>
                  </a:lnTo>
                  <a:lnTo>
                    <a:pt x="78104" y="51814"/>
                  </a:lnTo>
                  <a:close/>
                </a:path>
                <a:path w="788034" h="78104">
                  <a:moveTo>
                    <a:pt x="787272" y="4952"/>
                  </a:moveTo>
                  <a:lnTo>
                    <a:pt x="77342" y="25906"/>
                  </a:lnTo>
                  <a:lnTo>
                    <a:pt x="78104" y="51814"/>
                  </a:lnTo>
                  <a:lnTo>
                    <a:pt x="788034" y="30860"/>
                  </a:lnTo>
                  <a:lnTo>
                    <a:pt x="787272" y="4952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72872" y="2904872"/>
            <a:ext cx="1319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FRAMEWORK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20" dirty="0">
                <a:solidFill>
                  <a:srgbClr val="17375E"/>
                </a:solidFill>
                <a:latin typeface="Calibri"/>
                <a:cs typeface="Calibri"/>
              </a:rPr>
              <a:t>PACT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81455" y="2066265"/>
            <a:ext cx="683260" cy="887094"/>
            <a:chOff x="981455" y="2217394"/>
            <a:chExt cx="683260" cy="887094"/>
          </a:xfrm>
        </p:grpSpPr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1455" y="2217394"/>
              <a:ext cx="682739" cy="88699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23480" y="2318766"/>
              <a:ext cx="523875" cy="727710"/>
            </a:xfrm>
            <a:custGeom>
              <a:avLst/>
              <a:gdLst/>
              <a:ahLst/>
              <a:cxnLst/>
              <a:rect l="l" t="t" r="r" b="b"/>
              <a:pathLst>
                <a:path w="523875" h="727710">
                  <a:moveTo>
                    <a:pt x="467990" y="55752"/>
                  </a:moveTo>
                  <a:lnTo>
                    <a:pt x="0" y="712597"/>
                  </a:lnTo>
                  <a:lnTo>
                    <a:pt x="21107" y="727583"/>
                  </a:lnTo>
                  <a:lnTo>
                    <a:pt x="489208" y="70848"/>
                  </a:lnTo>
                  <a:lnTo>
                    <a:pt x="467990" y="55752"/>
                  </a:lnTo>
                  <a:close/>
                </a:path>
                <a:path w="523875" h="727710">
                  <a:moveTo>
                    <a:pt x="516611" y="45212"/>
                  </a:moveTo>
                  <a:lnTo>
                    <a:pt x="475500" y="45212"/>
                  </a:lnTo>
                  <a:lnTo>
                    <a:pt x="496709" y="60325"/>
                  </a:lnTo>
                  <a:lnTo>
                    <a:pt x="489208" y="70848"/>
                  </a:lnTo>
                  <a:lnTo>
                    <a:pt x="510298" y="85851"/>
                  </a:lnTo>
                  <a:lnTo>
                    <a:pt x="516611" y="45212"/>
                  </a:lnTo>
                  <a:close/>
                </a:path>
                <a:path w="523875" h="727710">
                  <a:moveTo>
                    <a:pt x="475500" y="45212"/>
                  </a:moveTo>
                  <a:lnTo>
                    <a:pt x="467990" y="55752"/>
                  </a:lnTo>
                  <a:lnTo>
                    <a:pt x="489208" y="70848"/>
                  </a:lnTo>
                  <a:lnTo>
                    <a:pt x="496709" y="60325"/>
                  </a:lnTo>
                  <a:lnTo>
                    <a:pt x="475500" y="45212"/>
                  </a:lnTo>
                  <a:close/>
                </a:path>
                <a:path w="523875" h="727710">
                  <a:moveTo>
                    <a:pt x="523633" y="0"/>
                  </a:moveTo>
                  <a:lnTo>
                    <a:pt x="446925" y="40767"/>
                  </a:lnTo>
                  <a:lnTo>
                    <a:pt x="467990" y="55752"/>
                  </a:lnTo>
                  <a:lnTo>
                    <a:pt x="475500" y="45212"/>
                  </a:lnTo>
                  <a:lnTo>
                    <a:pt x="516611" y="45212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082155" y="2904872"/>
            <a:ext cx="13608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 algn="just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WIREFRAMES </a:t>
            </a:r>
            <a:r>
              <a:rPr sz="1800" b="1" dirty="0">
                <a:solidFill>
                  <a:srgbClr val="17375E"/>
                </a:solidFill>
                <a:latin typeface="Calibri"/>
                <a:cs typeface="Calibri"/>
              </a:rPr>
              <a:t>MOCKUPS</a:t>
            </a:r>
            <a:r>
              <a:rPr sz="1800" b="1" spc="-4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7375E"/>
                </a:solidFill>
                <a:latin typeface="Calibri"/>
                <a:cs typeface="Calibri"/>
              </a:rPr>
              <a:t>OU </a:t>
            </a: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PROTÓTIPOS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71716" y="2095221"/>
            <a:ext cx="683260" cy="887094"/>
            <a:chOff x="6871716" y="2246350"/>
            <a:chExt cx="683260" cy="887094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71716" y="2246350"/>
              <a:ext cx="682739" cy="8869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992874" y="2347722"/>
              <a:ext cx="523875" cy="727710"/>
            </a:xfrm>
            <a:custGeom>
              <a:avLst/>
              <a:gdLst/>
              <a:ahLst/>
              <a:cxnLst/>
              <a:rect l="l" t="t" r="r" b="b"/>
              <a:pathLst>
                <a:path w="523875" h="727710">
                  <a:moveTo>
                    <a:pt x="55658" y="55772"/>
                  </a:moveTo>
                  <a:lnTo>
                    <a:pt x="34536" y="70829"/>
                  </a:lnTo>
                  <a:lnTo>
                    <a:pt x="502539" y="727582"/>
                  </a:lnTo>
                  <a:lnTo>
                    <a:pt x="523748" y="712597"/>
                  </a:lnTo>
                  <a:lnTo>
                    <a:pt x="55658" y="55772"/>
                  </a:lnTo>
                  <a:close/>
                </a:path>
                <a:path w="523875" h="727710">
                  <a:moveTo>
                    <a:pt x="0" y="0"/>
                  </a:moveTo>
                  <a:lnTo>
                    <a:pt x="13461" y="85851"/>
                  </a:lnTo>
                  <a:lnTo>
                    <a:pt x="34536" y="70829"/>
                  </a:lnTo>
                  <a:lnTo>
                    <a:pt x="27050" y="60325"/>
                  </a:lnTo>
                  <a:lnTo>
                    <a:pt x="48132" y="45212"/>
                  </a:lnTo>
                  <a:lnTo>
                    <a:pt x="70472" y="45212"/>
                  </a:lnTo>
                  <a:lnTo>
                    <a:pt x="76707" y="40766"/>
                  </a:lnTo>
                  <a:lnTo>
                    <a:pt x="0" y="0"/>
                  </a:lnTo>
                  <a:close/>
                </a:path>
                <a:path w="523875" h="727710">
                  <a:moveTo>
                    <a:pt x="48132" y="45212"/>
                  </a:moveTo>
                  <a:lnTo>
                    <a:pt x="27050" y="60325"/>
                  </a:lnTo>
                  <a:lnTo>
                    <a:pt x="34536" y="70829"/>
                  </a:lnTo>
                  <a:lnTo>
                    <a:pt x="55658" y="55772"/>
                  </a:lnTo>
                  <a:lnTo>
                    <a:pt x="48132" y="45212"/>
                  </a:lnTo>
                  <a:close/>
                </a:path>
                <a:path w="523875" h="727710">
                  <a:moveTo>
                    <a:pt x="70472" y="45212"/>
                  </a:moveTo>
                  <a:lnTo>
                    <a:pt x="48132" y="45212"/>
                  </a:lnTo>
                  <a:lnTo>
                    <a:pt x="55658" y="55772"/>
                  </a:lnTo>
                  <a:lnTo>
                    <a:pt x="70472" y="45212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1243" y="5063237"/>
            <a:ext cx="15100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DESCRITIVO</a:t>
            </a:r>
            <a:r>
              <a:rPr sz="1800" b="1" spc="-1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7375E"/>
                </a:solidFill>
                <a:latin typeface="Calibri"/>
                <a:cs typeface="Calibri"/>
              </a:rPr>
              <a:t>OU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ILUSTRATIVO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xfrm>
            <a:off x="8481694" y="6112003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7542021" y="5063237"/>
            <a:ext cx="12827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FORMA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“DEFINITIVA”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36F4CF6-717C-F88E-673A-42DC3C938942}"/>
              </a:ext>
            </a:extLst>
          </p:cNvPr>
          <p:cNvSpPr txBox="1"/>
          <p:nvPr/>
        </p:nvSpPr>
        <p:spPr>
          <a:xfrm>
            <a:off x="-76200" y="6579651"/>
            <a:ext cx="48253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/>
              <a:t>Adaptado de: Preece, Rogers &amp; Sharp – Design de Interação - 2007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4E5C-0CB8-57B3-B91C-EFA69455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6A40B8-8265-5490-1406-B7D551991699}"/>
              </a:ext>
            </a:extLst>
          </p:cNvPr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C26A6CE-2F63-78F8-6878-3F85C5559863}"/>
              </a:ext>
            </a:extLst>
          </p:cNvPr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B02CEE-32F7-EFDD-6EC1-22EE86F73AB6}"/>
              </a:ext>
            </a:extLst>
          </p:cNvPr>
          <p:cNvSpPr/>
          <p:nvPr/>
        </p:nvSpPr>
        <p:spPr>
          <a:xfrm>
            <a:off x="1153667" y="301599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2" y="0"/>
                </a:moveTo>
                <a:lnTo>
                  <a:pt x="349757" y="0"/>
                </a:lnTo>
                <a:lnTo>
                  <a:pt x="0" y="699515"/>
                </a:lnTo>
                <a:lnTo>
                  <a:pt x="349757" y="1399031"/>
                </a:lnTo>
                <a:lnTo>
                  <a:pt x="1273302" y="1399031"/>
                </a:lnTo>
                <a:lnTo>
                  <a:pt x="1623059" y="699515"/>
                </a:lnTo>
                <a:lnTo>
                  <a:pt x="127330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2F8E256-883A-04A8-6039-8F819E36FF21}"/>
              </a:ext>
            </a:extLst>
          </p:cNvPr>
          <p:cNvSpPr txBox="1"/>
          <p:nvPr/>
        </p:nvSpPr>
        <p:spPr>
          <a:xfrm>
            <a:off x="1575308" y="3485133"/>
            <a:ext cx="7823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CRIAR</a:t>
            </a:r>
            <a:endParaRPr sz="13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“EMPATIA”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674FCCD-09CC-9DF9-6F86-AFBA645DA10B}"/>
              </a:ext>
            </a:extLst>
          </p:cNvPr>
          <p:cNvSpPr/>
          <p:nvPr/>
        </p:nvSpPr>
        <p:spPr>
          <a:xfrm>
            <a:off x="2470404" y="3715511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1" y="0"/>
                </a:moveTo>
                <a:lnTo>
                  <a:pt x="349757" y="0"/>
                </a:lnTo>
                <a:lnTo>
                  <a:pt x="0" y="699515"/>
                </a:lnTo>
                <a:lnTo>
                  <a:pt x="349757" y="1399032"/>
                </a:lnTo>
                <a:lnTo>
                  <a:pt x="1273301" y="1399032"/>
                </a:lnTo>
                <a:lnTo>
                  <a:pt x="1623059" y="699515"/>
                </a:lnTo>
                <a:lnTo>
                  <a:pt x="127330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18596BF-9040-B83C-CEBA-82EE74BE24C4}"/>
              </a:ext>
            </a:extLst>
          </p:cNvPr>
          <p:cNvSpPr txBox="1"/>
          <p:nvPr/>
        </p:nvSpPr>
        <p:spPr>
          <a:xfrm>
            <a:off x="2916427" y="4185920"/>
            <a:ext cx="7327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ANALISE</a:t>
            </a:r>
            <a:r>
              <a:rPr sz="13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B435151-7CC5-C9B5-3A21-66EC6DB6719C}"/>
              </a:ext>
            </a:extLst>
          </p:cNvPr>
          <p:cNvSpPr/>
          <p:nvPr/>
        </p:nvSpPr>
        <p:spPr>
          <a:xfrm>
            <a:off x="3787140" y="301599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2" y="0"/>
                </a:moveTo>
                <a:lnTo>
                  <a:pt x="349758" y="0"/>
                </a:lnTo>
                <a:lnTo>
                  <a:pt x="0" y="699515"/>
                </a:lnTo>
                <a:lnTo>
                  <a:pt x="349758" y="1399031"/>
                </a:lnTo>
                <a:lnTo>
                  <a:pt x="1273302" y="1399031"/>
                </a:lnTo>
                <a:lnTo>
                  <a:pt x="1623060" y="699515"/>
                </a:lnTo>
                <a:lnTo>
                  <a:pt x="127330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62ACA47-2029-A0F9-F177-4A1F11866498}"/>
              </a:ext>
            </a:extLst>
          </p:cNvPr>
          <p:cNvSpPr txBox="1"/>
          <p:nvPr/>
        </p:nvSpPr>
        <p:spPr>
          <a:xfrm>
            <a:off x="4347464" y="3485133"/>
            <a:ext cx="5029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GERAR</a:t>
            </a:r>
            <a:endParaRPr sz="1350">
              <a:latin typeface="Calibri"/>
              <a:cs typeface="Calibri"/>
            </a:endParaRPr>
          </a:p>
          <a:p>
            <a:pPr marL="24765">
              <a:lnSpc>
                <a:spcPct val="100000"/>
              </a:lnSpc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IDEIAS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22ED073-D5CC-4F8C-5500-F56DBAA1B50C}"/>
              </a:ext>
            </a:extLst>
          </p:cNvPr>
          <p:cNvSpPr/>
          <p:nvPr/>
        </p:nvSpPr>
        <p:spPr>
          <a:xfrm>
            <a:off x="5103876" y="372465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59" h="1399539">
                <a:moveTo>
                  <a:pt x="1273302" y="0"/>
                </a:moveTo>
                <a:lnTo>
                  <a:pt x="349758" y="0"/>
                </a:lnTo>
                <a:lnTo>
                  <a:pt x="0" y="699516"/>
                </a:lnTo>
                <a:lnTo>
                  <a:pt x="349758" y="1399032"/>
                </a:lnTo>
                <a:lnTo>
                  <a:pt x="1273302" y="1399032"/>
                </a:lnTo>
                <a:lnTo>
                  <a:pt x="1623059" y="699516"/>
                </a:lnTo>
                <a:lnTo>
                  <a:pt x="1273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52EC896-A6BA-35D0-42C6-3134F18C0B7C}"/>
              </a:ext>
            </a:extLst>
          </p:cNvPr>
          <p:cNvSpPr txBox="1"/>
          <p:nvPr/>
        </p:nvSpPr>
        <p:spPr>
          <a:xfrm>
            <a:off x="5466079" y="4297171"/>
            <a:ext cx="9023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PROTOTIPAR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1FB8094-CD55-AF58-EAAA-4ED66DBE6863}"/>
              </a:ext>
            </a:extLst>
          </p:cNvPr>
          <p:cNvSpPr/>
          <p:nvPr/>
        </p:nvSpPr>
        <p:spPr>
          <a:xfrm>
            <a:off x="6420611" y="4424171"/>
            <a:ext cx="1621790" cy="1397635"/>
          </a:xfrm>
          <a:custGeom>
            <a:avLst/>
            <a:gdLst/>
            <a:ahLst/>
            <a:cxnLst/>
            <a:rect l="l" t="t" r="r" b="b"/>
            <a:pathLst>
              <a:path w="1621790" h="1397635">
                <a:moveTo>
                  <a:pt x="1272159" y="0"/>
                </a:moveTo>
                <a:lnTo>
                  <a:pt x="349377" y="0"/>
                </a:lnTo>
                <a:lnTo>
                  <a:pt x="0" y="698753"/>
                </a:lnTo>
                <a:lnTo>
                  <a:pt x="349377" y="1397508"/>
                </a:lnTo>
                <a:lnTo>
                  <a:pt x="1272159" y="1397508"/>
                </a:lnTo>
                <a:lnTo>
                  <a:pt x="1621536" y="698753"/>
                </a:lnTo>
                <a:lnTo>
                  <a:pt x="127215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632507-500E-8100-9AAA-96F9F00A72E8}"/>
              </a:ext>
            </a:extLst>
          </p:cNvPr>
          <p:cNvSpPr txBox="1"/>
          <p:nvPr/>
        </p:nvSpPr>
        <p:spPr>
          <a:xfrm>
            <a:off x="6967219" y="4996129"/>
            <a:ext cx="534035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TESTAR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8D049BF-E10B-5EDD-CB45-EB7304A5BF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PROCESSOS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spc="-10" dirty="0"/>
              <a:t>THINKING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F17AAE8-710F-2D0C-A9D1-76F38C6484AD}"/>
              </a:ext>
            </a:extLst>
          </p:cNvPr>
          <p:cNvSpPr txBox="1"/>
          <p:nvPr/>
        </p:nvSpPr>
        <p:spPr>
          <a:xfrm>
            <a:off x="1903222" y="2302890"/>
            <a:ext cx="159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ENTENDIMENTO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AF75DE10-41FF-56D3-DDF2-DACF876F5C23}"/>
              </a:ext>
            </a:extLst>
          </p:cNvPr>
          <p:cNvGrpSpPr/>
          <p:nvPr/>
        </p:nvGrpSpPr>
        <p:grpSpPr>
          <a:xfrm>
            <a:off x="1953767" y="2350007"/>
            <a:ext cx="4182110" cy="1877695"/>
            <a:chOff x="1953767" y="2350007"/>
            <a:chExt cx="4182110" cy="187769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01DC94A7-B817-B630-79FE-06A47763B4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3767" y="2599918"/>
              <a:ext cx="573011" cy="969289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9665B51-D8C5-961F-46AC-1E0983C7D437}"/>
                </a:ext>
              </a:extLst>
            </p:cNvPr>
            <p:cNvSpPr/>
            <p:nvPr/>
          </p:nvSpPr>
          <p:spPr>
            <a:xfrm>
              <a:off x="2108580" y="2623057"/>
              <a:ext cx="381000" cy="772795"/>
            </a:xfrm>
            <a:custGeom>
              <a:avLst/>
              <a:gdLst/>
              <a:ahLst/>
              <a:cxnLst/>
              <a:rect l="l" t="t" r="r" b="b"/>
              <a:pathLst>
                <a:path w="381000" h="772795">
                  <a:moveTo>
                    <a:pt x="0" y="645032"/>
                  </a:moveTo>
                  <a:lnTo>
                    <a:pt x="2920" y="772794"/>
                  </a:lnTo>
                  <a:lnTo>
                    <a:pt x="102085" y="694816"/>
                  </a:lnTo>
                  <a:lnTo>
                    <a:pt x="60832" y="694816"/>
                  </a:lnTo>
                  <a:lnTo>
                    <a:pt x="26288" y="678561"/>
                  </a:lnTo>
                  <a:lnTo>
                    <a:pt x="34436" y="661278"/>
                  </a:lnTo>
                  <a:lnTo>
                    <a:pt x="0" y="645032"/>
                  </a:lnTo>
                  <a:close/>
                </a:path>
                <a:path w="381000" h="772795">
                  <a:moveTo>
                    <a:pt x="34436" y="661278"/>
                  </a:moveTo>
                  <a:lnTo>
                    <a:pt x="26288" y="678561"/>
                  </a:lnTo>
                  <a:lnTo>
                    <a:pt x="60832" y="694816"/>
                  </a:lnTo>
                  <a:lnTo>
                    <a:pt x="68965" y="677567"/>
                  </a:lnTo>
                  <a:lnTo>
                    <a:pt x="34436" y="661278"/>
                  </a:lnTo>
                  <a:close/>
                </a:path>
                <a:path w="381000" h="772795">
                  <a:moveTo>
                    <a:pt x="68965" y="677567"/>
                  </a:moveTo>
                  <a:lnTo>
                    <a:pt x="60832" y="694816"/>
                  </a:lnTo>
                  <a:lnTo>
                    <a:pt x="102085" y="694816"/>
                  </a:lnTo>
                  <a:lnTo>
                    <a:pt x="103377" y="693801"/>
                  </a:lnTo>
                  <a:lnTo>
                    <a:pt x="68965" y="677567"/>
                  </a:lnTo>
                  <a:close/>
                </a:path>
                <a:path w="381000" h="772795">
                  <a:moveTo>
                    <a:pt x="346201" y="0"/>
                  </a:moveTo>
                  <a:lnTo>
                    <a:pt x="34436" y="661278"/>
                  </a:lnTo>
                  <a:lnTo>
                    <a:pt x="68965" y="677567"/>
                  </a:lnTo>
                  <a:lnTo>
                    <a:pt x="380745" y="16255"/>
                  </a:lnTo>
                  <a:lnTo>
                    <a:pt x="3462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9E9F230C-C314-5011-879E-7D9A157F23C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7187" y="2624327"/>
              <a:ext cx="726948" cy="1603248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4E5432DB-BAD8-5274-1429-286BC5C779AC}"/>
                </a:ext>
              </a:extLst>
            </p:cNvPr>
            <p:cNvSpPr/>
            <p:nvPr/>
          </p:nvSpPr>
          <p:spPr>
            <a:xfrm>
              <a:off x="2689478" y="2647441"/>
              <a:ext cx="546735" cy="1407160"/>
            </a:xfrm>
            <a:custGeom>
              <a:avLst/>
              <a:gdLst/>
              <a:ahLst/>
              <a:cxnLst/>
              <a:rect l="l" t="t" r="r" b="b"/>
              <a:pathLst>
                <a:path w="546735" h="1407160">
                  <a:moveTo>
                    <a:pt x="474623" y="1306428"/>
                  </a:moveTo>
                  <a:lnTo>
                    <a:pt x="438912" y="1319530"/>
                  </a:lnTo>
                  <a:lnTo>
                    <a:pt x="531876" y="1407160"/>
                  </a:lnTo>
                  <a:lnTo>
                    <a:pt x="541232" y="1324356"/>
                  </a:lnTo>
                  <a:lnTo>
                    <a:pt x="481202" y="1324356"/>
                  </a:lnTo>
                  <a:lnTo>
                    <a:pt x="474623" y="1306428"/>
                  </a:lnTo>
                  <a:close/>
                </a:path>
                <a:path w="546735" h="1407160">
                  <a:moveTo>
                    <a:pt x="510459" y="1293281"/>
                  </a:moveTo>
                  <a:lnTo>
                    <a:pt x="474623" y="1306428"/>
                  </a:lnTo>
                  <a:lnTo>
                    <a:pt x="481202" y="1324356"/>
                  </a:lnTo>
                  <a:lnTo>
                    <a:pt x="517016" y="1311148"/>
                  </a:lnTo>
                  <a:lnTo>
                    <a:pt x="510459" y="1293281"/>
                  </a:lnTo>
                  <a:close/>
                </a:path>
                <a:path w="546735" h="1407160">
                  <a:moveTo>
                    <a:pt x="546226" y="1280160"/>
                  </a:moveTo>
                  <a:lnTo>
                    <a:pt x="510459" y="1293281"/>
                  </a:lnTo>
                  <a:lnTo>
                    <a:pt x="517016" y="1311148"/>
                  </a:lnTo>
                  <a:lnTo>
                    <a:pt x="481202" y="1324356"/>
                  </a:lnTo>
                  <a:lnTo>
                    <a:pt x="541232" y="1324356"/>
                  </a:lnTo>
                  <a:lnTo>
                    <a:pt x="546226" y="1280160"/>
                  </a:lnTo>
                  <a:close/>
                </a:path>
                <a:path w="546735" h="1407160">
                  <a:moveTo>
                    <a:pt x="35813" y="0"/>
                  </a:moveTo>
                  <a:lnTo>
                    <a:pt x="0" y="13208"/>
                  </a:lnTo>
                  <a:lnTo>
                    <a:pt x="474623" y="1306428"/>
                  </a:lnTo>
                  <a:lnTo>
                    <a:pt x="510459" y="1293281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extLst>
                <a:ext uri="{FF2B5EF4-FFF2-40B4-BE49-F238E27FC236}">
                  <a16:creationId xmlns:a16="http://schemas.microsoft.com/office/drawing/2014/main" id="{7730E4FC-C7A0-8A35-6C01-4BC3A338C51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7323" y="2350007"/>
              <a:ext cx="310959" cy="1219200"/>
            </a:xfrm>
            <a:prstGeom prst="rect">
              <a:avLst/>
            </a:prstGeom>
          </p:spPr>
        </p:pic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341E3281-5E79-7615-5229-429BA230A444}"/>
                </a:ext>
              </a:extLst>
            </p:cNvPr>
            <p:cNvSpPr/>
            <p:nvPr/>
          </p:nvSpPr>
          <p:spPr>
            <a:xfrm>
              <a:off x="4597907" y="2372105"/>
              <a:ext cx="114300" cy="1023619"/>
            </a:xfrm>
            <a:custGeom>
              <a:avLst/>
              <a:gdLst/>
              <a:ahLst/>
              <a:cxnLst/>
              <a:rect l="l" t="t" r="r" b="b"/>
              <a:pathLst>
                <a:path w="114300" h="1023620">
                  <a:moveTo>
                    <a:pt x="38100" y="909320"/>
                  </a:moveTo>
                  <a:lnTo>
                    <a:pt x="0" y="909320"/>
                  </a:lnTo>
                  <a:lnTo>
                    <a:pt x="57150" y="1023620"/>
                  </a:lnTo>
                  <a:lnTo>
                    <a:pt x="104775" y="928370"/>
                  </a:lnTo>
                  <a:lnTo>
                    <a:pt x="38100" y="928370"/>
                  </a:lnTo>
                  <a:lnTo>
                    <a:pt x="38100" y="909320"/>
                  </a:lnTo>
                  <a:close/>
                </a:path>
                <a:path w="114300" h="1023620">
                  <a:moveTo>
                    <a:pt x="76200" y="0"/>
                  </a:moveTo>
                  <a:lnTo>
                    <a:pt x="38100" y="0"/>
                  </a:lnTo>
                  <a:lnTo>
                    <a:pt x="38100" y="928370"/>
                  </a:lnTo>
                  <a:lnTo>
                    <a:pt x="76200" y="928370"/>
                  </a:lnTo>
                  <a:lnTo>
                    <a:pt x="76200" y="0"/>
                  </a:lnTo>
                  <a:close/>
                </a:path>
                <a:path w="114300" h="1023620">
                  <a:moveTo>
                    <a:pt x="114300" y="909320"/>
                  </a:moveTo>
                  <a:lnTo>
                    <a:pt x="76200" y="909320"/>
                  </a:lnTo>
                  <a:lnTo>
                    <a:pt x="76200" y="928370"/>
                  </a:lnTo>
                  <a:lnTo>
                    <a:pt x="104775" y="928370"/>
                  </a:lnTo>
                  <a:lnTo>
                    <a:pt x="114300" y="9093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2DE64CE4-7BBF-C82D-F2DA-B2E5B506E23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0155" y="3214141"/>
              <a:ext cx="315467" cy="684250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595F35E-8C11-E790-9F9C-CBF4452DEC68}"/>
                </a:ext>
              </a:extLst>
            </p:cNvPr>
            <p:cNvSpPr/>
            <p:nvPr/>
          </p:nvSpPr>
          <p:spPr>
            <a:xfrm>
              <a:off x="5945251" y="3236848"/>
              <a:ext cx="152400" cy="488950"/>
            </a:xfrm>
            <a:custGeom>
              <a:avLst/>
              <a:gdLst/>
              <a:ahLst/>
              <a:cxnLst/>
              <a:rect l="l" t="t" r="r" b="b"/>
              <a:pathLst>
                <a:path w="152400" h="488950">
                  <a:moveTo>
                    <a:pt x="0" y="365378"/>
                  </a:moveTo>
                  <a:lnTo>
                    <a:pt x="32638" y="488950"/>
                  </a:lnTo>
                  <a:lnTo>
                    <a:pt x="103349" y="399542"/>
                  </a:lnTo>
                  <a:lnTo>
                    <a:pt x="70738" y="399542"/>
                  </a:lnTo>
                  <a:lnTo>
                    <a:pt x="33400" y="391794"/>
                  </a:lnTo>
                  <a:lnTo>
                    <a:pt x="37283" y="373165"/>
                  </a:lnTo>
                  <a:lnTo>
                    <a:pt x="0" y="365378"/>
                  </a:lnTo>
                  <a:close/>
                </a:path>
                <a:path w="152400" h="488950">
                  <a:moveTo>
                    <a:pt x="37283" y="373165"/>
                  </a:moveTo>
                  <a:lnTo>
                    <a:pt x="33400" y="391794"/>
                  </a:lnTo>
                  <a:lnTo>
                    <a:pt x="70738" y="399542"/>
                  </a:lnTo>
                  <a:lnTo>
                    <a:pt x="74612" y="380962"/>
                  </a:lnTo>
                  <a:lnTo>
                    <a:pt x="37283" y="373165"/>
                  </a:lnTo>
                  <a:close/>
                </a:path>
                <a:path w="152400" h="488950">
                  <a:moveTo>
                    <a:pt x="74612" y="380962"/>
                  </a:moveTo>
                  <a:lnTo>
                    <a:pt x="70738" y="399542"/>
                  </a:lnTo>
                  <a:lnTo>
                    <a:pt x="103349" y="399542"/>
                  </a:lnTo>
                  <a:lnTo>
                    <a:pt x="111887" y="388746"/>
                  </a:lnTo>
                  <a:lnTo>
                    <a:pt x="74612" y="380962"/>
                  </a:lnTo>
                  <a:close/>
                </a:path>
                <a:path w="152400" h="488950">
                  <a:moveTo>
                    <a:pt x="115062" y="0"/>
                  </a:moveTo>
                  <a:lnTo>
                    <a:pt x="37283" y="373165"/>
                  </a:lnTo>
                  <a:lnTo>
                    <a:pt x="74612" y="380962"/>
                  </a:lnTo>
                  <a:lnTo>
                    <a:pt x="152400" y="7874"/>
                  </a:lnTo>
                  <a:lnTo>
                    <a:pt x="11506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C4C010CD-D335-FA79-42D0-2295A6948088}"/>
              </a:ext>
            </a:extLst>
          </p:cNvPr>
          <p:cNvSpPr txBox="1"/>
          <p:nvPr/>
        </p:nvSpPr>
        <p:spPr>
          <a:xfrm>
            <a:off x="4038346" y="1743583"/>
            <a:ext cx="1233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93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DESIGN CONCEITUAL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B8A045C-3607-0F0F-623F-B8EA2EE935C9}"/>
              </a:ext>
            </a:extLst>
          </p:cNvPr>
          <p:cNvSpPr txBox="1"/>
          <p:nvPr/>
        </p:nvSpPr>
        <p:spPr>
          <a:xfrm>
            <a:off x="3841750" y="5760821"/>
            <a:ext cx="1117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C00000"/>
                </a:solidFill>
                <a:latin typeface="Calibri"/>
                <a:cs typeface="Calibri"/>
              </a:rPr>
              <a:t>AVALIAÇÃO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>
            <a:extLst>
              <a:ext uri="{FF2B5EF4-FFF2-40B4-BE49-F238E27FC236}">
                <a16:creationId xmlns:a16="http://schemas.microsoft.com/office/drawing/2014/main" id="{5B8517C0-9710-F333-657A-676282335FA5}"/>
              </a:ext>
            </a:extLst>
          </p:cNvPr>
          <p:cNvGrpSpPr/>
          <p:nvPr/>
        </p:nvGrpSpPr>
        <p:grpSpPr>
          <a:xfrm>
            <a:off x="3297935" y="4029443"/>
            <a:ext cx="3383279" cy="1870075"/>
            <a:chOff x="3297935" y="4029443"/>
            <a:chExt cx="3383279" cy="1870075"/>
          </a:xfrm>
        </p:grpSpPr>
        <p:pic>
          <p:nvPicPr>
            <p:cNvPr id="28" name="object 28">
              <a:extLst>
                <a:ext uri="{FF2B5EF4-FFF2-40B4-BE49-F238E27FC236}">
                  <a16:creationId xmlns:a16="http://schemas.microsoft.com/office/drawing/2014/main" id="{E0E8A331-F778-33CE-B0EB-9E7E427784E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97935" y="4567427"/>
              <a:ext cx="882396" cy="1245120"/>
            </a:xfrm>
            <a:prstGeom prst="rect">
              <a:avLst/>
            </a:prstGeom>
          </p:spPr>
        </p:pic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FFD2129E-D713-3099-835C-5D5559AF7385}"/>
                </a:ext>
              </a:extLst>
            </p:cNvPr>
            <p:cNvSpPr/>
            <p:nvPr/>
          </p:nvSpPr>
          <p:spPr>
            <a:xfrm>
              <a:off x="3455669" y="4705349"/>
              <a:ext cx="687705" cy="1048385"/>
            </a:xfrm>
            <a:custGeom>
              <a:avLst/>
              <a:gdLst/>
              <a:ahLst/>
              <a:cxnLst/>
              <a:rect l="l" t="t" r="r" b="b"/>
              <a:pathLst>
                <a:path w="687704" h="1048385">
                  <a:moveTo>
                    <a:pt x="78058" y="85628"/>
                  </a:moveTo>
                  <a:lnTo>
                    <a:pt x="46054" y="106329"/>
                  </a:lnTo>
                  <a:lnTo>
                    <a:pt x="655192" y="1048334"/>
                  </a:lnTo>
                  <a:lnTo>
                    <a:pt x="687196" y="1027645"/>
                  </a:lnTo>
                  <a:lnTo>
                    <a:pt x="78058" y="85628"/>
                  </a:lnTo>
                  <a:close/>
                </a:path>
                <a:path w="687704" h="1048385">
                  <a:moveTo>
                    <a:pt x="0" y="0"/>
                  </a:moveTo>
                  <a:lnTo>
                    <a:pt x="14096" y="127000"/>
                  </a:lnTo>
                  <a:lnTo>
                    <a:pt x="46054" y="106329"/>
                  </a:lnTo>
                  <a:lnTo>
                    <a:pt x="35687" y="90297"/>
                  </a:lnTo>
                  <a:lnTo>
                    <a:pt x="67690" y="69595"/>
                  </a:lnTo>
                  <a:lnTo>
                    <a:pt x="102844" y="69595"/>
                  </a:lnTo>
                  <a:lnTo>
                    <a:pt x="110108" y="64897"/>
                  </a:lnTo>
                  <a:lnTo>
                    <a:pt x="0" y="0"/>
                  </a:lnTo>
                  <a:close/>
                </a:path>
                <a:path w="687704" h="1048385">
                  <a:moveTo>
                    <a:pt x="67690" y="69595"/>
                  </a:moveTo>
                  <a:lnTo>
                    <a:pt x="35687" y="90297"/>
                  </a:lnTo>
                  <a:lnTo>
                    <a:pt x="46054" y="106329"/>
                  </a:lnTo>
                  <a:lnTo>
                    <a:pt x="78058" y="85628"/>
                  </a:lnTo>
                  <a:lnTo>
                    <a:pt x="67690" y="69595"/>
                  </a:lnTo>
                  <a:close/>
                </a:path>
                <a:path w="687704" h="1048385">
                  <a:moveTo>
                    <a:pt x="102844" y="69595"/>
                  </a:moveTo>
                  <a:lnTo>
                    <a:pt x="67690" y="69595"/>
                  </a:lnTo>
                  <a:lnTo>
                    <a:pt x="78058" y="85628"/>
                  </a:lnTo>
                  <a:lnTo>
                    <a:pt x="102844" y="6959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90F1D212-6855-ABD3-FF74-342FF31B2A4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2459" y="4029443"/>
              <a:ext cx="310959" cy="1772412"/>
            </a:xfrm>
            <a:prstGeom prst="rect">
              <a:avLst/>
            </a:prstGeom>
          </p:spPr>
        </p:pic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E54ECC4-9C74-0782-E366-91F6CF9B8183}"/>
                </a:ext>
              </a:extLst>
            </p:cNvPr>
            <p:cNvSpPr/>
            <p:nvPr/>
          </p:nvSpPr>
          <p:spPr>
            <a:xfrm>
              <a:off x="4518659" y="4167377"/>
              <a:ext cx="133985" cy="1577340"/>
            </a:xfrm>
            <a:custGeom>
              <a:avLst/>
              <a:gdLst/>
              <a:ahLst/>
              <a:cxnLst/>
              <a:rect l="l" t="t" r="r" b="b"/>
              <a:pathLst>
                <a:path w="133985" h="1577339">
                  <a:moveTo>
                    <a:pt x="57419" y="113492"/>
                  </a:moveTo>
                  <a:lnTo>
                    <a:pt x="0" y="1575346"/>
                  </a:lnTo>
                  <a:lnTo>
                    <a:pt x="38100" y="1576844"/>
                  </a:lnTo>
                  <a:lnTo>
                    <a:pt x="95516" y="114976"/>
                  </a:lnTo>
                  <a:lnTo>
                    <a:pt x="57419" y="113492"/>
                  </a:lnTo>
                  <a:close/>
                </a:path>
                <a:path w="133985" h="1577339">
                  <a:moveTo>
                    <a:pt x="123684" y="94488"/>
                  </a:moveTo>
                  <a:lnTo>
                    <a:pt x="58165" y="94488"/>
                  </a:lnTo>
                  <a:lnTo>
                    <a:pt x="96265" y="95885"/>
                  </a:lnTo>
                  <a:lnTo>
                    <a:pt x="95516" y="114976"/>
                  </a:lnTo>
                  <a:lnTo>
                    <a:pt x="133603" y="116459"/>
                  </a:lnTo>
                  <a:lnTo>
                    <a:pt x="123684" y="94488"/>
                  </a:lnTo>
                  <a:close/>
                </a:path>
                <a:path w="133985" h="1577339">
                  <a:moveTo>
                    <a:pt x="58165" y="94488"/>
                  </a:moveTo>
                  <a:lnTo>
                    <a:pt x="57419" y="113492"/>
                  </a:lnTo>
                  <a:lnTo>
                    <a:pt x="95516" y="114976"/>
                  </a:lnTo>
                  <a:lnTo>
                    <a:pt x="96265" y="95885"/>
                  </a:lnTo>
                  <a:lnTo>
                    <a:pt x="58165" y="94488"/>
                  </a:lnTo>
                  <a:close/>
                </a:path>
                <a:path w="133985" h="1577339">
                  <a:moveTo>
                    <a:pt x="81025" y="0"/>
                  </a:moveTo>
                  <a:lnTo>
                    <a:pt x="19430" y="112014"/>
                  </a:lnTo>
                  <a:lnTo>
                    <a:pt x="57419" y="113492"/>
                  </a:lnTo>
                  <a:lnTo>
                    <a:pt x="58165" y="94488"/>
                  </a:lnTo>
                  <a:lnTo>
                    <a:pt x="123684" y="94488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>
              <a:extLst>
                <a:ext uri="{FF2B5EF4-FFF2-40B4-BE49-F238E27FC236}">
                  <a16:creationId xmlns:a16="http://schemas.microsoft.com/office/drawing/2014/main" id="{4A6BD2AE-0905-20C8-D63B-A56A16D8DE0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7571" y="5283707"/>
              <a:ext cx="1723644" cy="615708"/>
            </a:xfrm>
            <a:prstGeom prst="rect">
              <a:avLst/>
            </a:prstGeom>
          </p:spPr>
        </p:pic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8BD9BA15-155F-5128-93CF-139BA7FEDFBA}"/>
                </a:ext>
              </a:extLst>
            </p:cNvPr>
            <p:cNvSpPr/>
            <p:nvPr/>
          </p:nvSpPr>
          <p:spPr>
            <a:xfrm>
              <a:off x="5000751" y="5395467"/>
              <a:ext cx="1527810" cy="445770"/>
            </a:xfrm>
            <a:custGeom>
              <a:avLst/>
              <a:gdLst/>
              <a:ahLst/>
              <a:cxnLst/>
              <a:rect l="l" t="t" r="r" b="b"/>
              <a:pathLst>
                <a:path w="1527809" h="445770">
                  <a:moveTo>
                    <a:pt x="1412284" y="36839"/>
                  </a:moveTo>
                  <a:lnTo>
                    <a:pt x="0" y="408584"/>
                  </a:lnTo>
                  <a:lnTo>
                    <a:pt x="9651" y="445439"/>
                  </a:lnTo>
                  <a:lnTo>
                    <a:pt x="1421984" y="73690"/>
                  </a:lnTo>
                  <a:lnTo>
                    <a:pt x="1412284" y="36839"/>
                  </a:lnTo>
                  <a:close/>
                </a:path>
                <a:path w="1527809" h="445770">
                  <a:moveTo>
                    <a:pt x="1521031" y="32003"/>
                  </a:moveTo>
                  <a:lnTo>
                    <a:pt x="1430655" y="32003"/>
                  </a:lnTo>
                  <a:lnTo>
                    <a:pt x="1440434" y="68833"/>
                  </a:lnTo>
                  <a:lnTo>
                    <a:pt x="1421984" y="73690"/>
                  </a:lnTo>
                  <a:lnTo>
                    <a:pt x="1431671" y="110489"/>
                  </a:lnTo>
                  <a:lnTo>
                    <a:pt x="1521031" y="32003"/>
                  </a:lnTo>
                  <a:close/>
                </a:path>
                <a:path w="1527809" h="445770">
                  <a:moveTo>
                    <a:pt x="1430655" y="32003"/>
                  </a:moveTo>
                  <a:lnTo>
                    <a:pt x="1412284" y="36839"/>
                  </a:lnTo>
                  <a:lnTo>
                    <a:pt x="1421984" y="73690"/>
                  </a:lnTo>
                  <a:lnTo>
                    <a:pt x="1440434" y="68833"/>
                  </a:lnTo>
                  <a:lnTo>
                    <a:pt x="1430655" y="32003"/>
                  </a:lnTo>
                  <a:close/>
                </a:path>
                <a:path w="1527809" h="445770">
                  <a:moveTo>
                    <a:pt x="1402588" y="0"/>
                  </a:moveTo>
                  <a:lnTo>
                    <a:pt x="1412284" y="36839"/>
                  </a:lnTo>
                  <a:lnTo>
                    <a:pt x="1430655" y="32003"/>
                  </a:lnTo>
                  <a:lnTo>
                    <a:pt x="1521031" y="32003"/>
                  </a:lnTo>
                  <a:lnTo>
                    <a:pt x="1527682" y="26161"/>
                  </a:lnTo>
                  <a:lnTo>
                    <a:pt x="140258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>
            <a:extLst>
              <a:ext uri="{FF2B5EF4-FFF2-40B4-BE49-F238E27FC236}">
                <a16:creationId xmlns:a16="http://schemas.microsoft.com/office/drawing/2014/main" id="{9E50E300-13E2-8A35-CCFA-79F1B95DAAFA}"/>
              </a:ext>
            </a:extLst>
          </p:cNvPr>
          <p:cNvSpPr txBox="1"/>
          <p:nvPr/>
        </p:nvSpPr>
        <p:spPr>
          <a:xfrm>
            <a:off x="459435" y="4810759"/>
            <a:ext cx="1319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FRAMEWORK </a:t>
            </a:r>
            <a:r>
              <a:rPr sz="1800" b="1" spc="-20" dirty="0">
                <a:solidFill>
                  <a:srgbClr val="17375E"/>
                </a:solidFill>
                <a:latin typeface="Calibri"/>
                <a:cs typeface="Calibri"/>
              </a:rPr>
              <a:t>PACT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46C41089-439B-C326-6A8A-355B2407C14A}"/>
              </a:ext>
            </a:extLst>
          </p:cNvPr>
          <p:cNvGrpSpPr/>
          <p:nvPr/>
        </p:nvGrpSpPr>
        <p:grpSpPr>
          <a:xfrm>
            <a:off x="1066800" y="3971518"/>
            <a:ext cx="683260" cy="887094"/>
            <a:chOff x="1066800" y="3971518"/>
            <a:chExt cx="683260" cy="887094"/>
          </a:xfrm>
        </p:grpSpPr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505C8951-A7D5-EC00-A184-1AD76BDD8A6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6800" y="3971518"/>
              <a:ext cx="682739" cy="886993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6875F26C-0447-CF2D-F8CB-B588AD576D7D}"/>
                </a:ext>
              </a:extLst>
            </p:cNvPr>
            <p:cNvSpPr/>
            <p:nvPr/>
          </p:nvSpPr>
          <p:spPr>
            <a:xfrm>
              <a:off x="1108824" y="4072889"/>
              <a:ext cx="523875" cy="727710"/>
            </a:xfrm>
            <a:custGeom>
              <a:avLst/>
              <a:gdLst/>
              <a:ahLst/>
              <a:cxnLst/>
              <a:rect l="l" t="t" r="r" b="b"/>
              <a:pathLst>
                <a:path w="523875" h="727710">
                  <a:moveTo>
                    <a:pt x="467990" y="55752"/>
                  </a:moveTo>
                  <a:lnTo>
                    <a:pt x="0" y="712597"/>
                  </a:lnTo>
                  <a:lnTo>
                    <a:pt x="21107" y="727583"/>
                  </a:lnTo>
                  <a:lnTo>
                    <a:pt x="489208" y="70848"/>
                  </a:lnTo>
                  <a:lnTo>
                    <a:pt x="467990" y="55752"/>
                  </a:lnTo>
                  <a:close/>
                </a:path>
                <a:path w="523875" h="727710">
                  <a:moveTo>
                    <a:pt x="516611" y="45212"/>
                  </a:moveTo>
                  <a:lnTo>
                    <a:pt x="475500" y="45212"/>
                  </a:lnTo>
                  <a:lnTo>
                    <a:pt x="496709" y="60325"/>
                  </a:lnTo>
                  <a:lnTo>
                    <a:pt x="489208" y="70848"/>
                  </a:lnTo>
                  <a:lnTo>
                    <a:pt x="510298" y="85852"/>
                  </a:lnTo>
                  <a:lnTo>
                    <a:pt x="516611" y="45212"/>
                  </a:lnTo>
                  <a:close/>
                </a:path>
                <a:path w="523875" h="727710">
                  <a:moveTo>
                    <a:pt x="475500" y="45212"/>
                  </a:moveTo>
                  <a:lnTo>
                    <a:pt x="467990" y="55752"/>
                  </a:lnTo>
                  <a:lnTo>
                    <a:pt x="489208" y="70848"/>
                  </a:lnTo>
                  <a:lnTo>
                    <a:pt x="496709" y="60325"/>
                  </a:lnTo>
                  <a:lnTo>
                    <a:pt x="475500" y="45212"/>
                  </a:lnTo>
                  <a:close/>
                </a:path>
                <a:path w="523875" h="727710">
                  <a:moveTo>
                    <a:pt x="523633" y="0"/>
                  </a:moveTo>
                  <a:lnTo>
                    <a:pt x="446925" y="40767"/>
                  </a:lnTo>
                  <a:lnTo>
                    <a:pt x="467990" y="55752"/>
                  </a:lnTo>
                  <a:lnTo>
                    <a:pt x="475500" y="45212"/>
                  </a:lnTo>
                  <a:lnTo>
                    <a:pt x="516611" y="45212"/>
                  </a:lnTo>
                  <a:lnTo>
                    <a:pt x="523633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1D2A851E-9BBF-D50D-C5D3-8EA4EBFA42E5}"/>
              </a:ext>
            </a:extLst>
          </p:cNvPr>
          <p:cNvSpPr txBox="1"/>
          <p:nvPr/>
        </p:nvSpPr>
        <p:spPr>
          <a:xfrm>
            <a:off x="5493511" y="2624454"/>
            <a:ext cx="1701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“ANTECIPAÇÃO”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ou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DESIGN</a:t>
            </a:r>
            <a:r>
              <a:rPr sz="18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FÍSICO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BB8D3BE-A60D-CAA8-A68B-153C1F50948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40" name="Rectangle: Rounded Corners 39">
            <a:hlinkClick r:id="rId10" action="ppaction://hlinkpres?slideindex=1&amp;slidetitle="/>
            <a:extLst>
              <a:ext uri="{FF2B5EF4-FFF2-40B4-BE49-F238E27FC236}">
                <a16:creationId xmlns:a16="http://schemas.microsoft.com/office/drawing/2014/main" id="{D2972795-11B9-0E54-7FAF-84F42761F885}"/>
              </a:ext>
            </a:extLst>
          </p:cNvPr>
          <p:cNvSpPr/>
          <p:nvPr/>
        </p:nvSpPr>
        <p:spPr>
          <a:xfrm>
            <a:off x="180719" y="6388601"/>
            <a:ext cx="1927861" cy="32665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cap="small" dirty="0">
                <a:solidFill>
                  <a:schemeClr val="accent1">
                    <a:lumMod val="75000"/>
                  </a:schemeClr>
                </a:solidFill>
              </a:rPr>
              <a:t>Revisando Design </a:t>
            </a:r>
            <a:r>
              <a:rPr lang="pt-BR" sz="1100" b="1" cap="small" dirty="0" err="1">
                <a:solidFill>
                  <a:schemeClr val="accent1">
                    <a:lumMod val="75000"/>
                  </a:schemeClr>
                </a:solidFill>
              </a:rPr>
              <a:t>Thinking</a:t>
            </a:r>
            <a:endParaRPr lang="en-US" sz="1100" b="1" cap="smal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202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64668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FRAMEWORK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PARA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DESIGN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SISTEMAS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65885" y="1574114"/>
            <a:ext cx="6412865" cy="1071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17375E"/>
                </a:solidFill>
              </a:rPr>
              <a:t>PACT</a:t>
            </a:r>
            <a:endParaRPr sz="4000"/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>
                <a:solidFill>
                  <a:srgbClr val="17375E"/>
                </a:solidFill>
              </a:rPr>
              <a:t>P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ESSOAS</a:t>
            </a:r>
            <a:r>
              <a:rPr sz="2250" b="0" spc="1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75E"/>
                </a:solidFill>
              </a:rPr>
              <a:t>A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TIVIDADES</a:t>
            </a:r>
            <a:r>
              <a:rPr sz="2250" b="0" spc="4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9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75E"/>
                </a:solidFill>
              </a:rPr>
              <a:t>C</a:t>
            </a:r>
            <a:r>
              <a:rPr sz="2250" b="0" dirty="0">
                <a:solidFill>
                  <a:srgbClr val="17375E"/>
                </a:solidFill>
                <a:latin typeface="Calibri"/>
                <a:cs typeface="Calibri"/>
              </a:rPr>
              <a:t>ONTEXTO</a:t>
            </a:r>
            <a:r>
              <a:rPr sz="2250" b="0" spc="4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b="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17375E"/>
                </a:solidFill>
              </a:rPr>
              <a:t>T</a:t>
            </a:r>
            <a:r>
              <a:rPr sz="2250" b="0" spc="-10" dirty="0">
                <a:solidFill>
                  <a:srgbClr val="17375E"/>
                </a:solidFill>
                <a:latin typeface="Calibri"/>
                <a:cs typeface="Calibri"/>
              </a:rPr>
              <a:t>ECNOLOGIA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0831" y="3950064"/>
            <a:ext cx="3013075" cy="677545"/>
            <a:chOff x="560831" y="3950064"/>
            <a:chExt cx="3013075" cy="67754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36" y="3950064"/>
              <a:ext cx="2927651" cy="6769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31" y="4035564"/>
              <a:ext cx="3012947" cy="5912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2459" y="3965448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285597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2855976" y="605027"/>
                  </a:lnTo>
                  <a:lnTo>
                    <a:pt x="2855976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459" y="3965448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0" y="605027"/>
                  </a:moveTo>
                  <a:lnTo>
                    <a:pt x="2855976" y="605027"/>
                  </a:lnTo>
                  <a:lnTo>
                    <a:pt x="285597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3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979" y="4053852"/>
              <a:ext cx="2932937" cy="5112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33755" y="4104258"/>
            <a:ext cx="265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ATIVIDADES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CONTEXTOS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05329" y="3950064"/>
            <a:ext cx="1957070" cy="677545"/>
            <a:chOff x="6405329" y="3950064"/>
            <a:chExt cx="1957070" cy="67754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5329" y="3950064"/>
              <a:ext cx="1956900" cy="6769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7960" y="4035564"/>
              <a:ext cx="1708403" cy="5912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43472" y="3965448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1885187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1885187" y="605027"/>
                  </a:lnTo>
                  <a:lnTo>
                    <a:pt x="188518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43472" y="3965448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0" y="605027"/>
                  </a:moveTo>
                  <a:lnTo>
                    <a:pt x="1885187" y="605027"/>
                  </a:lnTo>
                  <a:lnTo>
                    <a:pt x="1885187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9108" y="4053852"/>
              <a:ext cx="1628394" cy="51128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712077" y="4104258"/>
            <a:ext cx="1346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TECNOLOGIAS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54880" y="3556787"/>
            <a:ext cx="3008630" cy="325120"/>
            <a:chOff x="3454880" y="3556787"/>
            <a:chExt cx="3008630" cy="325120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54880" y="3556787"/>
              <a:ext cx="3008458" cy="32506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88436" y="3558540"/>
              <a:ext cx="2955290" cy="280670"/>
            </a:xfrm>
            <a:custGeom>
              <a:avLst/>
              <a:gdLst/>
              <a:ahLst/>
              <a:cxnLst/>
              <a:rect l="l" t="t" r="r" b="b"/>
              <a:pathLst>
                <a:path w="2955290" h="280670">
                  <a:moveTo>
                    <a:pt x="2814828" y="0"/>
                  </a:moveTo>
                  <a:lnTo>
                    <a:pt x="2814828" y="70104"/>
                  </a:lnTo>
                  <a:lnTo>
                    <a:pt x="0" y="70104"/>
                  </a:lnTo>
                  <a:lnTo>
                    <a:pt x="0" y="210312"/>
                  </a:lnTo>
                  <a:lnTo>
                    <a:pt x="2814828" y="210312"/>
                  </a:lnTo>
                  <a:lnTo>
                    <a:pt x="2814828" y="280416"/>
                  </a:lnTo>
                  <a:lnTo>
                    <a:pt x="2955036" y="140208"/>
                  </a:lnTo>
                  <a:lnTo>
                    <a:pt x="281482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463997" y="4693691"/>
            <a:ext cx="3008630" cy="325120"/>
            <a:chOff x="3463997" y="4693691"/>
            <a:chExt cx="3008630" cy="32512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3997" y="4693691"/>
              <a:ext cx="3008458" cy="32506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88436" y="4695444"/>
              <a:ext cx="2955290" cy="280670"/>
            </a:xfrm>
            <a:custGeom>
              <a:avLst/>
              <a:gdLst/>
              <a:ahLst/>
              <a:cxnLst/>
              <a:rect l="l" t="t" r="r" b="b"/>
              <a:pathLst>
                <a:path w="2955290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1"/>
                  </a:lnTo>
                  <a:lnTo>
                    <a:pt x="2955036" y="210311"/>
                  </a:lnTo>
                  <a:lnTo>
                    <a:pt x="2955036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22445" y="4000322"/>
            <a:ext cx="1339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F6128"/>
                </a:solidFill>
                <a:latin typeface="Calibri"/>
                <a:cs typeface="Calibri"/>
              </a:rPr>
              <a:t>PESSOAS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5927" y="3320288"/>
            <a:ext cx="10375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77923B"/>
                </a:solidFill>
                <a:latin typeface="Calibri"/>
                <a:cs typeface="Calibri"/>
              </a:rPr>
              <a:t>REQUISITOS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56913" y="4929885"/>
            <a:ext cx="1509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77923B"/>
                </a:solidFill>
                <a:latin typeface="Calibri"/>
                <a:cs typeface="Calibri"/>
              </a:rPr>
              <a:t>OPORTUNIDADES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445764" y="3931932"/>
            <a:ext cx="3035935" cy="628015"/>
            <a:chOff x="3445764" y="3931932"/>
            <a:chExt cx="3035935" cy="628015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5764" y="4101084"/>
              <a:ext cx="769632" cy="3611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488436" y="4120896"/>
              <a:ext cx="688975" cy="280670"/>
            </a:xfrm>
            <a:custGeom>
              <a:avLst/>
              <a:gdLst/>
              <a:ahLst/>
              <a:cxnLst/>
              <a:rect l="l" t="t" r="r" b="b"/>
              <a:pathLst>
                <a:path w="688975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1"/>
                  </a:lnTo>
                  <a:lnTo>
                    <a:pt x="688848" y="210311"/>
                  </a:lnTo>
                  <a:lnTo>
                    <a:pt x="688848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11952" y="4078249"/>
              <a:ext cx="769632" cy="3626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754624" y="4098036"/>
              <a:ext cx="688975" cy="281940"/>
            </a:xfrm>
            <a:custGeom>
              <a:avLst/>
              <a:gdLst/>
              <a:ahLst/>
              <a:cxnLst/>
              <a:rect l="l" t="t" r="r" b="b"/>
              <a:pathLst>
                <a:path w="688975" h="281939">
                  <a:moveTo>
                    <a:pt x="547877" y="0"/>
                  </a:moveTo>
                  <a:lnTo>
                    <a:pt x="547877" y="70484"/>
                  </a:lnTo>
                  <a:lnTo>
                    <a:pt x="0" y="70484"/>
                  </a:lnTo>
                  <a:lnTo>
                    <a:pt x="0" y="211455"/>
                  </a:lnTo>
                  <a:lnTo>
                    <a:pt x="547877" y="211455"/>
                  </a:lnTo>
                  <a:lnTo>
                    <a:pt x="547877" y="281939"/>
                  </a:lnTo>
                  <a:lnTo>
                    <a:pt x="688848" y="140969"/>
                  </a:lnTo>
                  <a:lnTo>
                    <a:pt x="54787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0896" y="3931932"/>
              <a:ext cx="1687068" cy="6278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178046" y="3966210"/>
              <a:ext cx="1577340" cy="518159"/>
            </a:xfrm>
            <a:custGeom>
              <a:avLst/>
              <a:gdLst/>
              <a:ahLst/>
              <a:cxnLst/>
              <a:rect l="l" t="t" r="r" b="b"/>
              <a:pathLst>
                <a:path w="1577339" h="518160">
                  <a:moveTo>
                    <a:pt x="0" y="86359"/>
                  </a:moveTo>
                  <a:lnTo>
                    <a:pt x="6778" y="52720"/>
                  </a:lnTo>
                  <a:lnTo>
                    <a:pt x="25273" y="25272"/>
                  </a:lnTo>
                  <a:lnTo>
                    <a:pt x="52720" y="6778"/>
                  </a:lnTo>
                  <a:lnTo>
                    <a:pt x="86359" y="0"/>
                  </a:lnTo>
                  <a:lnTo>
                    <a:pt x="1490979" y="0"/>
                  </a:lnTo>
                  <a:lnTo>
                    <a:pt x="1524619" y="6778"/>
                  </a:lnTo>
                  <a:lnTo>
                    <a:pt x="1552066" y="25272"/>
                  </a:lnTo>
                  <a:lnTo>
                    <a:pt x="1570561" y="52720"/>
                  </a:lnTo>
                  <a:lnTo>
                    <a:pt x="1577339" y="86359"/>
                  </a:lnTo>
                  <a:lnTo>
                    <a:pt x="1577339" y="431800"/>
                  </a:lnTo>
                  <a:lnTo>
                    <a:pt x="1570561" y="465439"/>
                  </a:lnTo>
                  <a:lnTo>
                    <a:pt x="1552066" y="492887"/>
                  </a:lnTo>
                  <a:lnTo>
                    <a:pt x="1524619" y="511381"/>
                  </a:lnTo>
                  <a:lnTo>
                    <a:pt x="1490979" y="518159"/>
                  </a:lnTo>
                  <a:lnTo>
                    <a:pt x="86359" y="518159"/>
                  </a:lnTo>
                  <a:lnTo>
                    <a:pt x="52720" y="511381"/>
                  </a:lnTo>
                  <a:lnTo>
                    <a:pt x="25272" y="492887"/>
                  </a:lnTo>
                  <a:lnTo>
                    <a:pt x="6778" y="465439"/>
                  </a:lnTo>
                  <a:lnTo>
                    <a:pt x="0" y="431800"/>
                  </a:lnTo>
                  <a:lnTo>
                    <a:pt x="0" y="86359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15541" y="1545204"/>
            <a:ext cx="4923155" cy="5211445"/>
            <a:chOff x="1915541" y="1545204"/>
            <a:chExt cx="4923155" cy="5211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2468" y="1545204"/>
              <a:ext cx="3439022" cy="52109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1340" y="1703832"/>
              <a:ext cx="2941066" cy="47503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5541" y="2867151"/>
              <a:ext cx="4923155" cy="2051685"/>
            </a:xfrm>
            <a:custGeom>
              <a:avLst/>
              <a:gdLst/>
              <a:ahLst/>
              <a:cxnLst/>
              <a:rect l="l" t="t" r="r" b="b"/>
              <a:pathLst>
                <a:path w="4923155" h="2051685">
                  <a:moveTo>
                    <a:pt x="1369187" y="690753"/>
                  </a:moveTo>
                  <a:lnTo>
                    <a:pt x="1350073" y="665492"/>
                  </a:lnTo>
                  <a:lnTo>
                    <a:pt x="1292098" y="588772"/>
                  </a:lnTo>
                  <a:lnTo>
                    <a:pt x="1275130" y="622985"/>
                  </a:lnTo>
                  <a:lnTo>
                    <a:pt x="17018" y="0"/>
                  </a:lnTo>
                  <a:lnTo>
                    <a:pt x="0" y="34036"/>
                  </a:lnTo>
                  <a:lnTo>
                    <a:pt x="1258265" y="657034"/>
                  </a:lnTo>
                  <a:lnTo>
                    <a:pt x="1241298" y="691261"/>
                  </a:lnTo>
                  <a:lnTo>
                    <a:pt x="1369187" y="690753"/>
                  </a:lnTo>
                  <a:close/>
                </a:path>
                <a:path w="4923155" h="2051685">
                  <a:moveTo>
                    <a:pt x="4676013" y="709549"/>
                  </a:moveTo>
                  <a:lnTo>
                    <a:pt x="4672584" y="671703"/>
                  </a:lnTo>
                  <a:lnTo>
                    <a:pt x="4020604" y="729716"/>
                  </a:lnTo>
                  <a:lnTo>
                    <a:pt x="4017264" y="691781"/>
                  </a:lnTo>
                  <a:lnTo>
                    <a:pt x="3908425" y="758825"/>
                  </a:lnTo>
                  <a:lnTo>
                    <a:pt x="4027297" y="805561"/>
                  </a:lnTo>
                  <a:lnTo>
                    <a:pt x="4024096" y="769366"/>
                  </a:lnTo>
                  <a:lnTo>
                    <a:pt x="4023944" y="767676"/>
                  </a:lnTo>
                  <a:lnTo>
                    <a:pt x="4676013" y="709549"/>
                  </a:lnTo>
                  <a:close/>
                </a:path>
                <a:path w="4923155" h="2051685">
                  <a:moveTo>
                    <a:pt x="4922901" y="1882902"/>
                  </a:moveTo>
                  <a:lnTo>
                    <a:pt x="4917059" y="1845310"/>
                  </a:lnTo>
                  <a:lnTo>
                    <a:pt x="4082453" y="1975967"/>
                  </a:lnTo>
                  <a:lnTo>
                    <a:pt x="4076573" y="1938274"/>
                  </a:lnTo>
                  <a:lnTo>
                    <a:pt x="3972433" y="2012442"/>
                  </a:lnTo>
                  <a:lnTo>
                    <a:pt x="4094226" y="2051304"/>
                  </a:lnTo>
                  <a:lnTo>
                    <a:pt x="4088790" y="2016506"/>
                  </a:lnTo>
                  <a:lnTo>
                    <a:pt x="4088320" y="2013559"/>
                  </a:lnTo>
                  <a:lnTo>
                    <a:pt x="4922901" y="188290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20916" y="1691385"/>
            <a:ext cx="142303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015365" algn="just">
              <a:lnSpc>
                <a:spcPct val="100000"/>
              </a:lnSpc>
              <a:spcBef>
                <a:spcPts val="105"/>
              </a:spcBef>
            </a:pPr>
            <a:r>
              <a:rPr sz="1350" cap="small" spc="-45" dirty="0">
                <a:latin typeface="Calibri"/>
                <a:cs typeface="Calibri"/>
              </a:rPr>
              <a:t>Nome </a:t>
            </a:r>
            <a:r>
              <a:rPr sz="1350" cap="small" spc="-10" dirty="0">
                <a:latin typeface="Calibri"/>
                <a:cs typeface="Calibri"/>
              </a:rPr>
              <a:t>Idade </a:t>
            </a:r>
            <a:r>
              <a:rPr sz="1350" cap="small" spc="-20" dirty="0">
                <a:latin typeface="Calibri"/>
                <a:cs typeface="Calibri"/>
              </a:rPr>
              <a:t>Sexo</a:t>
            </a:r>
            <a:endParaRPr sz="13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350" cap="small" dirty="0">
                <a:latin typeface="Calibri"/>
                <a:cs typeface="Calibri"/>
              </a:rPr>
              <a:t>Como</a:t>
            </a:r>
            <a:r>
              <a:rPr sz="1350" cap="small" spc="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se</a:t>
            </a:r>
            <a:r>
              <a:rPr sz="1350" cap="small" spc="20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vê ou </a:t>
            </a:r>
            <a:r>
              <a:rPr sz="1350" cap="small" spc="-55" dirty="0">
                <a:latin typeface="Calibri"/>
                <a:cs typeface="Calibri"/>
              </a:rPr>
              <a:t>define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9405" y="3220973"/>
            <a:ext cx="2034539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cap="small" spc="-10" dirty="0">
                <a:latin typeface="Calibri"/>
                <a:cs typeface="Calibri"/>
              </a:rPr>
              <a:t>Condição</a:t>
            </a:r>
            <a:r>
              <a:rPr sz="1350" cap="small" spc="-20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profissional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50" cap="small" dirty="0">
                <a:latin typeface="Calibri"/>
                <a:cs typeface="Calibri"/>
              </a:rPr>
              <a:t>Nível</a:t>
            </a:r>
            <a:r>
              <a:rPr sz="1350" cap="small" spc="-20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profissional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50" cap="small" spc="-25" dirty="0">
                <a:latin typeface="Calibri"/>
                <a:cs typeface="Calibri"/>
              </a:rPr>
              <a:t>Satisfação</a:t>
            </a:r>
            <a:r>
              <a:rPr sz="1350" cap="small" dirty="0">
                <a:latin typeface="Calibri"/>
                <a:cs typeface="Calibri"/>
              </a:rPr>
              <a:t> com</a:t>
            </a:r>
            <a:r>
              <a:rPr sz="1350" cap="small" spc="-1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situação</a:t>
            </a:r>
            <a:r>
              <a:rPr sz="1350" cap="small" spc="-15" dirty="0">
                <a:latin typeface="Calibri"/>
                <a:cs typeface="Calibri"/>
              </a:rPr>
              <a:t> </a:t>
            </a:r>
            <a:r>
              <a:rPr sz="1350" cap="small" spc="-105" dirty="0">
                <a:latin typeface="Calibri"/>
                <a:cs typeface="Calibri"/>
              </a:rPr>
              <a:t>atual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336" y="2032253"/>
            <a:ext cx="2205990" cy="291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165" marR="797560">
              <a:lnSpc>
                <a:spcPct val="100000"/>
              </a:lnSpc>
              <a:spcBef>
                <a:spcPts val="105"/>
              </a:spcBef>
            </a:pPr>
            <a:r>
              <a:rPr sz="1350" cap="small" spc="-10" dirty="0">
                <a:latin typeface="Calibri"/>
                <a:cs typeface="Calibri"/>
              </a:rPr>
              <a:t>Personalidade </a:t>
            </a:r>
            <a:r>
              <a:rPr sz="1350" cap="small" spc="-50" dirty="0">
                <a:latin typeface="Calibri"/>
                <a:cs typeface="Calibri"/>
              </a:rPr>
              <a:t>Comportamento</a:t>
            </a:r>
            <a:r>
              <a:rPr sz="1350" cap="small" spc="-10" dirty="0">
                <a:latin typeface="Calibri"/>
                <a:cs typeface="Calibri"/>
              </a:rPr>
              <a:t> Hobbies</a:t>
            </a:r>
            <a:endParaRPr sz="1350">
              <a:latin typeface="Calibri"/>
              <a:cs typeface="Calibri"/>
            </a:endParaRPr>
          </a:p>
          <a:p>
            <a:pPr marL="304165" marR="647065">
              <a:lnSpc>
                <a:spcPct val="100000"/>
              </a:lnSpc>
            </a:pPr>
            <a:r>
              <a:rPr sz="1350" cap="small" spc="-10" dirty="0">
                <a:latin typeface="Calibri"/>
                <a:cs typeface="Calibri"/>
              </a:rPr>
              <a:t>Estilo</a:t>
            </a:r>
            <a:r>
              <a:rPr sz="1350" cap="small" spc="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de</a:t>
            </a:r>
            <a:r>
              <a:rPr sz="1350" cap="small" spc="5" dirty="0">
                <a:latin typeface="Calibri"/>
                <a:cs typeface="Calibri"/>
              </a:rPr>
              <a:t> </a:t>
            </a:r>
            <a:r>
              <a:rPr sz="1350" cap="small" spc="-20" dirty="0">
                <a:latin typeface="Calibri"/>
                <a:cs typeface="Calibri"/>
              </a:rPr>
              <a:t>vida </a:t>
            </a:r>
            <a:r>
              <a:rPr sz="1350" cap="small" dirty="0">
                <a:latin typeface="Calibri"/>
                <a:cs typeface="Calibri"/>
              </a:rPr>
              <a:t>Como</a:t>
            </a:r>
            <a:r>
              <a:rPr sz="1350" cap="small" spc="-10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se</a:t>
            </a:r>
            <a:r>
              <a:rPr sz="1350" cap="small" spc="10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informa Hábitos</a:t>
            </a:r>
            <a:r>
              <a:rPr sz="1350" cap="small" dirty="0">
                <a:latin typeface="Calibri"/>
                <a:cs typeface="Calibri"/>
              </a:rPr>
              <a:t> de</a:t>
            </a:r>
            <a:r>
              <a:rPr sz="1350" cap="small" spc="5" dirty="0">
                <a:latin typeface="Calibri"/>
                <a:cs typeface="Calibri"/>
              </a:rPr>
              <a:t> </a:t>
            </a:r>
            <a:r>
              <a:rPr sz="1350" cap="small" spc="-60" dirty="0">
                <a:latin typeface="Calibri"/>
                <a:cs typeface="Calibri"/>
              </a:rPr>
              <a:t>compra</a:t>
            </a:r>
            <a:endParaRPr sz="1350">
              <a:latin typeface="Calibri"/>
              <a:cs typeface="Calibri"/>
            </a:endParaRPr>
          </a:p>
          <a:p>
            <a:pPr marL="304165" marR="181610">
              <a:lnSpc>
                <a:spcPct val="100000"/>
              </a:lnSpc>
            </a:pPr>
            <a:r>
              <a:rPr sz="1350" cap="small" dirty="0">
                <a:latin typeface="Calibri"/>
                <a:cs typeface="Calibri"/>
              </a:rPr>
              <a:t>Como</a:t>
            </a:r>
            <a:r>
              <a:rPr sz="1350" cap="small" spc="-40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decide</a:t>
            </a:r>
            <a:r>
              <a:rPr sz="1350" cap="small" spc="-35" dirty="0">
                <a:latin typeface="Calibri"/>
                <a:cs typeface="Calibri"/>
              </a:rPr>
              <a:t> </a:t>
            </a:r>
            <a:r>
              <a:rPr sz="1350" cap="small" spc="-45" dirty="0">
                <a:latin typeface="Calibri"/>
                <a:cs typeface="Calibri"/>
              </a:rPr>
              <a:t>(influências) </a:t>
            </a:r>
            <a:r>
              <a:rPr sz="1350" cap="small" spc="-10" dirty="0">
                <a:latin typeface="Calibri"/>
                <a:cs typeface="Calibri"/>
              </a:rPr>
              <a:t>Relação</a:t>
            </a:r>
            <a:r>
              <a:rPr sz="1350" cap="small" spc="-20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com</a:t>
            </a:r>
            <a:r>
              <a:rPr sz="1350" cap="small" spc="-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tecnologia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050">
              <a:latin typeface="Calibri"/>
              <a:cs typeface="Calibri"/>
            </a:endParaRPr>
          </a:p>
          <a:p>
            <a:pPr marL="12700" marR="862330">
              <a:lnSpc>
                <a:spcPct val="100000"/>
              </a:lnSpc>
            </a:pPr>
            <a:r>
              <a:rPr sz="1350" cap="small" spc="-10" dirty="0">
                <a:latin typeface="Calibri"/>
                <a:cs typeface="Calibri"/>
              </a:rPr>
              <a:t>Situação</a:t>
            </a:r>
            <a:r>
              <a:rPr sz="1350" cap="small" spc="-25" dirty="0">
                <a:latin typeface="Calibri"/>
                <a:cs typeface="Calibri"/>
              </a:rPr>
              <a:t> </a:t>
            </a:r>
            <a:r>
              <a:rPr sz="1350" cap="small" spc="-50" dirty="0">
                <a:latin typeface="Calibri"/>
                <a:cs typeface="Calibri"/>
              </a:rPr>
              <a:t>Financeira</a:t>
            </a:r>
            <a:r>
              <a:rPr sz="1350" cap="small" dirty="0">
                <a:latin typeface="Calibri"/>
                <a:cs typeface="Calibri"/>
              </a:rPr>
              <a:t> Bens</a:t>
            </a:r>
            <a:r>
              <a:rPr sz="1350" cap="small" spc="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que</a:t>
            </a:r>
            <a:r>
              <a:rPr sz="1350" cap="small" spc="-10" dirty="0">
                <a:latin typeface="Calibri"/>
                <a:cs typeface="Calibri"/>
              </a:rPr>
              <a:t> possui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50" cap="small" dirty="0">
                <a:latin typeface="Calibri"/>
                <a:cs typeface="Calibri"/>
              </a:rPr>
              <a:t>Disposição</a:t>
            </a:r>
            <a:r>
              <a:rPr sz="1350" cap="small" spc="-50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para</a:t>
            </a:r>
            <a:r>
              <a:rPr sz="1350" cap="small" spc="-4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consumo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50" cap="small" spc="-10" dirty="0">
                <a:latin typeface="Calibri"/>
                <a:cs typeface="Calibri"/>
              </a:rPr>
              <a:t>Momento</a:t>
            </a:r>
            <a:r>
              <a:rPr sz="1350" cap="small" spc="-20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na</a:t>
            </a:r>
            <a:r>
              <a:rPr sz="1350" cap="small" spc="-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jornada</a:t>
            </a:r>
            <a:r>
              <a:rPr sz="1350" cap="small" dirty="0">
                <a:latin typeface="Calibri"/>
                <a:cs typeface="Calibri"/>
              </a:rPr>
              <a:t> de</a:t>
            </a:r>
            <a:r>
              <a:rPr sz="1350" cap="small" spc="-5" dirty="0">
                <a:latin typeface="Calibri"/>
                <a:cs typeface="Calibri"/>
              </a:rPr>
              <a:t> </a:t>
            </a:r>
            <a:r>
              <a:rPr sz="1350" cap="small" spc="-70" dirty="0">
                <a:latin typeface="Calibri"/>
                <a:cs typeface="Calibri"/>
              </a:rPr>
              <a:t>compra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61337" y="4521961"/>
            <a:ext cx="1223645" cy="1483995"/>
          </a:xfrm>
          <a:custGeom>
            <a:avLst/>
            <a:gdLst/>
            <a:ahLst/>
            <a:cxnLst/>
            <a:rect l="l" t="t" r="r" b="b"/>
            <a:pathLst>
              <a:path w="1223645" h="1483995">
                <a:moveTo>
                  <a:pt x="1176909" y="198628"/>
                </a:moveTo>
                <a:lnTo>
                  <a:pt x="1072515" y="124841"/>
                </a:lnTo>
                <a:lnTo>
                  <a:pt x="1066761" y="162471"/>
                </a:lnTo>
                <a:lnTo>
                  <a:pt x="5842" y="0"/>
                </a:lnTo>
                <a:lnTo>
                  <a:pt x="0" y="37592"/>
                </a:lnTo>
                <a:lnTo>
                  <a:pt x="1060996" y="200190"/>
                </a:lnTo>
                <a:lnTo>
                  <a:pt x="1055243" y="237871"/>
                </a:lnTo>
                <a:lnTo>
                  <a:pt x="1163116" y="203073"/>
                </a:lnTo>
                <a:lnTo>
                  <a:pt x="1176909" y="198628"/>
                </a:lnTo>
                <a:close/>
              </a:path>
              <a:path w="1223645" h="1483995">
                <a:moveTo>
                  <a:pt x="1223645" y="1349248"/>
                </a:moveTo>
                <a:lnTo>
                  <a:pt x="1206347" y="1343393"/>
                </a:lnTo>
                <a:lnTo>
                  <a:pt x="1102614" y="1308252"/>
                </a:lnTo>
                <a:lnTo>
                  <a:pt x="1107808" y="1345996"/>
                </a:lnTo>
                <a:lnTo>
                  <a:pt x="384302" y="1445793"/>
                </a:lnTo>
                <a:lnTo>
                  <a:pt x="389509" y="1483537"/>
                </a:lnTo>
                <a:lnTo>
                  <a:pt x="1113015" y="1383741"/>
                </a:lnTo>
                <a:lnTo>
                  <a:pt x="1118235" y="1421485"/>
                </a:lnTo>
                <a:lnTo>
                  <a:pt x="1223645" y="1349248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9500" y="5546852"/>
            <a:ext cx="1672589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cap="small" spc="-10" dirty="0">
                <a:latin typeface="Calibri"/>
                <a:cs typeface="Calibri"/>
              </a:rPr>
              <a:t>Barreiras</a:t>
            </a:r>
            <a:r>
              <a:rPr sz="1350" cap="small" dirty="0">
                <a:latin typeface="Calibri"/>
                <a:cs typeface="Calibri"/>
              </a:rPr>
              <a:t> que</a:t>
            </a:r>
            <a:r>
              <a:rPr sz="1350" cap="small" spc="-20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percebe </a:t>
            </a:r>
            <a:r>
              <a:rPr sz="1350" cap="small" dirty="0">
                <a:latin typeface="Calibri"/>
                <a:cs typeface="Calibri"/>
              </a:rPr>
              <a:t>Desafios</a:t>
            </a:r>
            <a:r>
              <a:rPr sz="1350" cap="small" spc="-3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que</a:t>
            </a:r>
            <a:r>
              <a:rPr sz="1350" cap="small" spc="-2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enxerga Experiências</a:t>
            </a:r>
            <a:r>
              <a:rPr sz="1350" cap="small" spc="1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boas</a:t>
            </a:r>
            <a:r>
              <a:rPr sz="1350" cap="small" spc="10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e</a:t>
            </a:r>
            <a:r>
              <a:rPr sz="1350" cap="small" spc="15" dirty="0">
                <a:latin typeface="Calibri"/>
                <a:cs typeface="Calibri"/>
              </a:rPr>
              <a:t> </a:t>
            </a:r>
            <a:r>
              <a:rPr sz="1350" cap="small" spc="-85" dirty="0">
                <a:latin typeface="Calibri"/>
                <a:cs typeface="Calibri"/>
              </a:rPr>
              <a:t>ruins</a:t>
            </a:r>
            <a:r>
              <a:rPr sz="1350" cap="small" spc="-10" dirty="0">
                <a:latin typeface="Calibri"/>
                <a:cs typeface="Calibri"/>
              </a:rPr>
              <a:t> Frustrações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4133" y="4394961"/>
            <a:ext cx="1890395" cy="203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cap="small" spc="-10" dirty="0">
                <a:latin typeface="Calibri"/>
                <a:cs typeface="Calibri"/>
              </a:rPr>
              <a:t>Estrutura</a:t>
            </a:r>
            <a:r>
              <a:rPr sz="1350" cap="small" spc="-2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Familiar </a:t>
            </a:r>
            <a:r>
              <a:rPr sz="1350" cap="small" spc="-25" dirty="0">
                <a:latin typeface="Calibri"/>
                <a:cs typeface="Calibri"/>
              </a:rPr>
              <a:t>Preocupações</a:t>
            </a:r>
            <a:r>
              <a:rPr sz="1350" cap="small" spc="1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com</a:t>
            </a:r>
            <a:r>
              <a:rPr sz="1350" cap="small" spc="1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o</a:t>
            </a:r>
            <a:r>
              <a:rPr sz="1350" cap="small" spc="35" dirty="0">
                <a:latin typeface="Calibri"/>
                <a:cs typeface="Calibri"/>
              </a:rPr>
              <a:t> </a:t>
            </a:r>
            <a:r>
              <a:rPr sz="1350" cap="small" spc="-85" dirty="0">
                <a:latin typeface="Calibri"/>
                <a:cs typeface="Calibri"/>
              </a:rPr>
              <a:t>futuro</a:t>
            </a:r>
            <a:r>
              <a:rPr sz="1350" cap="small" spc="-10" dirty="0">
                <a:latin typeface="Calibri"/>
                <a:cs typeface="Calibri"/>
              </a:rPr>
              <a:t> Hábitos</a:t>
            </a:r>
            <a:r>
              <a:rPr sz="1350" cap="small" dirty="0">
                <a:latin typeface="Calibri"/>
                <a:cs typeface="Calibri"/>
              </a:rPr>
              <a:t> de</a:t>
            </a:r>
            <a:r>
              <a:rPr sz="1350" cap="small" spc="5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Lazer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050">
              <a:latin typeface="Calibri"/>
              <a:cs typeface="Calibri"/>
            </a:endParaRPr>
          </a:p>
          <a:p>
            <a:pPr marL="134620" marR="1114425">
              <a:lnSpc>
                <a:spcPct val="100000"/>
              </a:lnSpc>
            </a:pPr>
            <a:r>
              <a:rPr sz="1350" cap="small" spc="-10" dirty="0">
                <a:latin typeface="Calibri"/>
                <a:cs typeface="Calibri"/>
              </a:rPr>
              <a:t>Sonhos Planos </a:t>
            </a:r>
            <a:r>
              <a:rPr sz="1350" cap="small" spc="-35" dirty="0">
                <a:latin typeface="Calibri"/>
                <a:cs typeface="Calibri"/>
              </a:rPr>
              <a:t>Objetivos</a:t>
            </a:r>
            <a:endParaRPr sz="1350">
              <a:latin typeface="Calibri"/>
              <a:cs typeface="Calibri"/>
            </a:endParaRPr>
          </a:p>
          <a:p>
            <a:pPr marL="134620">
              <a:lnSpc>
                <a:spcPts val="1500"/>
              </a:lnSpc>
            </a:pPr>
            <a:r>
              <a:rPr sz="1350" cap="small" dirty="0">
                <a:latin typeface="Calibri"/>
                <a:cs typeface="Calibri"/>
              </a:rPr>
              <a:t>Como se</a:t>
            </a:r>
            <a:r>
              <a:rPr sz="1350" cap="small" spc="15" dirty="0">
                <a:latin typeface="Calibri"/>
                <a:cs typeface="Calibri"/>
              </a:rPr>
              <a:t> </a:t>
            </a:r>
            <a:r>
              <a:rPr sz="1350" cap="small" dirty="0">
                <a:latin typeface="Calibri"/>
                <a:cs typeface="Calibri"/>
              </a:rPr>
              <a:t>vê no</a:t>
            </a:r>
            <a:r>
              <a:rPr sz="1350" cap="small" spc="10" dirty="0">
                <a:latin typeface="Calibri"/>
                <a:cs typeface="Calibri"/>
              </a:rPr>
              <a:t> </a:t>
            </a:r>
            <a:r>
              <a:rPr sz="1350" cap="small" spc="-10" dirty="0">
                <a:latin typeface="Calibri"/>
                <a:cs typeface="Calibri"/>
              </a:rPr>
              <a:t>futuro</a:t>
            </a:r>
            <a:endParaRPr sz="1350">
              <a:latin typeface="Calibri"/>
              <a:cs typeface="Calibri"/>
            </a:endParaRPr>
          </a:p>
          <a:p>
            <a:pPr marR="120650" algn="r">
              <a:lnSpc>
                <a:spcPts val="1320"/>
              </a:lnSpc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15995" y="1632204"/>
            <a:ext cx="3943985" cy="4398645"/>
            <a:chOff x="3015995" y="1632204"/>
            <a:chExt cx="3943985" cy="4398645"/>
          </a:xfrm>
        </p:grpSpPr>
        <p:sp>
          <p:nvSpPr>
            <p:cNvPr id="15" name="object 15"/>
            <p:cNvSpPr/>
            <p:nvPr/>
          </p:nvSpPr>
          <p:spPr>
            <a:xfrm>
              <a:off x="5689854" y="2078100"/>
              <a:ext cx="1270000" cy="3952875"/>
            </a:xfrm>
            <a:custGeom>
              <a:avLst/>
              <a:gdLst/>
              <a:ahLst/>
              <a:cxnLst/>
              <a:rect l="l" t="t" r="r" b="b"/>
              <a:pathLst>
                <a:path w="1270000" h="3952875">
                  <a:moveTo>
                    <a:pt x="1058418" y="36322"/>
                  </a:moveTo>
                  <a:lnTo>
                    <a:pt x="1046734" y="0"/>
                  </a:lnTo>
                  <a:lnTo>
                    <a:pt x="102933" y="302933"/>
                  </a:lnTo>
                  <a:lnTo>
                    <a:pt x="91313" y="266700"/>
                  </a:lnTo>
                  <a:lnTo>
                    <a:pt x="0" y="355981"/>
                  </a:lnTo>
                  <a:lnTo>
                    <a:pt x="126238" y="375539"/>
                  </a:lnTo>
                  <a:lnTo>
                    <a:pt x="116446" y="345059"/>
                  </a:lnTo>
                  <a:lnTo>
                    <a:pt x="114592" y="339267"/>
                  </a:lnTo>
                  <a:lnTo>
                    <a:pt x="1058418" y="36322"/>
                  </a:lnTo>
                  <a:close/>
                </a:path>
                <a:path w="1270000" h="3952875">
                  <a:moveTo>
                    <a:pt x="1269746" y="3812032"/>
                  </a:moveTo>
                  <a:lnTo>
                    <a:pt x="1265301" y="3774186"/>
                  </a:lnTo>
                  <a:lnTo>
                    <a:pt x="373494" y="3876560"/>
                  </a:lnTo>
                  <a:lnTo>
                    <a:pt x="369189" y="3838714"/>
                  </a:lnTo>
                  <a:lnTo>
                    <a:pt x="262128" y="3908526"/>
                  </a:lnTo>
                  <a:lnTo>
                    <a:pt x="382143" y="3952265"/>
                  </a:lnTo>
                  <a:lnTo>
                    <a:pt x="378066" y="3916591"/>
                  </a:lnTo>
                  <a:lnTo>
                    <a:pt x="377825" y="3914419"/>
                  </a:lnTo>
                  <a:lnTo>
                    <a:pt x="1269746" y="381203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5995" y="1632204"/>
              <a:ext cx="3061716" cy="16047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77717" y="1671066"/>
              <a:ext cx="2943225" cy="1485900"/>
            </a:xfrm>
            <a:custGeom>
              <a:avLst/>
              <a:gdLst/>
              <a:ahLst/>
              <a:cxnLst/>
              <a:rect l="l" t="t" r="r" b="b"/>
              <a:pathLst>
                <a:path w="2943225" h="1485900">
                  <a:moveTo>
                    <a:pt x="0" y="1485900"/>
                  </a:moveTo>
                  <a:lnTo>
                    <a:pt x="2942844" y="1485900"/>
                  </a:lnTo>
                  <a:lnTo>
                    <a:pt x="2942844" y="0"/>
                  </a:lnTo>
                  <a:lnTo>
                    <a:pt x="0" y="0"/>
                  </a:lnTo>
                  <a:lnTo>
                    <a:pt x="0" y="1485900"/>
                  </a:lnTo>
                  <a:close/>
                </a:path>
              </a:pathLst>
            </a:custGeom>
            <a:ln w="3810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58697" y="720597"/>
            <a:ext cx="1839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PERSONAS</a:t>
            </a:r>
            <a:endParaRPr sz="3200"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36386" y="723628"/>
            <a:ext cx="5146556" cy="64047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236976" y="780287"/>
            <a:ext cx="4940935" cy="523240"/>
          </a:xfrm>
          <a:prstGeom prst="rect">
            <a:avLst/>
          </a:prstGeom>
          <a:solidFill>
            <a:srgbClr val="FFFFFF"/>
          </a:solidFill>
          <a:ln w="9144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306070" indent="-213995">
              <a:lnSpc>
                <a:spcPct val="100000"/>
              </a:lnSpc>
              <a:spcBef>
                <a:spcPts val="265"/>
              </a:spcBef>
              <a:buFont typeface="Wingdings"/>
              <a:buChar char=""/>
              <a:tabLst>
                <a:tab pos="306070" algn="l"/>
              </a:tabLst>
            </a:pPr>
            <a:r>
              <a:rPr sz="1400" b="1" cap="small" dirty="0">
                <a:latin typeface="Calibri"/>
                <a:cs typeface="Calibri"/>
              </a:rPr>
              <a:t>Personificação</a:t>
            </a:r>
            <a:r>
              <a:rPr sz="1400" b="1" cap="small" spc="11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de</a:t>
            </a:r>
            <a:r>
              <a:rPr sz="1400" b="1" cap="small" spc="6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cada</a:t>
            </a:r>
            <a:r>
              <a:rPr sz="1400" b="1" cap="small" spc="5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grupo</a:t>
            </a:r>
            <a:r>
              <a:rPr sz="1400" b="1" cap="small" spc="8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de</a:t>
            </a:r>
            <a:r>
              <a:rPr sz="1400" b="1" cap="small" spc="6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úsuários</a:t>
            </a:r>
            <a:r>
              <a:rPr sz="1400" b="1" cap="small" spc="6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típicos</a:t>
            </a:r>
            <a:r>
              <a:rPr sz="1400" b="1" cap="small" spc="7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de</a:t>
            </a:r>
            <a:r>
              <a:rPr sz="1400" b="1" cap="small" spc="8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um</a:t>
            </a:r>
            <a:r>
              <a:rPr sz="1400" b="1" cap="small" spc="55" dirty="0">
                <a:latin typeface="Calibri"/>
                <a:cs typeface="Calibri"/>
              </a:rPr>
              <a:t> </a:t>
            </a:r>
            <a:r>
              <a:rPr sz="1400" b="1" cap="small" spc="-10" dirty="0">
                <a:latin typeface="Calibri"/>
                <a:cs typeface="Calibri"/>
              </a:rPr>
              <a:t>sistema</a:t>
            </a:r>
            <a:endParaRPr sz="1400">
              <a:latin typeface="Calibri"/>
              <a:cs typeface="Calibri"/>
            </a:endParaRPr>
          </a:p>
          <a:p>
            <a:pPr marL="306070" indent="-213995">
              <a:lnSpc>
                <a:spcPct val="100000"/>
              </a:lnSpc>
              <a:buFont typeface="Wingdings"/>
              <a:buChar char=""/>
              <a:tabLst>
                <a:tab pos="306070" algn="l"/>
              </a:tabLst>
            </a:pPr>
            <a:r>
              <a:rPr sz="1400" b="1" cap="small" dirty="0">
                <a:latin typeface="Calibri"/>
                <a:cs typeface="Calibri"/>
              </a:rPr>
              <a:t>Representação</a:t>
            </a:r>
            <a:r>
              <a:rPr sz="1400" b="1" cap="small" spc="9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semi-fictícia</a:t>
            </a:r>
            <a:r>
              <a:rPr sz="1400" b="1" cap="small" spc="5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de</a:t>
            </a:r>
            <a:r>
              <a:rPr sz="1400" b="1" cap="small" spc="4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usuários</a:t>
            </a:r>
            <a:r>
              <a:rPr sz="1400" b="1" cap="small" spc="50" dirty="0">
                <a:latin typeface="Calibri"/>
                <a:cs typeface="Calibri"/>
              </a:rPr>
              <a:t> </a:t>
            </a:r>
            <a:r>
              <a:rPr sz="1400" b="1" cap="small" spc="-20" dirty="0">
                <a:latin typeface="Calibri"/>
                <a:cs typeface="Calibri"/>
              </a:rPr>
              <a:t>reais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1744" y="282549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2" y="0"/>
                </a:moveTo>
                <a:lnTo>
                  <a:pt x="349757" y="0"/>
                </a:lnTo>
                <a:lnTo>
                  <a:pt x="0" y="699515"/>
                </a:lnTo>
                <a:lnTo>
                  <a:pt x="349757" y="1399031"/>
                </a:lnTo>
                <a:lnTo>
                  <a:pt x="1273302" y="1399031"/>
                </a:lnTo>
                <a:lnTo>
                  <a:pt x="1623059" y="699515"/>
                </a:lnTo>
                <a:lnTo>
                  <a:pt x="127330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83383" y="3295015"/>
            <a:ext cx="7823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CRIAR</a:t>
            </a:r>
            <a:endParaRPr sz="13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“EMPATIA”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78479" y="3526535"/>
            <a:ext cx="1623060" cy="1397635"/>
          </a:xfrm>
          <a:custGeom>
            <a:avLst/>
            <a:gdLst/>
            <a:ahLst/>
            <a:cxnLst/>
            <a:rect l="l" t="t" r="r" b="b"/>
            <a:pathLst>
              <a:path w="1623060" h="1397635">
                <a:moveTo>
                  <a:pt x="1273683" y="0"/>
                </a:moveTo>
                <a:lnTo>
                  <a:pt x="349377" y="0"/>
                </a:lnTo>
                <a:lnTo>
                  <a:pt x="0" y="698753"/>
                </a:lnTo>
                <a:lnTo>
                  <a:pt x="349377" y="1397508"/>
                </a:lnTo>
                <a:lnTo>
                  <a:pt x="1273683" y="1397508"/>
                </a:lnTo>
                <a:lnTo>
                  <a:pt x="1623059" y="698753"/>
                </a:lnTo>
                <a:lnTo>
                  <a:pt x="1273683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24503" y="3995673"/>
            <a:ext cx="7327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ANALISE</a:t>
            </a:r>
            <a:r>
              <a:rPr sz="13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95215" y="282549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60" h="1399539">
                <a:moveTo>
                  <a:pt x="1273302" y="0"/>
                </a:moveTo>
                <a:lnTo>
                  <a:pt x="349758" y="0"/>
                </a:lnTo>
                <a:lnTo>
                  <a:pt x="0" y="699515"/>
                </a:lnTo>
                <a:lnTo>
                  <a:pt x="349758" y="1399031"/>
                </a:lnTo>
                <a:lnTo>
                  <a:pt x="1273302" y="1399031"/>
                </a:lnTo>
                <a:lnTo>
                  <a:pt x="1623060" y="699515"/>
                </a:lnTo>
                <a:lnTo>
                  <a:pt x="127330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55540" y="3295015"/>
            <a:ext cx="50292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GERAR IDEIAS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1952" y="3534155"/>
            <a:ext cx="1623060" cy="1399540"/>
          </a:xfrm>
          <a:custGeom>
            <a:avLst/>
            <a:gdLst/>
            <a:ahLst/>
            <a:cxnLst/>
            <a:rect l="l" t="t" r="r" b="b"/>
            <a:pathLst>
              <a:path w="1623059" h="1399539">
                <a:moveTo>
                  <a:pt x="1273302" y="0"/>
                </a:moveTo>
                <a:lnTo>
                  <a:pt x="349758" y="0"/>
                </a:lnTo>
                <a:lnTo>
                  <a:pt x="0" y="699516"/>
                </a:lnTo>
                <a:lnTo>
                  <a:pt x="349758" y="1399032"/>
                </a:lnTo>
                <a:lnTo>
                  <a:pt x="1273302" y="1399032"/>
                </a:lnTo>
                <a:lnTo>
                  <a:pt x="1623059" y="699516"/>
                </a:lnTo>
                <a:lnTo>
                  <a:pt x="1273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74155" y="4106926"/>
            <a:ext cx="9023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PROTOTIPAR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28688" y="4233671"/>
            <a:ext cx="1621790" cy="1399540"/>
          </a:xfrm>
          <a:custGeom>
            <a:avLst/>
            <a:gdLst/>
            <a:ahLst/>
            <a:cxnLst/>
            <a:rect l="l" t="t" r="r" b="b"/>
            <a:pathLst>
              <a:path w="1621790" h="1399539">
                <a:moveTo>
                  <a:pt x="1271777" y="0"/>
                </a:moveTo>
                <a:lnTo>
                  <a:pt x="349757" y="0"/>
                </a:lnTo>
                <a:lnTo>
                  <a:pt x="0" y="699515"/>
                </a:lnTo>
                <a:lnTo>
                  <a:pt x="349757" y="1399031"/>
                </a:lnTo>
                <a:lnTo>
                  <a:pt x="1271777" y="1399031"/>
                </a:lnTo>
                <a:lnTo>
                  <a:pt x="1621535" y="699515"/>
                </a:lnTo>
                <a:lnTo>
                  <a:pt x="12717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75550" y="4806188"/>
            <a:ext cx="53213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TESTAR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1298" y="2112645"/>
            <a:ext cx="1590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ENTENDIMENTO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1439" y="2409418"/>
            <a:ext cx="3891279" cy="4448810"/>
            <a:chOff x="91439" y="2409418"/>
            <a:chExt cx="3891279" cy="444881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1844" y="2409418"/>
              <a:ext cx="573011" cy="96928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16657" y="2432558"/>
              <a:ext cx="381000" cy="772795"/>
            </a:xfrm>
            <a:custGeom>
              <a:avLst/>
              <a:gdLst/>
              <a:ahLst/>
              <a:cxnLst/>
              <a:rect l="l" t="t" r="r" b="b"/>
              <a:pathLst>
                <a:path w="381000" h="772794">
                  <a:moveTo>
                    <a:pt x="0" y="645032"/>
                  </a:moveTo>
                  <a:lnTo>
                    <a:pt x="2920" y="772794"/>
                  </a:lnTo>
                  <a:lnTo>
                    <a:pt x="102085" y="694816"/>
                  </a:lnTo>
                  <a:lnTo>
                    <a:pt x="60832" y="694816"/>
                  </a:lnTo>
                  <a:lnTo>
                    <a:pt x="26288" y="678561"/>
                  </a:lnTo>
                  <a:lnTo>
                    <a:pt x="34436" y="661278"/>
                  </a:lnTo>
                  <a:lnTo>
                    <a:pt x="0" y="645032"/>
                  </a:lnTo>
                  <a:close/>
                </a:path>
                <a:path w="381000" h="772794">
                  <a:moveTo>
                    <a:pt x="34436" y="661278"/>
                  </a:moveTo>
                  <a:lnTo>
                    <a:pt x="26288" y="678561"/>
                  </a:lnTo>
                  <a:lnTo>
                    <a:pt x="60832" y="694816"/>
                  </a:lnTo>
                  <a:lnTo>
                    <a:pt x="68965" y="677567"/>
                  </a:lnTo>
                  <a:lnTo>
                    <a:pt x="34436" y="661278"/>
                  </a:lnTo>
                  <a:close/>
                </a:path>
                <a:path w="381000" h="772794">
                  <a:moveTo>
                    <a:pt x="68965" y="677567"/>
                  </a:moveTo>
                  <a:lnTo>
                    <a:pt x="60832" y="694816"/>
                  </a:lnTo>
                  <a:lnTo>
                    <a:pt x="102085" y="694816"/>
                  </a:lnTo>
                  <a:lnTo>
                    <a:pt x="103378" y="693801"/>
                  </a:lnTo>
                  <a:lnTo>
                    <a:pt x="68965" y="677567"/>
                  </a:lnTo>
                  <a:close/>
                </a:path>
                <a:path w="381000" h="772794">
                  <a:moveTo>
                    <a:pt x="346201" y="0"/>
                  </a:moveTo>
                  <a:lnTo>
                    <a:pt x="34436" y="661278"/>
                  </a:lnTo>
                  <a:lnTo>
                    <a:pt x="68965" y="677567"/>
                  </a:lnTo>
                  <a:lnTo>
                    <a:pt x="380745" y="16255"/>
                  </a:lnTo>
                  <a:lnTo>
                    <a:pt x="3462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263" y="2435352"/>
              <a:ext cx="726948" cy="160324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97554" y="2458466"/>
              <a:ext cx="546735" cy="1407160"/>
            </a:xfrm>
            <a:custGeom>
              <a:avLst/>
              <a:gdLst/>
              <a:ahLst/>
              <a:cxnLst/>
              <a:rect l="l" t="t" r="r" b="b"/>
              <a:pathLst>
                <a:path w="546735" h="1407160">
                  <a:moveTo>
                    <a:pt x="474623" y="1306428"/>
                  </a:moveTo>
                  <a:lnTo>
                    <a:pt x="438912" y="1319530"/>
                  </a:lnTo>
                  <a:lnTo>
                    <a:pt x="531876" y="1407160"/>
                  </a:lnTo>
                  <a:lnTo>
                    <a:pt x="541232" y="1324356"/>
                  </a:lnTo>
                  <a:lnTo>
                    <a:pt x="481203" y="1324356"/>
                  </a:lnTo>
                  <a:lnTo>
                    <a:pt x="474623" y="1306428"/>
                  </a:lnTo>
                  <a:close/>
                </a:path>
                <a:path w="546735" h="1407160">
                  <a:moveTo>
                    <a:pt x="510459" y="1293281"/>
                  </a:moveTo>
                  <a:lnTo>
                    <a:pt x="474623" y="1306428"/>
                  </a:lnTo>
                  <a:lnTo>
                    <a:pt x="481203" y="1324356"/>
                  </a:lnTo>
                  <a:lnTo>
                    <a:pt x="517017" y="1311148"/>
                  </a:lnTo>
                  <a:lnTo>
                    <a:pt x="510459" y="1293281"/>
                  </a:lnTo>
                  <a:close/>
                </a:path>
                <a:path w="546735" h="1407160">
                  <a:moveTo>
                    <a:pt x="546227" y="1280160"/>
                  </a:moveTo>
                  <a:lnTo>
                    <a:pt x="510459" y="1293281"/>
                  </a:lnTo>
                  <a:lnTo>
                    <a:pt x="517017" y="1311148"/>
                  </a:lnTo>
                  <a:lnTo>
                    <a:pt x="481203" y="1324356"/>
                  </a:lnTo>
                  <a:lnTo>
                    <a:pt x="541232" y="1324356"/>
                  </a:lnTo>
                  <a:lnTo>
                    <a:pt x="546227" y="1280160"/>
                  </a:lnTo>
                  <a:close/>
                </a:path>
                <a:path w="546735" h="1407160">
                  <a:moveTo>
                    <a:pt x="35814" y="0"/>
                  </a:moveTo>
                  <a:lnTo>
                    <a:pt x="0" y="13208"/>
                  </a:lnTo>
                  <a:lnTo>
                    <a:pt x="474623" y="1306428"/>
                  </a:lnTo>
                  <a:lnTo>
                    <a:pt x="510459" y="1293281"/>
                  </a:lnTo>
                  <a:lnTo>
                    <a:pt x="3581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39" y="4061485"/>
              <a:ext cx="2141220" cy="27965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655" y="4265674"/>
              <a:ext cx="1552194" cy="250697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1084" y="4261104"/>
              <a:ext cx="1562100" cy="2516505"/>
            </a:xfrm>
            <a:custGeom>
              <a:avLst/>
              <a:gdLst/>
              <a:ahLst/>
              <a:cxnLst/>
              <a:rect l="l" t="t" r="r" b="b"/>
              <a:pathLst>
                <a:path w="1562100" h="2516504">
                  <a:moveTo>
                    <a:pt x="0" y="2516124"/>
                  </a:moveTo>
                  <a:lnTo>
                    <a:pt x="1562100" y="2516124"/>
                  </a:lnTo>
                  <a:lnTo>
                    <a:pt x="1562100" y="0"/>
                  </a:lnTo>
                  <a:lnTo>
                    <a:pt x="0" y="0"/>
                  </a:lnTo>
                  <a:lnTo>
                    <a:pt x="0" y="251612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8695" y="3829786"/>
              <a:ext cx="536435" cy="57762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916429" y="3853052"/>
              <a:ext cx="340360" cy="382270"/>
            </a:xfrm>
            <a:custGeom>
              <a:avLst/>
              <a:gdLst/>
              <a:ahLst/>
              <a:cxnLst/>
              <a:rect l="l" t="t" r="r" b="b"/>
              <a:pathLst>
                <a:path w="340360" h="382270">
                  <a:moveTo>
                    <a:pt x="32765" y="258318"/>
                  </a:moveTo>
                  <a:lnTo>
                    <a:pt x="0" y="381762"/>
                  </a:lnTo>
                  <a:lnTo>
                    <a:pt x="118490" y="333883"/>
                  </a:lnTo>
                  <a:lnTo>
                    <a:pt x="106100" y="322961"/>
                  </a:lnTo>
                  <a:lnTo>
                    <a:pt x="77343" y="322961"/>
                  </a:lnTo>
                  <a:lnTo>
                    <a:pt x="48768" y="297815"/>
                  </a:lnTo>
                  <a:lnTo>
                    <a:pt x="61366" y="283528"/>
                  </a:lnTo>
                  <a:lnTo>
                    <a:pt x="32765" y="258318"/>
                  </a:lnTo>
                  <a:close/>
                </a:path>
                <a:path w="340360" h="382270">
                  <a:moveTo>
                    <a:pt x="61366" y="283528"/>
                  </a:moveTo>
                  <a:lnTo>
                    <a:pt x="48768" y="297815"/>
                  </a:lnTo>
                  <a:lnTo>
                    <a:pt x="77343" y="322961"/>
                  </a:lnTo>
                  <a:lnTo>
                    <a:pt x="89920" y="308698"/>
                  </a:lnTo>
                  <a:lnTo>
                    <a:pt x="61366" y="283528"/>
                  </a:lnTo>
                  <a:close/>
                </a:path>
                <a:path w="340360" h="382270">
                  <a:moveTo>
                    <a:pt x="89920" y="308698"/>
                  </a:moveTo>
                  <a:lnTo>
                    <a:pt x="77343" y="322961"/>
                  </a:lnTo>
                  <a:lnTo>
                    <a:pt x="106100" y="322961"/>
                  </a:lnTo>
                  <a:lnTo>
                    <a:pt x="89920" y="308698"/>
                  </a:lnTo>
                  <a:close/>
                </a:path>
                <a:path w="340360" h="382270">
                  <a:moveTo>
                    <a:pt x="311403" y="0"/>
                  </a:moveTo>
                  <a:lnTo>
                    <a:pt x="61366" y="283528"/>
                  </a:lnTo>
                  <a:lnTo>
                    <a:pt x="89920" y="308698"/>
                  </a:lnTo>
                  <a:lnTo>
                    <a:pt x="339978" y="25146"/>
                  </a:lnTo>
                  <a:lnTo>
                    <a:pt x="3114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PROCESSOS</a:t>
            </a:r>
            <a:r>
              <a:rPr spc="-7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DESIGN</a:t>
            </a:r>
            <a:r>
              <a:rPr spc="-40" dirty="0"/>
              <a:t> </a:t>
            </a:r>
            <a:r>
              <a:rPr spc="-10" dirty="0"/>
              <a:t>THINKING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PERSONAS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27659" y="1697735"/>
            <a:ext cx="7839709" cy="2830195"/>
            <a:chOff x="327659" y="1697735"/>
            <a:chExt cx="7839709" cy="28301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0983" y="1796795"/>
              <a:ext cx="4866132" cy="27310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59" y="1697735"/>
              <a:ext cx="3695827" cy="28180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073" y="1904364"/>
              <a:ext cx="3103714" cy="22256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8065" y="1898268"/>
              <a:ext cx="3115945" cy="2237740"/>
            </a:xfrm>
            <a:custGeom>
              <a:avLst/>
              <a:gdLst/>
              <a:ahLst/>
              <a:cxnLst/>
              <a:rect l="l" t="t" r="r" b="b"/>
              <a:pathLst>
                <a:path w="3115945" h="2237740">
                  <a:moveTo>
                    <a:pt x="0" y="877569"/>
                  </a:moveTo>
                  <a:lnTo>
                    <a:pt x="2668524" y="0"/>
                  </a:lnTo>
                  <a:lnTo>
                    <a:pt x="3115818" y="1360296"/>
                  </a:lnTo>
                  <a:lnTo>
                    <a:pt x="447294" y="2237739"/>
                  </a:lnTo>
                  <a:lnTo>
                    <a:pt x="0" y="877569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26032" y="5516676"/>
            <a:ext cx="711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https://redeglobo.globo.com/milhoes-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de-uns/playlist/milhoes-de-uns.ghtml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/>
          <p:nvPr/>
        </p:nvSpPr>
        <p:spPr>
          <a:xfrm>
            <a:off x="2199132" y="3449573"/>
            <a:ext cx="1888999" cy="831327"/>
          </a:xfrm>
          <a:custGeom>
            <a:avLst/>
            <a:gdLst/>
            <a:ahLst/>
            <a:cxnLst/>
            <a:rect l="l" t="t" r="r" b="b"/>
            <a:pathLst>
              <a:path w="1929129" h="1840864">
                <a:moveTo>
                  <a:pt x="1841881" y="1753743"/>
                </a:moveTo>
                <a:lnTo>
                  <a:pt x="1841881" y="1840611"/>
                </a:lnTo>
                <a:lnTo>
                  <a:pt x="1899793" y="1811654"/>
                </a:lnTo>
                <a:lnTo>
                  <a:pt x="1856358" y="1811654"/>
                </a:lnTo>
                <a:lnTo>
                  <a:pt x="1856358" y="1782699"/>
                </a:lnTo>
                <a:lnTo>
                  <a:pt x="1899793" y="1782699"/>
                </a:lnTo>
                <a:lnTo>
                  <a:pt x="1841881" y="1753743"/>
                </a:lnTo>
                <a:close/>
              </a:path>
              <a:path w="1929129" h="1840864">
                <a:moveTo>
                  <a:pt x="28956" y="0"/>
                </a:moveTo>
                <a:lnTo>
                  <a:pt x="0" y="0"/>
                </a:lnTo>
                <a:lnTo>
                  <a:pt x="0" y="1805177"/>
                </a:lnTo>
                <a:lnTo>
                  <a:pt x="6476" y="1811654"/>
                </a:lnTo>
                <a:lnTo>
                  <a:pt x="1841881" y="1811654"/>
                </a:lnTo>
                <a:lnTo>
                  <a:pt x="1841881" y="1797177"/>
                </a:lnTo>
                <a:lnTo>
                  <a:pt x="28956" y="1797177"/>
                </a:lnTo>
                <a:lnTo>
                  <a:pt x="14478" y="1782699"/>
                </a:lnTo>
                <a:lnTo>
                  <a:pt x="28956" y="1782699"/>
                </a:lnTo>
                <a:lnTo>
                  <a:pt x="28956" y="0"/>
                </a:lnTo>
                <a:close/>
              </a:path>
              <a:path w="1929129" h="1840864">
                <a:moveTo>
                  <a:pt x="1899793" y="1782699"/>
                </a:moveTo>
                <a:lnTo>
                  <a:pt x="1856358" y="1782699"/>
                </a:lnTo>
                <a:lnTo>
                  <a:pt x="1856358" y="1811654"/>
                </a:lnTo>
                <a:lnTo>
                  <a:pt x="1899793" y="1811654"/>
                </a:lnTo>
                <a:lnTo>
                  <a:pt x="1928748" y="1797177"/>
                </a:lnTo>
                <a:lnTo>
                  <a:pt x="1899793" y="1782699"/>
                </a:lnTo>
                <a:close/>
              </a:path>
              <a:path w="1929129" h="1840864">
                <a:moveTo>
                  <a:pt x="28956" y="1782699"/>
                </a:moveTo>
                <a:lnTo>
                  <a:pt x="14478" y="1782699"/>
                </a:lnTo>
                <a:lnTo>
                  <a:pt x="28956" y="1797177"/>
                </a:lnTo>
                <a:lnTo>
                  <a:pt x="28956" y="1782699"/>
                </a:lnTo>
                <a:close/>
              </a:path>
              <a:path w="1929129" h="1840864">
                <a:moveTo>
                  <a:pt x="1841881" y="1782699"/>
                </a:moveTo>
                <a:lnTo>
                  <a:pt x="28956" y="1782699"/>
                </a:lnTo>
                <a:lnTo>
                  <a:pt x="28956" y="1797177"/>
                </a:lnTo>
                <a:lnTo>
                  <a:pt x="1841881" y="1797177"/>
                </a:lnTo>
                <a:lnTo>
                  <a:pt x="1841881" y="1782699"/>
                </a:lnTo>
                <a:close/>
              </a:path>
            </a:pathLst>
          </a:custGeom>
          <a:solidFill>
            <a:srgbClr val="C00000"/>
          </a:solidFill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7">
            <a:extLst>
              <a:ext uri="{FF2B5EF4-FFF2-40B4-BE49-F238E27FC236}">
                <a16:creationId xmlns:a16="http://schemas.microsoft.com/office/drawing/2014/main" id="{2B4EA22A-118B-6618-07EF-62730EAA3200}"/>
              </a:ext>
            </a:extLst>
          </p:cNvPr>
          <p:cNvSpPr/>
          <p:nvPr/>
        </p:nvSpPr>
        <p:spPr>
          <a:xfrm flipH="1">
            <a:off x="5901816" y="3458538"/>
            <a:ext cx="1639379" cy="831327"/>
          </a:xfrm>
          <a:custGeom>
            <a:avLst/>
            <a:gdLst/>
            <a:ahLst/>
            <a:cxnLst/>
            <a:rect l="l" t="t" r="r" b="b"/>
            <a:pathLst>
              <a:path w="1929129" h="1840864">
                <a:moveTo>
                  <a:pt x="1841881" y="1753743"/>
                </a:moveTo>
                <a:lnTo>
                  <a:pt x="1841881" y="1840611"/>
                </a:lnTo>
                <a:lnTo>
                  <a:pt x="1899793" y="1811654"/>
                </a:lnTo>
                <a:lnTo>
                  <a:pt x="1856358" y="1811654"/>
                </a:lnTo>
                <a:lnTo>
                  <a:pt x="1856358" y="1782699"/>
                </a:lnTo>
                <a:lnTo>
                  <a:pt x="1899793" y="1782699"/>
                </a:lnTo>
                <a:lnTo>
                  <a:pt x="1841881" y="1753743"/>
                </a:lnTo>
                <a:close/>
              </a:path>
              <a:path w="1929129" h="1840864">
                <a:moveTo>
                  <a:pt x="28956" y="0"/>
                </a:moveTo>
                <a:lnTo>
                  <a:pt x="0" y="0"/>
                </a:lnTo>
                <a:lnTo>
                  <a:pt x="0" y="1805177"/>
                </a:lnTo>
                <a:lnTo>
                  <a:pt x="6476" y="1811654"/>
                </a:lnTo>
                <a:lnTo>
                  <a:pt x="1841881" y="1811654"/>
                </a:lnTo>
                <a:lnTo>
                  <a:pt x="1841881" y="1797177"/>
                </a:lnTo>
                <a:lnTo>
                  <a:pt x="28956" y="1797177"/>
                </a:lnTo>
                <a:lnTo>
                  <a:pt x="14478" y="1782699"/>
                </a:lnTo>
                <a:lnTo>
                  <a:pt x="28956" y="1782699"/>
                </a:lnTo>
                <a:lnTo>
                  <a:pt x="28956" y="0"/>
                </a:lnTo>
                <a:close/>
              </a:path>
              <a:path w="1929129" h="1840864">
                <a:moveTo>
                  <a:pt x="1899793" y="1782699"/>
                </a:moveTo>
                <a:lnTo>
                  <a:pt x="1856358" y="1782699"/>
                </a:lnTo>
                <a:lnTo>
                  <a:pt x="1856358" y="1811654"/>
                </a:lnTo>
                <a:lnTo>
                  <a:pt x="1899793" y="1811654"/>
                </a:lnTo>
                <a:lnTo>
                  <a:pt x="1928748" y="1797177"/>
                </a:lnTo>
                <a:lnTo>
                  <a:pt x="1899793" y="1782699"/>
                </a:lnTo>
                <a:close/>
              </a:path>
              <a:path w="1929129" h="1840864">
                <a:moveTo>
                  <a:pt x="28956" y="1782699"/>
                </a:moveTo>
                <a:lnTo>
                  <a:pt x="14478" y="1782699"/>
                </a:lnTo>
                <a:lnTo>
                  <a:pt x="28956" y="1797177"/>
                </a:lnTo>
                <a:lnTo>
                  <a:pt x="28956" y="1782699"/>
                </a:lnTo>
                <a:close/>
              </a:path>
              <a:path w="1929129" h="1840864">
                <a:moveTo>
                  <a:pt x="1841881" y="1782699"/>
                </a:moveTo>
                <a:lnTo>
                  <a:pt x="28956" y="1782699"/>
                </a:lnTo>
                <a:lnTo>
                  <a:pt x="28956" y="1797177"/>
                </a:lnTo>
                <a:lnTo>
                  <a:pt x="1841881" y="1797177"/>
                </a:lnTo>
                <a:lnTo>
                  <a:pt x="1841881" y="1782699"/>
                </a:lnTo>
                <a:close/>
              </a:path>
            </a:pathLst>
          </a:custGeom>
          <a:solidFill>
            <a:srgbClr val="C00000"/>
          </a:solidFill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5240" y="721168"/>
            <a:ext cx="58051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800" b="1" dirty="0">
                <a:latin typeface="Calibri"/>
                <a:cs typeface="Calibri"/>
              </a:rPr>
              <a:t>PERSONA EXPANDIDA PELO PACT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165853" y="1471422"/>
            <a:ext cx="1084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>
                <a:solidFill>
                  <a:srgbClr val="17375E"/>
                </a:solidFill>
              </a:rPr>
              <a:t>PACT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501521" y="2090166"/>
            <a:ext cx="6413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17375E"/>
                </a:solidFill>
                <a:latin typeface="Calibri"/>
                <a:cs typeface="Calibri"/>
              </a:rPr>
              <a:t>P</a:t>
            </a:r>
            <a:r>
              <a:rPr sz="2250" dirty="0">
                <a:solidFill>
                  <a:srgbClr val="17375E"/>
                </a:solidFill>
                <a:latin typeface="Calibri"/>
                <a:cs typeface="Calibri"/>
              </a:rPr>
              <a:t>ESSOAS</a:t>
            </a:r>
            <a:r>
              <a:rPr sz="2250" spc="3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sz="2800" spc="-7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7375E"/>
                </a:solidFill>
                <a:latin typeface="Calibri"/>
                <a:cs typeface="Calibri"/>
              </a:rPr>
              <a:t>A</a:t>
            </a:r>
            <a:r>
              <a:rPr sz="2250" spc="-10" dirty="0">
                <a:solidFill>
                  <a:srgbClr val="17375E"/>
                </a:solidFill>
                <a:latin typeface="Calibri"/>
                <a:cs typeface="Calibri"/>
              </a:rPr>
              <a:t>TIVIDADES</a:t>
            </a:r>
            <a:r>
              <a:rPr sz="2250" spc="5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sz="280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7375E"/>
                </a:solidFill>
                <a:latin typeface="Calibri"/>
                <a:cs typeface="Calibri"/>
              </a:rPr>
              <a:t>C</a:t>
            </a:r>
            <a:r>
              <a:rPr sz="2250" dirty="0">
                <a:solidFill>
                  <a:srgbClr val="17375E"/>
                </a:solidFill>
                <a:latin typeface="Calibri"/>
                <a:cs typeface="Calibri"/>
              </a:rPr>
              <a:t>ONTEXTO</a:t>
            </a:r>
            <a:r>
              <a:rPr sz="2250" spc="5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sz="2800" spc="-7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7375E"/>
                </a:solidFill>
                <a:latin typeface="Calibri"/>
                <a:cs typeface="Calibri"/>
              </a:rPr>
              <a:t>T</a:t>
            </a:r>
            <a:r>
              <a:rPr sz="2250" spc="-10" dirty="0">
                <a:solidFill>
                  <a:srgbClr val="17375E"/>
                </a:solidFill>
                <a:latin typeface="Calibri"/>
                <a:cs typeface="Calibri"/>
              </a:rPr>
              <a:t>ECNOLOGIA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3231" y="2828400"/>
            <a:ext cx="3013075" cy="677545"/>
            <a:chOff x="713231" y="2828400"/>
            <a:chExt cx="3013075" cy="6775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736" y="2828400"/>
              <a:ext cx="2927651" cy="6769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231" y="2913900"/>
              <a:ext cx="3012947" cy="5912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84859" y="2843784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285597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2855976" y="605027"/>
                  </a:lnTo>
                  <a:lnTo>
                    <a:pt x="2855976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859" y="2843784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0" y="605027"/>
                  </a:moveTo>
                  <a:lnTo>
                    <a:pt x="2855976" y="605027"/>
                  </a:lnTo>
                  <a:lnTo>
                    <a:pt x="285597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3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79" y="2932188"/>
              <a:ext cx="2932937" cy="51128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85240" y="2981959"/>
            <a:ext cx="265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ATIVIDADES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CONTEXTOS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56206" y="2828400"/>
            <a:ext cx="1957070" cy="677545"/>
            <a:chOff x="6556206" y="2828400"/>
            <a:chExt cx="1957070" cy="67754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6206" y="2828400"/>
              <a:ext cx="1956900" cy="6769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0360" y="2913900"/>
              <a:ext cx="1708403" cy="5912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94348" y="2843784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1885188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1885188" y="605027"/>
                  </a:lnTo>
                  <a:lnTo>
                    <a:pt x="1885188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94348" y="2843784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0" y="605027"/>
                  </a:moveTo>
                  <a:lnTo>
                    <a:pt x="1885188" y="605027"/>
                  </a:lnTo>
                  <a:lnTo>
                    <a:pt x="1885188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31508" y="2932188"/>
              <a:ext cx="1628394" cy="51128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863588" y="2981959"/>
            <a:ext cx="1346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TECNOLOGIAS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3955" y="2878023"/>
            <a:ext cx="1339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F6128"/>
                </a:solidFill>
                <a:latin typeface="Calibri"/>
                <a:cs typeface="Calibri"/>
              </a:rPr>
              <a:t>PESSOAS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98163" y="2979419"/>
            <a:ext cx="768121" cy="361188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3640836" y="2999231"/>
            <a:ext cx="687705" cy="280670"/>
          </a:xfrm>
          <a:custGeom>
            <a:avLst/>
            <a:gdLst/>
            <a:ahLst/>
            <a:cxnLst/>
            <a:rect l="l" t="t" r="r" b="b"/>
            <a:pathLst>
              <a:path w="687704" h="280670">
                <a:moveTo>
                  <a:pt x="140208" y="0"/>
                </a:moveTo>
                <a:lnTo>
                  <a:pt x="0" y="140207"/>
                </a:lnTo>
                <a:lnTo>
                  <a:pt x="140208" y="280415"/>
                </a:lnTo>
                <a:lnTo>
                  <a:pt x="140208" y="210312"/>
                </a:lnTo>
                <a:lnTo>
                  <a:pt x="687324" y="210312"/>
                </a:lnTo>
                <a:lnTo>
                  <a:pt x="687324" y="70103"/>
                </a:lnTo>
                <a:lnTo>
                  <a:pt x="140208" y="70103"/>
                </a:lnTo>
                <a:lnTo>
                  <a:pt x="140208" y="0"/>
                </a:lnTo>
                <a:close/>
              </a:path>
            </a:pathLst>
          </a:custGeom>
          <a:solidFill>
            <a:srgbClr val="779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62827" y="2956585"/>
            <a:ext cx="769632" cy="362686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5905500" y="2976371"/>
            <a:ext cx="688975" cy="281940"/>
          </a:xfrm>
          <a:custGeom>
            <a:avLst/>
            <a:gdLst/>
            <a:ahLst/>
            <a:cxnLst/>
            <a:rect l="l" t="t" r="r" b="b"/>
            <a:pathLst>
              <a:path w="688975" h="281939">
                <a:moveTo>
                  <a:pt x="547877" y="0"/>
                </a:moveTo>
                <a:lnTo>
                  <a:pt x="547877" y="70485"/>
                </a:lnTo>
                <a:lnTo>
                  <a:pt x="0" y="70485"/>
                </a:lnTo>
                <a:lnTo>
                  <a:pt x="0" y="211454"/>
                </a:lnTo>
                <a:lnTo>
                  <a:pt x="547877" y="211454"/>
                </a:lnTo>
                <a:lnTo>
                  <a:pt x="547877" y="281939"/>
                </a:lnTo>
                <a:lnTo>
                  <a:pt x="688848" y="140969"/>
                </a:lnTo>
                <a:lnTo>
                  <a:pt x="547877" y="0"/>
                </a:lnTo>
                <a:close/>
              </a:path>
            </a:pathLst>
          </a:custGeom>
          <a:solidFill>
            <a:srgbClr val="779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26992" y="3810000"/>
            <a:ext cx="1778508" cy="287274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32732" y="2831604"/>
            <a:ext cx="1621536" cy="627875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4389882" y="2865881"/>
            <a:ext cx="1511935" cy="518159"/>
          </a:xfrm>
          <a:custGeom>
            <a:avLst/>
            <a:gdLst/>
            <a:ahLst/>
            <a:cxnLst/>
            <a:rect l="l" t="t" r="r" b="b"/>
            <a:pathLst>
              <a:path w="1511935" h="518160">
                <a:moveTo>
                  <a:pt x="0" y="86359"/>
                </a:moveTo>
                <a:lnTo>
                  <a:pt x="6778" y="52720"/>
                </a:lnTo>
                <a:lnTo>
                  <a:pt x="25273" y="25272"/>
                </a:lnTo>
                <a:lnTo>
                  <a:pt x="52720" y="6778"/>
                </a:lnTo>
                <a:lnTo>
                  <a:pt x="86359" y="0"/>
                </a:lnTo>
                <a:lnTo>
                  <a:pt x="1425447" y="0"/>
                </a:lnTo>
                <a:lnTo>
                  <a:pt x="1459087" y="6778"/>
                </a:lnTo>
                <a:lnTo>
                  <a:pt x="1486534" y="25273"/>
                </a:lnTo>
                <a:lnTo>
                  <a:pt x="1505029" y="52720"/>
                </a:lnTo>
                <a:lnTo>
                  <a:pt x="1511807" y="86359"/>
                </a:lnTo>
                <a:lnTo>
                  <a:pt x="1511807" y="431800"/>
                </a:lnTo>
                <a:lnTo>
                  <a:pt x="1505029" y="465439"/>
                </a:lnTo>
                <a:lnTo>
                  <a:pt x="1486534" y="492887"/>
                </a:lnTo>
                <a:lnTo>
                  <a:pt x="1459087" y="511381"/>
                </a:lnTo>
                <a:lnTo>
                  <a:pt x="1425447" y="518159"/>
                </a:lnTo>
                <a:lnTo>
                  <a:pt x="86359" y="518159"/>
                </a:lnTo>
                <a:lnTo>
                  <a:pt x="52720" y="511381"/>
                </a:lnTo>
                <a:lnTo>
                  <a:pt x="25272" y="492886"/>
                </a:lnTo>
                <a:lnTo>
                  <a:pt x="6778" y="465439"/>
                </a:lnTo>
                <a:lnTo>
                  <a:pt x="0" y="431800"/>
                </a:lnTo>
                <a:lnTo>
                  <a:pt x="0" y="86359"/>
                </a:lnTo>
                <a:close/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87467" y="3360407"/>
            <a:ext cx="310959" cy="597420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001386" y="3379850"/>
            <a:ext cx="159385" cy="430530"/>
          </a:xfrm>
          <a:custGeom>
            <a:avLst/>
            <a:gdLst/>
            <a:ahLst/>
            <a:cxnLst/>
            <a:rect l="l" t="t" r="r" b="b"/>
            <a:pathLst>
              <a:path w="159385" h="430529">
                <a:moveTo>
                  <a:pt x="0" y="334263"/>
                </a:moveTo>
                <a:lnTo>
                  <a:pt x="16383" y="430022"/>
                </a:lnTo>
                <a:lnTo>
                  <a:pt x="77901" y="364871"/>
                </a:lnTo>
                <a:lnTo>
                  <a:pt x="51180" y="364871"/>
                </a:lnTo>
                <a:lnTo>
                  <a:pt x="23495" y="356488"/>
                </a:lnTo>
                <a:lnTo>
                  <a:pt x="27682" y="342644"/>
                </a:lnTo>
                <a:lnTo>
                  <a:pt x="0" y="334263"/>
                </a:lnTo>
                <a:close/>
              </a:path>
              <a:path w="159385" h="430529">
                <a:moveTo>
                  <a:pt x="27682" y="342644"/>
                </a:moveTo>
                <a:lnTo>
                  <a:pt x="23495" y="356488"/>
                </a:lnTo>
                <a:lnTo>
                  <a:pt x="51180" y="364871"/>
                </a:lnTo>
                <a:lnTo>
                  <a:pt x="55368" y="351026"/>
                </a:lnTo>
                <a:lnTo>
                  <a:pt x="27682" y="342644"/>
                </a:lnTo>
                <a:close/>
              </a:path>
              <a:path w="159385" h="430529">
                <a:moveTo>
                  <a:pt x="55368" y="351026"/>
                </a:moveTo>
                <a:lnTo>
                  <a:pt x="51180" y="364871"/>
                </a:lnTo>
                <a:lnTo>
                  <a:pt x="77901" y="364871"/>
                </a:lnTo>
                <a:lnTo>
                  <a:pt x="83058" y="359410"/>
                </a:lnTo>
                <a:lnTo>
                  <a:pt x="55368" y="351026"/>
                </a:lnTo>
                <a:close/>
              </a:path>
              <a:path w="159385" h="430529">
                <a:moveTo>
                  <a:pt x="131317" y="0"/>
                </a:moveTo>
                <a:lnTo>
                  <a:pt x="27682" y="342644"/>
                </a:lnTo>
                <a:lnTo>
                  <a:pt x="55368" y="351026"/>
                </a:lnTo>
                <a:lnTo>
                  <a:pt x="159003" y="8382"/>
                </a:lnTo>
                <a:lnTo>
                  <a:pt x="13131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EB3D9D7-C01B-3950-BC8B-D39CA7CBA2B0}"/>
              </a:ext>
            </a:extLst>
          </p:cNvPr>
          <p:cNvSpPr txBox="1"/>
          <p:nvPr/>
        </p:nvSpPr>
        <p:spPr>
          <a:xfrm>
            <a:off x="850306" y="4490939"/>
            <a:ext cx="2858475" cy="1997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 b="1" dirty="0"/>
              <a:t>Descrição narrativa (</a:t>
            </a:r>
            <a:r>
              <a:rPr lang="pt-BR" sz="1200" b="1" dirty="0" err="1"/>
              <a:t>Storytelling</a:t>
            </a:r>
            <a:r>
              <a:rPr lang="pt-BR" sz="1200" b="1" dirty="0"/>
              <a:t>)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Características Demográficas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Características Físicas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Características Psicológicas e Sociais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Atividades do Dia-a-Dia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Jornada e Contexto</a:t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/>
              <a:t>Familiaridade e uso de Tecnologias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3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3503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755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05662" y="721233"/>
            <a:ext cx="4071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CHECKPOINT</a:t>
            </a:r>
            <a:r>
              <a:rPr lang="pt-BR" spc="-10" dirty="0"/>
              <a:t> 1 - Personas</a:t>
            </a:r>
            <a:endParaRPr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458456" y="1752600"/>
            <a:ext cx="4053840" cy="3571491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1090"/>
              </a:spcBef>
            </a:pPr>
            <a:r>
              <a:rPr sz="2000" b="1" dirty="0">
                <a:latin typeface="Calibri"/>
                <a:cs typeface="Calibri"/>
              </a:rPr>
              <a:t>DESAFIO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PROPOSTO</a:t>
            </a:r>
            <a:endParaRPr sz="200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775"/>
              </a:spcBef>
            </a:pPr>
            <a:r>
              <a:rPr sz="1600" cap="small" dirty="0">
                <a:latin typeface="Calibri"/>
                <a:cs typeface="Calibri"/>
              </a:rPr>
              <a:t>Sua</a:t>
            </a:r>
            <a:r>
              <a:rPr sz="1600" cap="small" spc="14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empresa</a:t>
            </a:r>
            <a:r>
              <a:rPr sz="1600" cap="small" spc="14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pretende</a:t>
            </a:r>
            <a:r>
              <a:rPr sz="1600" cap="small" spc="15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desenvolver</a:t>
            </a:r>
            <a:r>
              <a:rPr sz="1600" cap="small" spc="15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um</a:t>
            </a:r>
            <a:r>
              <a:rPr sz="1600" cap="small" spc="14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aplicativo</a:t>
            </a:r>
            <a:r>
              <a:rPr sz="1600" cap="small" spc="15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de</a:t>
            </a:r>
            <a:r>
              <a:rPr sz="1600" cap="small" spc="145" dirty="0">
                <a:latin typeface="Calibri"/>
                <a:cs typeface="Calibri"/>
              </a:rPr>
              <a:t> </a:t>
            </a:r>
            <a:r>
              <a:rPr sz="1600" cap="small" spc="-55" dirty="0">
                <a:latin typeface="Calibri"/>
                <a:cs typeface="Calibri"/>
              </a:rPr>
              <a:t>apoio</a:t>
            </a:r>
            <a:r>
              <a:rPr sz="1600" cap="small" dirty="0">
                <a:latin typeface="Calibri"/>
                <a:cs typeface="Calibri"/>
              </a:rPr>
              <a:t> a</a:t>
            </a:r>
            <a:r>
              <a:rPr sz="1600" cap="small" spc="24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famílias</a:t>
            </a:r>
            <a:r>
              <a:rPr sz="1600" cap="small" spc="25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que</a:t>
            </a:r>
            <a:r>
              <a:rPr sz="1600" cap="small" spc="25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mantém</a:t>
            </a:r>
            <a:r>
              <a:rPr sz="1600" cap="small" spc="26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cuidadores</a:t>
            </a:r>
            <a:r>
              <a:rPr sz="1600" cap="small" spc="26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para</a:t>
            </a:r>
            <a:r>
              <a:rPr sz="1600" cap="small" spc="26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parentes</a:t>
            </a:r>
            <a:r>
              <a:rPr sz="1600" cap="small" spc="265" dirty="0">
                <a:latin typeface="Calibri"/>
                <a:cs typeface="Calibri"/>
              </a:rPr>
              <a:t> </a:t>
            </a:r>
            <a:r>
              <a:rPr sz="1600" cap="small" spc="-40" dirty="0">
                <a:latin typeface="Calibri"/>
                <a:cs typeface="Calibri"/>
              </a:rPr>
              <a:t>idosos, </a:t>
            </a:r>
            <a:r>
              <a:rPr sz="1600" cap="small" dirty="0">
                <a:latin typeface="Calibri"/>
                <a:cs typeface="Calibri"/>
              </a:rPr>
              <a:t>com</a:t>
            </a:r>
            <a:r>
              <a:rPr sz="1600" cap="small" spc="8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doenças</a:t>
            </a:r>
            <a:r>
              <a:rPr sz="1600" cap="small" spc="9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que</a:t>
            </a:r>
            <a:r>
              <a:rPr sz="1600" cap="small" spc="8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limitam</a:t>
            </a:r>
            <a:r>
              <a:rPr sz="1600" cap="small" spc="9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a</a:t>
            </a:r>
            <a:r>
              <a:rPr sz="1600" cap="small" spc="9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mobilidade</a:t>
            </a:r>
            <a:r>
              <a:rPr sz="1600" cap="small" spc="100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e/ou</a:t>
            </a:r>
            <a:r>
              <a:rPr sz="1600" cap="small" spc="85" dirty="0">
                <a:latin typeface="Calibri"/>
                <a:cs typeface="Calibri"/>
              </a:rPr>
              <a:t> </a:t>
            </a:r>
            <a:r>
              <a:rPr sz="1600" cap="small" dirty="0">
                <a:latin typeface="Calibri"/>
                <a:cs typeface="Calibri"/>
              </a:rPr>
              <a:t>autonomia</a:t>
            </a:r>
            <a:r>
              <a:rPr sz="1600" cap="small" spc="100" dirty="0">
                <a:latin typeface="Calibri"/>
                <a:cs typeface="Calibri"/>
              </a:rPr>
              <a:t> </a:t>
            </a:r>
            <a:r>
              <a:rPr sz="1600" cap="small" spc="-135" dirty="0">
                <a:latin typeface="Calibri"/>
                <a:cs typeface="Calibri"/>
              </a:rPr>
              <a:t>de</a:t>
            </a:r>
            <a:r>
              <a:rPr sz="1600" cap="small" spc="-10" dirty="0">
                <a:latin typeface="Calibri"/>
                <a:cs typeface="Calibri"/>
              </a:rPr>
              <a:t> ação.</a:t>
            </a:r>
            <a:endParaRPr sz="1600" dirty="0">
              <a:latin typeface="Calibri"/>
              <a:cs typeface="Calibri"/>
            </a:endParaRPr>
          </a:p>
          <a:p>
            <a:pPr marL="12700" marR="6985" algn="just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REOCUPADA</a:t>
            </a:r>
            <a:r>
              <a:rPr sz="1200" spc="2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</a:t>
            </a:r>
            <a:r>
              <a:rPr sz="1200" spc="3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DESENVOLVER</a:t>
            </a:r>
            <a:r>
              <a:rPr sz="1200" spc="3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3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DESIGN</a:t>
            </a:r>
            <a:r>
              <a:rPr sz="1200" spc="3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ADEQUADO</a:t>
            </a:r>
            <a:r>
              <a:rPr sz="1200" spc="30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</a:t>
            </a:r>
            <a:r>
              <a:rPr sz="1200" spc="300" dirty="0">
                <a:latin typeface="Calibri"/>
                <a:cs typeface="Calibri"/>
              </a:rPr>
              <a:t> </a:t>
            </a:r>
            <a:r>
              <a:rPr sz="1200" b="1" i="1" spc="-20" dirty="0">
                <a:latin typeface="Calibri"/>
                <a:cs typeface="Calibri"/>
              </a:rPr>
              <a:t>USER </a:t>
            </a:r>
            <a:r>
              <a:rPr sz="1200" b="1" i="1" dirty="0">
                <a:latin typeface="Calibri"/>
                <a:cs typeface="Calibri"/>
              </a:rPr>
              <a:t>EXPERIENCE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</a:t>
            </a:r>
            <a:r>
              <a:rPr sz="1200" spc="409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ESPECIAL</a:t>
            </a:r>
            <a:r>
              <a:rPr sz="1200" spc="3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TODOS</a:t>
            </a:r>
            <a:r>
              <a:rPr sz="1200" spc="3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OS</a:t>
            </a:r>
            <a:r>
              <a:rPr sz="1200" spc="3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ASPECTOS</a:t>
            </a:r>
            <a:r>
              <a:rPr sz="1200" spc="4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RELACIONADOS </a:t>
            </a:r>
            <a:r>
              <a:rPr sz="1200" dirty="0">
                <a:latin typeface="Calibri"/>
                <a:cs typeface="Calibri"/>
              </a:rPr>
              <a:t>COM</a:t>
            </a:r>
            <a:r>
              <a:rPr sz="1200" spc="434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4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USABILIDADE</a:t>
            </a:r>
            <a:r>
              <a:rPr sz="1200" b="1" spc="4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434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4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IHC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4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EMPRESA</a:t>
            </a:r>
            <a:r>
              <a:rPr sz="1200" spc="4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ESPERA</a:t>
            </a:r>
            <a:r>
              <a:rPr sz="1200" spc="4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QUE</a:t>
            </a:r>
            <a:r>
              <a:rPr sz="1200" spc="4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SUA </a:t>
            </a:r>
            <a:r>
              <a:rPr sz="1200" dirty="0">
                <a:latin typeface="Calibri"/>
                <a:cs typeface="Calibri"/>
              </a:rPr>
              <a:t>EQUIPE</a:t>
            </a:r>
            <a:r>
              <a:rPr sz="1200" spc="17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INICIE</a:t>
            </a:r>
            <a:r>
              <a:rPr sz="1200" spc="17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UM</a:t>
            </a:r>
            <a:r>
              <a:rPr sz="1200" spc="17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PROCESSO</a:t>
            </a:r>
            <a:r>
              <a:rPr sz="1200" spc="17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165" dirty="0">
                <a:latin typeface="Calibri"/>
                <a:cs typeface="Calibri"/>
              </a:rPr>
              <a:t>  </a:t>
            </a:r>
            <a:r>
              <a:rPr sz="1200" i="1" dirty="0">
                <a:latin typeface="Calibri"/>
                <a:cs typeface="Calibri"/>
              </a:rPr>
              <a:t>DESIGN</a:t>
            </a:r>
            <a:r>
              <a:rPr sz="1200" i="1" spc="175" dirty="0">
                <a:latin typeface="Calibri"/>
                <a:cs typeface="Calibri"/>
              </a:rPr>
              <a:t>  </a:t>
            </a:r>
            <a:r>
              <a:rPr sz="1200" i="1" dirty="0">
                <a:latin typeface="Calibri"/>
                <a:cs typeface="Calibri"/>
              </a:rPr>
              <a:t>THINKING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95" dirty="0">
                <a:latin typeface="Calibri"/>
                <a:cs typeface="Calibri"/>
              </a:rPr>
              <a:t>  </a:t>
            </a:r>
            <a:r>
              <a:rPr sz="1200" spc="-10" dirty="0">
                <a:latin typeface="Calibri"/>
                <a:cs typeface="Calibri"/>
              </a:rPr>
              <a:t>FOCADA </a:t>
            </a:r>
            <a:r>
              <a:rPr sz="1200" dirty="0">
                <a:latin typeface="Calibri"/>
                <a:cs typeface="Calibri"/>
              </a:rPr>
              <a:t>INICIALMENTE</a:t>
            </a:r>
            <a:r>
              <a:rPr sz="1200" spc="15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15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ENTENDIMENTO</a:t>
            </a:r>
            <a:r>
              <a:rPr sz="1200" spc="14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DO</a:t>
            </a:r>
            <a:r>
              <a:rPr sz="1200" spc="15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PROBLEMA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4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APLICANDO </a:t>
            </a:r>
            <a:r>
              <a:rPr sz="1200" dirty="0">
                <a:latin typeface="Calibri"/>
                <a:cs typeface="Calibri"/>
              </a:rPr>
              <a:t>PARA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TAL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FRAMEWORK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Calibri"/>
                <a:cs typeface="Calibri"/>
              </a:rPr>
              <a:t>PACT</a:t>
            </a:r>
            <a:r>
              <a:rPr lang="pt-BR" sz="16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pt-BR" sz="1600" cap="small" dirty="0">
                <a:solidFill>
                  <a:schemeClr val="tx1"/>
                </a:solidFill>
                <a:latin typeface="Calibri"/>
                <a:cs typeface="Calibri"/>
              </a:rPr>
              <a:t>na identificação e elaboração de Personas</a:t>
            </a:r>
            <a:r>
              <a:rPr sz="1600" cap="small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1200" cap="small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24400" y="1554480"/>
            <a:ext cx="3910965" cy="4616450"/>
          </a:xfrm>
          <a:custGeom>
            <a:avLst/>
            <a:gdLst/>
            <a:ahLst/>
            <a:cxnLst/>
            <a:rect l="l" t="t" r="r" b="b"/>
            <a:pathLst>
              <a:path w="3910965" h="4616450">
                <a:moveTo>
                  <a:pt x="3910584" y="0"/>
                </a:moveTo>
                <a:lnTo>
                  <a:pt x="0" y="0"/>
                </a:lnTo>
                <a:lnTo>
                  <a:pt x="0" y="4616196"/>
                </a:lnTo>
                <a:lnTo>
                  <a:pt x="3910584" y="4616196"/>
                </a:lnTo>
                <a:lnTo>
                  <a:pt x="391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sz="half" idx="3"/>
          </p:nvPr>
        </p:nvSpPr>
        <p:spPr>
          <a:xfrm>
            <a:off x="4793629" y="1905000"/>
            <a:ext cx="4053840" cy="44890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3055" indent="-300355" algn="l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13055" algn="l"/>
              </a:tabLst>
            </a:pPr>
            <a:r>
              <a:rPr cap="small" dirty="0"/>
              <a:t>Nosso</a:t>
            </a:r>
            <a:r>
              <a:rPr cap="small" spc="45" dirty="0"/>
              <a:t> </a:t>
            </a:r>
            <a:r>
              <a:rPr cap="small" dirty="0"/>
              <a:t>produto</a:t>
            </a:r>
            <a:r>
              <a:rPr cap="small" spc="75" dirty="0"/>
              <a:t> </a:t>
            </a:r>
            <a:r>
              <a:rPr cap="small" dirty="0"/>
              <a:t>deverá</a:t>
            </a:r>
            <a:r>
              <a:rPr cap="small" spc="100" dirty="0"/>
              <a:t> </a:t>
            </a:r>
            <a:r>
              <a:rPr cap="small" dirty="0"/>
              <a:t>ter</a:t>
            </a:r>
            <a:r>
              <a:rPr cap="small" spc="95" dirty="0"/>
              <a:t> </a:t>
            </a:r>
            <a:r>
              <a:rPr cap="small" dirty="0"/>
              <a:t>3</a:t>
            </a:r>
            <a:r>
              <a:rPr cap="small" spc="10" dirty="0"/>
              <a:t> </a:t>
            </a:r>
            <a:r>
              <a:rPr cap="small" dirty="0"/>
              <a:t>módulos</a:t>
            </a:r>
            <a:r>
              <a:rPr cap="small" spc="65" dirty="0"/>
              <a:t> </a:t>
            </a:r>
            <a:r>
              <a:rPr cap="small" spc="-10" dirty="0" err="1"/>
              <a:t>básicos</a:t>
            </a:r>
            <a:r>
              <a:rPr cap="small" spc="-10" dirty="0"/>
              <a:t>:</a:t>
            </a:r>
            <a:endParaRPr lang="pt-BR" cap="small" spc="-10" dirty="0"/>
          </a:p>
          <a:p>
            <a:pPr marL="12700" algn="l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tabLst>
                <a:tab pos="313055" algn="l"/>
              </a:tabLst>
            </a:pPr>
            <a:endParaRPr sz="500" cap="small" spc="-10" dirty="0"/>
          </a:p>
          <a:p>
            <a:pPr marL="640715" marR="7620" lvl="1" indent="-274955" algn="l">
              <a:lnSpc>
                <a:spcPts val="1680"/>
              </a:lnSpc>
              <a:spcBef>
                <a:spcPts val="55"/>
              </a:spcBef>
              <a:buFont typeface="Wingdings"/>
              <a:buChar char=""/>
              <a:tabLst>
                <a:tab pos="641985" algn="l"/>
              </a:tabLst>
            </a:pPr>
            <a:r>
              <a:rPr sz="1400" b="1" cap="small" dirty="0">
                <a:latin typeface="Calibri"/>
                <a:cs typeface="Calibri"/>
              </a:rPr>
              <a:t>Aplicativo</a:t>
            </a:r>
            <a:r>
              <a:rPr sz="1400" b="1" cap="small" spc="17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mobile</a:t>
            </a:r>
            <a:r>
              <a:rPr sz="1400" b="1" cap="small" spc="18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voltado</a:t>
            </a:r>
            <a:r>
              <a:rPr sz="1400" b="1" cap="small" spc="17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ao</a:t>
            </a:r>
            <a:r>
              <a:rPr sz="1400" b="1" cap="small" spc="17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cuidador</a:t>
            </a:r>
            <a:r>
              <a:rPr sz="1400" b="1" cap="small" spc="185" dirty="0">
                <a:latin typeface="Calibri"/>
                <a:cs typeface="Calibri"/>
              </a:rPr>
              <a:t> </a:t>
            </a:r>
            <a:r>
              <a:rPr sz="1400" cap="small" spc="-100" dirty="0">
                <a:latin typeface="Calibri"/>
                <a:cs typeface="Calibri"/>
              </a:rPr>
              <a:t>para</a:t>
            </a:r>
            <a:r>
              <a:rPr sz="1400" cap="small" dirty="0">
                <a:latin typeface="Calibri"/>
                <a:cs typeface="Calibri"/>
              </a:rPr>
              <a:t> 	orientações</a:t>
            </a:r>
            <a:r>
              <a:rPr sz="1400" cap="small" spc="85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e</a:t>
            </a:r>
            <a:r>
              <a:rPr sz="1400" cap="small" spc="55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controle</a:t>
            </a:r>
            <a:r>
              <a:rPr sz="1400" cap="small" spc="65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de</a:t>
            </a:r>
            <a:r>
              <a:rPr sz="1400" cap="small" spc="55" dirty="0">
                <a:latin typeface="Calibri"/>
                <a:cs typeface="Calibri"/>
              </a:rPr>
              <a:t> </a:t>
            </a:r>
            <a:r>
              <a:rPr sz="1400" cap="small" spc="-10" dirty="0">
                <a:latin typeface="Calibri"/>
                <a:cs typeface="Calibri"/>
              </a:rPr>
              <a:t>atividades</a:t>
            </a:r>
            <a:endParaRPr sz="1400" dirty="0">
              <a:latin typeface="Calibri"/>
              <a:cs typeface="Calibri"/>
            </a:endParaRPr>
          </a:p>
          <a:p>
            <a:pPr marL="640715" marR="5715" lvl="1" indent="-274955" algn="l">
              <a:lnSpc>
                <a:spcPts val="1680"/>
              </a:lnSpc>
              <a:buFont typeface="Wingdings"/>
              <a:buChar char=""/>
              <a:tabLst>
                <a:tab pos="641985" algn="l"/>
              </a:tabLst>
            </a:pPr>
            <a:r>
              <a:rPr sz="1400" b="1" cap="small" dirty="0">
                <a:latin typeface="Calibri"/>
                <a:cs typeface="Calibri"/>
              </a:rPr>
              <a:t>Aplicativo</a:t>
            </a:r>
            <a:r>
              <a:rPr sz="1400" b="1" cap="small" spc="42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mobile</a:t>
            </a:r>
            <a:r>
              <a:rPr sz="1400" b="1" cap="small" spc="40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para</a:t>
            </a:r>
            <a:r>
              <a:rPr sz="1400" b="1" cap="small" spc="415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o</a:t>
            </a:r>
            <a:r>
              <a:rPr sz="1400" b="1" cap="small" spc="420" dirty="0">
                <a:latin typeface="Calibri"/>
                <a:cs typeface="Calibri"/>
              </a:rPr>
              <a:t> </a:t>
            </a:r>
            <a:r>
              <a:rPr sz="1400" b="1" cap="small" dirty="0">
                <a:latin typeface="Calibri"/>
                <a:cs typeface="Calibri"/>
              </a:rPr>
              <a:t>responsável</a:t>
            </a:r>
            <a:r>
              <a:rPr sz="1400" b="1" cap="small" spc="425" dirty="0">
                <a:latin typeface="Calibri"/>
                <a:cs typeface="Calibri"/>
              </a:rPr>
              <a:t> </a:t>
            </a:r>
            <a:r>
              <a:rPr sz="1400" cap="small" spc="-95" dirty="0">
                <a:latin typeface="Calibri"/>
                <a:cs typeface="Calibri"/>
              </a:rPr>
              <a:t>pelo</a:t>
            </a:r>
            <a:r>
              <a:rPr sz="1400" cap="small" dirty="0">
                <a:latin typeface="Calibri"/>
                <a:cs typeface="Calibri"/>
              </a:rPr>
              <a:t> 	</a:t>
            </a:r>
            <a:r>
              <a:rPr sz="1400" cap="small" dirty="0" err="1">
                <a:latin typeface="Calibri"/>
                <a:cs typeface="Calibri"/>
              </a:rPr>
              <a:t>paciente</a:t>
            </a:r>
            <a:r>
              <a:rPr lang="pt-BR" sz="1400" cap="small" spc="365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(</a:t>
            </a:r>
            <a:r>
              <a:rPr sz="1400" cap="small" dirty="0" err="1">
                <a:latin typeface="Calibri"/>
                <a:cs typeface="Calibri"/>
              </a:rPr>
              <a:t>parente</a:t>
            </a:r>
            <a:r>
              <a:rPr sz="1400" cap="small" dirty="0">
                <a:latin typeface="Calibri"/>
                <a:cs typeface="Calibri"/>
              </a:rPr>
              <a:t>)</a:t>
            </a:r>
            <a:r>
              <a:rPr lang="pt-BR" sz="1400" cap="small" dirty="0">
                <a:latin typeface="Calibri"/>
                <a:cs typeface="Calibri"/>
              </a:rPr>
              <a:t> </a:t>
            </a:r>
            <a:r>
              <a:rPr sz="1400" cap="small" spc="-25" dirty="0">
                <a:latin typeface="Calibri"/>
                <a:cs typeface="Calibri"/>
              </a:rPr>
              <a:t>para</a:t>
            </a:r>
            <a:r>
              <a:rPr lang="pt-BR" sz="1400" cap="small" spc="-25" dirty="0">
                <a:latin typeface="Calibri"/>
                <a:cs typeface="Calibri"/>
              </a:rPr>
              <a:t> </a:t>
            </a:r>
            <a:r>
              <a:rPr sz="1400" cap="small" dirty="0" err="1">
                <a:latin typeface="Calibri"/>
                <a:cs typeface="Calibri"/>
              </a:rPr>
              <a:t>cadastramento</a:t>
            </a:r>
            <a:r>
              <a:rPr sz="1400" cap="small" spc="409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dos</a:t>
            </a:r>
            <a:r>
              <a:rPr sz="1400" cap="small" spc="400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cuidados</a:t>
            </a:r>
            <a:r>
              <a:rPr sz="1400" cap="small" spc="400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necessários</a:t>
            </a:r>
            <a:r>
              <a:rPr sz="1400" cap="small" spc="405" dirty="0">
                <a:latin typeface="Calibri"/>
                <a:cs typeface="Calibri"/>
              </a:rPr>
              <a:t> </a:t>
            </a:r>
            <a:r>
              <a:rPr sz="1400" cap="small" spc="-345" dirty="0">
                <a:latin typeface="Calibri"/>
                <a:cs typeface="Calibri"/>
              </a:rPr>
              <a:t>e</a:t>
            </a:r>
            <a:r>
              <a:rPr sz="1400" cap="small" dirty="0">
                <a:latin typeface="Calibri"/>
                <a:cs typeface="Calibri"/>
              </a:rPr>
              <a:t> </a:t>
            </a:r>
            <a:r>
              <a:rPr lang="pt-BR" sz="1400" cap="small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para</a:t>
            </a:r>
            <a:r>
              <a:rPr sz="1400" cap="small" spc="40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acompanhamento</a:t>
            </a:r>
            <a:r>
              <a:rPr sz="1400" cap="small" spc="90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do</a:t>
            </a:r>
            <a:r>
              <a:rPr sz="1400" cap="small" spc="40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dia-a-</a:t>
            </a:r>
            <a:r>
              <a:rPr sz="1400" cap="small" spc="-25" dirty="0">
                <a:latin typeface="Calibri"/>
                <a:cs typeface="Calibri"/>
              </a:rPr>
              <a:t>dia</a:t>
            </a:r>
            <a:endParaRPr sz="1400" dirty="0">
              <a:latin typeface="Calibri"/>
              <a:cs typeface="Calibri"/>
            </a:endParaRPr>
          </a:p>
          <a:p>
            <a:pPr marL="640715" marR="5080" lvl="1" indent="-274955" algn="l">
              <a:lnSpc>
                <a:spcPts val="1680"/>
              </a:lnSpc>
              <a:buFont typeface="Wingdings"/>
              <a:buChar char=""/>
              <a:tabLst>
                <a:tab pos="641985" algn="l"/>
              </a:tabLst>
            </a:pPr>
            <a:r>
              <a:rPr sz="1400" b="1" cap="small" dirty="0">
                <a:latin typeface="Calibri"/>
                <a:cs typeface="Calibri"/>
              </a:rPr>
              <a:t>Retaguarda</a:t>
            </a:r>
            <a:r>
              <a:rPr sz="1400" b="1" cap="small" spc="290" dirty="0">
                <a:latin typeface="Calibri"/>
                <a:cs typeface="Calibri"/>
              </a:rPr>
              <a:t>  </a:t>
            </a:r>
            <a:r>
              <a:rPr sz="1400" b="1" cap="small" dirty="0">
                <a:latin typeface="Calibri"/>
                <a:cs typeface="Calibri"/>
              </a:rPr>
              <a:t>Web</a:t>
            </a:r>
            <a:r>
              <a:rPr sz="1400" b="1" cap="small" spc="295" dirty="0">
                <a:latin typeface="Calibri"/>
                <a:cs typeface="Calibri"/>
              </a:rPr>
              <a:t>  </a:t>
            </a:r>
            <a:r>
              <a:rPr sz="1400" cap="small" dirty="0">
                <a:latin typeface="Calibri"/>
                <a:cs typeface="Calibri"/>
              </a:rPr>
              <a:t>para</a:t>
            </a:r>
            <a:r>
              <a:rPr sz="1400" cap="small" spc="290" dirty="0">
                <a:latin typeface="Calibri"/>
                <a:cs typeface="Calibri"/>
              </a:rPr>
              <a:t>  </a:t>
            </a:r>
            <a:r>
              <a:rPr sz="1400" cap="small" dirty="0">
                <a:latin typeface="Calibri"/>
                <a:cs typeface="Calibri"/>
              </a:rPr>
              <a:t>armazenagem</a:t>
            </a:r>
            <a:r>
              <a:rPr sz="1400" cap="small" spc="300" dirty="0">
                <a:latin typeface="Calibri"/>
                <a:cs typeface="Calibri"/>
              </a:rPr>
              <a:t>  </a:t>
            </a:r>
            <a:r>
              <a:rPr sz="1400" cap="small" spc="-170" dirty="0">
                <a:latin typeface="Calibri"/>
                <a:cs typeface="Calibri"/>
              </a:rPr>
              <a:t>de</a:t>
            </a:r>
            <a:r>
              <a:rPr sz="1400" cap="small" dirty="0">
                <a:latin typeface="Calibri"/>
                <a:cs typeface="Calibri"/>
              </a:rPr>
              <a:t> 	dados</a:t>
            </a:r>
            <a:r>
              <a:rPr sz="1400" cap="small" spc="225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e</a:t>
            </a:r>
            <a:r>
              <a:rPr sz="1400" cap="small" spc="215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controle</a:t>
            </a:r>
            <a:r>
              <a:rPr sz="1400" cap="small" spc="220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operacional</a:t>
            </a:r>
            <a:r>
              <a:rPr sz="1400" cap="small" spc="229" dirty="0">
                <a:latin typeface="Calibri"/>
                <a:cs typeface="Calibri"/>
              </a:rPr>
              <a:t> </a:t>
            </a:r>
            <a:r>
              <a:rPr sz="1400" cap="small" dirty="0">
                <a:latin typeface="Calibri"/>
                <a:cs typeface="Calibri"/>
              </a:rPr>
              <a:t>do</a:t>
            </a:r>
            <a:r>
              <a:rPr sz="1400" cap="small" spc="225" dirty="0">
                <a:latin typeface="Calibri"/>
                <a:cs typeface="Calibri"/>
              </a:rPr>
              <a:t> </a:t>
            </a:r>
            <a:r>
              <a:rPr sz="1400" cap="small" spc="-40" dirty="0">
                <a:latin typeface="Calibri"/>
                <a:cs typeface="Calibri"/>
              </a:rPr>
              <a:t>aplicativo 	</a:t>
            </a:r>
            <a:r>
              <a:rPr sz="1400" cap="small" dirty="0">
                <a:latin typeface="Calibri"/>
                <a:cs typeface="Calibri"/>
              </a:rPr>
              <a:t>do</a:t>
            </a:r>
            <a:r>
              <a:rPr sz="1400" cap="small" spc="70" dirty="0">
                <a:latin typeface="Calibri"/>
                <a:cs typeface="Calibri"/>
              </a:rPr>
              <a:t> </a:t>
            </a:r>
            <a:r>
              <a:rPr sz="1400" cap="small" spc="-10" dirty="0">
                <a:latin typeface="Calibri"/>
                <a:cs typeface="Calibri"/>
              </a:rPr>
              <a:t>cuidador</a:t>
            </a:r>
            <a:endParaRPr sz="1400" dirty="0">
              <a:latin typeface="Calibri"/>
              <a:cs typeface="Calibri"/>
            </a:endParaRPr>
          </a:p>
          <a:p>
            <a:pPr marL="354965" marR="5080" indent="-342900" algn="l">
              <a:spcBef>
                <a:spcPts val="1250"/>
              </a:spcBef>
              <a:buFont typeface="+mj-lt"/>
              <a:buAutoNum type="arabicPeriod" startAt="2"/>
              <a:tabLst>
                <a:tab pos="251460" algn="l"/>
                <a:tab pos="312420" algn="l"/>
              </a:tabLst>
            </a:pPr>
            <a:r>
              <a:rPr cap="small" dirty="0"/>
              <a:t>Para</a:t>
            </a:r>
            <a:r>
              <a:rPr cap="small" spc="180" dirty="0"/>
              <a:t>  </a:t>
            </a:r>
            <a:r>
              <a:rPr cap="small" dirty="0"/>
              <a:t>melhor</a:t>
            </a:r>
            <a:r>
              <a:rPr cap="small" spc="185" dirty="0"/>
              <a:t>  </a:t>
            </a:r>
            <a:r>
              <a:rPr cap="small" dirty="0"/>
              <a:t>caracterizar</a:t>
            </a:r>
            <a:r>
              <a:rPr cap="small" spc="190" dirty="0"/>
              <a:t>  </a:t>
            </a:r>
            <a:r>
              <a:rPr cap="small" dirty="0"/>
              <a:t>nossos</a:t>
            </a:r>
            <a:r>
              <a:rPr cap="small" spc="190" dirty="0"/>
              <a:t>  </a:t>
            </a:r>
            <a:r>
              <a:rPr cap="small" dirty="0"/>
              <a:t>usuários</a:t>
            </a:r>
            <a:r>
              <a:rPr cap="small" spc="185" dirty="0"/>
              <a:t>  </a:t>
            </a:r>
            <a:r>
              <a:rPr cap="small" spc="-50" dirty="0"/>
              <a:t>e</a:t>
            </a:r>
            <a:r>
              <a:rPr cap="small" dirty="0"/>
              <a:t> outras</a:t>
            </a:r>
            <a:r>
              <a:rPr cap="small" spc="465" dirty="0"/>
              <a:t> </a:t>
            </a:r>
            <a:r>
              <a:rPr cap="small" dirty="0"/>
              <a:t>pessoas</a:t>
            </a:r>
            <a:r>
              <a:rPr cap="small" spc="459" dirty="0"/>
              <a:t> </a:t>
            </a:r>
            <a:r>
              <a:rPr cap="small" dirty="0"/>
              <a:t>envolvidas</a:t>
            </a:r>
            <a:r>
              <a:rPr cap="small" spc="450" dirty="0"/>
              <a:t> </a:t>
            </a:r>
            <a:r>
              <a:rPr cap="small" dirty="0"/>
              <a:t>queremos</a:t>
            </a:r>
            <a:r>
              <a:rPr cap="small" spc="470" dirty="0"/>
              <a:t> </a:t>
            </a:r>
            <a:r>
              <a:rPr cap="small" dirty="0"/>
              <a:t>que</a:t>
            </a:r>
            <a:r>
              <a:rPr cap="small" spc="445" dirty="0"/>
              <a:t> </a:t>
            </a:r>
            <a:r>
              <a:rPr cap="small" spc="-55" dirty="0"/>
              <a:t>sejam</a:t>
            </a:r>
            <a:r>
              <a:rPr cap="small" dirty="0"/>
              <a:t> desenvolvidas</a:t>
            </a:r>
            <a:r>
              <a:rPr cap="small" spc="105" dirty="0"/>
              <a:t> </a:t>
            </a:r>
            <a:r>
              <a:rPr b="1" cap="small" dirty="0"/>
              <a:t>personas</a:t>
            </a:r>
            <a:r>
              <a:rPr b="1" cap="small" spc="70" dirty="0"/>
              <a:t> </a:t>
            </a:r>
            <a:r>
              <a:rPr b="1" cap="small" dirty="0"/>
              <a:t>que</a:t>
            </a:r>
            <a:r>
              <a:rPr b="1" cap="small" spc="60" dirty="0"/>
              <a:t> </a:t>
            </a:r>
            <a:r>
              <a:rPr b="1" cap="small" dirty="0"/>
              <a:t>os</a:t>
            </a:r>
            <a:r>
              <a:rPr b="1" cap="small" spc="55" dirty="0"/>
              <a:t> </a:t>
            </a:r>
            <a:r>
              <a:rPr b="1" cap="small" spc="-10" dirty="0"/>
              <a:t>representem</a:t>
            </a:r>
          </a:p>
          <a:p>
            <a:pPr marL="708660" indent="-342900" algn="l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708660" algn="l"/>
              </a:tabLst>
            </a:pPr>
            <a:r>
              <a:rPr b="1" cap="small" spc="-10" dirty="0"/>
              <a:t>Pacientes</a:t>
            </a:r>
          </a:p>
          <a:p>
            <a:pPr marL="708660" indent="-342900" algn="l">
              <a:lnSpc>
                <a:spcPct val="100000"/>
              </a:lnSpc>
              <a:buFont typeface="Arial"/>
              <a:buChar char="•"/>
              <a:tabLst>
                <a:tab pos="708660" algn="l"/>
              </a:tabLst>
            </a:pPr>
            <a:r>
              <a:rPr b="1" cap="small" spc="-10" dirty="0"/>
              <a:t>Cuidadores</a:t>
            </a:r>
          </a:p>
          <a:p>
            <a:pPr marL="708660" indent="-342900" algn="l">
              <a:lnSpc>
                <a:spcPct val="100000"/>
              </a:lnSpc>
              <a:buFont typeface="Arial"/>
              <a:buChar char="•"/>
              <a:tabLst>
                <a:tab pos="708660" algn="l"/>
              </a:tabLst>
            </a:pPr>
            <a:r>
              <a:rPr b="1" cap="small" spc="-10" dirty="0" err="1"/>
              <a:t>Responsáveis</a:t>
            </a:r>
            <a:endParaRPr lang="pt-BR" b="1" cap="small" spc="-10" dirty="0"/>
          </a:p>
          <a:p>
            <a:pPr marL="251460" marR="6350" indent="-239395" algn="l">
              <a:lnSpc>
                <a:spcPct val="100000"/>
              </a:lnSpc>
              <a:spcBef>
                <a:spcPts val="600"/>
              </a:spcBef>
              <a:tabLst>
                <a:tab pos="354965" algn="l"/>
                <a:tab pos="1191895" algn="l"/>
                <a:tab pos="1534795" algn="l"/>
                <a:tab pos="2455545" algn="l"/>
                <a:tab pos="2840990" algn="l"/>
                <a:tab pos="3646170" algn="l"/>
              </a:tabLst>
            </a:pPr>
            <a:r>
              <a:rPr lang="pt-BR" cap="small" spc="-10" dirty="0"/>
              <a:t>	Atenção: </a:t>
            </a:r>
            <a:r>
              <a:rPr lang="pt-BR" cap="small" spc="-10" dirty="0">
                <a:solidFill>
                  <a:srgbClr val="FF0000"/>
                </a:solidFill>
              </a:rPr>
              <a:t>A descrição das personas deverá também incluir os dados essenciais coletados com a aplicação do </a:t>
            </a:r>
            <a:r>
              <a:rPr lang="pt-BR" spc="-10" dirty="0">
                <a:solidFill>
                  <a:srgbClr val="FF0000"/>
                </a:solidFill>
              </a:rPr>
              <a:t>PACT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9345" y="1478660"/>
            <a:ext cx="2369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PRESSUPOSTOS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BÁSICOS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8" grpId="0" uiExpand="1" build="p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235" y="6141720"/>
            <a:ext cx="779145" cy="410209"/>
          </a:xfrm>
          <a:prstGeom prst="rect">
            <a:avLst/>
          </a:prstGeom>
          <a:solidFill>
            <a:srgbClr val="EF255D"/>
          </a:solidFill>
        </p:spPr>
        <p:txBody>
          <a:bodyPr vert="horz" wrap="square" lIns="0" tIns="9588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755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51543" y="1894078"/>
            <a:ext cx="3615054" cy="4121150"/>
            <a:chOff x="708644" y="1656580"/>
            <a:chExt cx="3615054" cy="4121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644" y="1656580"/>
              <a:ext cx="3614958" cy="41209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6759" y="1671827"/>
              <a:ext cx="3543300" cy="4049395"/>
            </a:xfrm>
            <a:custGeom>
              <a:avLst/>
              <a:gdLst/>
              <a:ahLst/>
              <a:cxnLst/>
              <a:rect l="l" t="t" r="r" b="b"/>
              <a:pathLst>
                <a:path w="3543300" h="4049395">
                  <a:moveTo>
                    <a:pt x="3543300" y="0"/>
                  </a:moveTo>
                  <a:lnTo>
                    <a:pt x="0" y="0"/>
                  </a:lnTo>
                  <a:lnTo>
                    <a:pt x="0" y="4049267"/>
                  </a:lnTo>
                  <a:lnTo>
                    <a:pt x="3543300" y="4049267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6759" y="1671827"/>
              <a:ext cx="3543300" cy="4049395"/>
            </a:xfrm>
            <a:custGeom>
              <a:avLst/>
              <a:gdLst/>
              <a:ahLst/>
              <a:cxnLst/>
              <a:rect l="l" t="t" r="r" b="b"/>
              <a:pathLst>
                <a:path w="3543300" h="4049395">
                  <a:moveTo>
                    <a:pt x="0" y="4049267"/>
                  </a:moveTo>
                  <a:lnTo>
                    <a:pt x="3543300" y="4049267"/>
                  </a:lnTo>
                  <a:lnTo>
                    <a:pt x="3543300" y="0"/>
                  </a:lnTo>
                  <a:lnTo>
                    <a:pt x="0" y="0"/>
                  </a:lnTo>
                  <a:lnTo>
                    <a:pt x="0" y="404926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54071" y="3220727"/>
            <a:ext cx="1015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PERSONAS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0476" y="3495048"/>
            <a:ext cx="11226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+ </a:t>
            </a:r>
            <a:r>
              <a:rPr sz="1800" spc="-20" dirty="0">
                <a:latin typeface="Calibri"/>
                <a:cs typeface="Calibri"/>
              </a:rPr>
              <a:t>ATIVIDADES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50" dirty="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CONTEXTO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37706" y="637560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82566" y="2305553"/>
            <a:ext cx="1629410" cy="1199515"/>
            <a:chOff x="3439667" y="2068055"/>
            <a:chExt cx="1629410" cy="11995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9667" y="2068055"/>
              <a:ext cx="1629156" cy="11994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86911" y="2092452"/>
              <a:ext cx="1539240" cy="1109980"/>
            </a:xfrm>
            <a:custGeom>
              <a:avLst/>
              <a:gdLst/>
              <a:ahLst/>
              <a:cxnLst/>
              <a:rect l="l" t="t" r="r" b="b"/>
              <a:pathLst>
                <a:path w="1539239" h="1109980">
                  <a:moveTo>
                    <a:pt x="1539239" y="0"/>
                  </a:moveTo>
                  <a:lnTo>
                    <a:pt x="0" y="0"/>
                  </a:lnTo>
                  <a:lnTo>
                    <a:pt x="0" y="1109472"/>
                  </a:lnTo>
                  <a:lnTo>
                    <a:pt x="1539239" y="1109472"/>
                  </a:lnTo>
                  <a:lnTo>
                    <a:pt x="1539239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86911" y="2092452"/>
              <a:ext cx="1539240" cy="1109980"/>
            </a:xfrm>
            <a:custGeom>
              <a:avLst/>
              <a:gdLst/>
              <a:ahLst/>
              <a:cxnLst/>
              <a:rect l="l" t="t" r="r" b="b"/>
              <a:pathLst>
                <a:path w="1539239" h="1109980">
                  <a:moveTo>
                    <a:pt x="0" y="1109472"/>
                  </a:moveTo>
                  <a:lnTo>
                    <a:pt x="1539239" y="1109472"/>
                  </a:lnTo>
                  <a:lnTo>
                    <a:pt x="1539239" y="0"/>
                  </a:lnTo>
                  <a:lnTo>
                    <a:pt x="0" y="0"/>
                  </a:lnTo>
                  <a:lnTo>
                    <a:pt x="0" y="110947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81652" y="2582375"/>
            <a:ext cx="103759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CUIDADOR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59707" y="4521449"/>
            <a:ext cx="1673860" cy="1199515"/>
            <a:chOff x="3416808" y="4283951"/>
            <a:chExt cx="1673860" cy="119951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9668" y="4283951"/>
              <a:ext cx="1629156" cy="11994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6808" y="4498835"/>
              <a:ext cx="1673352" cy="83516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486912" y="4308348"/>
              <a:ext cx="1539240" cy="1109980"/>
            </a:xfrm>
            <a:custGeom>
              <a:avLst/>
              <a:gdLst/>
              <a:ahLst/>
              <a:cxnLst/>
              <a:rect l="l" t="t" r="r" b="b"/>
              <a:pathLst>
                <a:path w="1539239" h="1109979">
                  <a:moveTo>
                    <a:pt x="1539239" y="0"/>
                  </a:moveTo>
                  <a:lnTo>
                    <a:pt x="0" y="0"/>
                  </a:lnTo>
                  <a:lnTo>
                    <a:pt x="0" y="1109471"/>
                  </a:lnTo>
                  <a:lnTo>
                    <a:pt x="1539239" y="1109471"/>
                  </a:lnTo>
                  <a:lnTo>
                    <a:pt x="1539239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86912" y="4308348"/>
              <a:ext cx="1539240" cy="1109980"/>
            </a:xfrm>
            <a:custGeom>
              <a:avLst/>
              <a:gdLst/>
              <a:ahLst/>
              <a:cxnLst/>
              <a:rect l="l" t="t" r="r" b="b"/>
              <a:pathLst>
                <a:path w="1539239" h="1109979">
                  <a:moveTo>
                    <a:pt x="0" y="1109471"/>
                  </a:moveTo>
                  <a:lnTo>
                    <a:pt x="1539239" y="1109471"/>
                  </a:lnTo>
                  <a:lnTo>
                    <a:pt x="1539239" y="0"/>
                  </a:lnTo>
                  <a:lnTo>
                    <a:pt x="0" y="0"/>
                  </a:lnTo>
                  <a:lnTo>
                    <a:pt x="0" y="110947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27727" y="4798271"/>
            <a:ext cx="134366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RESPONSÁVEL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85616" y="2794739"/>
            <a:ext cx="1610995" cy="2279015"/>
            <a:chOff x="6842717" y="2557241"/>
            <a:chExt cx="1610995" cy="227901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2717" y="2557241"/>
              <a:ext cx="1610953" cy="227844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880859" y="2572512"/>
              <a:ext cx="1539240" cy="2207260"/>
            </a:xfrm>
            <a:custGeom>
              <a:avLst/>
              <a:gdLst/>
              <a:ahLst/>
              <a:cxnLst/>
              <a:rect l="l" t="t" r="r" b="b"/>
              <a:pathLst>
                <a:path w="1539240" h="2207260">
                  <a:moveTo>
                    <a:pt x="1539240" y="0"/>
                  </a:moveTo>
                  <a:lnTo>
                    <a:pt x="0" y="0"/>
                  </a:lnTo>
                  <a:lnTo>
                    <a:pt x="0" y="2206752"/>
                  </a:lnTo>
                  <a:lnTo>
                    <a:pt x="1539240" y="2206752"/>
                  </a:lnTo>
                  <a:lnTo>
                    <a:pt x="1539240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80859" y="2572512"/>
              <a:ext cx="1539240" cy="2207260"/>
            </a:xfrm>
            <a:custGeom>
              <a:avLst/>
              <a:gdLst/>
              <a:ahLst/>
              <a:cxnLst/>
              <a:rect l="l" t="t" r="r" b="b"/>
              <a:pathLst>
                <a:path w="1539240" h="2207260">
                  <a:moveTo>
                    <a:pt x="0" y="2206752"/>
                  </a:moveTo>
                  <a:lnTo>
                    <a:pt x="1539240" y="2206752"/>
                  </a:lnTo>
                  <a:lnTo>
                    <a:pt x="1539240" y="0"/>
                  </a:lnTo>
                  <a:lnTo>
                    <a:pt x="0" y="0"/>
                  </a:lnTo>
                  <a:lnTo>
                    <a:pt x="0" y="220675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30515" y="3474601"/>
            <a:ext cx="11283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 marR="83820" indent="-2501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SERVIDOR </a:t>
            </a:r>
            <a:r>
              <a:rPr sz="1800" spc="-25" dirty="0">
                <a:latin typeface="Calibri"/>
                <a:cs typeface="Calibri"/>
              </a:rPr>
              <a:t>WEB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(BACK-</a:t>
            </a:r>
            <a:r>
              <a:rPr sz="1800" spc="-20" dirty="0">
                <a:latin typeface="Calibri"/>
                <a:cs typeface="Calibri"/>
              </a:rPr>
              <a:t>END)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18259" y="2517427"/>
            <a:ext cx="6022975" cy="2653665"/>
            <a:chOff x="975360" y="2279929"/>
            <a:chExt cx="6022975" cy="265366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5872" y="2546642"/>
              <a:ext cx="818388" cy="2378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28036" y="2570988"/>
              <a:ext cx="659130" cy="108585"/>
            </a:xfrm>
            <a:custGeom>
              <a:avLst/>
              <a:gdLst/>
              <a:ahLst/>
              <a:cxnLst/>
              <a:rect l="l" t="t" r="r" b="b"/>
              <a:pathLst>
                <a:path w="659129" h="108585">
                  <a:moveTo>
                    <a:pt x="585597" y="30861"/>
                  </a:moveTo>
                  <a:lnTo>
                    <a:pt x="583098" y="56651"/>
                  </a:lnTo>
                  <a:lnTo>
                    <a:pt x="596011" y="57912"/>
                  </a:lnTo>
                  <a:lnTo>
                    <a:pt x="593471" y="83692"/>
                  </a:lnTo>
                  <a:lnTo>
                    <a:pt x="580478" y="83692"/>
                  </a:lnTo>
                  <a:lnTo>
                    <a:pt x="578103" y="108203"/>
                  </a:lnTo>
                  <a:lnTo>
                    <a:pt x="641932" y="83692"/>
                  </a:lnTo>
                  <a:lnTo>
                    <a:pt x="593471" y="83692"/>
                  </a:lnTo>
                  <a:lnTo>
                    <a:pt x="580600" y="82439"/>
                  </a:lnTo>
                  <a:lnTo>
                    <a:pt x="645196" y="82439"/>
                  </a:lnTo>
                  <a:lnTo>
                    <a:pt x="659129" y="77088"/>
                  </a:lnTo>
                  <a:lnTo>
                    <a:pt x="585597" y="30861"/>
                  </a:lnTo>
                  <a:close/>
                </a:path>
                <a:path w="659129" h="108585">
                  <a:moveTo>
                    <a:pt x="583098" y="56651"/>
                  </a:moveTo>
                  <a:lnTo>
                    <a:pt x="580600" y="82439"/>
                  </a:lnTo>
                  <a:lnTo>
                    <a:pt x="593471" y="83692"/>
                  </a:lnTo>
                  <a:lnTo>
                    <a:pt x="596011" y="57912"/>
                  </a:lnTo>
                  <a:lnTo>
                    <a:pt x="583098" y="56651"/>
                  </a:lnTo>
                  <a:close/>
                </a:path>
                <a:path w="659129" h="108585">
                  <a:moveTo>
                    <a:pt x="2539" y="0"/>
                  </a:moveTo>
                  <a:lnTo>
                    <a:pt x="0" y="25908"/>
                  </a:lnTo>
                  <a:lnTo>
                    <a:pt x="580600" y="82439"/>
                  </a:lnTo>
                  <a:lnTo>
                    <a:pt x="583098" y="56651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8907" y="4043159"/>
              <a:ext cx="2019299" cy="89002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022214" y="4136389"/>
              <a:ext cx="1860550" cy="739775"/>
            </a:xfrm>
            <a:custGeom>
              <a:avLst/>
              <a:gdLst/>
              <a:ahLst/>
              <a:cxnLst/>
              <a:rect l="l" t="t" r="r" b="b"/>
              <a:pathLst>
                <a:path w="1860550" h="739775">
                  <a:moveTo>
                    <a:pt x="1782767" y="24130"/>
                  </a:moveTo>
                  <a:lnTo>
                    <a:pt x="0" y="715264"/>
                  </a:lnTo>
                  <a:lnTo>
                    <a:pt x="9398" y="739521"/>
                  </a:lnTo>
                  <a:lnTo>
                    <a:pt x="1792114" y="48281"/>
                  </a:lnTo>
                  <a:lnTo>
                    <a:pt x="1782767" y="24130"/>
                  </a:lnTo>
                  <a:close/>
                </a:path>
                <a:path w="1860550" h="739775">
                  <a:moveTo>
                    <a:pt x="1849764" y="19431"/>
                  </a:moveTo>
                  <a:lnTo>
                    <a:pt x="1794890" y="19431"/>
                  </a:lnTo>
                  <a:lnTo>
                    <a:pt x="1804289" y="43561"/>
                  </a:lnTo>
                  <a:lnTo>
                    <a:pt x="1792114" y="48281"/>
                  </a:lnTo>
                  <a:lnTo>
                    <a:pt x="1801494" y="72517"/>
                  </a:lnTo>
                  <a:lnTo>
                    <a:pt x="1849764" y="19431"/>
                  </a:lnTo>
                  <a:close/>
                </a:path>
                <a:path w="1860550" h="739775">
                  <a:moveTo>
                    <a:pt x="1794890" y="19431"/>
                  </a:moveTo>
                  <a:lnTo>
                    <a:pt x="1782767" y="24130"/>
                  </a:lnTo>
                  <a:lnTo>
                    <a:pt x="1792114" y="48281"/>
                  </a:lnTo>
                  <a:lnTo>
                    <a:pt x="1804289" y="43561"/>
                  </a:lnTo>
                  <a:lnTo>
                    <a:pt x="1794890" y="19431"/>
                  </a:lnTo>
                  <a:close/>
                </a:path>
                <a:path w="1860550" h="739775">
                  <a:moveTo>
                    <a:pt x="1773428" y="0"/>
                  </a:moveTo>
                  <a:lnTo>
                    <a:pt x="1782767" y="24130"/>
                  </a:lnTo>
                  <a:lnTo>
                    <a:pt x="1794890" y="19431"/>
                  </a:lnTo>
                  <a:lnTo>
                    <a:pt x="1849764" y="19431"/>
                  </a:lnTo>
                  <a:lnTo>
                    <a:pt x="1860041" y="8128"/>
                  </a:lnTo>
                  <a:lnTo>
                    <a:pt x="177342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5360" y="2279929"/>
              <a:ext cx="1895855" cy="6476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3124" y="2403360"/>
              <a:ext cx="1101852" cy="45413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22604" y="2304288"/>
              <a:ext cx="1805939" cy="558165"/>
            </a:xfrm>
            <a:custGeom>
              <a:avLst/>
              <a:gdLst/>
              <a:ahLst/>
              <a:cxnLst/>
              <a:rect l="l" t="t" r="r" b="b"/>
              <a:pathLst>
                <a:path w="1805939" h="558164">
                  <a:moveTo>
                    <a:pt x="902970" y="0"/>
                  </a:moveTo>
                  <a:lnTo>
                    <a:pt x="832399" y="838"/>
                  </a:lnTo>
                  <a:lnTo>
                    <a:pt x="763314" y="3314"/>
                  </a:lnTo>
                  <a:lnTo>
                    <a:pt x="695917" y="7364"/>
                  </a:lnTo>
                  <a:lnTo>
                    <a:pt x="630407" y="12927"/>
                  </a:lnTo>
                  <a:lnTo>
                    <a:pt x="566985" y="19940"/>
                  </a:lnTo>
                  <a:lnTo>
                    <a:pt x="505852" y="28342"/>
                  </a:lnTo>
                  <a:lnTo>
                    <a:pt x="447209" y="38071"/>
                  </a:lnTo>
                  <a:lnTo>
                    <a:pt x="391256" y="49065"/>
                  </a:lnTo>
                  <a:lnTo>
                    <a:pt x="338194" y="61262"/>
                  </a:lnTo>
                  <a:lnTo>
                    <a:pt x="288224" y="74599"/>
                  </a:lnTo>
                  <a:lnTo>
                    <a:pt x="241546" y="89016"/>
                  </a:lnTo>
                  <a:lnTo>
                    <a:pt x="198362" y="104449"/>
                  </a:lnTo>
                  <a:lnTo>
                    <a:pt x="158871" y="120838"/>
                  </a:lnTo>
                  <a:lnTo>
                    <a:pt x="123274" y="138119"/>
                  </a:lnTo>
                  <a:lnTo>
                    <a:pt x="64567" y="175114"/>
                  </a:lnTo>
                  <a:lnTo>
                    <a:pt x="23846" y="214937"/>
                  </a:lnTo>
                  <a:lnTo>
                    <a:pt x="2716" y="257093"/>
                  </a:lnTo>
                  <a:lnTo>
                    <a:pt x="0" y="278891"/>
                  </a:lnTo>
                  <a:lnTo>
                    <a:pt x="2716" y="300690"/>
                  </a:lnTo>
                  <a:lnTo>
                    <a:pt x="23846" y="342846"/>
                  </a:lnTo>
                  <a:lnTo>
                    <a:pt x="64567" y="382669"/>
                  </a:lnTo>
                  <a:lnTo>
                    <a:pt x="123274" y="419664"/>
                  </a:lnTo>
                  <a:lnTo>
                    <a:pt x="158871" y="436945"/>
                  </a:lnTo>
                  <a:lnTo>
                    <a:pt x="198362" y="453334"/>
                  </a:lnTo>
                  <a:lnTo>
                    <a:pt x="241546" y="468767"/>
                  </a:lnTo>
                  <a:lnTo>
                    <a:pt x="288224" y="483184"/>
                  </a:lnTo>
                  <a:lnTo>
                    <a:pt x="338194" y="496521"/>
                  </a:lnTo>
                  <a:lnTo>
                    <a:pt x="391256" y="508718"/>
                  </a:lnTo>
                  <a:lnTo>
                    <a:pt x="447209" y="519712"/>
                  </a:lnTo>
                  <a:lnTo>
                    <a:pt x="505852" y="529441"/>
                  </a:lnTo>
                  <a:lnTo>
                    <a:pt x="566985" y="537843"/>
                  </a:lnTo>
                  <a:lnTo>
                    <a:pt x="630407" y="544856"/>
                  </a:lnTo>
                  <a:lnTo>
                    <a:pt x="695917" y="550419"/>
                  </a:lnTo>
                  <a:lnTo>
                    <a:pt x="763314" y="554469"/>
                  </a:lnTo>
                  <a:lnTo>
                    <a:pt x="832399" y="556945"/>
                  </a:lnTo>
                  <a:lnTo>
                    <a:pt x="902970" y="557784"/>
                  </a:lnTo>
                  <a:lnTo>
                    <a:pt x="973540" y="556945"/>
                  </a:lnTo>
                  <a:lnTo>
                    <a:pt x="1042625" y="554469"/>
                  </a:lnTo>
                  <a:lnTo>
                    <a:pt x="1110022" y="550419"/>
                  </a:lnTo>
                  <a:lnTo>
                    <a:pt x="1175532" y="544856"/>
                  </a:lnTo>
                  <a:lnTo>
                    <a:pt x="1238954" y="537843"/>
                  </a:lnTo>
                  <a:lnTo>
                    <a:pt x="1300087" y="529441"/>
                  </a:lnTo>
                  <a:lnTo>
                    <a:pt x="1358730" y="519712"/>
                  </a:lnTo>
                  <a:lnTo>
                    <a:pt x="1414683" y="508718"/>
                  </a:lnTo>
                  <a:lnTo>
                    <a:pt x="1467745" y="496521"/>
                  </a:lnTo>
                  <a:lnTo>
                    <a:pt x="1517715" y="483184"/>
                  </a:lnTo>
                  <a:lnTo>
                    <a:pt x="1564393" y="468767"/>
                  </a:lnTo>
                  <a:lnTo>
                    <a:pt x="1607577" y="453334"/>
                  </a:lnTo>
                  <a:lnTo>
                    <a:pt x="1647068" y="436945"/>
                  </a:lnTo>
                  <a:lnTo>
                    <a:pt x="1682665" y="419664"/>
                  </a:lnTo>
                  <a:lnTo>
                    <a:pt x="1741372" y="382669"/>
                  </a:lnTo>
                  <a:lnTo>
                    <a:pt x="1782093" y="342846"/>
                  </a:lnTo>
                  <a:lnTo>
                    <a:pt x="1803223" y="300690"/>
                  </a:lnTo>
                  <a:lnTo>
                    <a:pt x="1805939" y="278891"/>
                  </a:lnTo>
                  <a:lnTo>
                    <a:pt x="1803223" y="257093"/>
                  </a:lnTo>
                  <a:lnTo>
                    <a:pt x="1782093" y="214937"/>
                  </a:lnTo>
                  <a:lnTo>
                    <a:pt x="1741372" y="175114"/>
                  </a:lnTo>
                  <a:lnTo>
                    <a:pt x="1682665" y="138119"/>
                  </a:lnTo>
                  <a:lnTo>
                    <a:pt x="1647068" y="120838"/>
                  </a:lnTo>
                  <a:lnTo>
                    <a:pt x="1607577" y="104449"/>
                  </a:lnTo>
                  <a:lnTo>
                    <a:pt x="1564393" y="89016"/>
                  </a:lnTo>
                  <a:lnTo>
                    <a:pt x="1517715" y="74599"/>
                  </a:lnTo>
                  <a:lnTo>
                    <a:pt x="1467745" y="61262"/>
                  </a:lnTo>
                  <a:lnTo>
                    <a:pt x="1414683" y="49065"/>
                  </a:lnTo>
                  <a:lnTo>
                    <a:pt x="1358730" y="38071"/>
                  </a:lnTo>
                  <a:lnTo>
                    <a:pt x="1300087" y="28342"/>
                  </a:lnTo>
                  <a:lnTo>
                    <a:pt x="1238954" y="19940"/>
                  </a:lnTo>
                  <a:lnTo>
                    <a:pt x="1175532" y="12927"/>
                  </a:lnTo>
                  <a:lnTo>
                    <a:pt x="1110022" y="7364"/>
                  </a:lnTo>
                  <a:lnTo>
                    <a:pt x="1042625" y="3314"/>
                  </a:lnTo>
                  <a:lnTo>
                    <a:pt x="973540" y="838"/>
                  </a:lnTo>
                  <a:lnTo>
                    <a:pt x="902970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22604" y="2304288"/>
              <a:ext cx="1805939" cy="558165"/>
            </a:xfrm>
            <a:custGeom>
              <a:avLst/>
              <a:gdLst/>
              <a:ahLst/>
              <a:cxnLst/>
              <a:rect l="l" t="t" r="r" b="b"/>
              <a:pathLst>
                <a:path w="1805939" h="558164">
                  <a:moveTo>
                    <a:pt x="0" y="278891"/>
                  </a:moveTo>
                  <a:lnTo>
                    <a:pt x="10732" y="235754"/>
                  </a:lnTo>
                  <a:lnTo>
                    <a:pt x="41858" y="194703"/>
                  </a:lnTo>
                  <a:lnTo>
                    <a:pt x="91773" y="156232"/>
                  </a:lnTo>
                  <a:lnTo>
                    <a:pt x="158871" y="120838"/>
                  </a:lnTo>
                  <a:lnTo>
                    <a:pt x="198362" y="104449"/>
                  </a:lnTo>
                  <a:lnTo>
                    <a:pt x="241546" y="89016"/>
                  </a:lnTo>
                  <a:lnTo>
                    <a:pt x="288224" y="74599"/>
                  </a:lnTo>
                  <a:lnTo>
                    <a:pt x="338194" y="61262"/>
                  </a:lnTo>
                  <a:lnTo>
                    <a:pt x="391256" y="49065"/>
                  </a:lnTo>
                  <a:lnTo>
                    <a:pt x="447209" y="38071"/>
                  </a:lnTo>
                  <a:lnTo>
                    <a:pt x="505852" y="28342"/>
                  </a:lnTo>
                  <a:lnTo>
                    <a:pt x="566985" y="19940"/>
                  </a:lnTo>
                  <a:lnTo>
                    <a:pt x="630407" y="12927"/>
                  </a:lnTo>
                  <a:lnTo>
                    <a:pt x="695917" y="7364"/>
                  </a:lnTo>
                  <a:lnTo>
                    <a:pt x="763314" y="3314"/>
                  </a:lnTo>
                  <a:lnTo>
                    <a:pt x="832399" y="838"/>
                  </a:lnTo>
                  <a:lnTo>
                    <a:pt x="902970" y="0"/>
                  </a:lnTo>
                  <a:lnTo>
                    <a:pt x="973540" y="838"/>
                  </a:lnTo>
                  <a:lnTo>
                    <a:pt x="1042625" y="3314"/>
                  </a:lnTo>
                  <a:lnTo>
                    <a:pt x="1110022" y="7364"/>
                  </a:lnTo>
                  <a:lnTo>
                    <a:pt x="1175532" y="12927"/>
                  </a:lnTo>
                  <a:lnTo>
                    <a:pt x="1238954" y="19940"/>
                  </a:lnTo>
                  <a:lnTo>
                    <a:pt x="1300087" y="28342"/>
                  </a:lnTo>
                  <a:lnTo>
                    <a:pt x="1358730" y="38071"/>
                  </a:lnTo>
                  <a:lnTo>
                    <a:pt x="1414683" y="49065"/>
                  </a:lnTo>
                  <a:lnTo>
                    <a:pt x="1467745" y="61262"/>
                  </a:lnTo>
                  <a:lnTo>
                    <a:pt x="1517715" y="74599"/>
                  </a:lnTo>
                  <a:lnTo>
                    <a:pt x="1564393" y="89016"/>
                  </a:lnTo>
                  <a:lnTo>
                    <a:pt x="1607577" y="104449"/>
                  </a:lnTo>
                  <a:lnTo>
                    <a:pt x="1647068" y="120838"/>
                  </a:lnTo>
                  <a:lnTo>
                    <a:pt x="1682665" y="138119"/>
                  </a:lnTo>
                  <a:lnTo>
                    <a:pt x="1741372" y="175114"/>
                  </a:lnTo>
                  <a:lnTo>
                    <a:pt x="1782093" y="214937"/>
                  </a:lnTo>
                  <a:lnTo>
                    <a:pt x="1803223" y="257093"/>
                  </a:lnTo>
                  <a:lnTo>
                    <a:pt x="1805939" y="278891"/>
                  </a:lnTo>
                  <a:lnTo>
                    <a:pt x="1803223" y="300690"/>
                  </a:lnTo>
                  <a:lnTo>
                    <a:pt x="1782093" y="342846"/>
                  </a:lnTo>
                  <a:lnTo>
                    <a:pt x="1741372" y="382669"/>
                  </a:lnTo>
                  <a:lnTo>
                    <a:pt x="1682665" y="419664"/>
                  </a:lnTo>
                  <a:lnTo>
                    <a:pt x="1647068" y="436945"/>
                  </a:lnTo>
                  <a:lnTo>
                    <a:pt x="1607577" y="453334"/>
                  </a:lnTo>
                  <a:lnTo>
                    <a:pt x="1564393" y="468767"/>
                  </a:lnTo>
                  <a:lnTo>
                    <a:pt x="1517715" y="483184"/>
                  </a:lnTo>
                  <a:lnTo>
                    <a:pt x="1467745" y="496521"/>
                  </a:lnTo>
                  <a:lnTo>
                    <a:pt x="1414683" y="508718"/>
                  </a:lnTo>
                  <a:lnTo>
                    <a:pt x="1358730" y="519712"/>
                  </a:lnTo>
                  <a:lnTo>
                    <a:pt x="1300087" y="529441"/>
                  </a:lnTo>
                  <a:lnTo>
                    <a:pt x="1238954" y="537843"/>
                  </a:lnTo>
                  <a:lnTo>
                    <a:pt x="1175532" y="544856"/>
                  </a:lnTo>
                  <a:lnTo>
                    <a:pt x="1110022" y="550419"/>
                  </a:lnTo>
                  <a:lnTo>
                    <a:pt x="1042625" y="554469"/>
                  </a:lnTo>
                  <a:lnTo>
                    <a:pt x="973540" y="556945"/>
                  </a:lnTo>
                  <a:lnTo>
                    <a:pt x="902970" y="557784"/>
                  </a:lnTo>
                  <a:lnTo>
                    <a:pt x="832399" y="556945"/>
                  </a:lnTo>
                  <a:lnTo>
                    <a:pt x="763314" y="554469"/>
                  </a:lnTo>
                  <a:lnTo>
                    <a:pt x="695917" y="550419"/>
                  </a:lnTo>
                  <a:lnTo>
                    <a:pt x="630407" y="544856"/>
                  </a:lnTo>
                  <a:lnTo>
                    <a:pt x="566985" y="537843"/>
                  </a:lnTo>
                  <a:lnTo>
                    <a:pt x="505852" y="529441"/>
                  </a:lnTo>
                  <a:lnTo>
                    <a:pt x="447209" y="519712"/>
                  </a:lnTo>
                  <a:lnTo>
                    <a:pt x="391256" y="508718"/>
                  </a:lnTo>
                  <a:lnTo>
                    <a:pt x="338194" y="496521"/>
                  </a:lnTo>
                  <a:lnTo>
                    <a:pt x="288224" y="483184"/>
                  </a:lnTo>
                  <a:lnTo>
                    <a:pt x="241546" y="468767"/>
                  </a:lnTo>
                  <a:lnTo>
                    <a:pt x="198362" y="453334"/>
                  </a:lnTo>
                  <a:lnTo>
                    <a:pt x="158871" y="436945"/>
                  </a:lnTo>
                  <a:lnTo>
                    <a:pt x="123274" y="419664"/>
                  </a:lnTo>
                  <a:lnTo>
                    <a:pt x="64567" y="382669"/>
                  </a:lnTo>
                  <a:lnTo>
                    <a:pt x="23846" y="342846"/>
                  </a:lnTo>
                  <a:lnTo>
                    <a:pt x="2716" y="300690"/>
                  </a:lnTo>
                  <a:lnTo>
                    <a:pt x="0" y="27889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452674" y="2689360"/>
            <a:ext cx="83311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CUIDADOR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18259" y="4797318"/>
            <a:ext cx="1896110" cy="646430"/>
            <a:chOff x="975360" y="4559820"/>
            <a:chExt cx="1896110" cy="646430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5360" y="4559820"/>
              <a:ext cx="1895855" cy="64616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1204" y="4683264"/>
              <a:ext cx="1344168" cy="45413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22604" y="4584191"/>
              <a:ext cx="1805939" cy="556260"/>
            </a:xfrm>
            <a:custGeom>
              <a:avLst/>
              <a:gdLst/>
              <a:ahLst/>
              <a:cxnLst/>
              <a:rect l="l" t="t" r="r" b="b"/>
              <a:pathLst>
                <a:path w="1805939" h="556260">
                  <a:moveTo>
                    <a:pt x="902970" y="0"/>
                  </a:moveTo>
                  <a:lnTo>
                    <a:pt x="832399" y="836"/>
                  </a:lnTo>
                  <a:lnTo>
                    <a:pt x="763314" y="3304"/>
                  </a:lnTo>
                  <a:lnTo>
                    <a:pt x="695917" y="7342"/>
                  </a:lnTo>
                  <a:lnTo>
                    <a:pt x="630407" y="12888"/>
                  </a:lnTo>
                  <a:lnTo>
                    <a:pt x="566985" y="19881"/>
                  </a:lnTo>
                  <a:lnTo>
                    <a:pt x="505852" y="28258"/>
                  </a:lnTo>
                  <a:lnTo>
                    <a:pt x="447209" y="37958"/>
                  </a:lnTo>
                  <a:lnTo>
                    <a:pt x="391256" y="48920"/>
                  </a:lnTo>
                  <a:lnTo>
                    <a:pt x="338194" y="61082"/>
                  </a:lnTo>
                  <a:lnTo>
                    <a:pt x="288224" y="74381"/>
                  </a:lnTo>
                  <a:lnTo>
                    <a:pt x="241546" y="88757"/>
                  </a:lnTo>
                  <a:lnTo>
                    <a:pt x="198362" y="104147"/>
                  </a:lnTo>
                  <a:lnTo>
                    <a:pt x="158871" y="120490"/>
                  </a:lnTo>
                  <a:lnTo>
                    <a:pt x="123274" y="137724"/>
                  </a:lnTo>
                  <a:lnTo>
                    <a:pt x="64567" y="174619"/>
                  </a:lnTo>
                  <a:lnTo>
                    <a:pt x="23846" y="214337"/>
                  </a:lnTo>
                  <a:lnTo>
                    <a:pt x="2716" y="256386"/>
                  </a:lnTo>
                  <a:lnTo>
                    <a:pt x="0" y="278129"/>
                  </a:lnTo>
                  <a:lnTo>
                    <a:pt x="2716" y="299873"/>
                  </a:lnTo>
                  <a:lnTo>
                    <a:pt x="23846" y="341922"/>
                  </a:lnTo>
                  <a:lnTo>
                    <a:pt x="64567" y="381640"/>
                  </a:lnTo>
                  <a:lnTo>
                    <a:pt x="123274" y="418535"/>
                  </a:lnTo>
                  <a:lnTo>
                    <a:pt x="158871" y="435769"/>
                  </a:lnTo>
                  <a:lnTo>
                    <a:pt x="198362" y="452112"/>
                  </a:lnTo>
                  <a:lnTo>
                    <a:pt x="241546" y="467502"/>
                  </a:lnTo>
                  <a:lnTo>
                    <a:pt x="288224" y="481878"/>
                  </a:lnTo>
                  <a:lnTo>
                    <a:pt x="338194" y="495177"/>
                  </a:lnTo>
                  <a:lnTo>
                    <a:pt x="391256" y="507339"/>
                  </a:lnTo>
                  <a:lnTo>
                    <a:pt x="447209" y="518301"/>
                  </a:lnTo>
                  <a:lnTo>
                    <a:pt x="505852" y="528001"/>
                  </a:lnTo>
                  <a:lnTo>
                    <a:pt x="566985" y="536378"/>
                  </a:lnTo>
                  <a:lnTo>
                    <a:pt x="630407" y="543371"/>
                  </a:lnTo>
                  <a:lnTo>
                    <a:pt x="695917" y="548917"/>
                  </a:lnTo>
                  <a:lnTo>
                    <a:pt x="763314" y="552955"/>
                  </a:lnTo>
                  <a:lnTo>
                    <a:pt x="832399" y="555423"/>
                  </a:lnTo>
                  <a:lnTo>
                    <a:pt x="902970" y="556259"/>
                  </a:lnTo>
                  <a:lnTo>
                    <a:pt x="973540" y="555423"/>
                  </a:lnTo>
                  <a:lnTo>
                    <a:pt x="1042625" y="552955"/>
                  </a:lnTo>
                  <a:lnTo>
                    <a:pt x="1110022" y="548917"/>
                  </a:lnTo>
                  <a:lnTo>
                    <a:pt x="1175532" y="543371"/>
                  </a:lnTo>
                  <a:lnTo>
                    <a:pt x="1238954" y="536378"/>
                  </a:lnTo>
                  <a:lnTo>
                    <a:pt x="1300087" y="528001"/>
                  </a:lnTo>
                  <a:lnTo>
                    <a:pt x="1358730" y="518301"/>
                  </a:lnTo>
                  <a:lnTo>
                    <a:pt x="1414683" y="507339"/>
                  </a:lnTo>
                  <a:lnTo>
                    <a:pt x="1467745" y="495177"/>
                  </a:lnTo>
                  <a:lnTo>
                    <a:pt x="1517715" y="481878"/>
                  </a:lnTo>
                  <a:lnTo>
                    <a:pt x="1564393" y="467502"/>
                  </a:lnTo>
                  <a:lnTo>
                    <a:pt x="1607577" y="452112"/>
                  </a:lnTo>
                  <a:lnTo>
                    <a:pt x="1647068" y="435769"/>
                  </a:lnTo>
                  <a:lnTo>
                    <a:pt x="1682665" y="418535"/>
                  </a:lnTo>
                  <a:lnTo>
                    <a:pt x="1741372" y="381640"/>
                  </a:lnTo>
                  <a:lnTo>
                    <a:pt x="1782093" y="341922"/>
                  </a:lnTo>
                  <a:lnTo>
                    <a:pt x="1803223" y="299873"/>
                  </a:lnTo>
                  <a:lnTo>
                    <a:pt x="1805939" y="278129"/>
                  </a:lnTo>
                  <a:lnTo>
                    <a:pt x="1803223" y="256386"/>
                  </a:lnTo>
                  <a:lnTo>
                    <a:pt x="1782093" y="214337"/>
                  </a:lnTo>
                  <a:lnTo>
                    <a:pt x="1741372" y="174619"/>
                  </a:lnTo>
                  <a:lnTo>
                    <a:pt x="1682665" y="137724"/>
                  </a:lnTo>
                  <a:lnTo>
                    <a:pt x="1647068" y="120490"/>
                  </a:lnTo>
                  <a:lnTo>
                    <a:pt x="1607577" y="104147"/>
                  </a:lnTo>
                  <a:lnTo>
                    <a:pt x="1564393" y="88757"/>
                  </a:lnTo>
                  <a:lnTo>
                    <a:pt x="1517715" y="74381"/>
                  </a:lnTo>
                  <a:lnTo>
                    <a:pt x="1467745" y="61082"/>
                  </a:lnTo>
                  <a:lnTo>
                    <a:pt x="1414683" y="48920"/>
                  </a:lnTo>
                  <a:lnTo>
                    <a:pt x="1358730" y="37958"/>
                  </a:lnTo>
                  <a:lnTo>
                    <a:pt x="1300087" y="28258"/>
                  </a:lnTo>
                  <a:lnTo>
                    <a:pt x="1238954" y="19881"/>
                  </a:lnTo>
                  <a:lnTo>
                    <a:pt x="1175532" y="12888"/>
                  </a:lnTo>
                  <a:lnTo>
                    <a:pt x="1110022" y="7342"/>
                  </a:lnTo>
                  <a:lnTo>
                    <a:pt x="1042625" y="3304"/>
                  </a:lnTo>
                  <a:lnTo>
                    <a:pt x="973540" y="836"/>
                  </a:lnTo>
                  <a:lnTo>
                    <a:pt x="902970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22604" y="4584191"/>
              <a:ext cx="1805939" cy="556260"/>
            </a:xfrm>
            <a:custGeom>
              <a:avLst/>
              <a:gdLst/>
              <a:ahLst/>
              <a:cxnLst/>
              <a:rect l="l" t="t" r="r" b="b"/>
              <a:pathLst>
                <a:path w="1805939" h="556260">
                  <a:moveTo>
                    <a:pt x="0" y="278129"/>
                  </a:moveTo>
                  <a:lnTo>
                    <a:pt x="10732" y="235101"/>
                  </a:lnTo>
                  <a:lnTo>
                    <a:pt x="41858" y="194156"/>
                  </a:lnTo>
                  <a:lnTo>
                    <a:pt x="91773" y="155787"/>
                  </a:lnTo>
                  <a:lnTo>
                    <a:pt x="158871" y="120490"/>
                  </a:lnTo>
                  <a:lnTo>
                    <a:pt x="198362" y="104147"/>
                  </a:lnTo>
                  <a:lnTo>
                    <a:pt x="241546" y="88757"/>
                  </a:lnTo>
                  <a:lnTo>
                    <a:pt x="288224" y="74381"/>
                  </a:lnTo>
                  <a:lnTo>
                    <a:pt x="338194" y="61082"/>
                  </a:lnTo>
                  <a:lnTo>
                    <a:pt x="391256" y="48920"/>
                  </a:lnTo>
                  <a:lnTo>
                    <a:pt x="447209" y="37958"/>
                  </a:lnTo>
                  <a:lnTo>
                    <a:pt x="505852" y="28258"/>
                  </a:lnTo>
                  <a:lnTo>
                    <a:pt x="566985" y="19881"/>
                  </a:lnTo>
                  <a:lnTo>
                    <a:pt x="630407" y="12888"/>
                  </a:lnTo>
                  <a:lnTo>
                    <a:pt x="695917" y="7342"/>
                  </a:lnTo>
                  <a:lnTo>
                    <a:pt x="763314" y="3304"/>
                  </a:lnTo>
                  <a:lnTo>
                    <a:pt x="832399" y="836"/>
                  </a:lnTo>
                  <a:lnTo>
                    <a:pt x="902970" y="0"/>
                  </a:lnTo>
                  <a:lnTo>
                    <a:pt x="973540" y="836"/>
                  </a:lnTo>
                  <a:lnTo>
                    <a:pt x="1042625" y="3304"/>
                  </a:lnTo>
                  <a:lnTo>
                    <a:pt x="1110022" y="7342"/>
                  </a:lnTo>
                  <a:lnTo>
                    <a:pt x="1175532" y="12888"/>
                  </a:lnTo>
                  <a:lnTo>
                    <a:pt x="1238954" y="19881"/>
                  </a:lnTo>
                  <a:lnTo>
                    <a:pt x="1300087" y="28258"/>
                  </a:lnTo>
                  <a:lnTo>
                    <a:pt x="1358730" y="37958"/>
                  </a:lnTo>
                  <a:lnTo>
                    <a:pt x="1414683" y="48920"/>
                  </a:lnTo>
                  <a:lnTo>
                    <a:pt x="1467745" y="61082"/>
                  </a:lnTo>
                  <a:lnTo>
                    <a:pt x="1517715" y="74381"/>
                  </a:lnTo>
                  <a:lnTo>
                    <a:pt x="1564393" y="88757"/>
                  </a:lnTo>
                  <a:lnTo>
                    <a:pt x="1607577" y="104147"/>
                  </a:lnTo>
                  <a:lnTo>
                    <a:pt x="1647068" y="120490"/>
                  </a:lnTo>
                  <a:lnTo>
                    <a:pt x="1682665" y="137724"/>
                  </a:lnTo>
                  <a:lnTo>
                    <a:pt x="1741372" y="174619"/>
                  </a:lnTo>
                  <a:lnTo>
                    <a:pt x="1782093" y="214337"/>
                  </a:lnTo>
                  <a:lnTo>
                    <a:pt x="1803223" y="256386"/>
                  </a:lnTo>
                  <a:lnTo>
                    <a:pt x="1805939" y="278129"/>
                  </a:lnTo>
                  <a:lnTo>
                    <a:pt x="1803223" y="299873"/>
                  </a:lnTo>
                  <a:lnTo>
                    <a:pt x="1782093" y="341922"/>
                  </a:lnTo>
                  <a:lnTo>
                    <a:pt x="1741372" y="381640"/>
                  </a:lnTo>
                  <a:lnTo>
                    <a:pt x="1682665" y="418535"/>
                  </a:lnTo>
                  <a:lnTo>
                    <a:pt x="1647068" y="435769"/>
                  </a:lnTo>
                  <a:lnTo>
                    <a:pt x="1607577" y="452112"/>
                  </a:lnTo>
                  <a:lnTo>
                    <a:pt x="1564393" y="467502"/>
                  </a:lnTo>
                  <a:lnTo>
                    <a:pt x="1517715" y="481878"/>
                  </a:lnTo>
                  <a:lnTo>
                    <a:pt x="1467745" y="495177"/>
                  </a:lnTo>
                  <a:lnTo>
                    <a:pt x="1414683" y="507339"/>
                  </a:lnTo>
                  <a:lnTo>
                    <a:pt x="1358730" y="518301"/>
                  </a:lnTo>
                  <a:lnTo>
                    <a:pt x="1300087" y="528001"/>
                  </a:lnTo>
                  <a:lnTo>
                    <a:pt x="1238954" y="536378"/>
                  </a:lnTo>
                  <a:lnTo>
                    <a:pt x="1175532" y="543371"/>
                  </a:lnTo>
                  <a:lnTo>
                    <a:pt x="1110022" y="548917"/>
                  </a:lnTo>
                  <a:lnTo>
                    <a:pt x="1042625" y="552955"/>
                  </a:lnTo>
                  <a:lnTo>
                    <a:pt x="973540" y="555423"/>
                  </a:lnTo>
                  <a:lnTo>
                    <a:pt x="902970" y="556259"/>
                  </a:lnTo>
                  <a:lnTo>
                    <a:pt x="832399" y="555423"/>
                  </a:lnTo>
                  <a:lnTo>
                    <a:pt x="763314" y="552955"/>
                  </a:lnTo>
                  <a:lnTo>
                    <a:pt x="695917" y="548917"/>
                  </a:lnTo>
                  <a:lnTo>
                    <a:pt x="630407" y="543371"/>
                  </a:lnTo>
                  <a:lnTo>
                    <a:pt x="566985" y="536378"/>
                  </a:lnTo>
                  <a:lnTo>
                    <a:pt x="505852" y="528001"/>
                  </a:lnTo>
                  <a:lnTo>
                    <a:pt x="447209" y="518301"/>
                  </a:lnTo>
                  <a:lnTo>
                    <a:pt x="391256" y="507339"/>
                  </a:lnTo>
                  <a:lnTo>
                    <a:pt x="338194" y="495177"/>
                  </a:lnTo>
                  <a:lnTo>
                    <a:pt x="288224" y="481878"/>
                  </a:lnTo>
                  <a:lnTo>
                    <a:pt x="241546" y="467502"/>
                  </a:lnTo>
                  <a:lnTo>
                    <a:pt x="198362" y="452112"/>
                  </a:lnTo>
                  <a:lnTo>
                    <a:pt x="158871" y="435769"/>
                  </a:lnTo>
                  <a:lnTo>
                    <a:pt x="123274" y="418535"/>
                  </a:lnTo>
                  <a:lnTo>
                    <a:pt x="64567" y="381640"/>
                  </a:lnTo>
                  <a:lnTo>
                    <a:pt x="23846" y="341922"/>
                  </a:lnTo>
                  <a:lnTo>
                    <a:pt x="2716" y="299873"/>
                  </a:lnTo>
                  <a:lnTo>
                    <a:pt x="0" y="27812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30754" y="4968959"/>
            <a:ext cx="10769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RESPONSÁVEL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728771" y="2851170"/>
            <a:ext cx="4212590" cy="2386965"/>
            <a:chOff x="2785872" y="2613672"/>
            <a:chExt cx="4212590" cy="2386965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78907" y="2613672"/>
              <a:ext cx="2019299" cy="9951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021707" y="2636138"/>
              <a:ext cx="1860550" cy="840105"/>
            </a:xfrm>
            <a:custGeom>
              <a:avLst/>
              <a:gdLst/>
              <a:ahLst/>
              <a:cxnLst/>
              <a:rect l="l" t="t" r="r" b="b"/>
              <a:pathLst>
                <a:path w="1860550" h="840104">
                  <a:moveTo>
                    <a:pt x="1784186" y="816299"/>
                  </a:moveTo>
                  <a:lnTo>
                    <a:pt x="1773682" y="839977"/>
                  </a:lnTo>
                  <a:lnTo>
                    <a:pt x="1860549" y="836040"/>
                  </a:lnTo>
                  <a:lnTo>
                    <a:pt x="1848594" y="821563"/>
                  </a:lnTo>
                  <a:lnTo>
                    <a:pt x="1796034" y="821563"/>
                  </a:lnTo>
                  <a:lnTo>
                    <a:pt x="1784186" y="816299"/>
                  </a:lnTo>
                  <a:close/>
                </a:path>
                <a:path w="1860550" h="840104">
                  <a:moveTo>
                    <a:pt x="1794676" y="792655"/>
                  </a:moveTo>
                  <a:lnTo>
                    <a:pt x="1784186" y="816299"/>
                  </a:lnTo>
                  <a:lnTo>
                    <a:pt x="1796034" y="821563"/>
                  </a:lnTo>
                  <a:lnTo>
                    <a:pt x="1806574" y="797940"/>
                  </a:lnTo>
                  <a:lnTo>
                    <a:pt x="1794676" y="792655"/>
                  </a:lnTo>
                  <a:close/>
                </a:path>
                <a:path w="1860550" h="840104">
                  <a:moveTo>
                    <a:pt x="1805177" y="768985"/>
                  </a:moveTo>
                  <a:lnTo>
                    <a:pt x="1794676" y="792655"/>
                  </a:lnTo>
                  <a:lnTo>
                    <a:pt x="1806574" y="797940"/>
                  </a:lnTo>
                  <a:lnTo>
                    <a:pt x="1796034" y="821563"/>
                  </a:lnTo>
                  <a:lnTo>
                    <a:pt x="1848594" y="821563"/>
                  </a:lnTo>
                  <a:lnTo>
                    <a:pt x="1805177" y="768985"/>
                  </a:lnTo>
                  <a:close/>
                </a:path>
                <a:path w="1860550" h="840104">
                  <a:moveTo>
                    <a:pt x="10413" y="0"/>
                  </a:moveTo>
                  <a:lnTo>
                    <a:pt x="0" y="23622"/>
                  </a:lnTo>
                  <a:lnTo>
                    <a:pt x="1784186" y="816299"/>
                  </a:lnTo>
                  <a:lnTo>
                    <a:pt x="1794676" y="792655"/>
                  </a:lnTo>
                  <a:lnTo>
                    <a:pt x="1041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872" y="4762537"/>
              <a:ext cx="818388" cy="23783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829306" y="4824983"/>
              <a:ext cx="657860" cy="78105"/>
            </a:xfrm>
            <a:custGeom>
              <a:avLst/>
              <a:gdLst/>
              <a:ahLst/>
              <a:cxnLst/>
              <a:rect l="l" t="t" r="r" b="b"/>
              <a:pathLst>
                <a:path w="657860" h="78104">
                  <a:moveTo>
                    <a:pt x="580135" y="0"/>
                  </a:moveTo>
                  <a:lnTo>
                    <a:pt x="580135" y="77724"/>
                  </a:lnTo>
                  <a:lnTo>
                    <a:pt x="631951" y="51816"/>
                  </a:lnTo>
                  <a:lnTo>
                    <a:pt x="593090" y="51816"/>
                  </a:lnTo>
                  <a:lnTo>
                    <a:pt x="593090" y="25908"/>
                  </a:lnTo>
                  <a:lnTo>
                    <a:pt x="631952" y="25908"/>
                  </a:lnTo>
                  <a:lnTo>
                    <a:pt x="580135" y="0"/>
                  </a:lnTo>
                  <a:close/>
                </a:path>
                <a:path w="657860" h="78104">
                  <a:moveTo>
                    <a:pt x="580135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580135" y="51816"/>
                  </a:lnTo>
                  <a:lnTo>
                    <a:pt x="580135" y="25908"/>
                  </a:lnTo>
                  <a:close/>
                </a:path>
                <a:path w="657860" h="78104">
                  <a:moveTo>
                    <a:pt x="631952" y="25908"/>
                  </a:moveTo>
                  <a:lnTo>
                    <a:pt x="593090" y="25908"/>
                  </a:lnTo>
                  <a:lnTo>
                    <a:pt x="593090" y="51816"/>
                  </a:lnTo>
                  <a:lnTo>
                    <a:pt x="631951" y="51816"/>
                  </a:lnTo>
                  <a:lnTo>
                    <a:pt x="657859" y="38862"/>
                  </a:lnTo>
                  <a:lnTo>
                    <a:pt x="631952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Título 49">
            <a:extLst>
              <a:ext uri="{FF2B5EF4-FFF2-40B4-BE49-F238E27FC236}">
                <a16:creationId xmlns:a16="http://schemas.microsoft.com/office/drawing/2014/main" id="{E578ED74-E9B2-DA32-7318-FA5EE392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662" y="721233"/>
            <a:ext cx="6447790" cy="430887"/>
          </a:xfrm>
        </p:spPr>
        <p:txBody>
          <a:bodyPr/>
          <a:lstStyle/>
          <a:p>
            <a:r>
              <a:rPr lang="pt-BR" dirty="0"/>
              <a:t>CONTEXTO E ARQUITETURA PRELIMINAR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060" y="1231391"/>
            <a:ext cx="665988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19794" y="6275832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1168" y="53338"/>
            <a:ext cx="8742045" cy="6751320"/>
            <a:chOff x="201168" y="53338"/>
            <a:chExt cx="8742045" cy="6751320"/>
          </a:xfrm>
        </p:grpSpPr>
        <p:sp>
          <p:nvSpPr>
            <p:cNvPr id="5" name="object 5"/>
            <p:cNvSpPr/>
            <p:nvPr/>
          </p:nvSpPr>
          <p:spPr>
            <a:xfrm>
              <a:off x="765048" y="8427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68" y="53338"/>
              <a:ext cx="8741664" cy="6751317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312163" y="5661659"/>
            <a:ext cx="500380" cy="498475"/>
          </a:xfrm>
          <a:custGeom>
            <a:avLst/>
            <a:gdLst/>
            <a:ahLst/>
            <a:cxnLst/>
            <a:rect l="l" t="t" r="r" b="b"/>
            <a:pathLst>
              <a:path w="500380" h="498475">
                <a:moveTo>
                  <a:pt x="249936" y="0"/>
                </a:moveTo>
                <a:lnTo>
                  <a:pt x="205006" y="4014"/>
                </a:lnTo>
                <a:lnTo>
                  <a:pt x="162719" y="15588"/>
                </a:lnTo>
                <a:lnTo>
                  <a:pt x="123782" y="34019"/>
                </a:lnTo>
                <a:lnTo>
                  <a:pt x="88900" y="58601"/>
                </a:lnTo>
                <a:lnTo>
                  <a:pt x="58777" y="88633"/>
                </a:lnTo>
                <a:lnTo>
                  <a:pt x="34120" y="123410"/>
                </a:lnTo>
                <a:lnTo>
                  <a:pt x="15635" y="162228"/>
                </a:lnTo>
                <a:lnTo>
                  <a:pt x="4026" y="204384"/>
                </a:lnTo>
                <a:lnTo>
                  <a:pt x="0" y="249173"/>
                </a:lnTo>
                <a:lnTo>
                  <a:pt x="4026" y="293963"/>
                </a:lnTo>
                <a:lnTo>
                  <a:pt x="15635" y="336119"/>
                </a:lnTo>
                <a:lnTo>
                  <a:pt x="34120" y="374937"/>
                </a:lnTo>
                <a:lnTo>
                  <a:pt x="58777" y="409714"/>
                </a:lnTo>
                <a:lnTo>
                  <a:pt x="88900" y="439746"/>
                </a:lnTo>
                <a:lnTo>
                  <a:pt x="123782" y="464328"/>
                </a:lnTo>
                <a:lnTo>
                  <a:pt x="162719" y="482759"/>
                </a:lnTo>
                <a:lnTo>
                  <a:pt x="205006" y="494333"/>
                </a:lnTo>
                <a:lnTo>
                  <a:pt x="249936" y="498347"/>
                </a:lnTo>
                <a:lnTo>
                  <a:pt x="294865" y="494333"/>
                </a:lnTo>
                <a:lnTo>
                  <a:pt x="337152" y="482759"/>
                </a:lnTo>
                <a:lnTo>
                  <a:pt x="376089" y="464328"/>
                </a:lnTo>
                <a:lnTo>
                  <a:pt x="410972" y="439746"/>
                </a:lnTo>
                <a:lnTo>
                  <a:pt x="441094" y="409714"/>
                </a:lnTo>
                <a:lnTo>
                  <a:pt x="465751" y="374937"/>
                </a:lnTo>
                <a:lnTo>
                  <a:pt x="484236" y="336119"/>
                </a:lnTo>
                <a:lnTo>
                  <a:pt x="495845" y="293963"/>
                </a:lnTo>
                <a:lnTo>
                  <a:pt x="499872" y="249173"/>
                </a:lnTo>
                <a:lnTo>
                  <a:pt x="495845" y="204384"/>
                </a:lnTo>
                <a:lnTo>
                  <a:pt x="484236" y="162228"/>
                </a:lnTo>
                <a:lnTo>
                  <a:pt x="465751" y="123410"/>
                </a:lnTo>
                <a:lnTo>
                  <a:pt x="441094" y="88633"/>
                </a:lnTo>
                <a:lnTo>
                  <a:pt x="410972" y="58601"/>
                </a:lnTo>
                <a:lnTo>
                  <a:pt x="376089" y="34019"/>
                </a:lnTo>
                <a:lnTo>
                  <a:pt x="337152" y="15588"/>
                </a:lnTo>
                <a:lnTo>
                  <a:pt x="294865" y="4014"/>
                </a:lnTo>
                <a:lnTo>
                  <a:pt x="2499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63166" y="5672734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78607" y="5661659"/>
            <a:ext cx="500380" cy="498475"/>
          </a:xfrm>
          <a:custGeom>
            <a:avLst/>
            <a:gdLst/>
            <a:ahLst/>
            <a:cxnLst/>
            <a:rect l="l" t="t" r="r" b="b"/>
            <a:pathLst>
              <a:path w="500380" h="498475">
                <a:moveTo>
                  <a:pt x="249936" y="0"/>
                </a:moveTo>
                <a:lnTo>
                  <a:pt x="205006" y="4014"/>
                </a:lnTo>
                <a:lnTo>
                  <a:pt x="162719" y="15588"/>
                </a:lnTo>
                <a:lnTo>
                  <a:pt x="123782" y="34019"/>
                </a:lnTo>
                <a:lnTo>
                  <a:pt x="88900" y="58601"/>
                </a:lnTo>
                <a:lnTo>
                  <a:pt x="58777" y="88633"/>
                </a:lnTo>
                <a:lnTo>
                  <a:pt x="34120" y="123410"/>
                </a:lnTo>
                <a:lnTo>
                  <a:pt x="15635" y="162228"/>
                </a:lnTo>
                <a:lnTo>
                  <a:pt x="4026" y="204384"/>
                </a:lnTo>
                <a:lnTo>
                  <a:pt x="0" y="249173"/>
                </a:lnTo>
                <a:lnTo>
                  <a:pt x="4026" y="293963"/>
                </a:lnTo>
                <a:lnTo>
                  <a:pt x="15635" y="336119"/>
                </a:lnTo>
                <a:lnTo>
                  <a:pt x="34120" y="374937"/>
                </a:lnTo>
                <a:lnTo>
                  <a:pt x="58777" y="409714"/>
                </a:lnTo>
                <a:lnTo>
                  <a:pt x="88899" y="439746"/>
                </a:lnTo>
                <a:lnTo>
                  <a:pt x="123782" y="464328"/>
                </a:lnTo>
                <a:lnTo>
                  <a:pt x="162719" y="482759"/>
                </a:lnTo>
                <a:lnTo>
                  <a:pt x="205006" y="494333"/>
                </a:lnTo>
                <a:lnTo>
                  <a:pt x="249936" y="498347"/>
                </a:lnTo>
                <a:lnTo>
                  <a:pt x="294865" y="494333"/>
                </a:lnTo>
                <a:lnTo>
                  <a:pt x="337152" y="482759"/>
                </a:lnTo>
                <a:lnTo>
                  <a:pt x="376089" y="464328"/>
                </a:lnTo>
                <a:lnTo>
                  <a:pt x="410972" y="439746"/>
                </a:lnTo>
                <a:lnTo>
                  <a:pt x="441094" y="409714"/>
                </a:lnTo>
                <a:lnTo>
                  <a:pt x="465751" y="374937"/>
                </a:lnTo>
                <a:lnTo>
                  <a:pt x="484236" y="336119"/>
                </a:lnTo>
                <a:lnTo>
                  <a:pt x="495845" y="293963"/>
                </a:lnTo>
                <a:lnTo>
                  <a:pt x="499872" y="249173"/>
                </a:lnTo>
                <a:lnTo>
                  <a:pt x="495845" y="204384"/>
                </a:lnTo>
                <a:lnTo>
                  <a:pt x="484236" y="162228"/>
                </a:lnTo>
                <a:lnTo>
                  <a:pt x="465751" y="123410"/>
                </a:lnTo>
                <a:lnTo>
                  <a:pt x="441094" y="88633"/>
                </a:lnTo>
                <a:lnTo>
                  <a:pt x="410972" y="58601"/>
                </a:lnTo>
                <a:lnTo>
                  <a:pt x="376089" y="34019"/>
                </a:lnTo>
                <a:lnTo>
                  <a:pt x="337152" y="15588"/>
                </a:lnTo>
                <a:lnTo>
                  <a:pt x="294865" y="4014"/>
                </a:lnTo>
                <a:lnTo>
                  <a:pt x="2499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29610" y="5672734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45052" y="5661659"/>
            <a:ext cx="500380" cy="498475"/>
          </a:xfrm>
          <a:custGeom>
            <a:avLst/>
            <a:gdLst/>
            <a:ahLst/>
            <a:cxnLst/>
            <a:rect l="l" t="t" r="r" b="b"/>
            <a:pathLst>
              <a:path w="500379" h="498475">
                <a:moveTo>
                  <a:pt x="249936" y="0"/>
                </a:moveTo>
                <a:lnTo>
                  <a:pt x="205006" y="4014"/>
                </a:lnTo>
                <a:lnTo>
                  <a:pt x="162719" y="15588"/>
                </a:lnTo>
                <a:lnTo>
                  <a:pt x="123782" y="34019"/>
                </a:lnTo>
                <a:lnTo>
                  <a:pt x="88900" y="58601"/>
                </a:lnTo>
                <a:lnTo>
                  <a:pt x="58777" y="88633"/>
                </a:lnTo>
                <a:lnTo>
                  <a:pt x="34120" y="123410"/>
                </a:lnTo>
                <a:lnTo>
                  <a:pt x="15635" y="162228"/>
                </a:lnTo>
                <a:lnTo>
                  <a:pt x="4026" y="204384"/>
                </a:lnTo>
                <a:lnTo>
                  <a:pt x="0" y="249173"/>
                </a:lnTo>
                <a:lnTo>
                  <a:pt x="4026" y="293963"/>
                </a:lnTo>
                <a:lnTo>
                  <a:pt x="15635" y="336119"/>
                </a:lnTo>
                <a:lnTo>
                  <a:pt x="34120" y="374937"/>
                </a:lnTo>
                <a:lnTo>
                  <a:pt x="58777" y="409714"/>
                </a:lnTo>
                <a:lnTo>
                  <a:pt x="88900" y="439746"/>
                </a:lnTo>
                <a:lnTo>
                  <a:pt x="123782" y="464328"/>
                </a:lnTo>
                <a:lnTo>
                  <a:pt x="162719" y="482759"/>
                </a:lnTo>
                <a:lnTo>
                  <a:pt x="205006" y="494333"/>
                </a:lnTo>
                <a:lnTo>
                  <a:pt x="249936" y="498347"/>
                </a:lnTo>
                <a:lnTo>
                  <a:pt x="294865" y="494333"/>
                </a:lnTo>
                <a:lnTo>
                  <a:pt x="337152" y="482759"/>
                </a:lnTo>
                <a:lnTo>
                  <a:pt x="376089" y="464328"/>
                </a:lnTo>
                <a:lnTo>
                  <a:pt x="410972" y="439746"/>
                </a:lnTo>
                <a:lnTo>
                  <a:pt x="441094" y="409714"/>
                </a:lnTo>
                <a:lnTo>
                  <a:pt x="465751" y="374937"/>
                </a:lnTo>
                <a:lnTo>
                  <a:pt x="484236" y="336119"/>
                </a:lnTo>
                <a:lnTo>
                  <a:pt x="495845" y="293963"/>
                </a:lnTo>
                <a:lnTo>
                  <a:pt x="499872" y="249173"/>
                </a:lnTo>
                <a:lnTo>
                  <a:pt x="495845" y="204384"/>
                </a:lnTo>
                <a:lnTo>
                  <a:pt x="484236" y="162228"/>
                </a:lnTo>
                <a:lnTo>
                  <a:pt x="465751" y="123410"/>
                </a:lnTo>
                <a:lnTo>
                  <a:pt x="441094" y="88633"/>
                </a:lnTo>
                <a:lnTo>
                  <a:pt x="410971" y="58601"/>
                </a:lnTo>
                <a:lnTo>
                  <a:pt x="376089" y="34019"/>
                </a:lnTo>
                <a:lnTo>
                  <a:pt x="337152" y="15588"/>
                </a:lnTo>
                <a:lnTo>
                  <a:pt x="294865" y="4014"/>
                </a:lnTo>
                <a:lnTo>
                  <a:pt x="2499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96309" y="5672734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02352" y="5661659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249174" y="0"/>
                </a:moveTo>
                <a:lnTo>
                  <a:pt x="204370" y="4014"/>
                </a:lnTo>
                <a:lnTo>
                  <a:pt x="162207" y="15588"/>
                </a:lnTo>
                <a:lnTo>
                  <a:pt x="123387" y="34019"/>
                </a:lnTo>
                <a:lnTo>
                  <a:pt x="88612" y="58601"/>
                </a:lnTo>
                <a:lnTo>
                  <a:pt x="58585" y="88633"/>
                </a:lnTo>
                <a:lnTo>
                  <a:pt x="34007" y="123410"/>
                </a:lnTo>
                <a:lnTo>
                  <a:pt x="15582" y="162228"/>
                </a:lnTo>
                <a:lnTo>
                  <a:pt x="4012" y="204384"/>
                </a:lnTo>
                <a:lnTo>
                  <a:pt x="0" y="249173"/>
                </a:lnTo>
                <a:lnTo>
                  <a:pt x="4012" y="293963"/>
                </a:lnTo>
                <a:lnTo>
                  <a:pt x="15582" y="336119"/>
                </a:lnTo>
                <a:lnTo>
                  <a:pt x="34007" y="374937"/>
                </a:lnTo>
                <a:lnTo>
                  <a:pt x="58585" y="409714"/>
                </a:lnTo>
                <a:lnTo>
                  <a:pt x="88612" y="439746"/>
                </a:lnTo>
                <a:lnTo>
                  <a:pt x="123387" y="464328"/>
                </a:lnTo>
                <a:lnTo>
                  <a:pt x="162207" y="482759"/>
                </a:lnTo>
                <a:lnTo>
                  <a:pt x="204370" y="494333"/>
                </a:lnTo>
                <a:lnTo>
                  <a:pt x="249174" y="498347"/>
                </a:lnTo>
                <a:lnTo>
                  <a:pt x="293977" y="494333"/>
                </a:lnTo>
                <a:lnTo>
                  <a:pt x="336140" y="482759"/>
                </a:lnTo>
                <a:lnTo>
                  <a:pt x="374960" y="464328"/>
                </a:lnTo>
                <a:lnTo>
                  <a:pt x="409735" y="439746"/>
                </a:lnTo>
                <a:lnTo>
                  <a:pt x="439762" y="409714"/>
                </a:lnTo>
                <a:lnTo>
                  <a:pt x="464340" y="374937"/>
                </a:lnTo>
                <a:lnTo>
                  <a:pt x="482765" y="336119"/>
                </a:lnTo>
                <a:lnTo>
                  <a:pt x="494335" y="293963"/>
                </a:lnTo>
                <a:lnTo>
                  <a:pt x="498348" y="249173"/>
                </a:lnTo>
                <a:lnTo>
                  <a:pt x="494335" y="204384"/>
                </a:lnTo>
                <a:lnTo>
                  <a:pt x="482765" y="162228"/>
                </a:lnTo>
                <a:lnTo>
                  <a:pt x="464340" y="123410"/>
                </a:lnTo>
                <a:lnTo>
                  <a:pt x="439762" y="88633"/>
                </a:lnTo>
                <a:lnTo>
                  <a:pt x="409735" y="58601"/>
                </a:lnTo>
                <a:lnTo>
                  <a:pt x="374960" y="34019"/>
                </a:lnTo>
                <a:lnTo>
                  <a:pt x="336140" y="15588"/>
                </a:lnTo>
                <a:lnTo>
                  <a:pt x="293977" y="4014"/>
                </a:lnTo>
                <a:lnTo>
                  <a:pt x="2491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253609" y="5672734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748" y="708658"/>
            <a:ext cx="7842884" cy="6055360"/>
            <a:chOff x="650748" y="708658"/>
            <a:chExt cx="7842884" cy="6055360"/>
          </a:xfrm>
        </p:grpSpPr>
        <p:sp>
          <p:nvSpPr>
            <p:cNvPr id="3" name="object 3"/>
            <p:cNvSpPr/>
            <p:nvPr/>
          </p:nvSpPr>
          <p:spPr>
            <a:xfrm>
              <a:off x="765048" y="8427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748" y="708658"/>
              <a:ext cx="7842504" cy="60548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200400" y="5690615"/>
            <a:ext cx="2941320" cy="774700"/>
            <a:chOff x="3200400" y="5690615"/>
            <a:chExt cx="2941320" cy="7747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5690615"/>
              <a:ext cx="2941320" cy="7741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57550" y="5724905"/>
              <a:ext cx="2832100" cy="664845"/>
            </a:xfrm>
            <a:custGeom>
              <a:avLst/>
              <a:gdLst/>
              <a:ahLst/>
              <a:cxnLst/>
              <a:rect l="l" t="t" r="r" b="b"/>
              <a:pathLst>
                <a:path w="2832100" h="664845">
                  <a:moveTo>
                    <a:pt x="0" y="110744"/>
                  </a:moveTo>
                  <a:lnTo>
                    <a:pt x="8695" y="67637"/>
                  </a:lnTo>
                  <a:lnTo>
                    <a:pt x="32416" y="32435"/>
                  </a:lnTo>
                  <a:lnTo>
                    <a:pt x="67615" y="8702"/>
                  </a:lnTo>
                  <a:lnTo>
                    <a:pt x="110744" y="0"/>
                  </a:lnTo>
                  <a:lnTo>
                    <a:pt x="2720848" y="0"/>
                  </a:lnTo>
                  <a:lnTo>
                    <a:pt x="2763976" y="8702"/>
                  </a:lnTo>
                  <a:lnTo>
                    <a:pt x="2799175" y="32435"/>
                  </a:lnTo>
                  <a:lnTo>
                    <a:pt x="2822896" y="67637"/>
                  </a:lnTo>
                  <a:lnTo>
                    <a:pt x="2831591" y="110744"/>
                  </a:lnTo>
                  <a:lnTo>
                    <a:pt x="2831591" y="553720"/>
                  </a:lnTo>
                  <a:lnTo>
                    <a:pt x="2822896" y="596826"/>
                  </a:lnTo>
                  <a:lnTo>
                    <a:pt x="2799175" y="632028"/>
                  </a:lnTo>
                  <a:lnTo>
                    <a:pt x="2763976" y="655761"/>
                  </a:lnTo>
                  <a:lnTo>
                    <a:pt x="2720848" y="664464"/>
                  </a:lnTo>
                  <a:lnTo>
                    <a:pt x="110744" y="664464"/>
                  </a:lnTo>
                  <a:lnTo>
                    <a:pt x="67615" y="655761"/>
                  </a:lnTo>
                  <a:lnTo>
                    <a:pt x="32416" y="632028"/>
                  </a:lnTo>
                  <a:lnTo>
                    <a:pt x="8695" y="596826"/>
                  </a:lnTo>
                  <a:lnTo>
                    <a:pt x="0" y="553720"/>
                  </a:lnTo>
                  <a:lnTo>
                    <a:pt x="0" y="110744"/>
                  </a:lnTo>
                  <a:close/>
                </a:path>
              </a:pathLst>
            </a:custGeom>
            <a:ln w="2895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6111" y="2279904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249174" y="0"/>
                </a:moveTo>
                <a:lnTo>
                  <a:pt x="204384" y="4012"/>
                </a:lnTo>
                <a:lnTo>
                  <a:pt x="162228" y="15582"/>
                </a:lnTo>
                <a:lnTo>
                  <a:pt x="123410" y="34007"/>
                </a:lnTo>
                <a:lnTo>
                  <a:pt x="88633" y="58585"/>
                </a:lnTo>
                <a:lnTo>
                  <a:pt x="58601" y="88612"/>
                </a:lnTo>
                <a:lnTo>
                  <a:pt x="34019" y="123387"/>
                </a:lnTo>
                <a:lnTo>
                  <a:pt x="15588" y="162207"/>
                </a:lnTo>
                <a:lnTo>
                  <a:pt x="4014" y="204370"/>
                </a:lnTo>
                <a:lnTo>
                  <a:pt x="0" y="249174"/>
                </a:lnTo>
                <a:lnTo>
                  <a:pt x="4014" y="293977"/>
                </a:lnTo>
                <a:lnTo>
                  <a:pt x="15588" y="336140"/>
                </a:lnTo>
                <a:lnTo>
                  <a:pt x="34019" y="374960"/>
                </a:lnTo>
                <a:lnTo>
                  <a:pt x="58601" y="409735"/>
                </a:lnTo>
                <a:lnTo>
                  <a:pt x="88633" y="439762"/>
                </a:lnTo>
                <a:lnTo>
                  <a:pt x="123410" y="464340"/>
                </a:lnTo>
                <a:lnTo>
                  <a:pt x="162228" y="482765"/>
                </a:lnTo>
                <a:lnTo>
                  <a:pt x="204384" y="494335"/>
                </a:lnTo>
                <a:lnTo>
                  <a:pt x="249174" y="498348"/>
                </a:lnTo>
                <a:lnTo>
                  <a:pt x="293977" y="494335"/>
                </a:lnTo>
                <a:lnTo>
                  <a:pt x="336140" y="482765"/>
                </a:lnTo>
                <a:lnTo>
                  <a:pt x="374960" y="464340"/>
                </a:lnTo>
                <a:lnTo>
                  <a:pt x="409735" y="439762"/>
                </a:lnTo>
                <a:lnTo>
                  <a:pt x="439762" y="409735"/>
                </a:lnTo>
                <a:lnTo>
                  <a:pt x="464340" y="374960"/>
                </a:lnTo>
                <a:lnTo>
                  <a:pt x="482765" y="336140"/>
                </a:lnTo>
                <a:lnTo>
                  <a:pt x="494335" y="293977"/>
                </a:lnTo>
                <a:lnTo>
                  <a:pt x="498347" y="249174"/>
                </a:lnTo>
                <a:lnTo>
                  <a:pt x="494335" y="204370"/>
                </a:lnTo>
                <a:lnTo>
                  <a:pt x="482765" y="162207"/>
                </a:lnTo>
                <a:lnTo>
                  <a:pt x="464340" y="123387"/>
                </a:lnTo>
                <a:lnTo>
                  <a:pt x="439762" y="88612"/>
                </a:lnTo>
                <a:lnTo>
                  <a:pt x="409735" y="58585"/>
                </a:lnTo>
                <a:lnTo>
                  <a:pt x="374960" y="34007"/>
                </a:lnTo>
                <a:lnTo>
                  <a:pt x="336140" y="15582"/>
                </a:lnTo>
                <a:lnTo>
                  <a:pt x="293977" y="4012"/>
                </a:lnTo>
                <a:lnTo>
                  <a:pt x="2491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5870" y="2289505"/>
            <a:ext cx="19939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05255" y="3080004"/>
            <a:ext cx="500380" cy="498475"/>
          </a:xfrm>
          <a:custGeom>
            <a:avLst/>
            <a:gdLst/>
            <a:ahLst/>
            <a:cxnLst/>
            <a:rect l="l" t="t" r="r" b="b"/>
            <a:pathLst>
              <a:path w="500380" h="498475">
                <a:moveTo>
                  <a:pt x="249935" y="0"/>
                </a:moveTo>
                <a:lnTo>
                  <a:pt x="205009" y="4012"/>
                </a:lnTo>
                <a:lnTo>
                  <a:pt x="162725" y="15582"/>
                </a:lnTo>
                <a:lnTo>
                  <a:pt x="123788" y="34007"/>
                </a:lnTo>
                <a:lnTo>
                  <a:pt x="88905" y="58585"/>
                </a:lnTo>
                <a:lnTo>
                  <a:pt x="58781" y="88612"/>
                </a:lnTo>
                <a:lnTo>
                  <a:pt x="34123" y="123387"/>
                </a:lnTo>
                <a:lnTo>
                  <a:pt x="15636" y="162207"/>
                </a:lnTo>
                <a:lnTo>
                  <a:pt x="4026" y="204370"/>
                </a:lnTo>
                <a:lnTo>
                  <a:pt x="0" y="249174"/>
                </a:lnTo>
                <a:lnTo>
                  <a:pt x="4026" y="293977"/>
                </a:lnTo>
                <a:lnTo>
                  <a:pt x="15636" y="336140"/>
                </a:lnTo>
                <a:lnTo>
                  <a:pt x="34123" y="374960"/>
                </a:lnTo>
                <a:lnTo>
                  <a:pt x="58781" y="409735"/>
                </a:lnTo>
                <a:lnTo>
                  <a:pt x="88905" y="439762"/>
                </a:lnTo>
                <a:lnTo>
                  <a:pt x="123788" y="464340"/>
                </a:lnTo>
                <a:lnTo>
                  <a:pt x="162725" y="482765"/>
                </a:lnTo>
                <a:lnTo>
                  <a:pt x="205009" y="494335"/>
                </a:lnTo>
                <a:lnTo>
                  <a:pt x="249935" y="498348"/>
                </a:lnTo>
                <a:lnTo>
                  <a:pt x="294865" y="494335"/>
                </a:lnTo>
                <a:lnTo>
                  <a:pt x="337152" y="482765"/>
                </a:lnTo>
                <a:lnTo>
                  <a:pt x="376089" y="464340"/>
                </a:lnTo>
                <a:lnTo>
                  <a:pt x="410971" y="439762"/>
                </a:lnTo>
                <a:lnTo>
                  <a:pt x="441094" y="409735"/>
                </a:lnTo>
                <a:lnTo>
                  <a:pt x="465751" y="374960"/>
                </a:lnTo>
                <a:lnTo>
                  <a:pt x="484236" y="336140"/>
                </a:lnTo>
                <a:lnTo>
                  <a:pt x="495845" y="293977"/>
                </a:lnTo>
                <a:lnTo>
                  <a:pt x="499872" y="249174"/>
                </a:lnTo>
                <a:lnTo>
                  <a:pt x="495845" y="204370"/>
                </a:lnTo>
                <a:lnTo>
                  <a:pt x="484236" y="162207"/>
                </a:lnTo>
                <a:lnTo>
                  <a:pt x="465751" y="123387"/>
                </a:lnTo>
                <a:lnTo>
                  <a:pt x="441094" y="88612"/>
                </a:lnTo>
                <a:lnTo>
                  <a:pt x="410972" y="58585"/>
                </a:lnTo>
                <a:lnTo>
                  <a:pt x="376089" y="34007"/>
                </a:lnTo>
                <a:lnTo>
                  <a:pt x="337152" y="15582"/>
                </a:lnTo>
                <a:lnTo>
                  <a:pt x="294865" y="4012"/>
                </a:lnTo>
                <a:lnTo>
                  <a:pt x="2499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56233" y="3090164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5924" y="3880103"/>
            <a:ext cx="500380" cy="498475"/>
          </a:xfrm>
          <a:custGeom>
            <a:avLst/>
            <a:gdLst/>
            <a:ahLst/>
            <a:cxnLst/>
            <a:rect l="l" t="t" r="r" b="b"/>
            <a:pathLst>
              <a:path w="500380" h="498475">
                <a:moveTo>
                  <a:pt x="249935" y="0"/>
                </a:moveTo>
                <a:lnTo>
                  <a:pt x="205009" y="4012"/>
                </a:lnTo>
                <a:lnTo>
                  <a:pt x="162725" y="15582"/>
                </a:lnTo>
                <a:lnTo>
                  <a:pt x="123788" y="34007"/>
                </a:lnTo>
                <a:lnTo>
                  <a:pt x="88905" y="58585"/>
                </a:lnTo>
                <a:lnTo>
                  <a:pt x="58781" y="88612"/>
                </a:lnTo>
                <a:lnTo>
                  <a:pt x="34123" y="123387"/>
                </a:lnTo>
                <a:lnTo>
                  <a:pt x="15636" y="162207"/>
                </a:lnTo>
                <a:lnTo>
                  <a:pt x="4026" y="204370"/>
                </a:lnTo>
                <a:lnTo>
                  <a:pt x="0" y="249174"/>
                </a:lnTo>
                <a:lnTo>
                  <a:pt x="4026" y="293977"/>
                </a:lnTo>
                <a:lnTo>
                  <a:pt x="15636" y="336140"/>
                </a:lnTo>
                <a:lnTo>
                  <a:pt x="34123" y="374960"/>
                </a:lnTo>
                <a:lnTo>
                  <a:pt x="58781" y="409735"/>
                </a:lnTo>
                <a:lnTo>
                  <a:pt x="88905" y="439762"/>
                </a:lnTo>
                <a:lnTo>
                  <a:pt x="123788" y="464340"/>
                </a:lnTo>
                <a:lnTo>
                  <a:pt x="162725" y="482765"/>
                </a:lnTo>
                <a:lnTo>
                  <a:pt x="205009" y="494335"/>
                </a:lnTo>
                <a:lnTo>
                  <a:pt x="249935" y="498348"/>
                </a:lnTo>
                <a:lnTo>
                  <a:pt x="294865" y="494335"/>
                </a:lnTo>
                <a:lnTo>
                  <a:pt x="337152" y="482765"/>
                </a:lnTo>
                <a:lnTo>
                  <a:pt x="376089" y="464340"/>
                </a:lnTo>
                <a:lnTo>
                  <a:pt x="410971" y="439762"/>
                </a:lnTo>
                <a:lnTo>
                  <a:pt x="441094" y="409735"/>
                </a:lnTo>
                <a:lnTo>
                  <a:pt x="465751" y="374960"/>
                </a:lnTo>
                <a:lnTo>
                  <a:pt x="484236" y="336140"/>
                </a:lnTo>
                <a:lnTo>
                  <a:pt x="495845" y="293977"/>
                </a:lnTo>
                <a:lnTo>
                  <a:pt x="499872" y="249174"/>
                </a:lnTo>
                <a:lnTo>
                  <a:pt x="495845" y="204370"/>
                </a:lnTo>
                <a:lnTo>
                  <a:pt x="484236" y="162207"/>
                </a:lnTo>
                <a:lnTo>
                  <a:pt x="465751" y="123387"/>
                </a:lnTo>
                <a:lnTo>
                  <a:pt x="441094" y="88612"/>
                </a:lnTo>
                <a:lnTo>
                  <a:pt x="410972" y="58585"/>
                </a:lnTo>
                <a:lnTo>
                  <a:pt x="376089" y="34007"/>
                </a:lnTo>
                <a:lnTo>
                  <a:pt x="337152" y="15582"/>
                </a:lnTo>
                <a:lnTo>
                  <a:pt x="294865" y="4012"/>
                </a:lnTo>
                <a:lnTo>
                  <a:pt x="2499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6596" y="3890517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6591" y="4680203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249174" y="0"/>
                </a:moveTo>
                <a:lnTo>
                  <a:pt x="204384" y="4012"/>
                </a:lnTo>
                <a:lnTo>
                  <a:pt x="162228" y="15582"/>
                </a:lnTo>
                <a:lnTo>
                  <a:pt x="123410" y="34007"/>
                </a:lnTo>
                <a:lnTo>
                  <a:pt x="88633" y="58585"/>
                </a:lnTo>
                <a:lnTo>
                  <a:pt x="58601" y="88612"/>
                </a:lnTo>
                <a:lnTo>
                  <a:pt x="34019" y="123387"/>
                </a:lnTo>
                <a:lnTo>
                  <a:pt x="15588" y="162207"/>
                </a:lnTo>
                <a:lnTo>
                  <a:pt x="4014" y="204370"/>
                </a:lnTo>
                <a:lnTo>
                  <a:pt x="0" y="249174"/>
                </a:lnTo>
                <a:lnTo>
                  <a:pt x="4014" y="293977"/>
                </a:lnTo>
                <a:lnTo>
                  <a:pt x="15588" y="336140"/>
                </a:lnTo>
                <a:lnTo>
                  <a:pt x="34019" y="374960"/>
                </a:lnTo>
                <a:lnTo>
                  <a:pt x="58601" y="409735"/>
                </a:lnTo>
                <a:lnTo>
                  <a:pt x="88633" y="439762"/>
                </a:lnTo>
                <a:lnTo>
                  <a:pt x="123410" y="464340"/>
                </a:lnTo>
                <a:lnTo>
                  <a:pt x="162228" y="482765"/>
                </a:lnTo>
                <a:lnTo>
                  <a:pt x="204384" y="494335"/>
                </a:lnTo>
                <a:lnTo>
                  <a:pt x="249174" y="498348"/>
                </a:lnTo>
                <a:lnTo>
                  <a:pt x="293977" y="494335"/>
                </a:lnTo>
                <a:lnTo>
                  <a:pt x="336140" y="482765"/>
                </a:lnTo>
                <a:lnTo>
                  <a:pt x="374960" y="464340"/>
                </a:lnTo>
                <a:lnTo>
                  <a:pt x="409735" y="439762"/>
                </a:lnTo>
                <a:lnTo>
                  <a:pt x="439762" y="409735"/>
                </a:lnTo>
                <a:lnTo>
                  <a:pt x="464340" y="374960"/>
                </a:lnTo>
                <a:lnTo>
                  <a:pt x="482765" y="336140"/>
                </a:lnTo>
                <a:lnTo>
                  <a:pt x="494335" y="293977"/>
                </a:lnTo>
                <a:lnTo>
                  <a:pt x="498348" y="249174"/>
                </a:lnTo>
                <a:lnTo>
                  <a:pt x="494335" y="204370"/>
                </a:lnTo>
                <a:lnTo>
                  <a:pt x="482765" y="162207"/>
                </a:lnTo>
                <a:lnTo>
                  <a:pt x="464340" y="123387"/>
                </a:lnTo>
                <a:lnTo>
                  <a:pt x="439762" y="88612"/>
                </a:lnTo>
                <a:lnTo>
                  <a:pt x="409735" y="58585"/>
                </a:lnTo>
                <a:lnTo>
                  <a:pt x="374960" y="34007"/>
                </a:lnTo>
                <a:lnTo>
                  <a:pt x="336140" y="15582"/>
                </a:lnTo>
                <a:lnTo>
                  <a:pt x="293977" y="4012"/>
                </a:lnTo>
                <a:lnTo>
                  <a:pt x="2491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77264" y="4690617"/>
            <a:ext cx="1993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pc="-20" dirty="0"/>
              <a:t>Pais</a:t>
            </a:r>
          </a:p>
          <a:p>
            <a:pPr marL="12700" marR="5080">
              <a:lnSpc>
                <a:spcPct val="129700"/>
              </a:lnSpc>
            </a:pPr>
            <a:r>
              <a:rPr dirty="0"/>
              <a:t>Crianças</a:t>
            </a:r>
            <a:r>
              <a:rPr spc="-6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Adolescentes </a:t>
            </a:r>
            <a:r>
              <a:rPr dirty="0"/>
              <a:t>Colecionador</a:t>
            </a:r>
            <a:r>
              <a:rPr spc="-6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Filmes </a:t>
            </a:r>
            <a:r>
              <a:rPr dirty="0"/>
              <a:t>Consumidor</a:t>
            </a:r>
            <a:r>
              <a:rPr spc="-95" dirty="0"/>
              <a:t> </a:t>
            </a:r>
            <a:r>
              <a:rPr spc="-45" dirty="0"/>
              <a:t>Totalmente</a:t>
            </a:r>
            <a:r>
              <a:rPr spc="-110" dirty="0"/>
              <a:t> </a:t>
            </a:r>
            <a:r>
              <a:rPr spc="-10" dirty="0"/>
              <a:t>Digital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19794" y="6275832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9288" y="557783"/>
            <a:ext cx="8345805" cy="6300470"/>
            <a:chOff x="399288" y="557783"/>
            <a:chExt cx="8345805" cy="6300470"/>
          </a:xfrm>
        </p:grpSpPr>
        <p:sp>
          <p:nvSpPr>
            <p:cNvPr id="5" name="object 5"/>
            <p:cNvSpPr/>
            <p:nvPr/>
          </p:nvSpPr>
          <p:spPr>
            <a:xfrm>
              <a:off x="765047" y="8427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9288" y="557783"/>
              <a:ext cx="8345424" cy="630021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807719" y="5690615"/>
            <a:ext cx="7751445" cy="686435"/>
            <a:chOff x="807719" y="5690615"/>
            <a:chExt cx="7751445" cy="6864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19" y="5690615"/>
              <a:ext cx="7751064" cy="6858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64869" y="5724905"/>
              <a:ext cx="7641590" cy="576580"/>
            </a:xfrm>
            <a:custGeom>
              <a:avLst/>
              <a:gdLst/>
              <a:ahLst/>
              <a:cxnLst/>
              <a:rect l="l" t="t" r="r" b="b"/>
              <a:pathLst>
                <a:path w="7641590" h="576579">
                  <a:moveTo>
                    <a:pt x="0" y="96012"/>
                  </a:moveTo>
                  <a:lnTo>
                    <a:pt x="7545" y="58641"/>
                  </a:lnTo>
                  <a:lnTo>
                    <a:pt x="28122" y="28122"/>
                  </a:lnTo>
                  <a:lnTo>
                    <a:pt x="58641" y="7545"/>
                  </a:lnTo>
                  <a:lnTo>
                    <a:pt x="96012" y="0"/>
                  </a:lnTo>
                  <a:lnTo>
                    <a:pt x="7545324" y="0"/>
                  </a:lnTo>
                  <a:lnTo>
                    <a:pt x="7582721" y="7545"/>
                  </a:lnTo>
                  <a:lnTo>
                    <a:pt x="7613237" y="28122"/>
                  </a:lnTo>
                  <a:lnTo>
                    <a:pt x="7633799" y="58641"/>
                  </a:lnTo>
                  <a:lnTo>
                    <a:pt x="7641335" y="96012"/>
                  </a:lnTo>
                  <a:lnTo>
                    <a:pt x="7641335" y="480060"/>
                  </a:lnTo>
                  <a:lnTo>
                    <a:pt x="7633799" y="517430"/>
                  </a:lnTo>
                  <a:lnTo>
                    <a:pt x="7613237" y="547949"/>
                  </a:lnTo>
                  <a:lnTo>
                    <a:pt x="7582721" y="568526"/>
                  </a:lnTo>
                  <a:lnTo>
                    <a:pt x="7545324" y="576072"/>
                  </a:lnTo>
                  <a:lnTo>
                    <a:pt x="96012" y="576072"/>
                  </a:lnTo>
                  <a:lnTo>
                    <a:pt x="58641" y="568526"/>
                  </a:lnTo>
                  <a:lnTo>
                    <a:pt x="28122" y="547949"/>
                  </a:lnTo>
                  <a:lnTo>
                    <a:pt x="7545" y="517430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895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42844" y="2857500"/>
            <a:ext cx="376555" cy="247015"/>
          </a:xfrm>
          <a:prstGeom prst="rect">
            <a:avLst/>
          </a:prstGeom>
          <a:solidFill>
            <a:srgbClr val="66C3BA"/>
          </a:solidFill>
        </p:spPr>
        <p:txBody>
          <a:bodyPr vert="horz" wrap="square" lIns="0" tIns="641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05"/>
              </a:spcBef>
            </a:pPr>
            <a:r>
              <a:rPr sz="800" b="1" spc="-20" dirty="0">
                <a:solidFill>
                  <a:srgbClr val="FFFFFF"/>
                </a:solidFill>
                <a:latin typeface="Calibri"/>
                <a:cs typeface="Calibri"/>
              </a:rPr>
              <a:t>PAIS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6491" y="2857500"/>
            <a:ext cx="1437640" cy="247015"/>
          </a:xfrm>
          <a:prstGeom prst="rect">
            <a:avLst/>
          </a:prstGeom>
          <a:solidFill>
            <a:srgbClr val="66C3BA"/>
          </a:solidFill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000" b="1" cap="small" dirty="0">
                <a:solidFill>
                  <a:srgbClr val="FFFFFF"/>
                </a:solidFill>
                <a:latin typeface="Calibri"/>
                <a:cs typeface="Calibri"/>
              </a:rPr>
              <a:t>Crianças</a:t>
            </a:r>
            <a:r>
              <a:rPr sz="1000" b="1" cap="small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cap="small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000" b="1" cap="small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cap="small" spc="-10" dirty="0">
                <a:solidFill>
                  <a:srgbClr val="FFFFFF"/>
                </a:solidFill>
                <a:latin typeface="Calibri"/>
                <a:cs typeface="Calibri"/>
              </a:rPr>
              <a:t>adolescentes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76900" y="2857500"/>
            <a:ext cx="970915" cy="247015"/>
          </a:xfrm>
          <a:prstGeom prst="rect">
            <a:avLst/>
          </a:prstGeom>
          <a:solidFill>
            <a:srgbClr val="66C3BA"/>
          </a:solidFill>
        </p:spPr>
        <p:txBody>
          <a:bodyPr vert="horz" wrap="square" lIns="0" tIns="6413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505"/>
              </a:spcBef>
            </a:pPr>
            <a:r>
              <a:rPr sz="800" b="1" spc="-10" dirty="0">
                <a:solidFill>
                  <a:srgbClr val="FFFFFF"/>
                </a:solidFill>
                <a:latin typeface="Calibri"/>
                <a:cs typeface="Calibri"/>
              </a:rPr>
              <a:t>COLECIONADORES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09459" y="2857500"/>
            <a:ext cx="1152525" cy="247015"/>
          </a:xfrm>
          <a:prstGeom prst="rect">
            <a:avLst/>
          </a:prstGeom>
          <a:solidFill>
            <a:srgbClr val="66C3BA"/>
          </a:solidFill>
        </p:spPr>
        <p:txBody>
          <a:bodyPr vert="horz" wrap="square" lIns="0" tIns="3873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05"/>
              </a:spcBef>
            </a:pPr>
            <a:r>
              <a:rPr sz="1000" b="1" cap="small" dirty="0">
                <a:solidFill>
                  <a:srgbClr val="FFFFFF"/>
                </a:solidFill>
                <a:latin typeface="Calibri"/>
                <a:cs typeface="Calibri"/>
              </a:rPr>
              <a:t>Totalmente</a:t>
            </a:r>
            <a:r>
              <a:rPr sz="1000" b="1" cap="small" spc="-10" dirty="0">
                <a:solidFill>
                  <a:srgbClr val="FFFFFF"/>
                </a:solidFill>
                <a:latin typeface="Calibri"/>
                <a:cs typeface="Calibri"/>
              </a:rPr>
              <a:t> digital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9036" y="605027"/>
            <a:ext cx="7806055" cy="6029325"/>
            <a:chOff x="669036" y="605027"/>
            <a:chExt cx="7806055" cy="6029325"/>
          </a:xfrm>
        </p:grpSpPr>
        <p:sp>
          <p:nvSpPr>
            <p:cNvPr id="3" name="object 3"/>
            <p:cNvSpPr/>
            <p:nvPr/>
          </p:nvSpPr>
          <p:spPr>
            <a:xfrm>
              <a:off x="765048" y="8427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9036" y="605027"/>
              <a:ext cx="7805928" cy="60289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1604" y="605027"/>
            <a:ext cx="7861300" cy="6070600"/>
            <a:chOff x="641604" y="605027"/>
            <a:chExt cx="7861300" cy="6070600"/>
          </a:xfrm>
        </p:grpSpPr>
        <p:sp>
          <p:nvSpPr>
            <p:cNvPr id="3" name="object 3"/>
            <p:cNvSpPr/>
            <p:nvPr/>
          </p:nvSpPr>
          <p:spPr>
            <a:xfrm>
              <a:off x="765048" y="8427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604" y="605027"/>
              <a:ext cx="7860792" cy="607009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363" y="571500"/>
            <a:ext cx="7891780" cy="6093460"/>
            <a:chOff x="626363" y="571500"/>
            <a:chExt cx="7891780" cy="6093460"/>
          </a:xfrm>
        </p:grpSpPr>
        <p:sp>
          <p:nvSpPr>
            <p:cNvPr id="3" name="object 3"/>
            <p:cNvSpPr/>
            <p:nvPr/>
          </p:nvSpPr>
          <p:spPr>
            <a:xfrm>
              <a:off x="765047" y="842772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363" y="571500"/>
              <a:ext cx="7891272" cy="609295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9794" y="6275832"/>
            <a:ext cx="7810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1604" y="525780"/>
            <a:ext cx="7941945" cy="6132830"/>
            <a:chOff x="641604" y="525780"/>
            <a:chExt cx="7941945" cy="6132830"/>
          </a:xfrm>
        </p:grpSpPr>
        <p:sp>
          <p:nvSpPr>
            <p:cNvPr id="4" name="object 4"/>
            <p:cNvSpPr/>
            <p:nvPr/>
          </p:nvSpPr>
          <p:spPr>
            <a:xfrm>
              <a:off x="765048" y="842772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604" y="525780"/>
              <a:ext cx="7941564" cy="61325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84818" y="6263132"/>
            <a:ext cx="103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9794" y="6275832"/>
            <a:ext cx="1555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3044" y="797051"/>
            <a:ext cx="8251190" cy="5916295"/>
            <a:chOff x="733044" y="797051"/>
            <a:chExt cx="8251190" cy="5916295"/>
          </a:xfrm>
        </p:grpSpPr>
        <p:sp>
          <p:nvSpPr>
            <p:cNvPr id="4" name="object 4"/>
            <p:cNvSpPr/>
            <p:nvPr/>
          </p:nvSpPr>
          <p:spPr>
            <a:xfrm>
              <a:off x="765048" y="8427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044" y="797051"/>
              <a:ext cx="8250935" cy="59161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/>
              <a:t>PERSONAS</a:t>
            </a:r>
            <a:r>
              <a:rPr spc="-75" dirty="0"/>
              <a:t> </a:t>
            </a:r>
            <a:r>
              <a:rPr dirty="0"/>
              <a:t>DISNEY</a:t>
            </a:r>
            <a:r>
              <a:rPr spc="-65" dirty="0"/>
              <a:t> </a:t>
            </a:r>
            <a:r>
              <a:rPr spc="-10" dirty="0"/>
              <a:t>MOVIES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48395" y="1190231"/>
            <a:ext cx="4281170" cy="2294255"/>
            <a:chOff x="248395" y="1190231"/>
            <a:chExt cx="4281170" cy="2294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395" y="1219187"/>
              <a:ext cx="4280948" cy="22646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611" y="1190231"/>
              <a:ext cx="1842515" cy="5608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6511" y="1234440"/>
              <a:ext cx="4209415" cy="2193290"/>
            </a:xfrm>
            <a:custGeom>
              <a:avLst/>
              <a:gdLst/>
              <a:ahLst/>
              <a:cxnLst/>
              <a:rect l="l" t="t" r="r" b="b"/>
              <a:pathLst>
                <a:path w="4209415" h="2193290">
                  <a:moveTo>
                    <a:pt x="4209288" y="0"/>
                  </a:moveTo>
                  <a:lnTo>
                    <a:pt x="0" y="0"/>
                  </a:lnTo>
                  <a:lnTo>
                    <a:pt x="0" y="2193036"/>
                  </a:lnTo>
                  <a:lnTo>
                    <a:pt x="4209288" y="2193036"/>
                  </a:lnTo>
                  <a:lnTo>
                    <a:pt x="420928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6511" y="1234440"/>
              <a:ext cx="4209415" cy="2193290"/>
            </a:xfrm>
            <a:custGeom>
              <a:avLst/>
              <a:gdLst/>
              <a:ahLst/>
              <a:cxnLst/>
              <a:rect l="l" t="t" r="r" b="b"/>
              <a:pathLst>
                <a:path w="4209415" h="2193290">
                  <a:moveTo>
                    <a:pt x="0" y="2193036"/>
                  </a:moveTo>
                  <a:lnTo>
                    <a:pt x="4209288" y="2193036"/>
                  </a:lnTo>
                  <a:lnTo>
                    <a:pt x="4209288" y="0"/>
                  </a:lnTo>
                  <a:lnTo>
                    <a:pt x="0" y="0"/>
                  </a:lnTo>
                  <a:lnTo>
                    <a:pt x="0" y="219303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34744" y="1252220"/>
            <a:ext cx="151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1º</a:t>
            </a:r>
            <a:r>
              <a:rPr sz="1800" b="1" spc="-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F487C"/>
                </a:solidFill>
                <a:latin typeface="Calibri"/>
                <a:cs typeface="Calibri"/>
              </a:rPr>
              <a:t>CHECKPOINT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50391" y="1603235"/>
            <a:ext cx="7690484" cy="4907915"/>
            <a:chOff x="850391" y="1603235"/>
            <a:chExt cx="7690484" cy="490791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391" y="1603235"/>
              <a:ext cx="3488436" cy="9266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97635" y="1627631"/>
              <a:ext cx="3398520" cy="836930"/>
            </a:xfrm>
            <a:custGeom>
              <a:avLst/>
              <a:gdLst/>
              <a:ahLst/>
              <a:cxnLst/>
              <a:rect l="l" t="t" r="r" b="b"/>
              <a:pathLst>
                <a:path w="3398520" h="836930">
                  <a:moveTo>
                    <a:pt x="3398520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3398520" y="836676"/>
                  </a:lnTo>
                  <a:lnTo>
                    <a:pt x="3398520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7635" y="1627631"/>
              <a:ext cx="3398520" cy="836930"/>
            </a:xfrm>
            <a:custGeom>
              <a:avLst/>
              <a:gdLst/>
              <a:ahLst/>
              <a:cxnLst/>
              <a:rect l="l" t="t" r="r" b="b"/>
              <a:pathLst>
                <a:path w="3398520" h="836930">
                  <a:moveTo>
                    <a:pt x="0" y="836676"/>
                  </a:moveTo>
                  <a:lnTo>
                    <a:pt x="3398520" y="836676"/>
                  </a:lnTo>
                  <a:lnTo>
                    <a:pt x="3398520" y="0"/>
                  </a:lnTo>
                  <a:lnTo>
                    <a:pt x="0" y="0"/>
                  </a:lnTo>
                  <a:lnTo>
                    <a:pt x="0" y="836676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0335" y="1612319"/>
              <a:ext cx="3470171" cy="9084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8040" y="3336023"/>
              <a:ext cx="2606040" cy="9266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15284" y="3360419"/>
              <a:ext cx="2516505" cy="836930"/>
            </a:xfrm>
            <a:custGeom>
              <a:avLst/>
              <a:gdLst/>
              <a:ahLst/>
              <a:cxnLst/>
              <a:rect l="l" t="t" r="r" b="b"/>
              <a:pathLst>
                <a:path w="2516504" h="836929">
                  <a:moveTo>
                    <a:pt x="2516124" y="0"/>
                  </a:moveTo>
                  <a:lnTo>
                    <a:pt x="0" y="0"/>
                  </a:lnTo>
                  <a:lnTo>
                    <a:pt x="0" y="836675"/>
                  </a:lnTo>
                  <a:lnTo>
                    <a:pt x="2516124" y="836675"/>
                  </a:lnTo>
                  <a:lnTo>
                    <a:pt x="2516124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15284" y="3360419"/>
              <a:ext cx="2516505" cy="836930"/>
            </a:xfrm>
            <a:custGeom>
              <a:avLst/>
              <a:gdLst/>
              <a:ahLst/>
              <a:cxnLst/>
              <a:rect l="l" t="t" r="r" b="b"/>
              <a:pathLst>
                <a:path w="2516504" h="836929">
                  <a:moveTo>
                    <a:pt x="0" y="836675"/>
                  </a:moveTo>
                  <a:lnTo>
                    <a:pt x="2516124" y="836675"/>
                  </a:lnTo>
                  <a:lnTo>
                    <a:pt x="2516124" y="0"/>
                  </a:lnTo>
                  <a:lnTo>
                    <a:pt x="0" y="0"/>
                  </a:lnTo>
                  <a:lnTo>
                    <a:pt x="0" y="836675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6443" y="5180054"/>
              <a:ext cx="5001801" cy="12954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3799" y="5576316"/>
              <a:ext cx="1845564" cy="9342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05662" y="721233"/>
            <a:ext cx="4071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latin typeface="Calibri"/>
                <a:cs typeface="Calibri"/>
              </a:rPr>
              <a:t>ATIVIDADE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CHECKPOINT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24178" y="1765757"/>
            <a:ext cx="28105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ENTENDIMENTO</a:t>
            </a:r>
            <a:endParaRPr sz="3200"/>
          </a:p>
        </p:txBody>
      </p:sp>
      <p:sp>
        <p:nvSpPr>
          <p:cNvPr id="22" name="object 22"/>
          <p:cNvSpPr txBox="1"/>
          <p:nvPr/>
        </p:nvSpPr>
        <p:spPr>
          <a:xfrm>
            <a:off x="5108447" y="1627632"/>
            <a:ext cx="3398520" cy="836930"/>
          </a:xfrm>
          <a:prstGeom prst="rect">
            <a:avLst/>
          </a:prstGeom>
          <a:solidFill>
            <a:srgbClr val="C3D59B"/>
          </a:solidFill>
          <a:ln w="9144">
            <a:solidFill>
              <a:srgbClr val="4F6128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195"/>
              </a:spcBef>
            </a:pPr>
            <a:r>
              <a:rPr sz="3200" b="1" spc="-10" dirty="0">
                <a:latin typeface="Calibri"/>
                <a:cs typeface="Calibri"/>
              </a:rPr>
              <a:t>ANTECIPAÇÃO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19855" y="3432047"/>
            <a:ext cx="2506980" cy="760730"/>
          </a:xfrm>
          <a:prstGeom prst="rect">
            <a:avLst/>
          </a:prstGeom>
          <a:solidFill>
            <a:srgbClr val="C3D59B"/>
          </a:solidFill>
        </p:spPr>
        <p:txBody>
          <a:bodyPr vert="horz" wrap="square" lIns="0" tIns="97155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765"/>
              </a:spcBef>
            </a:pPr>
            <a:r>
              <a:rPr sz="3200" b="1" spc="-10" dirty="0">
                <a:latin typeface="Calibri"/>
                <a:cs typeface="Calibri"/>
              </a:rPr>
              <a:t>AVALIAÇÃO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94560" y="5195315"/>
            <a:ext cx="4930140" cy="1224280"/>
          </a:xfrm>
          <a:prstGeom prst="rect">
            <a:avLst/>
          </a:prstGeom>
          <a:solidFill>
            <a:srgbClr val="C3D59B"/>
          </a:solidFill>
          <a:ln w="9144">
            <a:solidFill>
              <a:srgbClr val="4F6128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1390"/>
              </a:spcBef>
            </a:pP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CONCEITUAL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FÍSICO</a:t>
            </a:r>
            <a:endParaRPr sz="20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120"/>
              </a:spcBef>
            </a:pPr>
            <a:r>
              <a:rPr sz="3200" b="1" spc="-10" dirty="0"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66644" y="2523756"/>
            <a:ext cx="3625850" cy="2651760"/>
            <a:chOff x="2866644" y="2523756"/>
            <a:chExt cx="3625850" cy="265176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66644" y="2523756"/>
              <a:ext cx="630974" cy="8198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09189" y="2542793"/>
              <a:ext cx="550545" cy="740410"/>
            </a:xfrm>
            <a:custGeom>
              <a:avLst/>
              <a:gdLst/>
              <a:ahLst/>
              <a:cxnLst/>
              <a:rect l="l" t="t" r="r" b="b"/>
              <a:pathLst>
                <a:path w="550545" h="740410">
                  <a:moveTo>
                    <a:pt x="68961" y="0"/>
                  </a:moveTo>
                  <a:lnTo>
                    <a:pt x="0" y="242696"/>
                  </a:lnTo>
                  <a:lnTo>
                    <a:pt x="77850" y="199262"/>
                  </a:lnTo>
                  <a:lnTo>
                    <a:pt x="316738" y="627760"/>
                  </a:lnTo>
                  <a:lnTo>
                    <a:pt x="238760" y="671067"/>
                  </a:lnTo>
                  <a:lnTo>
                    <a:pt x="481457" y="740155"/>
                  </a:lnTo>
                  <a:lnTo>
                    <a:pt x="550418" y="497458"/>
                  </a:lnTo>
                  <a:lnTo>
                    <a:pt x="472439" y="540892"/>
                  </a:lnTo>
                  <a:lnTo>
                    <a:pt x="233680" y="112394"/>
                  </a:lnTo>
                  <a:lnTo>
                    <a:pt x="311658" y="68960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61304" y="2523756"/>
              <a:ext cx="630974" cy="81989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03722" y="2542793"/>
              <a:ext cx="550545" cy="740410"/>
            </a:xfrm>
            <a:custGeom>
              <a:avLst/>
              <a:gdLst/>
              <a:ahLst/>
              <a:cxnLst/>
              <a:rect l="l" t="t" r="r" b="b"/>
              <a:pathLst>
                <a:path w="550545" h="740410">
                  <a:moveTo>
                    <a:pt x="481456" y="0"/>
                  </a:moveTo>
                  <a:lnTo>
                    <a:pt x="238760" y="68960"/>
                  </a:lnTo>
                  <a:lnTo>
                    <a:pt x="316738" y="112394"/>
                  </a:lnTo>
                  <a:lnTo>
                    <a:pt x="77977" y="540892"/>
                  </a:lnTo>
                  <a:lnTo>
                    <a:pt x="0" y="497458"/>
                  </a:lnTo>
                  <a:lnTo>
                    <a:pt x="68961" y="740155"/>
                  </a:lnTo>
                  <a:lnTo>
                    <a:pt x="311657" y="671067"/>
                  </a:lnTo>
                  <a:lnTo>
                    <a:pt x="233679" y="627760"/>
                  </a:lnTo>
                  <a:lnTo>
                    <a:pt x="472439" y="199262"/>
                  </a:lnTo>
                  <a:lnTo>
                    <a:pt x="550417" y="242696"/>
                  </a:lnTo>
                  <a:lnTo>
                    <a:pt x="481456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53127" y="4247387"/>
              <a:ext cx="437349" cy="9281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95800" y="4267200"/>
              <a:ext cx="356870" cy="847725"/>
            </a:xfrm>
            <a:custGeom>
              <a:avLst/>
              <a:gdLst/>
              <a:ahLst/>
              <a:cxnLst/>
              <a:rect l="l" t="t" r="r" b="b"/>
              <a:pathLst>
                <a:path w="356870" h="847725">
                  <a:moveTo>
                    <a:pt x="178308" y="0"/>
                  </a:moveTo>
                  <a:lnTo>
                    <a:pt x="0" y="178307"/>
                  </a:lnTo>
                  <a:lnTo>
                    <a:pt x="89153" y="178307"/>
                  </a:lnTo>
                  <a:lnTo>
                    <a:pt x="89153" y="669036"/>
                  </a:lnTo>
                  <a:lnTo>
                    <a:pt x="0" y="669036"/>
                  </a:lnTo>
                  <a:lnTo>
                    <a:pt x="178308" y="847344"/>
                  </a:lnTo>
                  <a:lnTo>
                    <a:pt x="356615" y="669036"/>
                  </a:lnTo>
                  <a:lnTo>
                    <a:pt x="267462" y="669036"/>
                  </a:lnTo>
                  <a:lnTo>
                    <a:pt x="267462" y="178307"/>
                  </a:lnTo>
                  <a:lnTo>
                    <a:pt x="356615" y="178307"/>
                  </a:lnTo>
                  <a:lnTo>
                    <a:pt x="178308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3339" y="2756661"/>
            <a:ext cx="1319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375E"/>
                </a:solidFill>
                <a:latin typeface="Calibri"/>
                <a:cs typeface="Calibri"/>
              </a:rPr>
              <a:t>FRAMEWORK </a:t>
            </a:r>
            <a:r>
              <a:rPr sz="1800" b="1" spc="-20" dirty="0">
                <a:solidFill>
                  <a:srgbClr val="17375E"/>
                </a:solidFill>
                <a:latin typeface="Calibri"/>
                <a:cs typeface="Calibri"/>
              </a:rPr>
              <a:t>PACT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59180" y="2208250"/>
            <a:ext cx="443865" cy="596265"/>
            <a:chOff x="1059180" y="2208250"/>
            <a:chExt cx="443865" cy="596265"/>
          </a:xfrm>
        </p:grpSpPr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9180" y="2208250"/>
              <a:ext cx="443484" cy="59590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02347" y="2309622"/>
              <a:ext cx="283845" cy="436245"/>
            </a:xfrm>
            <a:custGeom>
              <a:avLst/>
              <a:gdLst/>
              <a:ahLst/>
              <a:cxnLst/>
              <a:rect l="l" t="t" r="r" b="b"/>
              <a:pathLst>
                <a:path w="283844" h="436244">
                  <a:moveTo>
                    <a:pt x="231193" y="58657"/>
                  </a:moveTo>
                  <a:lnTo>
                    <a:pt x="0" y="421766"/>
                  </a:lnTo>
                  <a:lnTo>
                    <a:pt x="21869" y="435737"/>
                  </a:lnTo>
                  <a:lnTo>
                    <a:pt x="253001" y="72562"/>
                  </a:lnTo>
                  <a:lnTo>
                    <a:pt x="231193" y="58657"/>
                  </a:lnTo>
                  <a:close/>
                </a:path>
                <a:path w="283844" h="436244">
                  <a:moveTo>
                    <a:pt x="278822" y="47751"/>
                  </a:moveTo>
                  <a:lnTo>
                    <a:pt x="238137" y="47751"/>
                  </a:lnTo>
                  <a:lnTo>
                    <a:pt x="259981" y="61594"/>
                  </a:lnTo>
                  <a:lnTo>
                    <a:pt x="253001" y="72562"/>
                  </a:lnTo>
                  <a:lnTo>
                    <a:pt x="274840" y="86487"/>
                  </a:lnTo>
                  <a:lnTo>
                    <a:pt x="278822" y="47751"/>
                  </a:lnTo>
                  <a:close/>
                </a:path>
                <a:path w="283844" h="436244">
                  <a:moveTo>
                    <a:pt x="238137" y="47751"/>
                  </a:moveTo>
                  <a:lnTo>
                    <a:pt x="231193" y="58657"/>
                  </a:lnTo>
                  <a:lnTo>
                    <a:pt x="253001" y="72562"/>
                  </a:lnTo>
                  <a:lnTo>
                    <a:pt x="259981" y="61594"/>
                  </a:lnTo>
                  <a:lnTo>
                    <a:pt x="238137" y="47751"/>
                  </a:lnTo>
                  <a:close/>
                </a:path>
                <a:path w="283844" h="436244">
                  <a:moveTo>
                    <a:pt x="283730" y="0"/>
                  </a:moveTo>
                  <a:lnTo>
                    <a:pt x="209308" y="44703"/>
                  </a:lnTo>
                  <a:lnTo>
                    <a:pt x="231193" y="58657"/>
                  </a:lnTo>
                  <a:lnTo>
                    <a:pt x="238137" y="47751"/>
                  </a:lnTo>
                  <a:lnTo>
                    <a:pt x="278822" y="47751"/>
                  </a:lnTo>
                  <a:lnTo>
                    <a:pt x="283730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507094" y="6263132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5235" y="6141720"/>
            <a:ext cx="779145" cy="410209"/>
          </a:xfrm>
          <a:custGeom>
            <a:avLst/>
            <a:gdLst/>
            <a:ahLst/>
            <a:cxnLst/>
            <a:rect l="l" t="t" r="r" b="b"/>
            <a:pathLst>
              <a:path w="779145" h="410209">
                <a:moveTo>
                  <a:pt x="0" y="409955"/>
                </a:moveTo>
                <a:lnTo>
                  <a:pt x="778764" y="409955"/>
                </a:lnTo>
                <a:lnTo>
                  <a:pt x="778764" y="0"/>
                </a:lnTo>
                <a:lnTo>
                  <a:pt x="0" y="0"/>
                </a:lnTo>
                <a:lnTo>
                  <a:pt x="0" y="409955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5048" y="842772"/>
            <a:ext cx="71755" cy="285115"/>
          </a:xfrm>
          <a:custGeom>
            <a:avLst/>
            <a:gdLst/>
            <a:ahLst/>
            <a:cxnLst/>
            <a:rect l="l" t="t" r="r" b="b"/>
            <a:pathLst>
              <a:path w="71755" h="285115">
                <a:moveTo>
                  <a:pt x="71627" y="0"/>
                </a:moveTo>
                <a:lnTo>
                  <a:pt x="0" y="0"/>
                </a:lnTo>
                <a:lnTo>
                  <a:pt x="0" y="284988"/>
                </a:lnTo>
                <a:lnTo>
                  <a:pt x="71627" y="284988"/>
                </a:lnTo>
                <a:lnTo>
                  <a:pt x="71627" y="0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38758" y="814603"/>
            <a:ext cx="335597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CONTEÚDO</a:t>
            </a:r>
            <a:r>
              <a:rPr sz="2800" b="1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b="1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F2F2F"/>
                </a:solidFill>
                <a:latin typeface="Calibri"/>
                <a:cs typeface="Calibri"/>
              </a:rPr>
              <a:t>CURSO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65048" y="704087"/>
            <a:ext cx="7234555" cy="523240"/>
            <a:chOff x="765048" y="704087"/>
            <a:chExt cx="7234555" cy="523240"/>
          </a:xfrm>
        </p:grpSpPr>
        <p:sp>
          <p:nvSpPr>
            <p:cNvPr id="6" name="object 6"/>
            <p:cNvSpPr/>
            <p:nvPr/>
          </p:nvSpPr>
          <p:spPr>
            <a:xfrm>
              <a:off x="765048" y="804671"/>
              <a:ext cx="71755" cy="285115"/>
            </a:xfrm>
            <a:custGeom>
              <a:avLst/>
              <a:gdLst/>
              <a:ahLst/>
              <a:cxnLst/>
              <a:rect l="l" t="t" r="r" b="b"/>
              <a:pathLst>
                <a:path w="71755" h="285115">
                  <a:moveTo>
                    <a:pt x="71627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71627" y="284988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2772" y="704087"/>
              <a:ext cx="7157084" cy="523240"/>
            </a:xfrm>
            <a:custGeom>
              <a:avLst/>
              <a:gdLst/>
              <a:ahLst/>
              <a:cxnLst/>
              <a:rect l="l" t="t" r="r" b="b"/>
              <a:pathLst>
                <a:path w="7157084" h="523240">
                  <a:moveTo>
                    <a:pt x="7156704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156704" y="522731"/>
                  </a:lnTo>
                  <a:lnTo>
                    <a:pt x="71567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2121" y="714248"/>
            <a:ext cx="4367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NAC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DESIGN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SISTEMAS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165853" y="1471422"/>
            <a:ext cx="1084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>
                <a:solidFill>
                  <a:srgbClr val="17375E"/>
                </a:solidFill>
              </a:rPr>
              <a:t>PACT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501521" y="2090166"/>
            <a:ext cx="6413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17375E"/>
                </a:solidFill>
                <a:latin typeface="Calibri"/>
                <a:cs typeface="Calibri"/>
              </a:rPr>
              <a:t>P</a:t>
            </a:r>
            <a:r>
              <a:rPr sz="2250" dirty="0">
                <a:solidFill>
                  <a:srgbClr val="17375E"/>
                </a:solidFill>
                <a:latin typeface="Calibri"/>
                <a:cs typeface="Calibri"/>
              </a:rPr>
              <a:t>ESSOAS</a:t>
            </a:r>
            <a:r>
              <a:rPr sz="2250" spc="3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sz="2800" spc="-7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7375E"/>
                </a:solidFill>
                <a:latin typeface="Calibri"/>
                <a:cs typeface="Calibri"/>
              </a:rPr>
              <a:t>A</a:t>
            </a:r>
            <a:r>
              <a:rPr sz="2250" spc="-10" dirty="0">
                <a:solidFill>
                  <a:srgbClr val="17375E"/>
                </a:solidFill>
                <a:latin typeface="Calibri"/>
                <a:cs typeface="Calibri"/>
              </a:rPr>
              <a:t>TIVIDADES</a:t>
            </a:r>
            <a:r>
              <a:rPr sz="2250" spc="5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sz="2800" spc="-8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7375E"/>
                </a:solidFill>
                <a:latin typeface="Calibri"/>
                <a:cs typeface="Calibri"/>
              </a:rPr>
              <a:t>C</a:t>
            </a:r>
            <a:r>
              <a:rPr sz="2250" dirty="0">
                <a:solidFill>
                  <a:srgbClr val="17375E"/>
                </a:solidFill>
                <a:latin typeface="Calibri"/>
                <a:cs typeface="Calibri"/>
              </a:rPr>
              <a:t>ONTEXTO</a:t>
            </a:r>
            <a:r>
              <a:rPr sz="2250" spc="5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7375E"/>
                </a:solidFill>
                <a:latin typeface="Calibri"/>
                <a:cs typeface="Calibri"/>
              </a:rPr>
              <a:t>+</a:t>
            </a:r>
            <a:r>
              <a:rPr sz="2800" spc="-75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7375E"/>
                </a:solidFill>
                <a:latin typeface="Calibri"/>
                <a:cs typeface="Calibri"/>
              </a:rPr>
              <a:t>T</a:t>
            </a:r>
            <a:r>
              <a:rPr sz="2250" spc="-10" dirty="0">
                <a:solidFill>
                  <a:srgbClr val="17375E"/>
                </a:solidFill>
                <a:latin typeface="Calibri"/>
                <a:cs typeface="Calibri"/>
              </a:rPr>
              <a:t>ECNOLOGIA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3231" y="2828400"/>
            <a:ext cx="3013075" cy="677545"/>
            <a:chOff x="713231" y="2828400"/>
            <a:chExt cx="3013075" cy="6775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736" y="2828400"/>
              <a:ext cx="2927651" cy="6769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231" y="2913900"/>
              <a:ext cx="3012947" cy="5912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84859" y="2843784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2855976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2855976" y="605027"/>
                  </a:lnTo>
                  <a:lnTo>
                    <a:pt x="2855976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859" y="2843784"/>
              <a:ext cx="2856230" cy="605155"/>
            </a:xfrm>
            <a:custGeom>
              <a:avLst/>
              <a:gdLst/>
              <a:ahLst/>
              <a:cxnLst/>
              <a:rect l="l" t="t" r="r" b="b"/>
              <a:pathLst>
                <a:path w="2856229" h="605154">
                  <a:moveTo>
                    <a:pt x="0" y="605027"/>
                  </a:moveTo>
                  <a:lnTo>
                    <a:pt x="2855976" y="605027"/>
                  </a:lnTo>
                  <a:lnTo>
                    <a:pt x="2855976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3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4379" y="2932188"/>
              <a:ext cx="2932937" cy="51128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85240" y="2981959"/>
            <a:ext cx="2653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ATIVIDADES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CONTEXTOS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56206" y="2828400"/>
            <a:ext cx="1957070" cy="677545"/>
            <a:chOff x="6556206" y="2828400"/>
            <a:chExt cx="1957070" cy="67754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6206" y="2828400"/>
              <a:ext cx="1956900" cy="6769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0360" y="2913900"/>
              <a:ext cx="1708403" cy="5912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94348" y="2843784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1885188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1885188" y="605027"/>
                  </a:lnTo>
                  <a:lnTo>
                    <a:pt x="1885188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94348" y="2843784"/>
              <a:ext cx="1885314" cy="605155"/>
            </a:xfrm>
            <a:custGeom>
              <a:avLst/>
              <a:gdLst/>
              <a:ahLst/>
              <a:cxnLst/>
              <a:rect l="l" t="t" r="r" b="b"/>
              <a:pathLst>
                <a:path w="1885315" h="605154">
                  <a:moveTo>
                    <a:pt x="0" y="605027"/>
                  </a:moveTo>
                  <a:lnTo>
                    <a:pt x="1885188" y="605027"/>
                  </a:lnTo>
                  <a:lnTo>
                    <a:pt x="1885188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9144">
              <a:solidFill>
                <a:srgbClr val="4F61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31508" y="2932188"/>
              <a:ext cx="1628394" cy="51128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863588" y="2981959"/>
            <a:ext cx="1346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TECNOLOGIAS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3955" y="2878023"/>
            <a:ext cx="1339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F6128"/>
                </a:solidFill>
                <a:latin typeface="Calibri"/>
                <a:cs typeface="Calibri"/>
              </a:rPr>
              <a:t>PESSOAS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156460" y="2831604"/>
            <a:ext cx="4476115" cy="3851275"/>
            <a:chOff x="2156460" y="2831604"/>
            <a:chExt cx="4476115" cy="385127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8163" y="2979419"/>
              <a:ext cx="768121" cy="36118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40836" y="2999231"/>
              <a:ext cx="687705" cy="280670"/>
            </a:xfrm>
            <a:custGeom>
              <a:avLst/>
              <a:gdLst/>
              <a:ahLst/>
              <a:cxnLst/>
              <a:rect l="l" t="t" r="r" b="b"/>
              <a:pathLst>
                <a:path w="687704" h="280670">
                  <a:moveTo>
                    <a:pt x="140208" y="0"/>
                  </a:moveTo>
                  <a:lnTo>
                    <a:pt x="0" y="140207"/>
                  </a:lnTo>
                  <a:lnTo>
                    <a:pt x="140208" y="280415"/>
                  </a:lnTo>
                  <a:lnTo>
                    <a:pt x="140208" y="210312"/>
                  </a:lnTo>
                  <a:lnTo>
                    <a:pt x="687324" y="210312"/>
                  </a:lnTo>
                  <a:lnTo>
                    <a:pt x="687324" y="70103"/>
                  </a:lnTo>
                  <a:lnTo>
                    <a:pt x="140208" y="70103"/>
                  </a:lnTo>
                  <a:lnTo>
                    <a:pt x="140208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62827" y="2956585"/>
              <a:ext cx="769632" cy="36268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905500" y="2976371"/>
              <a:ext cx="688975" cy="281940"/>
            </a:xfrm>
            <a:custGeom>
              <a:avLst/>
              <a:gdLst/>
              <a:ahLst/>
              <a:cxnLst/>
              <a:rect l="l" t="t" r="r" b="b"/>
              <a:pathLst>
                <a:path w="688975" h="281939">
                  <a:moveTo>
                    <a:pt x="547877" y="0"/>
                  </a:moveTo>
                  <a:lnTo>
                    <a:pt x="547877" y="70485"/>
                  </a:lnTo>
                  <a:lnTo>
                    <a:pt x="0" y="70485"/>
                  </a:lnTo>
                  <a:lnTo>
                    <a:pt x="0" y="211454"/>
                  </a:lnTo>
                  <a:lnTo>
                    <a:pt x="547877" y="211454"/>
                  </a:lnTo>
                  <a:lnTo>
                    <a:pt x="547877" y="281939"/>
                  </a:lnTo>
                  <a:lnTo>
                    <a:pt x="688848" y="140969"/>
                  </a:lnTo>
                  <a:lnTo>
                    <a:pt x="547877" y="0"/>
                  </a:lnTo>
                  <a:close/>
                </a:path>
              </a:pathLst>
            </a:custGeom>
            <a:solidFill>
              <a:srgbClr val="779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26992" y="3810000"/>
              <a:ext cx="1778508" cy="28727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32732" y="2831604"/>
              <a:ext cx="1621536" cy="6278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389882" y="2865881"/>
              <a:ext cx="1511935" cy="518159"/>
            </a:xfrm>
            <a:custGeom>
              <a:avLst/>
              <a:gdLst/>
              <a:ahLst/>
              <a:cxnLst/>
              <a:rect l="l" t="t" r="r" b="b"/>
              <a:pathLst>
                <a:path w="1511935" h="518160">
                  <a:moveTo>
                    <a:pt x="0" y="86359"/>
                  </a:moveTo>
                  <a:lnTo>
                    <a:pt x="6778" y="52720"/>
                  </a:lnTo>
                  <a:lnTo>
                    <a:pt x="25273" y="25272"/>
                  </a:lnTo>
                  <a:lnTo>
                    <a:pt x="52720" y="6778"/>
                  </a:lnTo>
                  <a:lnTo>
                    <a:pt x="86359" y="0"/>
                  </a:lnTo>
                  <a:lnTo>
                    <a:pt x="1425447" y="0"/>
                  </a:lnTo>
                  <a:lnTo>
                    <a:pt x="1459087" y="6778"/>
                  </a:lnTo>
                  <a:lnTo>
                    <a:pt x="1486534" y="25273"/>
                  </a:lnTo>
                  <a:lnTo>
                    <a:pt x="1505029" y="52720"/>
                  </a:lnTo>
                  <a:lnTo>
                    <a:pt x="1511807" y="86359"/>
                  </a:lnTo>
                  <a:lnTo>
                    <a:pt x="1511807" y="431800"/>
                  </a:lnTo>
                  <a:lnTo>
                    <a:pt x="1505029" y="465439"/>
                  </a:lnTo>
                  <a:lnTo>
                    <a:pt x="1486534" y="492887"/>
                  </a:lnTo>
                  <a:lnTo>
                    <a:pt x="1459087" y="511381"/>
                  </a:lnTo>
                  <a:lnTo>
                    <a:pt x="1425447" y="518159"/>
                  </a:lnTo>
                  <a:lnTo>
                    <a:pt x="86359" y="518159"/>
                  </a:lnTo>
                  <a:lnTo>
                    <a:pt x="52720" y="511381"/>
                  </a:lnTo>
                  <a:lnTo>
                    <a:pt x="25272" y="492886"/>
                  </a:lnTo>
                  <a:lnTo>
                    <a:pt x="6778" y="465439"/>
                  </a:lnTo>
                  <a:lnTo>
                    <a:pt x="0" y="431800"/>
                  </a:lnTo>
                  <a:lnTo>
                    <a:pt x="0" y="86359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7467" y="3360407"/>
              <a:ext cx="310959" cy="59742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001386" y="3379850"/>
              <a:ext cx="159385" cy="430530"/>
            </a:xfrm>
            <a:custGeom>
              <a:avLst/>
              <a:gdLst/>
              <a:ahLst/>
              <a:cxnLst/>
              <a:rect l="l" t="t" r="r" b="b"/>
              <a:pathLst>
                <a:path w="159385" h="430529">
                  <a:moveTo>
                    <a:pt x="0" y="334263"/>
                  </a:moveTo>
                  <a:lnTo>
                    <a:pt x="16383" y="430022"/>
                  </a:lnTo>
                  <a:lnTo>
                    <a:pt x="77901" y="364871"/>
                  </a:lnTo>
                  <a:lnTo>
                    <a:pt x="51180" y="364871"/>
                  </a:lnTo>
                  <a:lnTo>
                    <a:pt x="23495" y="356488"/>
                  </a:lnTo>
                  <a:lnTo>
                    <a:pt x="27682" y="342644"/>
                  </a:lnTo>
                  <a:lnTo>
                    <a:pt x="0" y="334263"/>
                  </a:lnTo>
                  <a:close/>
                </a:path>
                <a:path w="159385" h="430529">
                  <a:moveTo>
                    <a:pt x="27682" y="342644"/>
                  </a:moveTo>
                  <a:lnTo>
                    <a:pt x="23495" y="356488"/>
                  </a:lnTo>
                  <a:lnTo>
                    <a:pt x="51180" y="364871"/>
                  </a:lnTo>
                  <a:lnTo>
                    <a:pt x="55368" y="351026"/>
                  </a:lnTo>
                  <a:lnTo>
                    <a:pt x="27682" y="342644"/>
                  </a:lnTo>
                  <a:close/>
                </a:path>
                <a:path w="159385" h="430529">
                  <a:moveTo>
                    <a:pt x="55368" y="351026"/>
                  </a:moveTo>
                  <a:lnTo>
                    <a:pt x="51180" y="364871"/>
                  </a:lnTo>
                  <a:lnTo>
                    <a:pt x="77901" y="364871"/>
                  </a:lnTo>
                  <a:lnTo>
                    <a:pt x="83058" y="359410"/>
                  </a:lnTo>
                  <a:lnTo>
                    <a:pt x="55368" y="351026"/>
                  </a:lnTo>
                  <a:close/>
                </a:path>
                <a:path w="159385" h="430529">
                  <a:moveTo>
                    <a:pt x="131317" y="0"/>
                  </a:moveTo>
                  <a:lnTo>
                    <a:pt x="27682" y="342644"/>
                  </a:lnTo>
                  <a:lnTo>
                    <a:pt x="55368" y="351026"/>
                  </a:lnTo>
                  <a:lnTo>
                    <a:pt x="159003" y="8382"/>
                  </a:lnTo>
                  <a:lnTo>
                    <a:pt x="13131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56460" y="3430523"/>
              <a:ext cx="2097024" cy="196443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199132" y="3449573"/>
              <a:ext cx="1929130" cy="1840864"/>
            </a:xfrm>
            <a:custGeom>
              <a:avLst/>
              <a:gdLst/>
              <a:ahLst/>
              <a:cxnLst/>
              <a:rect l="l" t="t" r="r" b="b"/>
              <a:pathLst>
                <a:path w="1929129" h="1840864">
                  <a:moveTo>
                    <a:pt x="1841881" y="1753743"/>
                  </a:moveTo>
                  <a:lnTo>
                    <a:pt x="1841881" y="1840611"/>
                  </a:lnTo>
                  <a:lnTo>
                    <a:pt x="1899793" y="1811654"/>
                  </a:lnTo>
                  <a:lnTo>
                    <a:pt x="1856358" y="1811654"/>
                  </a:lnTo>
                  <a:lnTo>
                    <a:pt x="1856358" y="1782699"/>
                  </a:lnTo>
                  <a:lnTo>
                    <a:pt x="1899793" y="1782699"/>
                  </a:lnTo>
                  <a:lnTo>
                    <a:pt x="1841881" y="1753743"/>
                  </a:lnTo>
                  <a:close/>
                </a:path>
                <a:path w="1929129" h="1840864">
                  <a:moveTo>
                    <a:pt x="28956" y="0"/>
                  </a:moveTo>
                  <a:lnTo>
                    <a:pt x="0" y="0"/>
                  </a:lnTo>
                  <a:lnTo>
                    <a:pt x="0" y="1805177"/>
                  </a:lnTo>
                  <a:lnTo>
                    <a:pt x="6476" y="1811654"/>
                  </a:lnTo>
                  <a:lnTo>
                    <a:pt x="1841881" y="1811654"/>
                  </a:lnTo>
                  <a:lnTo>
                    <a:pt x="1841881" y="1797177"/>
                  </a:lnTo>
                  <a:lnTo>
                    <a:pt x="28956" y="1797177"/>
                  </a:lnTo>
                  <a:lnTo>
                    <a:pt x="14478" y="1782699"/>
                  </a:lnTo>
                  <a:lnTo>
                    <a:pt x="28956" y="1782699"/>
                  </a:lnTo>
                  <a:lnTo>
                    <a:pt x="28956" y="0"/>
                  </a:lnTo>
                  <a:close/>
                </a:path>
                <a:path w="1929129" h="1840864">
                  <a:moveTo>
                    <a:pt x="1899793" y="1782699"/>
                  </a:moveTo>
                  <a:lnTo>
                    <a:pt x="1856358" y="1782699"/>
                  </a:lnTo>
                  <a:lnTo>
                    <a:pt x="1856358" y="1811654"/>
                  </a:lnTo>
                  <a:lnTo>
                    <a:pt x="1899793" y="1811654"/>
                  </a:lnTo>
                  <a:lnTo>
                    <a:pt x="1928748" y="1797177"/>
                  </a:lnTo>
                  <a:lnTo>
                    <a:pt x="1899793" y="1782699"/>
                  </a:lnTo>
                  <a:close/>
                </a:path>
                <a:path w="1929129" h="1840864">
                  <a:moveTo>
                    <a:pt x="28956" y="1782699"/>
                  </a:moveTo>
                  <a:lnTo>
                    <a:pt x="14478" y="1782699"/>
                  </a:lnTo>
                  <a:lnTo>
                    <a:pt x="28956" y="1797177"/>
                  </a:lnTo>
                  <a:lnTo>
                    <a:pt x="28956" y="1782699"/>
                  </a:lnTo>
                  <a:close/>
                </a:path>
                <a:path w="1929129" h="1840864">
                  <a:moveTo>
                    <a:pt x="1841881" y="1782699"/>
                  </a:moveTo>
                  <a:lnTo>
                    <a:pt x="28956" y="1782699"/>
                  </a:lnTo>
                  <a:lnTo>
                    <a:pt x="28956" y="1797177"/>
                  </a:lnTo>
                  <a:lnTo>
                    <a:pt x="1841881" y="1797177"/>
                  </a:lnTo>
                  <a:lnTo>
                    <a:pt x="1841881" y="178269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526278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05628"/>
            <a:ext cx="9144000" cy="1452880"/>
          </a:xfrm>
          <a:custGeom>
            <a:avLst/>
            <a:gdLst/>
            <a:ahLst/>
            <a:cxnLst/>
            <a:rect l="l" t="t" r="r" b="b"/>
            <a:pathLst>
              <a:path w="9144000" h="1452879">
                <a:moveTo>
                  <a:pt x="0" y="1452371"/>
                </a:moveTo>
                <a:lnTo>
                  <a:pt x="9144000" y="1452371"/>
                </a:lnTo>
                <a:lnTo>
                  <a:pt x="9144000" y="0"/>
                </a:lnTo>
                <a:lnTo>
                  <a:pt x="0" y="0"/>
                </a:lnTo>
                <a:lnTo>
                  <a:pt x="0" y="1452371"/>
                </a:lnTo>
                <a:close/>
              </a:path>
            </a:pathLst>
          </a:custGeom>
          <a:solidFill>
            <a:srgbClr val="EF25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2580640"/>
            <a:chOff x="0" y="0"/>
            <a:chExt cx="9144000" cy="25806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2580640"/>
            </a:xfrm>
            <a:custGeom>
              <a:avLst/>
              <a:gdLst/>
              <a:ahLst/>
              <a:cxnLst/>
              <a:rect l="l" t="t" r="r" b="b"/>
              <a:pathLst>
                <a:path w="9144000" h="2580640">
                  <a:moveTo>
                    <a:pt x="0" y="2580132"/>
                  </a:moveTo>
                  <a:lnTo>
                    <a:pt x="9144000" y="258013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580132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7920" y="331888"/>
              <a:ext cx="975994" cy="269240"/>
            </a:xfrm>
            <a:custGeom>
              <a:avLst/>
              <a:gdLst/>
              <a:ahLst/>
              <a:cxnLst/>
              <a:rect l="l" t="t" r="r" b="b"/>
              <a:pathLst>
                <a:path w="975995" h="269240">
                  <a:moveTo>
                    <a:pt x="167652" y="127749"/>
                  </a:moveTo>
                  <a:lnTo>
                    <a:pt x="72186" y="127749"/>
                  </a:lnTo>
                  <a:lnTo>
                    <a:pt x="72186" y="146875"/>
                  </a:lnTo>
                  <a:lnTo>
                    <a:pt x="167652" y="146875"/>
                  </a:lnTo>
                  <a:lnTo>
                    <a:pt x="167652" y="127749"/>
                  </a:lnTo>
                  <a:close/>
                </a:path>
                <a:path w="975995" h="269240">
                  <a:moveTo>
                    <a:pt x="221195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12" y="268566"/>
                  </a:lnTo>
                  <a:lnTo>
                    <a:pt x="19405" y="268579"/>
                  </a:lnTo>
                  <a:lnTo>
                    <a:pt x="19405" y="17983"/>
                  </a:lnTo>
                  <a:lnTo>
                    <a:pt x="221195" y="17983"/>
                  </a:lnTo>
                  <a:lnTo>
                    <a:pt x="221195" y="0"/>
                  </a:lnTo>
                  <a:close/>
                </a:path>
                <a:path w="975995" h="269240">
                  <a:moveTo>
                    <a:pt x="298030" y="279"/>
                  </a:moveTo>
                  <a:lnTo>
                    <a:pt x="278625" y="279"/>
                  </a:lnTo>
                  <a:lnTo>
                    <a:pt x="278625" y="268770"/>
                  </a:lnTo>
                  <a:lnTo>
                    <a:pt x="298030" y="268770"/>
                  </a:lnTo>
                  <a:lnTo>
                    <a:pt x="298030" y="279"/>
                  </a:lnTo>
                  <a:close/>
                </a:path>
                <a:path w="975995" h="269240">
                  <a:moveTo>
                    <a:pt x="615454" y="148463"/>
                  </a:moveTo>
                  <a:lnTo>
                    <a:pt x="537616" y="19405"/>
                  </a:lnTo>
                  <a:lnTo>
                    <a:pt x="527050" y="1879"/>
                  </a:lnTo>
                  <a:lnTo>
                    <a:pt x="502856" y="1879"/>
                  </a:lnTo>
                  <a:lnTo>
                    <a:pt x="343814" y="267982"/>
                  </a:lnTo>
                  <a:lnTo>
                    <a:pt x="363994" y="267982"/>
                  </a:lnTo>
                  <a:lnTo>
                    <a:pt x="514565" y="19405"/>
                  </a:lnTo>
                  <a:lnTo>
                    <a:pt x="592937" y="148463"/>
                  </a:lnTo>
                  <a:lnTo>
                    <a:pt x="615454" y="148463"/>
                  </a:lnTo>
                  <a:close/>
                </a:path>
                <a:path w="975995" h="269240">
                  <a:moveTo>
                    <a:pt x="686854" y="267982"/>
                  </a:moveTo>
                  <a:lnTo>
                    <a:pt x="644944" y="198666"/>
                  </a:lnTo>
                  <a:lnTo>
                    <a:pt x="623214" y="198666"/>
                  </a:lnTo>
                  <a:lnTo>
                    <a:pt x="665899" y="267982"/>
                  </a:lnTo>
                  <a:lnTo>
                    <a:pt x="686854" y="267982"/>
                  </a:lnTo>
                  <a:close/>
                </a:path>
                <a:path w="975995" h="269240">
                  <a:moveTo>
                    <a:pt x="975372" y="53340"/>
                  </a:moveTo>
                  <a:lnTo>
                    <a:pt x="973899" y="46202"/>
                  </a:lnTo>
                  <a:lnTo>
                    <a:pt x="953922" y="20688"/>
                  </a:lnTo>
                  <a:lnTo>
                    <a:pt x="946721" y="17005"/>
                  </a:lnTo>
                  <a:lnTo>
                    <a:pt x="923048" y="4889"/>
                  </a:lnTo>
                  <a:lnTo>
                    <a:pt x="900836" y="1879"/>
                  </a:lnTo>
                  <a:lnTo>
                    <a:pt x="728764" y="1879"/>
                  </a:lnTo>
                  <a:lnTo>
                    <a:pt x="728764" y="267182"/>
                  </a:lnTo>
                  <a:lnTo>
                    <a:pt x="748169" y="267182"/>
                  </a:lnTo>
                  <a:lnTo>
                    <a:pt x="748169" y="17005"/>
                  </a:lnTo>
                  <a:lnTo>
                    <a:pt x="881659" y="17005"/>
                  </a:lnTo>
                  <a:lnTo>
                    <a:pt x="914120" y="21158"/>
                  </a:lnTo>
                  <a:lnTo>
                    <a:pt x="939380" y="33439"/>
                  </a:lnTo>
                  <a:lnTo>
                    <a:pt x="955763" y="53644"/>
                  </a:lnTo>
                  <a:lnTo>
                    <a:pt x="961593" y="81534"/>
                  </a:lnTo>
                  <a:lnTo>
                    <a:pt x="961593" y="82346"/>
                  </a:lnTo>
                  <a:lnTo>
                    <a:pt x="955624" y="109486"/>
                  </a:lnTo>
                  <a:lnTo>
                    <a:pt x="938898" y="130340"/>
                  </a:lnTo>
                  <a:lnTo>
                    <a:pt x="913142" y="143738"/>
                  </a:lnTo>
                  <a:lnTo>
                    <a:pt x="880110" y="148463"/>
                  </a:lnTo>
                  <a:lnTo>
                    <a:pt x="818019" y="148463"/>
                  </a:lnTo>
                  <a:lnTo>
                    <a:pt x="818019" y="166789"/>
                  </a:lnTo>
                  <a:lnTo>
                    <a:pt x="878560" y="166789"/>
                  </a:lnTo>
                  <a:lnTo>
                    <a:pt x="917803" y="161429"/>
                  </a:lnTo>
                  <a:lnTo>
                    <a:pt x="950442" y="145376"/>
                  </a:lnTo>
                  <a:lnTo>
                    <a:pt x="972731" y="118732"/>
                  </a:lnTo>
                  <a:lnTo>
                    <a:pt x="975372" y="106883"/>
                  </a:lnTo>
                  <a:lnTo>
                    <a:pt x="975372" y="53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5743" y="3316249"/>
            <a:ext cx="6152515" cy="129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05"/>
              </a:lnSpc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Copyright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2015</a:t>
            </a:r>
            <a:r>
              <a:rPr sz="20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sz="2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Leandro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Rubim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1839"/>
              </a:spcBef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Todos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direitos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reservados.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Reprodução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divulgação</a:t>
            </a:r>
            <a:r>
              <a:rPr sz="1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parcial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deste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expressamente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proíbido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sem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consentimento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formal,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por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escrito,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Professor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(autor).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2580132"/>
            <a:ext cx="9144000" cy="2825750"/>
          </a:xfrm>
          <a:custGeom>
            <a:avLst/>
            <a:gdLst/>
            <a:ahLst/>
            <a:cxnLst/>
            <a:rect l="l" t="t" r="r" b="b"/>
            <a:pathLst>
              <a:path w="9144000" h="2825750">
                <a:moveTo>
                  <a:pt x="9144000" y="0"/>
                </a:moveTo>
                <a:lnTo>
                  <a:pt x="0" y="0"/>
                </a:lnTo>
                <a:lnTo>
                  <a:pt x="0" y="2825495"/>
                </a:lnTo>
                <a:lnTo>
                  <a:pt x="9144000" y="2825495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33043" y="3239846"/>
            <a:ext cx="44208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Copyright</a:t>
            </a:r>
            <a:r>
              <a:rPr sz="2000" b="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©</a:t>
            </a:r>
            <a:r>
              <a:rPr sz="2000" b="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2021</a:t>
            </a:r>
            <a:r>
              <a:rPr sz="2000" b="0" spc="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spc="-30" dirty="0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sz="2000" b="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  <a:cs typeface="Calibri"/>
              </a:rPr>
              <a:t>Henrique</a:t>
            </a:r>
            <a:r>
              <a:rPr sz="2000" b="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Calibri"/>
                <a:cs typeface="Calibri"/>
              </a:rPr>
              <a:t>Cordeiro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3043" y="3779291"/>
            <a:ext cx="617791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Todos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direitos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reservados.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Reprodução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divulgação</a:t>
            </a:r>
            <a:r>
              <a:rPr sz="1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parcial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deste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documento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é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expressamente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proíbido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sem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consentimento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formal,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por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escrito,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Professor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(autor).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8283" y="331876"/>
            <a:ext cx="8065134" cy="4251325"/>
            <a:chOff x="748283" y="331876"/>
            <a:chExt cx="8065134" cy="4251325"/>
          </a:xfrm>
        </p:grpSpPr>
        <p:sp>
          <p:nvSpPr>
            <p:cNvPr id="11" name="object 11"/>
            <p:cNvSpPr/>
            <p:nvPr/>
          </p:nvSpPr>
          <p:spPr>
            <a:xfrm>
              <a:off x="748283" y="3342132"/>
              <a:ext cx="71755" cy="1240790"/>
            </a:xfrm>
            <a:custGeom>
              <a:avLst/>
              <a:gdLst/>
              <a:ahLst/>
              <a:cxnLst/>
              <a:rect l="l" t="t" r="r" b="b"/>
              <a:pathLst>
                <a:path w="71755" h="1240789">
                  <a:moveTo>
                    <a:pt x="71628" y="0"/>
                  </a:moveTo>
                  <a:lnTo>
                    <a:pt x="0" y="0"/>
                  </a:lnTo>
                  <a:lnTo>
                    <a:pt x="0" y="1240536"/>
                  </a:lnTo>
                  <a:lnTo>
                    <a:pt x="71628" y="1240536"/>
                  </a:lnTo>
                  <a:lnTo>
                    <a:pt x="71628" y="0"/>
                  </a:lnTo>
                  <a:close/>
                </a:path>
              </a:pathLst>
            </a:custGeom>
            <a:solidFill>
              <a:srgbClr val="EF25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37919" y="331888"/>
              <a:ext cx="975994" cy="269240"/>
            </a:xfrm>
            <a:custGeom>
              <a:avLst/>
              <a:gdLst/>
              <a:ahLst/>
              <a:cxnLst/>
              <a:rect l="l" t="t" r="r" b="b"/>
              <a:pathLst>
                <a:path w="975995" h="269240">
                  <a:moveTo>
                    <a:pt x="167652" y="127749"/>
                  </a:moveTo>
                  <a:lnTo>
                    <a:pt x="72186" y="127749"/>
                  </a:lnTo>
                  <a:lnTo>
                    <a:pt x="72186" y="146875"/>
                  </a:lnTo>
                  <a:lnTo>
                    <a:pt x="167652" y="146875"/>
                  </a:lnTo>
                  <a:lnTo>
                    <a:pt x="167652" y="127749"/>
                  </a:lnTo>
                  <a:close/>
                </a:path>
                <a:path w="975995" h="269240">
                  <a:moveTo>
                    <a:pt x="221195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12" y="268566"/>
                  </a:lnTo>
                  <a:lnTo>
                    <a:pt x="19405" y="268579"/>
                  </a:lnTo>
                  <a:lnTo>
                    <a:pt x="19405" y="17983"/>
                  </a:lnTo>
                  <a:lnTo>
                    <a:pt x="221195" y="17983"/>
                  </a:lnTo>
                  <a:lnTo>
                    <a:pt x="221195" y="0"/>
                  </a:lnTo>
                  <a:close/>
                </a:path>
                <a:path w="975995" h="269240">
                  <a:moveTo>
                    <a:pt x="298030" y="279"/>
                  </a:moveTo>
                  <a:lnTo>
                    <a:pt x="278625" y="279"/>
                  </a:lnTo>
                  <a:lnTo>
                    <a:pt x="278625" y="268770"/>
                  </a:lnTo>
                  <a:lnTo>
                    <a:pt x="298030" y="268770"/>
                  </a:lnTo>
                  <a:lnTo>
                    <a:pt x="298030" y="279"/>
                  </a:lnTo>
                  <a:close/>
                </a:path>
                <a:path w="975995" h="269240">
                  <a:moveTo>
                    <a:pt x="615454" y="148463"/>
                  </a:moveTo>
                  <a:lnTo>
                    <a:pt x="537616" y="19405"/>
                  </a:lnTo>
                  <a:lnTo>
                    <a:pt x="527050" y="1879"/>
                  </a:lnTo>
                  <a:lnTo>
                    <a:pt x="502856" y="1879"/>
                  </a:lnTo>
                  <a:lnTo>
                    <a:pt x="343814" y="267982"/>
                  </a:lnTo>
                  <a:lnTo>
                    <a:pt x="363994" y="267982"/>
                  </a:lnTo>
                  <a:lnTo>
                    <a:pt x="514565" y="19405"/>
                  </a:lnTo>
                  <a:lnTo>
                    <a:pt x="592937" y="148463"/>
                  </a:lnTo>
                  <a:lnTo>
                    <a:pt x="615454" y="148463"/>
                  </a:lnTo>
                  <a:close/>
                </a:path>
                <a:path w="975995" h="269240">
                  <a:moveTo>
                    <a:pt x="686854" y="267982"/>
                  </a:moveTo>
                  <a:lnTo>
                    <a:pt x="644944" y="198666"/>
                  </a:lnTo>
                  <a:lnTo>
                    <a:pt x="623214" y="198666"/>
                  </a:lnTo>
                  <a:lnTo>
                    <a:pt x="665899" y="267982"/>
                  </a:lnTo>
                  <a:lnTo>
                    <a:pt x="686854" y="267982"/>
                  </a:lnTo>
                  <a:close/>
                </a:path>
                <a:path w="975995" h="269240">
                  <a:moveTo>
                    <a:pt x="975372" y="53340"/>
                  </a:moveTo>
                  <a:lnTo>
                    <a:pt x="973899" y="46202"/>
                  </a:lnTo>
                  <a:lnTo>
                    <a:pt x="953922" y="20688"/>
                  </a:lnTo>
                  <a:lnTo>
                    <a:pt x="946721" y="17005"/>
                  </a:lnTo>
                  <a:lnTo>
                    <a:pt x="923048" y="4889"/>
                  </a:lnTo>
                  <a:lnTo>
                    <a:pt x="900836" y="1879"/>
                  </a:lnTo>
                  <a:lnTo>
                    <a:pt x="728764" y="1879"/>
                  </a:lnTo>
                  <a:lnTo>
                    <a:pt x="728764" y="267182"/>
                  </a:lnTo>
                  <a:lnTo>
                    <a:pt x="748169" y="267182"/>
                  </a:lnTo>
                  <a:lnTo>
                    <a:pt x="748169" y="17005"/>
                  </a:lnTo>
                  <a:lnTo>
                    <a:pt x="881659" y="17005"/>
                  </a:lnTo>
                  <a:lnTo>
                    <a:pt x="914120" y="21158"/>
                  </a:lnTo>
                  <a:lnTo>
                    <a:pt x="939380" y="33439"/>
                  </a:lnTo>
                  <a:lnTo>
                    <a:pt x="955763" y="53644"/>
                  </a:lnTo>
                  <a:lnTo>
                    <a:pt x="961593" y="81534"/>
                  </a:lnTo>
                  <a:lnTo>
                    <a:pt x="961593" y="82346"/>
                  </a:lnTo>
                  <a:lnTo>
                    <a:pt x="955624" y="109486"/>
                  </a:lnTo>
                  <a:lnTo>
                    <a:pt x="938898" y="130340"/>
                  </a:lnTo>
                  <a:lnTo>
                    <a:pt x="913142" y="143738"/>
                  </a:lnTo>
                  <a:lnTo>
                    <a:pt x="880110" y="148463"/>
                  </a:lnTo>
                  <a:lnTo>
                    <a:pt x="818019" y="148463"/>
                  </a:lnTo>
                  <a:lnTo>
                    <a:pt x="818019" y="166789"/>
                  </a:lnTo>
                  <a:lnTo>
                    <a:pt x="878560" y="166789"/>
                  </a:lnTo>
                  <a:lnTo>
                    <a:pt x="917803" y="161429"/>
                  </a:lnTo>
                  <a:lnTo>
                    <a:pt x="950442" y="145376"/>
                  </a:lnTo>
                  <a:lnTo>
                    <a:pt x="972731" y="118732"/>
                  </a:lnTo>
                  <a:lnTo>
                    <a:pt x="975372" y="106883"/>
                  </a:lnTo>
                  <a:lnTo>
                    <a:pt x="975372" y="53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</TotalTime>
  <Words>1783</Words>
  <Application>Microsoft Office PowerPoint</Application>
  <PresentationFormat>Apresentação na tela (4:3)</PresentationFormat>
  <Paragraphs>484</Paragraphs>
  <Slides>49</Slides>
  <Notes>9</Notes>
  <HiddenSlides>2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49</vt:i4>
      </vt:variant>
    </vt:vector>
  </HeadingPairs>
  <TitlesOfParts>
    <vt:vector size="60" baseType="lpstr">
      <vt:lpstr>Arial</vt:lpstr>
      <vt:lpstr>Calibri</vt:lpstr>
      <vt:lpstr>Courier New</vt:lpstr>
      <vt:lpstr>Gotham HTF</vt:lpstr>
      <vt:lpstr>Gotham HTF Book</vt:lpstr>
      <vt:lpstr>Gotham-Bold</vt:lpstr>
      <vt:lpstr>Gotham-Book</vt:lpstr>
      <vt:lpstr>Wingdings</vt:lpstr>
      <vt:lpstr>Office Theme</vt:lpstr>
      <vt:lpstr>2_Office Theme</vt:lpstr>
      <vt:lpstr>1_Office Theme</vt:lpstr>
      <vt:lpstr>Apresentação do PowerPoint</vt:lpstr>
      <vt:lpstr>Apresentação do PowerPoint</vt:lpstr>
      <vt:lpstr>DESIGN DE SISTEMAS INTERATIVOS</vt:lpstr>
      <vt:lpstr>Apresentação do PowerPoint</vt:lpstr>
      <vt:lpstr>MAS AFINAL, O QUE É DESIGN ?</vt:lpstr>
      <vt:lpstr>DESIGN DE SISTEMAS INTERATIVOS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PROCESSOS DE DESIGN – DESIGN THINKING</vt:lpstr>
      <vt:lpstr>PACT PESSOAS + ATIVIDADES + CONTEXTO + TECNOLOGIA</vt:lpstr>
      <vt:lpstr>PESSOAS</vt:lpstr>
      <vt:lpstr>ATIVIDADES</vt:lpstr>
      <vt:lpstr>CONTEXTOS</vt:lpstr>
      <vt:lpstr>TECNOLOGIAS</vt:lpstr>
      <vt:lpstr>Apresentação do PowerPoint</vt:lpstr>
      <vt:lpstr>PACT PESSOAS + ATIVIDADES + CONTEXTO + TECNOLOGIA</vt:lpstr>
      <vt:lpstr>ENTENDIMENTO</vt:lpstr>
      <vt:lpstr>PROCESSOS DE DESIGN – DESIGN THINKING</vt:lpstr>
      <vt:lpstr>PACT PESSOAS + ATIVIDADES + CONTEXTO + TECNOLOGIA</vt:lpstr>
      <vt:lpstr>PERSONAS</vt:lpstr>
      <vt:lpstr>PROCESSOS DE DESIGN – DESIGN THINKING</vt:lpstr>
      <vt:lpstr>PERSONAS</vt:lpstr>
      <vt:lpstr>PACT</vt:lpstr>
      <vt:lpstr>CHECKPOINT 1 - Personas</vt:lpstr>
      <vt:lpstr>CONTEXTO E ARQUITETURA PRELIMINAR</vt:lpstr>
      <vt:lpstr>PERSONAS DISNEY MOVIES</vt:lpstr>
      <vt:lpstr>Apresentação do PowerPoint</vt:lpstr>
      <vt:lpstr>PERSONAS DISNEY MOVIES</vt:lpstr>
      <vt:lpstr>PERSONAS DISNEY MOVIES</vt:lpstr>
      <vt:lpstr>PERSONAS DISNEY MOVIES</vt:lpstr>
      <vt:lpstr>PERSONAS DISNEY MOVIES</vt:lpstr>
      <vt:lpstr>PERSONAS DISNEY MOVIES</vt:lpstr>
      <vt:lpstr>PERSONAS DISNEY MOVIES</vt:lpstr>
      <vt:lpstr>PERSONAS DISNEY MOVIES</vt:lpstr>
      <vt:lpstr>PERSONAS DISNEY MOVIES</vt:lpstr>
      <vt:lpstr>ENTENDIMENTO</vt:lpstr>
      <vt:lpstr>PACT</vt:lpstr>
      <vt:lpstr>Copyright © 2021 Prof. Henrique Cordeiro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José Henrique Dell'Osso Cordeiro</cp:lastModifiedBy>
  <cp:revision>22</cp:revision>
  <dcterms:created xsi:type="dcterms:W3CDTF">2024-02-22T20:35:01Z</dcterms:created>
  <dcterms:modified xsi:type="dcterms:W3CDTF">2026-02-25T01:45:21Z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2024-02-22T00:00:00Z</vt:filetime>
  </property>
  <property fmtid="{D5CDD505-2E9C-101B-9397-08002B2CF9AE}" pid="5" name="Producer">
    <vt:lpwstr>Microsoft® PowerPoint® 2019</vt:lpwstr>
  </property>
</Properties>
</file>