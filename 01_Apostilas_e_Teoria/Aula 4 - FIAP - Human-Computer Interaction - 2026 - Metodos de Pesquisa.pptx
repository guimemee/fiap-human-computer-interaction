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43"/>
  </p:notesMasterIdLst>
  <p:handoutMasterIdLst>
    <p:handoutMasterId r:id="rId44"/>
  </p:handoutMasterIdLst>
  <p:sldIdLst>
    <p:sldId id="266" r:id="rId3"/>
    <p:sldId id="803" r:id="rId4"/>
    <p:sldId id="804" r:id="rId5"/>
    <p:sldId id="794" r:id="rId6"/>
    <p:sldId id="796" r:id="rId7"/>
    <p:sldId id="801" r:id="rId8"/>
    <p:sldId id="800" r:id="rId9"/>
    <p:sldId id="802" r:id="rId10"/>
    <p:sldId id="668" r:id="rId11"/>
    <p:sldId id="797" r:id="rId12"/>
    <p:sldId id="669" r:id="rId13"/>
    <p:sldId id="629" r:id="rId14"/>
    <p:sldId id="670" r:id="rId15"/>
    <p:sldId id="683" r:id="rId16"/>
    <p:sldId id="667" r:id="rId17"/>
    <p:sldId id="682" r:id="rId18"/>
    <p:sldId id="631" r:id="rId19"/>
    <p:sldId id="635" r:id="rId20"/>
    <p:sldId id="633" r:id="rId21"/>
    <p:sldId id="634" r:id="rId22"/>
    <p:sldId id="637" r:id="rId23"/>
    <p:sldId id="638" r:id="rId24"/>
    <p:sldId id="636" r:id="rId25"/>
    <p:sldId id="681" r:id="rId26"/>
    <p:sldId id="672" r:id="rId27"/>
    <p:sldId id="684" r:id="rId28"/>
    <p:sldId id="671" r:id="rId29"/>
    <p:sldId id="673" r:id="rId30"/>
    <p:sldId id="798" r:id="rId31"/>
    <p:sldId id="799" r:id="rId32"/>
    <p:sldId id="632" r:id="rId33"/>
    <p:sldId id="677" r:id="rId34"/>
    <p:sldId id="296" r:id="rId35"/>
    <p:sldId id="297" r:id="rId36"/>
    <p:sldId id="298" r:id="rId37"/>
    <p:sldId id="676" r:id="rId38"/>
    <p:sldId id="308" r:id="rId39"/>
    <p:sldId id="678" r:id="rId40"/>
    <p:sldId id="702" r:id="rId41"/>
    <p:sldId id="701" r:id="rId42"/>
  </p:sldIdLst>
  <p:sldSz cx="12192000" cy="6858000"/>
  <p:notesSz cx="7104063" cy="102346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7EC9EA"/>
    <a:srgbClr val="EAEAEA"/>
    <a:srgbClr val="4F81BD"/>
    <a:srgbClr val="C5D8A0"/>
    <a:srgbClr val="A3C167"/>
    <a:srgbClr val="FFFF99"/>
    <a:srgbClr val="B2B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7" autoAdjust="0"/>
    <p:restoredTop sz="94660"/>
  </p:normalViewPr>
  <p:slideViewPr>
    <p:cSldViewPr snapToGrid="0">
      <p:cViewPr varScale="1">
        <p:scale>
          <a:sx n="64" d="100"/>
          <a:sy n="64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7" d="100"/>
          <a:sy n="77" d="100"/>
        </p:scale>
        <p:origin x="289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9B5ECE46-F879-4AF9-012A-6C551603C3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9062" tIns="49531" rIns="99062" bIns="49531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A713F32-BBDE-8ED4-B606-7AA7541BBE1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3992" y="1"/>
            <a:ext cx="3078427" cy="513508"/>
          </a:xfrm>
          <a:prstGeom prst="rect">
            <a:avLst/>
          </a:prstGeom>
        </p:spPr>
        <p:txBody>
          <a:bodyPr vert="horz" lIns="99062" tIns="49531" rIns="99062" bIns="49531" rtlCol="0"/>
          <a:lstStyle>
            <a:lvl1pPr algn="r">
              <a:defRPr sz="1300"/>
            </a:lvl1pPr>
          </a:lstStyle>
          <a:p>
            <a:fld id="{8E6A2204-6490-4A8E-B249-FCBD8F387A43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0E7F888-2BED-F58E-D2B0-1F19BF8B862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9721108"/>
            <a:ext cx="3078427" cy="513507"/>
          </a:xfrm>
          <a:prstGeom prst="rect">
            <a:avLst/>
          </a:prstGeom>
        </p:spPr>
        <p:txBody>
          <a:bodyPr vert="horz" lIns="99062" tIns="49531" rIns="99062" bIns="49531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AF6760A-F6AB-4F06-C1CC-2F64893F0AF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3992" y="9721108"/>
            <a:ext cx="3078427" cy="513507"/>
          </a:xfrm>
          <a:prstGeom prst="rect">
            <a:avLst/>
          </a:prstGeom>
        </p:spPr>
        <p:txBody>
          <a:bodyPr vert="horz" lIns="99062" tIns="49531" rIns="99062" bIns="49531" rtlCol="0" anchor="b"/>
          <a:lstStyle>
            <a:lvl1pPr algn="r">
              <a:defRPr sz="1300"/>
            </a:lvl1pPr>
          </a:lstStyle>
          <a:p>
            <a:fld id="{8C51259F-B4DA-465C-A8BE-F67F27E123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5469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9062" tIns="49531" rIns="99062" bIns="49531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3508"/>
          </a:xfrm>
          <a:prstGeom prst="rect">
            <a:avLst/>
          </a:prstGeom>
        </p:spPr>
        <p:txBody>
          <a:bodyPr vert="horz" lIns="99062" tIns="49531" rIns="99062" bIns="49531" rtlCol="0"/>
          <a:lstStyle>
            <a:lvl1pPr algn="r">
              <a:defRPr sz="1300"/>
            </a:lvl1pPr>
          </a:lstStyle>
          <a:p>
            <a:fld id="{9291BD56-EDD4-4867-A260-2517A102ED93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2" tIns="49531" rIns="99062" bIns="49531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9062" tIns="49531" rIns="99062" bIns="49531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1" y="9721108"/>
            <a:ext cx="3078427" cy="513507"/>
          </a:xfrm>
          <a:prstGeom prst="rect">
            <a:avLst/>
          </a:prstGeom>
        </p:spPr>
        <p:txBody>
          <a:bodyPr vert="horz" lIns="99062" tIns="49531" rIns="99062" bIns="49531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3992" y="9721108"/>
            <a:ext cx="3078427" cy="513507"/>
          </a:xfrm>
          <a:prstGeom prst="rect">
            <a:avLst/>
          </a:prstGeom>
        </p:spPr>
        <p:txBody>
          <a:bodyPr vert="horz" lIns="99062" tIns="49531" rIns="99062" bIns="49531" rtlCol="0" anchor="b"/>
          <a:lstStyle>
            <a:lvl1pPr algn="r">
              <a:defRPr sz="1300"/>
            </a:lvl1pPr>
          </a:lstStyle>
          <a:p>
            <a:fld id="{6D662BE5-F404-495E-99CB-845127BCCF9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9771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32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  <p:sp>
        <p:nvSpPr>
          <p:cNvPr id="2232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850601" indent="-327155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308616" indent="-261722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832063" indent="-261722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355511" indent="-261722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878957" indent="-26172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3402405" indent="-26172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925851" indent="-26172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4449298" indent="-26172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/>
            <a:fld id="{1A471366-F2D2-41E5-A033-0AA612C44048}" type="slidenum">
              <a:rPr lang="pt-BR" altLang="pt-BR">
                <a:latin typeface="Arial" panose="020B0604020202020204" pitchFamily="34" charset="0"/>
              </a:rPr>
              <a:pPr eaLnBrk="1" hangingPunct="1"/>
              <a:t>9</a:t>
            </a:fld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2135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A4F4E-77BE-9D56-C5CA-4CB210AC2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Espaço Reservado para Imagem de Slide 1">
            <a:extLst>
              <a:ext uri="{FF2B5EF4-FFF2-40B4-BE49-F238E27FC236}">
                <a16:creationId xmlns:a16="http://schemas.microsoft.com/office/drawing/2014/main" id="{3ADAB3ED-35E9-2D09-61A2-DCA0EA99321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3235" name="Espaço Reservado para Anotações 2">
            <a:extLst>
              <a:ext uri="{FF2B5EF4-FFF2-40B4-BE49-F238E27FC236}">
                <a16:creationId xmlns:a16="http://schemas.microsoft.com/office/drawing/2014/main" id="{97556FE8-D6AC-A801-2D9F-885951F884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  <p:sp>
        <p:nvSpPr>
          <p:cNvPr id="223236" name="Espaço Reservado para Número de Slide 3">
            <a:extLst>
              <a:ext uri="{FF2B5EF4-FFF2-40B4-BE49-F238E27FC236}">
                <a16:creationId xmlns:a16="http://schemas.microsoft.com/office/drawing/2014/main" id="{36B44EB3-39AF-A92D-822D-D9755CFE8A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850601" indent="-327155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308616" indent="-261722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832063" indent="-261722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355511" indent="-261722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878957" indent="-26172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3402405" indent="-26172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925851" indent="-26172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4449298" indent="-26172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/>
            <a:fld id="{1A471366-F2D2-41E5-A033-0AA612C44048}" type="slidenum">
              <a:rPr lang="pt-BR" altLang="pt-BR">
                <a:latin typeface="Arial" panose="020B0604020202020204" pitchFamily="34" charset="0"/>
              </a:rPr>
              <a:pPr eaLnBrk="1" hangingPunct="1"/>
              <a:t>10</a:t>
            </a:fld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92355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32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  <p:sp>
        <p:nvSpPr>
          <p:cNvPr id="2232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850601" indent="-327155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308616" indent="-261722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832063" indent="-261722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355511" indent="-261722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878957" indent="-26172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3402405" indent="-26172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925851" indent="-26172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4449298" indent="-26172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/>
            <a:fld id="{1A471366-F2D2-41E5-A033-0AA612C44048}" type="slidenum">
              <a:rPr lang="pt-BR" altLang="pt-BR">
                <a:latin typeface="Arial" panose="020B0604020202020204" pitchFamily="34" charset="0"/>
              </a:rPr>
              <a:pPr eaLnBrk="1" hangingPunct="1"/>
              <a:t>11</a:t>
            </a:fld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10328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4259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  <p:sp>
        <p:nvSpPr>
          <p:cNvPr id="224260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850601" indent="-327155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308616" indent="-261722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832063" indent="-261722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355511" indent="-261722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878957" indent="-26172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3402405" indent="-26172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925851" indent="-26172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4449298" indent="-26172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/>
            <a:fld id="{7BA4FDD4-0935-4993-A02E-9B88BB5BE5C1}" type="slidenum">
              <a:rPr lang="pt-BR" altLang="pt-BR">
                <a:latin typeface="Arial" panose="020B0604020202020204" pitchFamily="34" charset="0"/>
              </a:rPr>
              <a:pPr eaLnBrk="1" hangingPunct="1"/>
              <a:t>12</a:t>
            </a:fld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90671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32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  <p:sp>
        <p:nvSpPr>
          <p:cNvPr id="2232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850601" indent="-327155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308616" indent="-261722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832063" indent="-261722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355511" indent="-261722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878957" indent="-26172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3402405" indent="-26172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925851" indent="-26172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4449298" indent="-26172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/>
            <a:fld id="{1A471366-F2D2-41E5-A033-0AA612C44048}" type="slidenum">
              <a:rPr lang="pt-BR" altLang="pt-BR">
                <a:latin typeface="Arial" panose="020B0604020202020204" pitchFamily="34" charset="0"/>
              </a:rPr>
              <a:pPr eaLnBrk="1" hangingPunct="1"/>
              <a:t>13</a:t>
            </a:fld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23160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32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  <p:sp>
        <p:nvSpPr>
          <p:cNvPr id="2232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850601" indent="-327155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308616" indent="-261722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832063" indent="-261722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355511" indent="-261722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878957" indent="-26172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3402405" indent="-26172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925851" indent="-26172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4449298" indent="-26172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/>
            <a:fld id="{1A471366-F2D2-41E5-A033-0AA612C44048}" type="slidenum">
              <a:rPr lang="pt-BR" altLang="pt-BR">
                <a:latin typeface="Arial" panose="020B0604020202020204" pitchFamily="34" charset="0"/>
              </a:rPr>
              <a:pPr eaLnBrk="1" hangingPunct="1"/>
              <a:t>14</a:t>
            </a:fld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26764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283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  <p:sp>
        <p:nvSpPr>
          <p:cNvPr id="225284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850601" indent="-327155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308616" indent="-261722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832063" indent="-261722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355511" indent="-261722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878957" indent="-26172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3402405" indent="-26172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925851" indent="-26172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4449298" indent="-26172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/>
            <a:fld id="{03D11F98-23FA-4422-AE49-98C19B852B74}" type="slidenum">
              <a:rPr lang="pt-BR" altLang="pt-BR">
                <a:latin typeface="Arial" panose="020B0604020202020204" pitchFamily="34" charset="0"/>
              </a:rPr>
              <a:pPr eaLnBrk="1" hangingPunct="1"/>
              <a:t>15</a:t>
            </a:fld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45362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32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  <p:sp>
        <p:nvSpPr>
          <p:cNvPr id="2232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850601" indent="-327155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308616" indent="-261722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832063" indent="-261722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355511" indent="-261722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878957" indent="-26172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3402405" indent="-26172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925851" indent="-26172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4449298" indent="-26172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/>
            <a:fld id="{1A471366-F2D2-41E5-A033-0AA612C44048}" type="slidenum">
              <a:rPr lang="pt-BR" altLang="pt-BR">
                <a:latin typeface="Arial" panose="020B0604020202020204" pitchFamily="34" charset="0"/>
              </a:rPr>
              <a:pPr eaLnBrk="1" hangingPunct="1"/>
              <a:t>16</a:t>
            </a:fld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97807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6307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  <p:sp>
        <p:nvSpPr>
          <p:cNvPr id="226308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850601" indent="-327155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308616" indent="-261722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832063" indent="-261722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355511" indent="-261722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878957" indent="-26172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3402405" indent="-26172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925851" indent="-26172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4449298" indent="-26172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/>
            <a:fld id="{F29F8C19-560B-4C73-B03D-88527EA54AAA}" type="slidenum">
              <a:rPr lang="pt-BR" altLang="pt-BR">
                <a:latin typeface="Arial" panose="020B0604020202020204" pitchFamily="34" charset="0"/>
              </a:rPr>
              <a:pPr eaLnBrk="1" hangingPunct="1"/>
              <a:t>17</a:t>
            </a:fld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6994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6307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  <p:sp>
        <p:nvSpPr>
          <p:cNvPr id="226308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85150" indent="-301981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207922" indent="-241584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91091" indent="-241584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174260" indent="-241584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657429" indent="-24158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3140598" indent="-24158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623767" indent="-24158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4106936" indent="-24158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/>
            <a:fld id="{F29F8C19-560B-4C73-B03D-88527EA54AAA}" type="slidenum">
              <a:rPr lang="pt-BR" altLang="pt-BR">
                <a:latin typeface="Arial" panose="020B0604020202020204" pitchFamily="34" charset="0"/>
              </a:rPr>
              <a:pPr eaLnBrk="1" hangingPunct="1"/>
              <a:t>19</a:t>
            </a:fld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404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6307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  <p:sp>
        <p:nvSpPr>
          <p:cNvPr id="226308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85150" indent="-301981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207922" indent="-241584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91091" indent="-241584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174260" indent="-241584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657429" indent="-24158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3140598" indent="-24158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623767" indent="-24158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4106936" indent="-24158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/>
            <a:fld id="{F29F8C19-560B-4C73-B03D-88527EA54AAA}" type="slidenum">
              <a:rPr lang="pt-BR" altLang="pt-BR">
                <a:latin typeface="Arial" panose="020B0604020202020204" pitchFamily="34" charset="0"/>
              </a:rPr>
              <a:pPr eaLnBrk="1" hangingPunct="1"/>
              <a:t>20</a:t>
            </a:fld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81717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6307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  <p:sp>
        <p:nvSpPr>
          <p:cNvPr id="226308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85150" indent="-301981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207922" indent="-241584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91091" indent="-241584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174260" indent="-241584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657429" indent="-24158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3140598" indent="-24158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623767" indent="-24158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4106936" indent="-24158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/>
            <a:fld id="{F29F8C19-560B-4C73-B03D-88527EA54AAA}" type="slidenum">
              <a:rPr lang="pt-BR" altLang="pt-BR">
                <a:latin typeface="Arial" panose="020B0604020202020204" pitchFamily="34" charset="0"/>
              </a:rPr>
              <a:pPr eaLnBrk="1" hangingPunct="1"/>
              <a:t>21</a:t>
            </a:fld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03751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6307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  <p:sp>
        <p:nvSpPr>
          <p:cNvPr id="226308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85150" indent="-301981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207922" indent="-241584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91091" indent="-241584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174260" indent="-241584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657429" indent="-24158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3140598" indent="-24158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623767" indent="-24158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4106936" indent="-24158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/>
            <a:fld id="{F29F8C19-560B-4C73-B03D-88527EA54AAA}" type="slidenum">
              <a:rPr lang="pt-BR" altLang="pt-BR">
                <a:latin typeface="Arial" panose="020B0604020202020204" pitchFamily="34" charset="0"/>
              </a:rPr>
              <a:pPr eaLnBrk="1" hangingPunct="1"/>
              <a:t>22</a:t>
            </a:fld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0334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6307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  <p:sp>
        <p:nvSpPr>
          <p:cNvPr id="226308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85150" indent="-301981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207922" indent="-241584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91091" indent="-241584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174260" indent="-241584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657429" indent="-24158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3140598" indent="-24158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623767" indent="-24158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4106936" indent="-24158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/>
            <a:fld id="{F29F8C19-560B-4C73-B03D-88527EA54AAA}" type="slidenum">
              <a:rPr lang="pt-BR" altLang="pt-BR">
                <a:latin typeface="Arial" panose="020B0604020202020204" pitchFamily="34" charset="0"/>
              </a:rPr>
              <a:pPr eaLnBrk="1" hangingPunct="1"/>
              <a:t>23</a:t>
            </a:fld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43669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32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  <p:sp>
        <p:nvSpPr>
          <p:cNvPr id="2232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850601" indent="-327155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308616" indent="-261722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832063" indent="-261722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355511" indent="-261722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878957" indent="-26172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3402405" indent="-26172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925851" indent="-26172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4449298" indent="-26172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/>
            <a:fld id="{1A471366-F2D2-41E5-A033-0AA612C44048}" type="slidenum">
              <a:rPr lang="pt-BR" altLang="pt-BR">
                <a:latin typeface="Arial" panose="020B0604020202020204" pitchFamily="34" charset="0"/>
              </a:rPr>
              <a:pPr eaLnBrk="1" hangingPunct="1"/>
              <a:t>24</a:t>
            </a:fld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58456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6307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  <p:sp>
        <p:nvSpPr>
          <p:cNvPr id="226308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850601" indent="-327155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308616" indent="-261722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832063" indent="-261722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355511" indent="-261722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878957" indent="-26172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3402405" indent="-26172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925851" indent="-26172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4449298" indent="-26172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/>
            <a:fld id="{F29F8C19-560B-4C73-B03D-88527EA54AAA}" type="slidenum">
              <a:rPr lang="pt-BR" altLang="pt-BR">
                <a:latin typeface="Arial" panose="020B0604020202020204" pitchFamily="34" charset="0"/>
              </a:rPr>
              <a:pPr eaLnBrk="1" hangingPunct="1"/>
              <a:t>25</a:t>
            </a:fld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38882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32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  <p:sp>
        <p:nvSpPr>
          <p:cNvPr id="2232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850601" indent="-327155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308616" indent="-261722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832063" indent="-261722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355511" indent="-261722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878957" indent="-26172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3402405" indent="-26172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925851" indent="-26172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4449298" indent="-26172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/>
            <a:fld id="{1A471366-F2D2-41E5-A033-0AA612C44048}" type="slidenum">
              <a:rPr lang="pt-BR" altLang="pt-BR">
                <a:latin typeface="Arial" panose="020B0604020202020204" pitchFamily="34" charset="0"/>
              </a:rPr>
              <a:pPr eaLnBrk="1" hangingPunct="1"/>
              <a:t>26</a:t>
            </a:fld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41737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6307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  <p:sp>
        <p:nvSpPr>
          <p:cNvPr id="226308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850601" indent="-327155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308616" indent="-261722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832063" indent="-261722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355511" indent="-261722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878957" indent="-26172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3402405" indent="-26172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925851" indent="-26172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4449298" indent="-26172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/>
            <a:fld id="{F29F8C19-560B-4C73-B03D-88527EA54AAA}" type="slidenum">
              <a:rPr lang="pt-BR" altLang="pt-BR">
                <a:latin typeface="Arial" panose="020B0604020202020204" pitchFamily="34" charset="0"/>
              </a:rPr>
              <a:pPr eaLnBrk="1" hangingPunct="1"/>
              <a:t>27</a:t>
            </a:fld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29349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32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  <p:sp>
        <p:nvSpPr>
          <p:cNvPr id="2232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850601" indent="-327155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308616" indent="-261722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832063" indent="-261722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355511" indent="-261722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878957" indent="-26172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3402405" indent="-26172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925851" indent="-26172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4449298" indent="-26172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/>
            <a:fld id="{1A471366-F2D2-41E5-A033-0AA612C44048}" type="slidenum">
              <a:rPr lang="pt-BR" altLang="pt-BR">
                <a:latin typeface="Arial" panose="020B0604020202020204" pitchFamily="34" charset="0"/>
              </a:rPr>
              <a:pPr eaLnBrk="1" hangingPunct="1"/>
              <a:t>28</a:t>
            </a:fld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03487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9EE55-DFE8-17E9-8967-7E3A27F72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Espaço Reservado para Imagem de Slide 1">
            <a:extLst>
              <a:ext uri="{FF2B5EF4-FFF2-40B4-BE49-F238E27FC236}">
                <a16:creationId xmlns:a16="http://schemas.microsoft.com/office/drawing/2014/main" id="{97B59E0E-2030-AB06-D505-FD8FB1E3885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3235" name="Espaço Reservado para Anotações 2">
            <a:extLst>
              <a:ext uri="{FF2B5EF4-FFF2-40B4-BE49-F238E27FC236}">
                <a16:creationId xmlns:a16="http://schemas.microsoft.com/office/drawing/2014/main" id="{46E59502-B896-B041-B0A2-271F90ED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  <p:sp>
        <p:nvSpPr>
          <p:cNvPr id="223236" name="Espaço Reservado para Número de Slide 3">
            <a:extLst>
              <a:ext uri="{FF2B5EF4-FFF2-40B4-BE49-F238E27FC236}">
                <a16:creationId xmlns:a16="http://schemas.microsoft.com/office/drawing/2014/main" id="{55AACC8E-DF6E-B041-FDF3-5AE2EECA14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850601" indent="-327155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308616" indent="-261722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832063" indent="-261722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355511" indent="-261722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878957" indent="-26172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3402405" indent="-26172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925851" indent="-26172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4449298" indent="-26172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/>
            <a:fld id="{1A471366-F2D2-41E5-A033-0AA612C44048}" type="slidenum">
              <a:rPr lang="pt-BR" altLang="pt-BR">
                <a:latin typeface="Arial" panose="020B0604020202020204" pitchFamily="34" charset="0"/>
              </a:rPr>
              <a:pPr eaLnBrk="1" hangingPunct="1"/>
              <a:t>29</a:t>
            </a:fld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2354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D3C33-AF2C-1B92-C253-C1CB844EC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Espaço Reservado para Imagem de Slide 1">
            <a:extLst>
              <a:ext uri="{FF2B5EF4-FFF2-40B4-BE49-F238E27FC236}">
                <a16:creationId xmlns:a16="http://schemas.microsoft.com/office/drawing/2014/main" id="{426450EF-8A4F-37E2-865D-5E702F66A36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3235" name="Espaço Reservado para Anotações 2">
            <a:extLst>
              <a:ext uri="{FF2B5EF4-FFF2-40B4-BE49-F238E27FC236}">
                <a16:creationId xmlns:a16="http://schemas.microsoft.com/office/drawing/2014/main" id="{BA1193B6-D151-8523-042A-891B94D08C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  <p:sp>
        <p:nvSpPr>
          <p:cNvPr id="223236" name="Espaço Reservado para Número de Slide 3">
            <a:extLst>
              <a:ext uri="{FF2B5EF4-FFF2-40B4-BE49-F238E27FC236}">
                <a16:creationId xmlns:a16="http://schemas.microsoft.com/office/drawing/2014/main" id="{33F4F2FD-A0D2-4D78-C75E-CED026E4E3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850601" indent="-327155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308616" indent="-261722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832063" indent="-261722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355511" indent="-261722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878957" indent="-26172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3402405" indent="-26172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925851" indent="-26172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4449298" indent="-26172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/>
            <a:fld id="{1A471366-F2D2-41E5-A033-0AA612C44048}" type="slidenum">
              <a:rPr lang="pt-BR" altLang="pt-BR">
                <a:latin typeface="Arial" panose="020B0604020202020204" pitchFamily="34" charset="0"/>
              </a:rPr>
              <a:pPr eaLnBrk="1" hangingPunct="1"/>
              <a:t>30</a:t>
            </a:fld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832570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7331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  <p:sp>
        <p:nvSpPr>
          <p:cNvPr id="227332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850601" indent="-327155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308616" indent="-261722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832063" indent="-261722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355511" indent="-261722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878957" indent="-26172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3402405" indent="-26172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925851" indent="-26172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4449298" indent="-26172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/>
            <a:fld id="{C000C451-BB70-4D0C-BE7F-1314072E6E0D}" type="slidenum">
              <a:rPr lang="pt-BR" altLang="pt-BR">
                <a:latin typeface="Arial" panose="020B0604020202020204" pitchFamily="34" charset="0"/>
              </a:rPr>
              <a:pPr eaLnBrk="1" hangingPunct="1"/>
              <a:t>31</a:t>
            </a:fld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537094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799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04485-93AC-D135-D23E-9642176481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A44B514-71AC-D311-E699-D14A8A5B89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F09913E-C41E-5D10-E46B-32E174AF0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469CB-E24C-4ECE-BE64-84D9FB37FD73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FC43AF-D952-FC4E-77A9-68F937831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A881DCC-F020-64EA-AB04-61134FD13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30BD5C36-69C2-47EB-8346-250F31214B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4481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734A8B-813B-B420-3E0C-8EA54C54D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2C402C-CE48-0DD9-9EB8-E101C1E408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BB248D5-4626-FEBC-3224-F56BF7612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469CB-E24C-4ECE-BE64-84D9FB37FD73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E3595CF-725E-0FE0-C6C2-F0494C940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F6189A4-9D47-0229-4467-50BDDC6E8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30BD5C36-69C2-47EB-8346-250F31214B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2284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378B16-83F9-C8FD-7F0C-48B7E26CA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5D3BC51-7B03-E9A9-BC49-05B4D1D2FB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682EEC3-A46E-F4F4-A8F7-33DCBDBF6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469CB-E24C-4ECE-BE64-84D9FB37FD73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B58A4D8-A837-4E10-3C3D-63C56AF29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0A63888-C841-DC11-078D-6B65B50A3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30BD5C36-69C2-47EB-8346-250F31214B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3450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990916-3EA5-CBAE-8727-D3751FE4F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71F76CC-6F44-0C61-02BF-48ED89A54D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2A1640C-6167-4E00-36B9-347DF06C0F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806342C-DC8C-C002-52FE-40E947E5E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469CB-E24C-4ECE-BE64-84D9FB37FD73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23E144B-DAF5-08C1-6A9A-F816A9B4C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8255528-76AB-5BE6-472F-0BCC788F2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30BD5C36-69C2-47EB-8346-250F31214B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8687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8B30CA-A826-F5B1-B523-A243817FF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ED9D315-84F1-87CD-E09C-0886E75089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1466FA2-AAC2-D714-FAA0-858D8A9AE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9B25133-41DA-D24B-54A6-80E30E90E1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5956CC1-6B07-C942-E7FF-5C0C827AED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CBE072F-E8DE-8E78-CD28-59D9E477B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469CB-E24C-4ECE-BE64-84D9FB37FD73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6A3DBC5-FDA5-C525-1A1E-67EE62784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E5FEA72-CEEC-F580-D4AF-8C1717789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30BD5C36-69C2-47EB-8346-250F31214B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1671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290C7C-4AB1-7E94-B28B-6C005AE4C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137CBB1-793F-4FA1-0267-912F9329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469CB-E24C-4ECE-BE64-84D9FB37FD73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8B3A159-2287-4A7E-0FB3-17E00D0EF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452F97A-BA28-C9A4-C633-D20F69059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30BD5C36-69C2-47EB-8346-250F31214B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2596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F2D8D33-36AC-F9A2-27E5-D620639B6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469CB-E24C-4ECE-BE64-84D9FB37FD73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CAEFBB7-E037-E229-3E64-3A3460241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D66496A-9766-B2C6-4D9C-180FB4EE4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30BD5C36-69C2-47EB-8346-250F31214B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9676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970166-54B7-0F9B-D306-22ABAD63B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B4186B4-4DF0-099B-91E5-EEB79979F8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10C323D-CE8F-B39B-4C2B-DB3A76A910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92006E7-C40E-7DF0-500C-57550E183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469CB-E24C-4ECE-BE64-84D9FB37FD73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47A58BA-9462-EB74-E89E-5989B903E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A539A25-67D0-EA9B-45B2-7DB94BC89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30BD5C36-69C2-47EB-8346-250F31214B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7324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097B40-15E8-A690-C015-7A7D3BE67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6FD4350-4D36-E383-EB6C-EE9005CD6C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FF69A87-E50E-FA11-A1DB-B6ACAF4E21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021C1A9-7394-C115-996C-4D854D2C8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469CB-E24C-4ECE-BE64-84D9FB37FD73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5941B1-28B4-3052-F4D3-5C398DA8E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7CB758F-39DA-E8F2-0666-06D7B471C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30BD5C36-69C2-47EB-8346-250F31214B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2949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CB051D-3EF3-3CC4-479C-11CE7CDA2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F97651C-331D-9D33-5473-01FA84F762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6E171E6-8254-B9D4-4068-B75E01AF3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469CB-E24C-4ECE-BE64-84D9FB37FD73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BB5919D-72EA-5233-248C-0D811E4ED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A77BC40-7316-65D8-3869-5FDBB770B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30BD5C36-69C2-47EB-8346-250F31214B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9380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1DE621E-E6D5-EACA-9BD4-66C00BF209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426E59F-8C63-F3B6-783F-E3C19BA729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BA66FAF-70E6-02F9-FA91-FE0153C17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469CB-E24C-4ECE-BE64-84D9FB37FD73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EB52B61-FDBB-C936-CF28-F4B1C275D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5AF60BC-FB0A-FF2A-A060-014C94D65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30BD5C36-69C2-47EB-8346-250F31214B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98973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1219200" y="749902"/>
            <a:ext cx="9856269" cy="471234"/>
          </a:xfrm>
        </p:spPr>
        <p:txBody>
          <a:bodyPr>
            <a:normAutofit/>
          </a:bodyPr>
          <a:lstStyle>
            <a:lvl1pPr algn="l">
              <a:defRPr sz="2800" b="1">
                <a:latin typeface="Calibri" panose="020F0502020204030204" pitchFamily="34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10" name="Rectangle 20"/>
          <p:cNvSpPr/>
          <p:nvPr userDrawn="1"/>
        </p:nvSpPr>
        <p:spPr>
          <a:xfrm>
            <a:off x="1020505" y="843279"/>
            <a:ext cx="96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47308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ço Reservado para Imagem 10"/>
          <p:cNvSpPr>
            <a:spLocks noGrp="1"/>
          </p:cNvSpPr>
          <p:nvPr>
            <p:ph type="pic" sz="quarter" idx="13"/>
          </p:nvPr>
        </p:nvSpPr>
        <p:spPr>
          <a:xfrm>
            <a:off x="1219200" y="1600199"/>
            <a:ext cx="3833707" cy="4249172"/>
          </a:xfrm>
        </p:spPr>
        <p:txBody>
          <a:bodyPr/>
          <a:lstStyle/>
          <a:p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44153" y="1600201"/>
            <a:ext cx="5610495" cy="2933299"/>
          </a:xfrm>
        </p:spPr>
        <p:txBody>
          <a:bodyPr>
            <a:normAutofit/>
          </a:bodyPr>
          <a:lstStyle>
            <a:lvl1pPr>
              <a:defRPr sz="1600">
                <a:latin typeface="Calibri" panose="020F0502020204030204" pitchFamily="34" charset="0"/>
              </a:defRPr>
            </a:lvl1pPr>
            <a:lvl2pPr>
              <a:defRPr sz="1600">
                <a:latin typeface="Calibri" panose="020F0502020204030204" pitchFamily="34" charset="0"/>
              </a:defRPr>
            </a:lvl2pPr>
            <a:lvl3pPr>
              <a:defRPr sz="1600">
                <a:latin typeface="Calibri" panose="020F0502020204030204" pitchFamily="34" charset="0"/>
              </a:defRPr>
            </a:lvl3pPr>
            <a:lvl4pPr>
              <a:defRPr sz="1600">
                <a:latin typeface="Calibri" panose="020F0502020204030204" pitchFamily="34" charset="0"/>
              </a:defRPr>
            </a:lvl4pPr>
            <a:lvl5pPr>
              <a:defRPr sz="1600">
                <a:latin typeface="Calibri" panose="020F0502020204030204" pitchFamily="34" charset="0"/>
              </a:defRPr>
            </a:lvl5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7" name="Rectangle 20"/>
          <p:cNvSpPr/>
          <p:nvPr userDrawn="1"/>
        </p:nvSpPr>
        <p:spPr>
          <a:xfrm>
            <a:off x="1020505" y="804780"/>
            <a:ext cx="96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TextBox 9"/>
          <p:cNvSpPr txBox="1"/>
          <p:nvPr userDrawn="1"/>
        </p:nvSpPr>
        <p:spPr>
          <a:xfrm>
            <a:off x="1262832" y="748344"/>
            <a:ext cx="6494029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SHORT BIO</a:t>
            </a:r>
          </a:p>
        </p:txBody>
      </p:sp>
      <p:sp>
        <p:nvSpPr>
          <p:cNvPr id="8" name="Rectangle 19"/>
          <p:cNvSpPr/>
          <p:nvPr userDrawn="1"/>
        </p:nvSpPr>
        <p:spPr>
          <a:xfrm>
            <a:off x="5052907" y="4911964"/>
            <a:ext cx="6101740" cy="9566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aseline="-25000"/>
          </a:p>
        </p:txBody>
      </p:sp>
      <p:sp>
        <p:nvSpPr>
          <p:cNvPr id="10" name="Espaço Reservado para Texto 9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5454651" y="5039804"/>
            <a:ext cx="5158316" cy="828675"/>
          </a:xfrm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  <a:lvl2pPr>
              <a:defRPr sz="1800">
                <a:solidFill>
                  <a:schemeClr val="bg1"/>
                </a:solidFill>
                <a:latin typeface="Gotham-Bold"/>
              </a:defRPr>
            </a:lvl2pPr>
          </a:lstStyle>
          <a:p>
            <a:pPr lvl="0"/>
            <a:r>
              <a:rPr lang="pt-BR" dirty="0"/>
              <a:t>Prof. nome</a:t>
            </a:r>
          </a:p>
          <a:p>
            <a:pPr lvl="0"/>
            <a:r>
              <a:rPr lang="pt-BR" dirty="0" err="1"/>
              <a:t>Email</a:t>
            </a:r>
            <a:endParaRPr lang="pt-BR" dirty="0"/>
          </a:p>
        </p:txBody>
      </p:sp>
      <p:sp>
        <p:nvSpPr>
          <p:cNvPr id="13" name="Isosceles Triangle 2"/>
          <p:cNvSpPr/>
          <p:nvPr userDrawn="1"/>
        </p:nvSpPr>
        <p:spPr>
          <a:xfrm rot="16200000">
            <a:off x="4718355" y="4930224"/>
            <a:ext cx="358752" cy="322235"/>
          </a:xfrm>
          <a:prstGeom prst="triangle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aseline="-25000"/>
          </a:p>
        </p:txBody>
      </p:sp>
    </p:spTree>
    <p:extLst>
      <p:ext uri="{BB962C8B-B14F-4D97-AF65-F5344CB8AC3E}">
        <p14:creationId xmlns:p14="http://schemas.microsoft.com/office/powerpoint/2010/main" val="25138629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Texto 9"/>
          <p:cNvSpPr>
            <a:spLocks noGrp="1"/>
          </p:cNvSpPr>
          <p:nvPr>
            <p:ph type="body" sz="quarter" idx="13" hasCustomPrompt="1"/>
          </p:nvPr>
        </p:nvSpPr>
        <p:spPr>
          <a:xfrm>
            <a:off x="1219200" y="1750228"/>
            <a:ext cx="9650931" cy="2603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Calibri" panose="020F0502020204030204" pitchFamily="34" charset="0"/>
              </a:defRPr>
            </a:lvl1pPr>
            <a:lvl2pPr>
              <a:defRPr sz="2000">
                <a:latin typeface="Gotham-Bold"/>
              </a:defRPr>
            </a:lvl2pPr>
            <a:lvl3pPr>
              <a:defRPr sz="2000">
                <a:latin typeface="Gotham-Bold"/>
              </a:defRPr>
            </a:lvl3pPr>
            <a:lvl4pPr>
              <a:defRPr sz="2000">
                <a:latin typeface="Gotham-Bold"/>
              </a:defRPr>
            </a:lvl4pPr>
            <a:lvl5pPr>
              <a:defRPr sz="2000">
                <a:latin typeface="Gotham-Bold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4"/>
          </p:nvPr>
        </p:nvSpPr>
        <p:spPr>
          <a:xfrm>
            <a:off x="1219200" y="2319339"/>
            <a:ext cx="9650931" cy="1607769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Calibri" panose="020F0502020204030204" pitchFamily="34" charset="0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600">
                <a:latin typeface="Calibri" panose="020F050202020403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Calibri" panose="020F0502020204030204" pitchFamily="34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latin typeface="Calibri" panose="020F050202020403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latin typeface="Calibri" panose="020F0502020204030204" pitchFamily="34" charset="0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5" name="Espaço Reservado para Texto 9"/>
          <p:cNvSpPr>
            <a:spLocks noGrp="1"/>
          </p:cNvSpPr>
          <p:nvPr>
            <p:ph type="body" sz="quarter" idx="15" hasCustomPrompt="1"/>
          </p:nvPr>
        </p:nvSpPr>
        <p:spPr>
          <a:xfrm>
            <a:off x="1219200" y="4215012"/>
            <a:ext cx="9650931" cy="2603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Calibri" panose="020F0502020204030204" pitchFamily="34" charset="0"/>
              </a:defRPr>
            </a:lvl1pPr>
            <a:lvl2pPr>
              <a:defRPr sz="2000">
                <a:latin typeface="Gotham-Bold"/>
              </a:defRPr>
            </a:lvl2pPr>
            <a:lvl3pPr>
              <a:defRPr sz="2000">
                <a:latin typeface="Gotham-Bold"/>
              </a:defRPr>
            </a:lvl3pPr>
            <a:lvl4pPr>
              <a:defRPr sz="2000">
                <a:latin typeface="Gotham-Bold"/>
              </a:defRPr>
            </a:lvl4pPr>
            <a:lvl5pPr>
              <a:defRPr sz="2000">
                <a:latin typeface="Gotham-Bold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6" name="Espaço Reservado para Texto 11"/>
          <p:cNvSpPr>
            <a:spLocks noGrp="1"/>
          </p:cNvSpPr>
          <p:nvPr>
            <p:ph type="body" sz="quarter" idx="16"/>
          </p:nvPr>
        </p:nvSpPr>
        <p:spPr>
          <a:xfrm>
            <a:off x="1219200" y="4784123"/>
            <a:ext cx="9650931" cy="1607769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Calibri" panose="020F0502020204030204" pitchFamily="34" charset="0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600">
                <a:latin typeface="Calibri" panose="020F050202020403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Calibri" panose="020F0502020204030204" pitchFamily="34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latin typeface="Calibri" panose="020F050202020403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latin typeface="Calibri" panose="020F0502020204030204" pitchFamily="34" charset="0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9" name="TextBox 15"/>
          <p:cNvSpPr txBox="1"/>
          <p:nvPr userDrawn="1"/>
        </p:nvSpPr>
        <p:spPr>
          <a:xfrm>
            <a:off x="1262832" y="745669"/>
            <a:ext cx="6494029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CONTEÚDO DO CURSO</a:t>
            </a:r>
          </a:p>
        </p:txBody>
      </p:sp>
      <p:sp>
        <p:nvSpPr>
          <p:cNvPr id="11" name="Rectangle 20"/>
          <p:cNvSpPr/>
          <p:nvPr userDrawn="1"/>
        </p:nvSpPr>
        <p:spPr>
          <a:xfrm>
            <a:off x="1020505" y="804780"/>
            <a:ext cx="96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404477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99386" y="2857500"/>
            <a:ext cx="8393229" cy="1143000"/>
          </a:xfrm>
        </p:spPr>
        <p:txBody>
          <a:bodyPr>
            <a:noAutofit/>
          </a:bodyPr>
          <a:lstStyle>
            <a:lvl1pPr>
              <a:defRPr sz="3600" b="1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9" name="Rectangle 5"/>
          <p:cNvSpPr/>
          <p:nvPr userDrawn="1"/>
        </p:nvSpPr>
        <p:spPr>
          <a:xfrm>
            <a:off x="0" y="1"/>
            <a:ext cx="12192000" cy="787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4950533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44873" y="749165"/>
            <a:ext cx="9753596" cy="397308"/>
          </a:xfrm>
        </p:spPr>
        <p:txBody>
          <a:bodyPr>
            <a:noAutofit/>
          </a:bodyPr>
          <a:lstStyle>
            <a:lvl1pPr algn="l">
              <a:defRPr sz="2800" b="1">
                <a:latin typeface="Calibri" panose="020F0502020204030204" pitchFamily="34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020505" y="1316730"/>
            <a:ext cx="9977963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0505" y="2174875"/>
            <a:ext cx="10157640" cy="3951288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Calibri" panose="020F0502020204030204" pitchFamily="34" charset="0"/>
              </a:defRPr>
            </a:lvl1pPr>
            <a:lvl2pPr>
              <a:defRPr sz="1600">
                <a:latin typeface="Calibri" panose="020F050202020403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Calibri" panose="020F0502020204030204" pitchFamily="34" charset="0"/>
              </a:defRPr>
            </a:lvl3pPr>
            <a:lvl4pPr>
              <a:defRPr sz="1600">
                <a:latin typeface="Calibri" panose="020F0502020204030204" pitchFamily="34" charset="0"/>
              </a:defRPr>
            </a:lvl4pPr>
            <a:lvl5pPr>
              <a:defRPr sz="1600">
                <a:latin typeface="Calibri" panose="020F050202020403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6" name="Rectangle 20"/>
          <p:cNvSpPr/>
          <p:nvPr userDrawn="1"/>
        </p:nvSpPr>
        <p:spPr>
          <a:xfrm>
            <a:off x="1020505" y="804780"/>
            <a:ext cx="96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9225575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8"/>
          <p:cNvSpPr>
            <a:spLocks noGrp="1"/>
          </p:cNvSpPr>
          <p:nvPr>
            <p:ph type="body" sz="quarter" idx="13"/>
          </p:nvPr>
        </p:nvSpPr>
        <p:spPr>
          <a:xfrm>
            <a:off x="5157471" y="1421810"/>
            <a:ext cx="5840997" cy="4873112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Calibri" panose="020F0502020204030204" pitchFamily="34" charset="0"/>
              </a:defRPr>
            </a:lvl1pPr>
            <a:lvl2pPr marL="800100" indent="-342900">
              <a:buFont typeface="Wingdings" panose="05000000000000000000" pitchFamily="2" charset="2"/>
              <a:buChar char="§"/>
              <a:defRPr sz="1600">
                <a:latin typeface="Calibri" panose="020F0502020204030204" pitchFamily="34" charset="0"/>
              </a:defRPr>
            </a:lvl2pPr>
            <a:lvl3pPr marL="1257300" indent="-342900">
              <a:buFont typeface="Wingdings" panose="05000000000000000000" pitchFamily="2" charset="2"/>
              <a:buChar char="§"/>
              <a:defRPr sz="1600">
                <a:latin typeface="Calibri" panose="020F0502020204030204" pitchFamily="34" charset="0"/>
              </a:defRPr>
            </a:lvl3pPr>
            <a:lvl4pPr marL="1714500" indent="-342900">
              <a:buFont typeface="Wingdings" panose="05000000000000000000" pitchFamily="2" charset="2"/>
              <a:buChar char="§"/>
              <a:defRPr sz="1600">
                <a:latin typeface="Calibri" panose="020F0502020204030204" pitchFamily="34" charset="0"/>
              </a:defRPr>
            </a:lvl4pPr>
            <a:lvl5pPr marL="2171700" indent="-342900">
              <a:buFont typeface="Wingdings" panose="05000000000000000000" pitchFamily="2" charset="2"/>
              <a:buChar char="§"/>
              <a:defRPr sz="1600">
                <a:latin typeface="Calibri" panose="020F0502020204030204" pitchFamily="34" charset="0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pic>
        <p:nvPicPr>
          <p:cNvPr id="10" name="Picture 3" descr="caomputador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6979" y="1421810"/>
            <a:ext cx="4083855" cy="2733630"/>
          </a:xfrm>
          <a:prstGeom prst="rect">
            <a:avLst/>
          </a:prstGeom>
        </p:spPr>
      </p:pic>
      <p:pic>
        <p:nvPicPr>
          <p:cNvPr id="11" name="Picture 4" descr="chicara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0276259">
            <a:off x="2741008" y="3444241"/>
            <a:ext cx="2079413" cy="1650015"/>
          </a:xfrm>
          <a:prstGeom prst="rect">
            <a:avLst/>
          </a:prstGeom>
        </p:spPr>
      </p:pic>
      <p:pic>
        <p:nvPicPr>
          <p:cNvPr id="12" name="Picture 6" descr="livros.png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87626">
            <a:off x="864788" y="4397170"/>
            <a:ext cx="2752320" cy="1700934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1262831" y="736043"/>
            <a:ext cx="9068743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REFERÊNCIAS</a:t>
            </a:r>
          </a:p>
        </p:txBody>
      </p:sp>
      <p:sp>
        <p:nvSpPr>
          <p:cNvPr id="8" name="Rectangle 20"/>
          <p:cNvSpPr/>
          <p:nvPr userDrawn="1"/>
        </p:nvSpPr>
        <p:spPr>
          <a:xfrm>
            <a:off x="1020505" y="804780"/>
            <a:ext cx="96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4206361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1219200" y="740277"/>
            <a:ext cx="9958917" cy="471234"/>
          </a:xfrm>
        </p:spPr>
        <p:txBody>
          <a:bodyPr>
            <a:normAutofit/>
          </a:bodyPr>
          <a:lstStyle>
            <a:lvl1pPr algn="l">
              <a:defRPr sz="2800" b="1">
                <a:latin typeface="Calibri" panose="020F0502020204030204" pitchFamily="34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8" name="Content Placeholder 3"/>
          <p:cNvSpPr>
            <a:spLocks noGrp="1"/>
          </p:cNvSpPr>
          <p:nvPr>
            <p:ph sz="half" idx="2"/>
          </p:nvPr>
        </p:nvSpPr>
        <p:spPr>
          <a:xfrm>
            <a:off x="1219200" y="4677444"/>
            <a:ext cx="9958917" cy="1251719"/>
          </a:xfrm>
        </p:spPr>
        <p:txBody>
          <a:bodyPr>
            <a:normAutofit/>
          </a:bodyPr>
          <a:lstStyle>
            <a:lvl1pPr>
              <a:buFont typeface="Wingdings" panose="05000000000000000000" pitchFamily="2" charset="2"/>
              <a:buChar char="§"/>
              <a:defRPr sz="1200">
                <a:latin typeface="Calibri" panose="020F0502020204030204" pitchFamily="34" charset="0"/>
              </a:defRPr>
            </a:lvl1pPr>
            <a:lvl2pPr>
              <a:buFont typeface="Wingdings" panose="05000000000000000000" pitchFamily="2" charset="2"/>
              <a:buChar char="§"/>
              <a:defRPr sz="1200">
                <a:latin typeface="Calibri" panose="020F0502020204030204" pitchFamily="34" charset="0"/>
              </a:defRPr>
            </a:lvl2pPr>
            <a:lvl3pPr>
              <a:buFont typeface="Wingdings" panose="05000000000000000000" pitchFamily="2" charset="2"/>
              <a:buChar char="§"/>
              <a:defRPr sz="1200">
                <a:latin typeface="Calibri" panose="020F0502020204030204" pitchFamily="34" charset="0"/>
              </a:defRPr>
            </a:lvl3pPr>
            <a:lvl4pPr>
              <a:buFont typeface="Wingdings" panose="05000000000000000000" pitchFamily="2" charset="2"/>
              <a:buChar char="§"/>
              <a:defRPr sz="1200">
                <a:latin typeface="Calibri" panose="020F0502020204030204" pitchFamily="34" charset="0"/>
              </a:defRPr>
            </a:lvl4pPr>
            <a:lvl5pPr>
              <a:buFont typeface="Wingdings" panose="05000000000000000000" pitchFamily="2" charset="2"/>
              <a:buChar char="§"/>
              <a:defRPr sz="1200">
                <a:latin typeface="Calibri" panose="020F050202020403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10" name="Espaço Reservado para Tabela 9"/>
          <p:cNvSpPr>
            <a:spLocks noGrp="1"/>
          </p:cNvSpPr>
          <p:nvPr>
            <p:ph type="tbl" sz="quarter" idx="13"/>
          </p:nvPr>
        </p:nvSpPr>
        <p:spPr>
          <a:xfrm>
            <a:off x="1219200" y="1568451"/>
            <a:ext cx="9958917" cy="2589213"/>
          </a:xfrm>
        </p:spPr>
        <p:txBody>
          <a:bodyPr>
            <a:normAutofit/>
          </a:bodyPr>
          <a:lstStyle>
            <a:lvl1pPr>
              <a:defRPr sz="1200">
                <a:latin typeface="Calibri" panose="020F0502020204030204" pitchFamily="34" charset="0"/>
              </a:defRPr>
            </a:lvl1pPr>
          </a:lstStyle>
          <a:p>
            <a:endParaRPr lang="pt-BR" dirty="0"/>
          </a:p>
        </p:txBody>
      </p:sp>
      <p:sp>
        <p:nvSpPr>
          <p:cNvPr id="7" name="Rectangle 20"/>
          <p:cNvSpPr/>
          <p:nvPr userDrawn="1"/>
        </p:nvSpPr>
        <p:spPr>
          <a:xfrm>
            <a:off x="1020505" y="804780"/>
            <a:ext cx="96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1775573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1219199" y="721027"/>
            <a:ext cx="9740767" cy="471234"/>
          </a:xfrm>
        </p:spPr>
        <p:txBody>
          <a:bodyPr>
            <a:normAutofit/>
          </a:bodyPr>
          <a:lstStyle>
            <a:lvl1pPr algn="l">
              <a:defRPr sz="2800" b="1">
                <a:latin typeface="Calibri" panose="020F0502020204030204" pitchFamily="34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4" name="Rectangle 20"/>
          <p:cNvSpPr/>
          <p:nvPr userDrawn="1"/>
        </p:nvSpPr>
        <p:spPr>
          <a:xfrm>
            <a:off x="1020505" y="804780"/>
            <a:ext cx="96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1333674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35573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0771A93E-B440-4403-AED2-B4EB82B47085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7B0FC110-69A9-4E69-A533-474F77BD5C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81990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7651589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2637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BD1ABD6-B382-13E4-933D-E5F0AD3C9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DEB248B-3B0C-44F3-DFB3-A407C5A72F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9749223-662C-6335-B3B5-4A7F6F0A7D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E469CB-E24C-4ECE-BE64-84D9FB37FD73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5BD6A2-A18F-D96A-386A-F3565CB606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A89BB2F-014F-487A-3B8A-9F730BCA4280}"/>
              </a:ext>
            </a:extLst>
          </p:cNvPr>
          <p:cNvSpPr txBox="1"/>
          <p:nvPr userDrawn="1"/>
        </p:nvSpPr>
        <p:spPr>
          <a:xfrm>
            <a:off x="10390910" y="6409174"/>
            <a:ext cx="15495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bg2">
                    <a:lumMod val="50000"/>
                  </a:schemeClr>
                </a:solidFill>
              </a:rPr>
              <a:t>Cordeiro©2025</a:t>
            </a:r>
          </a:p>
        </p:txBody>
      </p:sp>
    </p:spTree>
    <p:extLst>
      <p:ext uri="{BB962C8B-B14F-4D97-AF65-F5344CB8AC3E}">
        <p14:creationId xmlns:p14="http://schemas.microsoft.com/office/powerpoint/2010/main" val="4131739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44869" y="697657"/>
            <a:ext cx="9924624" cy="5852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4868" y="1600201"/>
            <a:ext cx="99246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1"/>
            <a:ext cx="12192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6" name="Picture 17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438690" y="329330"/>
            <a:ext cx="1329476" cy="272893"/>
          </a:xfrm>
          <a:prstGeom prst="rect">
            <a:avLst/>
          </a:prstGeom>
        </p:spPr>
      </p:pic>
      <p:sp>
        <p:nvSpPr>
          <p:cNvPr id="19" name="Rectangle 11"/>
          <p:cNvSpPr/>
          <p:nvPr userDrawn="1"/>
        </p:nvSpPr>
        <p:spPr>
          <a:xfrm>
            <a:off x="11154647" y="6141017"/>
            <a:ext cx="1052888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28"/>
          <p:cNvSpPr>
            <a:spLocks noChangeArrowheads="1"/>
          </p:cNvSpPr>
          <p:nvPr userDrawn="1"/>
        </p:nvSpPr>
        <p:spPr bwMode="auto">
          <a:xfrm>
            <a:off x="11241094" y="6199267"/>
            <a:ext cx="442429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Calibri" panose="020F0502020204030204" pitchFamily="34" charset="0"/>
              </a:rPr>
              <a:pPr algn="ctr">
                <a:defRPr/>
              </a:pPr>
              <a:t>‹nº›</a:t>
            </a:fld>
            <a:endParaRPr lang="en-US" sz="1200" b="1" i="0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Rectangle 20"/>
          <p:cNvSpPr/>
          <p:nvPr userDrawn="1"/>
        </p:nvSpPr>
        <p:spPr>
          <a:xfrm>
            <a:off x="1020505" y="843279"/>
            <a:ext cx="96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938478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1" r:id="rId10"/>
    <p:sldLayoutId id="2147483672" r:id="rId11"/>
    <p:sldLayoutId id="2147483673" r:id="rId12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1" kern="1200">
          <a:solidFill>
            <a:schemeClr val="tx1"/>
          </a:solidFill>
          <a:latin typeface="Calibri" panose="020F0502020204030204" pitchFamily="34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2pPr>
      <a:lvl3pPr marL="1257300" indent="-3429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23.png"/><Relationship Id="rId5" Type="http://schemas.microsoft.com/office/2007/relationships/hdphoto" Target="../media/hdphoto1.wdp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6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microsoft.com/office/2007/relationships/hdphoto" Target="../media/hdphoto2.wdp"/><Relationship Id="rId9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pt.surveymonkey.com/mp/sample-size-calculator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https://pt.surveymonkey.com/mp/sample-size-calculator/" TargetMode="Externa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01453-2FE3-C6E6-580A-425C58776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56E467F3-0587-F515-2D24-AD912E896856}"/>
              </a:ext>
            </a:extLst>
          </p:cNvPr>
          <p:cNvSpPr txBox="1"/>
          <p:nvPr/>
        </p:nvSpPr>
        <p:spPr>
          <a:xfrm>
            <a:off x="859970" y="2413337"/>
            <a:ext cx="1047206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400" b="1" dirty="0"/>
              <a:t>PRÁTICAS DE PESQUISA</a:t>
            </a:r>
          </a:p>
          <a:p>
            <a:pPr algn="ctr"/>
            <a:r>
              <a:rPr lang="pt-BR" sz="5400" b="1" dirty="0"/>
              <a:t>APLICADAS AO </a:t>
            </a:r>
            <a:r>
              <a:rPr lang="pt-BR" sz="6600" b="1" cap="small" dirty="0" err="1"/>
              <a:t>StartupOne</a:t>
            </a:r>
            <a:endParaRPr lang="pt-BR" sz="5400" b="1" cap="small" dirty="0"/>
          </a:p>
        </p:txBody>
      </p:sp>
    </p:spTree>
    <p:extLst>
      <p:ext uri="{BB962C8B-B14F-4D97-AF65-F5344CB8AC3E}">
        <p14:creationId xmlns:p14="http://schemas.microsoft.com/office/powerpoint/2010/main" val="2836160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FCAEE-F899-2860-2DED-2CD2AC5E0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07B8A772-97D6-DDE2-352C-F927D43F1F96}"/>
              </a:ext>
            </a:extLst>
          </p:cNvPr>
          <p:cNvSpPr/>
          <p:nvPr/>
        </p:nvSpPr>
        <p:spPr>
          <a:xfrm>
            <a:off x="341222" y="4855733"/>
            <a:ext cx="1702711" cy="9103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cap="small" dirty="0">
                <a:solidFill>
                  <a:schemeClr val="bg1"/>
                </a:solidFill>
              </a:rPr>
              <a:t>Identifique Oportunidade</a:t>
            </a:r>
          </a:p>
          <a:p>
            <a:pPr algn="ctr"/>
            <a:r>
              <a:rPr lang="pt-BR" sz="1100" cap="small" dirty="0">
                <a:solidFill>
                  <a:schemeClr val="bg1"/>
                </a:solidFill>
              </a:rPr>
              <a:t>(real ou hipotética?)</a:t>
            </a:r>
            <a:endParaRPr lang="pt-BR" sz="1600" cap="small" dirty="0">
              <a:solidFill>
                <a:schemeClr val="bg1"/>
              </a:solidFill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0DCA9EC-47C3-1776-4F03-D26ED0607E35}"/>
              </a:ext>
            </a:extLst>
          </p:cNvPr>
          <p:cNvSpPr/>
          <p:nvPr/>
        </p:nvSpPr>
        <p:spPr>
          <a:xfrm>
            <a:off x="341222" y="2346159"/>
            <a:ext cx="1702711" cy="9103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cap="small" dirty="0">
                <a:solidFill>
                  <a:schemeClr val="bg1"/>
                </a:solidFill>
              </a:rPr>
              <a:t>Identifique sua Vocação ou Propósito</a:t>
            </a:r>
          </a:p>
        </p:txBody>
      </p:sp>
      <p:sp>
        <p:nvSpPr>
          <p:cNvPr id="7" name="Seta: para Baixo 6">
            <a:extLst>
              <a:ext uri="{FF2B5EF4-FFF2-40B4-BE49-F238E27FC236}">
                <a16:creationId xmlns:a16="http://schemas.microsoft.com/office/drawing/2014/main" id="{45A66444-128E-B02F-91ED-622413529E9A}"/>
              </a:ext>
            </a:extLst>
          </p:cNvPr>
          <p:cNvSpPr/>
          <p:nvPr/>
        </p:nvSpPr>
        <p:spPr>
          <a:xfrm>
            <a:off x="772396" y="3304682"/>
            <a:ext cx="172078" cy="1523999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Seta: para Baixo 7">
            <a:extLst>
              <a:ext uri="{FF2B5EF4-FFF2-40B4-BE49-F238E27FC236}">
                <a16:creationId xmlns:a16="http://schemas.microsoft.com/office/drawing/2014/main" id="{C35055BB-9FF3-9F11-8816-5BDB7296EA6D}"/>
              </a:ext>
            </a:extLst>
          </p:cNvPr>
          <p:cNvSpPr/>
          <p:nvPr/>
        </p:nvSpPr>
        <p:spPr>
          <a:xfrm rot="10800000">
            <a:off x="1422107" y="3304681"/>
            <a:ext cx="172078" cy="1523999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3736920-359C-1A3D-00AB-3FE1797265D2}"/>
              </a:ext>
            </a:extLst>
          </p:cNvPr>
          <p:cNvSpPr txBox="1"/>
          <p:nvPr/>
        </p:nvSpPr>
        <p:spPr>
          <a:xfrm>
            <a:off x="35114" y="3342548"/>
            <a:ext cx="788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000" b="1" cap="small" dirty="0">
                <a:solidFill>
                  <a:schemeClr val="accent2"/>
                </a:solidFill>
              </a:rPr>
              <a:t>Use como</a:t>
            </a:r>
          </a:p>
          <a:p>
            <a:pPr algn="ctr"/>
            <a:r>
              <a:rPr lang="pt-BR" sz="1000" b="1" cap="small" dirty="0">
                <a:solidFill>
                  <a:schemeClr val="accent2"/>
                </a:solidFill>
              </a:rPr>
              <a:t>referência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CE8F55B-38C7-D439-F4E7-F12941A62951}"/>
              </a:ext>
            </a:extLst>
          </p:cNvPr>
          <p:cNvSpPr txBox="1"/>
          <p:nvPr/>
        </p:nvSpPr>
        <p:spPr>
          <a:xfrm>
            <a:off x="1567867" y="4345559"/>
            <a:ext cx="6447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000" b="1" cap="small" dirty="0">
                <a:solidFill>
                  <a:schemeClr val="accent2"/>
                </a:solidFill>
              </a:rPr>
              <a:t>Busque</a:t>
            </a:r>
          </a:p>
          <a:p>
            <a:pPr algn="ctr"/>
            <a:r>
              <a:rPr lang="pt-BR" sz="1000" b="1" cap="small" dirty="0">
                <a:solidFill>
                  <a:schemeClr val="accent2"/>
                </a:solidFill>
              </a:rPr>
              <a:t>sintonia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56EABE72-788E-5B90-7419-2F101D7F523C}"/>
              </a:ext>
            </a:extLst>
          </p:cNvPr>
          <p:cNvSpPr/>
          <p:nvPr/>
        </p:nvSpPr>
        <p:spPr>
          <a:xfrm>
            <a:off x="2795983" y="4855733"/>
            <a:ext cx="1696605" cy="9103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cap="small" dirty="0">
                <a:solidFill>
                  <a:schemeClr val="bg1"/>
                </a:solidFill>
              </a:rPr>
              <a:t>Confirme a Oportunidade</a:t>
            </a:r>
          </a:p>
        </p:txBody>
      </p:sp>
      <p:sp>
        <p:nvSpPr>
          <p:cNvPr id="12" name="Seta: para Baixo 11">
            <a:extLst>
              <a:ext uri="{FF2B5EF4-FFF2-40B4-BE49-F238E27FC236}">
                <a16:creationId xmlns:a16="http://schemas.microsoft.com/office/drawing/2014/main" id="{7132F53D-376E-D09C-0CC6-735AC33A1A54}"/>
              </a:ext>
            </a:extLst>
          </p:cNvPr>
          <p:cNvSpPr/>
          <p:nvPr/>
        </p:nvSpPr>
        <p:spPr>
          <a:xfrm rot="16200000">
            <a:off x="2331553" y="4991098"/>
            <a:ext cx="192894" cy="669459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EA700D21-49F5-5AB3-1ADD-082928AF6018}"/>
              </a:ext>
            </a:extLst>
          </p:cNvPr>
          <p:cNvSpPr/>
          <p:nvPr/>
        </p:nvSpPr>
        <p:spPr>
          <a:xfrm>
            <a:off x="2792930" y="2346159"/>
            <a:ext cx="1702710" cy="9103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cap="small" dirty="0">
                <a:solidFill>
                  <a:schemeClr val="bg1"/>
                </a:solidFill>
              </a:rPr>
              <a:t>Entenda seu Cliente</a:t>
            </a:r>
          </a:p>
        </p:txBody>
      </p:sp>
      <p:sp>
        <p:nvSpPr>
          <p:cNvPr id="14" name="Seta: para Baixo 13">
            <a:extLst>
              <a:ext uri="{FF2B5EF4-FFF2-40B4-BE49-F238E27FC236}">
                <a16:creationId xmlns:a16="http://schemas.microsoft.com/office/drawing/2014/main" id="{3A7CE3D6-9CC6-706D-8F57-50F75A1173A2}"/>
              </a:ext>
            </a:extLst>
          </p:cNvPr>
          <p:cNvSpPr/>
          <p:nvPr/>
        </p:nvSpPr>
        <p:spPr>
          <a:xfrm rot="10800000">
            <a:off x="3578370" y="3304681"/>
            <a:ext cx="180203" cy="1523999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Seta: em Forma de U 15">
            <a:extLst>
              <a:ext uri="{FF2B5EF4-FFF2-40B4-BE49-F238E27FC236}">
                <a16:creationId xmlns:a16="http://schemas.microsoft.com/office/drawing/2014/main" id="{F5D70708-6393-19C4-3A2F-6BF99BEE8F2D}"/>
              </a:ext>
            </a:extLst>
          </p:cNvPr>
          <p:cNvSpPr/>
          <p:nvPr/>
        </p:nvSpPr>
        <p:spPr>
          <a:xfrm rot="10800000">
            <a:off x="1089849" y="5778985"/>
            <a:ext cx="2676813" cy="475267"/>
          </a:xfrm>
          <a:prstGeom prst="uturnArrow">
            <a:avLst>
              <a:gd name="adj1" fmla="val 22091"/>
              <a:gd name="adj2" fmla="val 25000"/>
              <a:gd name="adj3" fmla="val 25000"/>
              <a:gd name="adj4" fmla="val 43750"/>
              <a:gd name="adj5" fmla="val 95363"/>
            </a:avLst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47AA016F-2008-36E6-F2A8-B7DD3CB7EA22}"/>
              </a:ext>
            </a:extLst>
          </p:cNvPr>
          <p:cNvSpPr/>
          <p:nvPr/>
        </p:nvSpPr>
        <p:spPr>
          <a:xfrm>
            <a:off x="5240250" y="2342149"/>
            <a:ext cx="1702710" cy="9103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cap="small" dirty="0">
                <a:solidFill>
                  <a:schemeClr val="bg1"/>
                </a:solidFill>
              </a:rPr>
              <a:t>Modele seu Negócio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FD3AAA0A-ABD7-6911-0F03-FC894DEE7F7D}"/>
              </a:ext>
            </a:extLst>
          </p:cNvPr>
          <p:cNvSpPr/>
          <p:nvPr/>
        </p:nvSpPr>
        <p:spPr>
          <a:xfrm>
            <a:off x="5240250" y="4855733"/>
            <a:ext cx="1702710" cy="9103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cap="small" dirty="0">
                <a:solidFill>
                  <a:schemeClr val="bg1"/>
                </a:solidFill>
              </a:rPr>
              <a:t>Valide seu</a:t>
            </a:r>
          </a:p>
          <a:p>
            <a:pPr algn="ctr"/>
            <a:r>
              <a:rPr lang="pt-BR" sz="1600" cap="small" dirty="0">
                <a:solidFill>
                  <a:schemeClr val="bg1"/>
                </a:solidFill>
              </a:rPr>
              <a:t>Modelo</a:t>
            </a:r>
          </a:p>
        </p:txBody>
      </p:sp>
      <p:sp>
        <p:nvSpPr>
          <p:cNvPr id="21" name="Seta: para Baixo 20">
            <a:extLst>
              <a:ext uri="{FF2B5EF4-FFF2-40B4-BE49-F238E27FC236}">
                <a16:creationId xmlns:a16="http://schemas.microsoft.com/office/drawing/2014/main" id="{56D830CE-D391-E7E2-FB0E-1DF4EA4A32DE}"/>
              </a:ext>
            </a:extLst>
          </p:cNvPr>
          <p:cNvSpPr/>
          <p:nvPr/>
        </p:nvSpPr>
        <p:spPr>
          <a:xfrm>
            <a:off x="5969585" y="3317540"/>
            <a:ext cx="180203" cy="1523999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175FFD5C-6499-BEAA-2012-C070A1E738A8}"/>
              </a:ext>
            </a:extLst>
          </p:cNvPr>
          <p:cNvGrpSpPr/>
          <p:nvPr/>
        </p:nvGrpSpPr>
        <p:grpSpPr>
          <a:xfrm>
            <a:off x="4278199" y="5581759"/>
            <a:ext cx="450514" cy="461610"/>
            <a:chOff x="3672385" y="4863540"/>
            <a:chExt cx="776452" cy="776452"/>
          </a:xfrm>
        </p:grpSpPr>
        <p:sp>
          <p:nvSpPr>
            <p:cNvPr id="2" name="Elipse 1">
              <a:extLst>
                <a:ext uri="{FF2B5EF4-FFF2-40B4-BE49-F238E27FC236}">
                  <a16:creationId xmlns:a16="http://schemas.microsoft.com/office/drawing/2014/main" id="{F8D519E7-230B-2E40-4DE1-49D90642342B}"/>
                </a:ext>
              </a:extLst>
            </p:cNvPr>
            <p:cNvSpPr/>
            <p:nvPr/>
          </p:nvSpPr>
          <p:spPr>
            <a:xfrm>
              <a:off x="3684417" y="4912133"/>
              <a:ext cx="555785" cy="463702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5" name="Imagem 24">
              <a:extLst>
                <a:ext uri="{FF2B5EF4-FFF2-40B4-BE49-F238E27FC236}">
                  <a16:creationId xmlns:a16="http://schemas.microsoft.com/office/drawing/2014/main" id="{3B3B94A5-4A02-63A1-4734-752BF0A293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72385" y="4863540"/>
              <a:ext cx="776452" cy="776452"/>
            </a:xfrm>
            <a:prstGeom prst="rect">
              <a:avLst/>
            </a:prstGeom>
          </p:spPr>
        </p:pic>
      </p:grpSp>
      <p:grpSp>
        <p:nvGrpSpPr>
          <p:cNvPr id="6" name="Agrupar 5">
            <a:extLst>
              <a:ext uri="{FF2B5EF4-FFF2-40B4-BE49-F238E27FC236}">
                <a16:creationId xmlns:a16="http://schemas.microsoft.com/office/drawing/2014/main" id="{A7E46C42-D3A5-41B6-A8F8-FE771106354C}"/>
              </a:ext>
            </a:extLst>
          </p:cNvPr>
          <p:cNvGrpSpPr/>
          <p:nvPr/>
        </p:nvGrpSpPr>
        <p:grpSpPr>
          <a:xfrm>
            <a:off x="4278199" y="3030707"/>
            <a:ext cx="450514" cy="461610"/>
            <a:chOff x="3672385" y="4863540"/>
            <a:chExt cx="776452" cy="776452"/>
          </a:xfrm>
        </p:grpSpPr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69610F4A-2824-0B52-4BBA-07BFB2431968}"/>
                </a:ext>
              </a:extLst>
            </p:cNvPr>
            <p:cNvSpPr/>
            <p:nvPr/>
          </p:nvSpPr>
          <p:spPr>
            <a:xfrm>
              <a:off x="3684417" y="4912133"/>
              <a:ext cx="555785" cy="463702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4" name="Imagem 23">
              <a:extLst>
                <a:ext uri="{FF2B5EF4-FFF2-40B4-BE49-F238E27FC236}">
                  <a16:creationId xmlns:a16="http://schemas.microsoft.com/office/drawing/2014/main" id="{B6A7F135-300A-6DF4-BAE5-B4D925FDDA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72385" y="4863540"/>
              <a:ext cx="776452" cy="776452"/>
            </a:xfrm>
            <a:prstGeom prst="rect">
              <a:avLst/>
            </a:prstGeom>
          </p:spPr>
        </p:pic>
      </p:grp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9B9A744A-6D1A-9FF1-0B41-5E1D439F76F1}"/>
              </a:ext>
            </a:extLst>
          </p:cNvPr>
          <p:cNvGrpSpPr/>
          <p:nvPr/>
        </p:nvGrpSpPr>
        <p:grpSpPr>
          <a:xfrm>
            <a:off x="6721009" y="3030707"/>
            <a:ext cx="450514" cy="461610"/>
            <a:chOff x="3672385" y="4863540"/>
            <a:chExt cx="776452" cy="776452"/>
          </a:xfrm>
        </p:grpSpPr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FA4A8225-FDF0-E4F1-DC58-8B9FE8ADBDBD}"/>
                </a:ext>
              </a:extLst>
            </p:cNvPr>
            <p:cNvSpPr/>
            <p:nvPr/>
          </p:nvSpPr>
          <p:spPr>
            <a:xfrm>
              <a:off x="3684417" y="4912133"/>
              <a:ext cx="555785" cy="463702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8" name="Imagem 27">
              <a:extLst>
                <a:ext uri="{FF2B5EF4-FFF2-40B4-BE49-F238E27FC236}">
                  <a16:creationId xmlns:a16="http://schemas.microsoft.com/office/drawing/2014/main" id="{E8CAD9B1-D3C0-3247-92E2-F8DB2186DB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72385" y="4863540"/>
              <a:ext cx="776452" cy="776452"/>
            </a:xfrm>
            <a:prstGeom prst="rect">
              <a:avLst/>
            </a:prstGeom>
          </p:spPr>
        </p:pic>
      </p:grp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8C45C558-B633-A22D-0978-12E778A8F687}"/>
              </a:ext>
            </a:extLst>
          </p:cNvPr>
          <p:cNvGrpSpPr/>
          <p:nvPr/>
        </p:nvGrpSpPr>
        <p:grpSpPr>
          <a:xfrm>
            <a:off x="6717415" y="5581759"/>
            <a:ext cx="450514" cy="461610"/>
            <a:chOff x="3672385" y="4863540"/>
            <a:chExt cx="776452" cy="776452"/>
          </a:xfrm>
        </p:grpSpPr>
        <p:sp>
          <p:nvSpPr>
            <p:cNvPr id="30" name="Elipse 29">
              <a:extLst>
                <a:ext uri="{FF2B5EF4-FFF2-40B4-BE49-F238E27FC236}">
                  <a16:creationId xmlns:a16="http://schemas.microsoft.com/office/drawing/2014/main" id="{6CF60945-3F51-1D7B-B2B5-27587CFEC2ED}"/>
                </a:ext>
              </a:extLst>
            </p:cNvPr>
            <p:cNvSpPr/>
            <p:nvPr/>
          </p:nvSpPr>
          <p:spPr>
            <a:xfrm>
              <a:off x="3684417" y="4912133"/>
              <a:ext cx="555785" cy="463702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31" name="Imagem 30">
              <a:extLst>
                <a:ext uri="{FF2B5EF4-FFF2-40B4-BE49-F238E27FC236}">
                  <a16:creationId xmlns:a16="http://schemas.microsoft.com/office/drawing/2014/main" id="{CFA07DD3-15B4-FFDF-7F93-57E59662C5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72385" y="4863540"/>
              <a:ext cx="776452" cy="776452"/>
            </a:xfrm>
            <a:prstGeom prst="rect">
              <a:avLst/>
            </a:prstGeom>
          </p:spPr>
        </p:pic>
      </p:grp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3E9BCB9B-391C-915F-9C71-7D246CC0FC2B}"/>
              </a:ext>
            </a:extLst>
          </p:cNvPr>
          <p:cNvSpPr txBox="1"/>
          <p:nvPr/>
        </p:nvSpPr>
        <p:spPr>
          <a:xfrm>
            <a:off x="577580" y="1445262"/>
            <a:ext cx="13319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>
                <a:solidFill>
                  <a:schemeClr val="accent2">
                    <a:lumMod val="75000"/>
                  </a:schemeClr>
                </a:solidFill>
              </a:rPr>
              <a:t>PONTO DE </a:t>
            </a:r>
          </a:p>
          <a:p>
            <a:pPr algn="ctr"/>
            <a:r>
              <a:rPr lang="pt-BR" b="1" dirty="0">
                <a:solidFill>
                  <a:schemeClr val="accent2">
                    <a:lumMod val="75000"/>
                  </a:schemeClr>
                </a:solidFill>
              </a:rPr>
              <a:t>PARTIDA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96C1BEE5-A68F-2C93-4ED7-69A688FC118E}"/>
              </a:ext>
            </a:extLst>
          </p:cNvPr>
          <p:cNvSpPr txBox="1"/>
          <p:nvPr/>
        </p:nvSpPr>
        <p:spPr>
          <a:xfrm>
            <a:off x="2736602" y="1434404"/>
            <a:ext cx="18170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chemeClr val="accent2">
                    <a:lumMod val="75000"/>
                  </a:schemeClr>
                </a:solidFill>
              </a:rPr>
              <a:t>CONFIRMAÇÃO</a:t>
            </a:r>
          </a:p>
          <a:p>
            <a:pPr algn="ctr"/>
            <a:r>
              <a:rPr lang="pt-BR" b="1" dirty="0">
                <a:solidFill>
                  <a:schemeClr val="accent2">
                    <a:lumMod val="75000"/>
                  </a:schemeClr>
                </a:solidFill>
              </a:rPr>
              <a:t>DO FOCO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53F5DD1C-F941-3808-543B-CD7A5BBBD0FB}"/>
              </a:ext>
            </a:extLst>
          </p:cNvPr>
          <p:cNvSpPr txBox="1"/>
          <p:nvPr/>
        </p:nvSpPr>
        <p:spPr>
          <a:xfrm>
            <a:off x="5358326" y="1445262"/>
            <a:ext cx="14665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>
                <a:solidFill>
                  <a:schemeClr val="accent2">
                    <a:lumMod val="75000"/>
                  </a:schemeClr>
                </a:solidFill>
              </a:rPr>
              <a:t>MODELO DE</a:t>
            </a:r>
          </a:p>
          <a:p>
            <a:pPr algn="ctr"/>
            <a:r>
              <a:rPr lang="pt-BR" b="1" dirty="0">
                <a:solidFill>
                  <a:schemeClr val="accent2">
                    <a:lumMod val="75000"/>
                  </a:schemeClr>
                </a:solidFill>
              </a:rPr>
              <a:t>NEGÓCIO</a:t>
            </a:r>
          </a:p>
        </p:txBody>
      </p: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A4284637-F2CB-6E8E-E51E-3862EFAB9600}"/>
              </a:ext>
            </a:extLst>
          </p:cNvPr>
          <p:cNvGrpSpPr/>
          <p:nvPr/>
        </p:nvGrpSpPr>
        <p:grpSpPr>
          <a:xfrm>
            <a:off x="1815003" y="5548182"/>
            <a:ext cx="450514" cy="461610"/>
            <a:chOff x="3672385" y="4863540"/>
            <a:chExt cx="776452" cy="776452"/>
          </a:xfrm>
        </p:grpSpPr>
        <p:sp>
          <p:nvSpPr>
            <p:cNvPr id="36" name="Elipse 35">
              <a:extLst>
                <a:ext uri="{FF2B5EF4-FFF2-40B4-BE49-F238E27FC236}">
                  <a16:creationId xmlns:a16="http://schemas.microsoft.com/office/drawing/2014/main" id="{97CCAF23-43AD-389D-B26A-F9D4A2424C18}"/>
                </a:ext>
              </a:extLst>
            </p:cNvPr>
            <p:cNvSpPr/>
            <p:nvPr/>
          </p:nvSpPr>
          <p:spPr>
            <a:xfrm>
              <a:off x="3684417" y="4912133"/>
              <a:ext cx="555785" cy="463702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37" name="Imagem 36">
              <a:extLst>
                <a:ext uri="{FF2B5EF4-FFF2-40B4-BE49-F238E27FC236}">
                  <a16:creationId xmlns:a16="http://schemas.microsoft.com/office/drawing/2014/main" id="{B47E9D1E-347C-4D80-8A35-2293766722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72385" y="4863540"/>
              <a:ext cx="776452" cy="776452"/>
            </a:xfrm>
            <a:prstGeom prst="rect">
              <a:avLst/>
            </a:prstGeom>
          </p:spPr>
        </p:pic>
      </p:grpSp>
      <p:grpSp>
        <p:nvGrpSpPr>
          <p:cNvPr id="40" name="Agrupar 39">
            <a:extLst>
              <a:ext uri="{FF2B5EF4-FFF2-40B4-BE49-F238E27FC236}">
                <a16:creationId xmlns:a16="http://schemas.microsoft.com/office/drawing/2014/main" id="{0A027EF3-54F2-E707-FD6E-5E64E2B37297}"/>
              </a:ext>
            </a:extLst>
          </p:cNvPr>
          <p:cNvGrpSpPr/>
          <p:nvPr/>
        </p:nvGrpSpPr>
        <p:grpSpPr>
          <a:xfrm>
            <a:off x="3519156" y="5996493"/>
            <a:ext cx="379675" cy="400165"/>
            <a:chOff x="3490165" y="5508473"/>
            <a:chExt cx="527376" cy="572541"/>
          </a:xfrm>
        </p:grpSpPr>
        <p:sp>
          <p:nvSpPr>
            <p:cNvPr id="39" name="Elipse 38">
              <a:extLst>
                <a:ext uri="{FF2B5EF4-FFF2-40B4-BE49-F238E27FC236}">
                  <a16:creationId xmlns:a16="http://schemas.microsoft.com/office/drawing/2014/main" id="{A37CF53A-2867-81F5-5F81-B3DFF85F6921}"/>
                </a:ext>
              </a:extLst>
            </p:cNvPr>
            <p:cNvSpPr/>
            <p:nvPr/>
          </p:nvSpPr>
          <p:spPr>
            <a:xfrm>
              <a:off x="3490165" y="5508473"/>
              <a:ext cx="527376" cy="527376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600"/>
            </a:p>
          </p:txBody>
        </p:sp>
        <p:sp>
          <p:nvSpPr>
            <p:cNvPr id="38" name="CaixaDeTexto 37">
              <a:extLst>
                <a:ext uri="{FF2B5EF4-FFF2-40B4-BE49-F238E27FC236}">
                  <a16:creationId xmlns:a16="http://schemas.microsoft.com/office/drawing/2014/main" id="{E37ED033-36D8-3C54-6D61-EA9AE1E6E19C}"/>
                </a:ext>
              </a:extLst>
            </p:cNvPr>
            <p:cNvSpPr txBox="1"/>
            <p:nvPr/>
          </p:nvSpPr>
          <p:spPr>
            <a:xfrm>
              <a:off x="3531669" y="5508552"/>
              <a:ext cx="441313" cy="5724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000" b="1" dirty="0">
                  <a:solidFill>
                    <a:schemeClr val="accent2"/>
                  </a:solidFill>
                </a:rPr>
                <a:t>?</a:t>
              </a:r>
            </a:p>
          </p:txBody>
        </p:sp>
      </p:grpSp>
      <p:sp>
        <p:nvSpPr>
          <p:cNvPr id="17" name="Retângulo 16">
            <a:extLst>
              <a:ext uri="{FF2B5EF4-FFF2-40B4-BE49-F238E27FC236}">
                <a16:creationId xmlns:a16="http://schemas.microsoft.com/office/drawing/2014/main" id="{B7FEC235-284C-A5F5-1EAF-FF400418CE0C}"/>
              </a:ext>
            </a:extLst>
          </p:cNvPr>
          <p:cNvSpPr/>
          <p:nvPr/>
        </p:nvSpPr>
        <p:spPr>
          <a:xfrm>
            <a:off x="7694508" y="4868592"/>
            <a:ext cx="1702710" cy="9103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cap="small" dirty="0">
                <a:solidFill>
                  <a:schemeClr val="bg1"/>
                </a:solidFill>
              </a:rPr>
              <a:t>Desenvolva o Plano de Negócio</a:t>
            </a:r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D1F9B677-C5E1-233E-A260-C8EF34958A9F}"/>
              </a:ext>
            </a:extLst>
          </p:cNvPr>
          <p:cNvSpPr/>
          <p:nvPr/>
        </p:nvSpPr>
        <p:spPr>
          <a:xfrm>
            <a:off x="7694508" y="2359018"/>
            <a:ext cx="1702710" cy="9103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cap="small" dirty="0">
                <a:solidFill>
                  <a:schemeClr val="bg1"/>
                </a:solidFill>
              </a:rPr>
              <a:t>Levante Recursos</a:t>
            </a:r>
          </a:p>
        </p:txBody>
      </p:sp>
      <p:sp>
        <p:nvSpPr>
          <p:cNvPr id="42" name="Seta: para Baixo 41">
            <a:extLst>
              <a:ext uri="{FF2B5EF4-FFF2-40B4-BE49-F238E27FC236}">
                <a16:creationId xmlns:a16="http://schemas.microsoft.com/office/drawing/2014/main" id="{743D8285-5818-DB68-A0EC-4B81E6E330D6}"/>
              </a:ext>
            </a:extLst>
          </p:cNvPr>
          <p:cNvSpPr/>
          <p:nvPr/>
        </p:nvSpPr>
        <p:spPr>
          <a:xfrm rot="10800000">
            <a:off x="8434893" y="3304679"/>
            <a:ext cx="180203" cy="1523999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EC783762-C2C9-5203-705A-E8FCA5EF9F20}"/>
              </a:ext>
            </a:extLst>
          </p:cNvPr>
          <p:cNvSpPr txBox="1"/>
          <p:nvPr/>
        </p:nvSpPr>
        <p:spPr>
          <a:xfrm>
            <a:off x="7738834" y="1473746"/>
            <a:ext cx="17027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>
                <a:solidFill>
                  <a:schemeClr val="accent2">
                    <a:lumMod val="75000"/>
                  </a:schemeClr>
                </a:solidFill>
              </a:rPr>
              <a:t>VIABILIZANDO</a:t>
            </a:r>
          </a:p>
          <a:p>
            <a:pPr algn="ctr"/>
            <a:r>
              <a:rPr lang="pt-BR" b="1" dirty="0">
                <a:solidFill>
                  <a:schemeClr val="accent2">
                    <a:lumMod val="75000"/>
                  </a:schemeClr>
                </a:solidFill>
              </a:rPr>
              <a:t>O NEGÓCIO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C82381E3-B620-4C4A-A2FA-7E8728C3A617}"/>
              </a:ext>
            </a:extLst>
          </p:cNvPr>
          <p:cNvSpPr txBox="1"/>
          <p:nvPr/>
        </p:nvSpPr>
        <p:spPr>
          <a:xfrm>
            <a:off x="2821745" y="404820"/>
            <a:ext cx="688380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b="1" dirty="0"/>
              <a:t>JORNADA EMPREENDEDORA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A0592B6A-4635-4169-AF61-3A0561E4F2A7}"/>
              </a:ext>
            </a:extLst>
          </p:cNvPr>
          <p:cNvSpPr/>
          <p:nvPr/>
        </p:nvSpPr>
        <p:spPr>
          <a:xfrm>
            <a:off x="10159817" y="4868592"/>
            <a:ext cx="1702710" cy="9103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cap="small" dirty="0">
                <a:solidFill>
                  <a:schemeClr val="bg1"/>
                </a:solidFill>
              </a:rPr>
              <a:t>Estruture a empresa</a:t>
            </a:r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6791242E-22C9-65D3-3E67-E987B82CAAB1}"/>
              </a:ext>
            </a:extLst>
          </p:cNvPr>
          <p:cNvSpPr/>
          <p:nvPr/>
        </p:nvSpPr>
        <p:spPr>
          <a:xfrm>
            <a:off x="10159817" y="2359018"/>
            <a:ext cx="1702710" cy="9103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cap="small" dirty="0">
                <a:solidFill>
                  <a:schemeClr val="bg1"/>
                </a:solidFill>
              </a:rPr>
              <a:t>Capacite-se</a:t>
            </a:r>
          </a:p>
        </p:txBody>
      </p:sp>
      <p:sp>
        <p:nvSpPr>
          <p:cNvPr id="46" name="Seta: para Baixo 45">
            <a:extLst>
              <a:ext uri="{FF2B5EF4-FFF2-40B4-BE49-F238E27FC236}">
                <a16:creationId xmlns:a16="http://schemas.microsoft.com/office/drawing/2014/main" id="{2AC5EDDA-7D08-3D58-8D03-0415089EF108}"/>
              </a:ext>
            </a:extLst>
          </p:cNvPr>
          <p:cNvSpPr/>
          <p:nvPr/>
        </p:nvSpPr>
        <p:spPr>
          <a:xfrm>
            <a:off x="10900203" y="3304680"/>
            <a:ext cx="180203" cy="1523999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6C8AB0F3-96CC-95D0-A77E-44605F12EDAB}"/>
              </a:ext>
            </a:extLst>
          </p:cNvPr>
          <p:cNvSpPr txBox="1"/>
          <p:nvPr/>
        </p:nvSpPr>
        <p:spPr>
          <a:xfrm>
            <a:off x="10223264" y="1473746"/>
            <a:ext cx="15758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>
                <a:solidFill>
                  <a:schemeClr val="accent2">
                    <a:lumMod val="75000"/>
                  </a:schemeClr>
                </a:solidFill>
              </a:rPr>
              <a:t>LIGANDO OS </a:t>
            </a:r>
          </a:p>
          <a:p>
            <a:pPr algn="ctr"/>
            <a:r>
              <a:rPr lang="pt-BR" b="1" dirty="0">
                <a:solidFill>
                  <a:schemeClr val="accent2">
                    <a:lumMod val="75000"/>
                  </a:schemeClr>
                </a:solidFill>
              </a:rPr>
              <a:t>MOTORES</a:t>
            </a:r>
          </a:p>
        </p:txBody>
      </p:sp>
      <p:sp>
        <p:nvSpPr>
          <p:cNvPr id="48" name="Seta: para Baixo 47">
            <a:extLst>
              <a:ext uri="{FF2B5EF4-FFF2-40B4-BE49-F238E27FC236}">
                <a16:creationId xmlns:a16="http://schemas.microsoft.com/office/drawing/2014/main" id="{2B7C8E3E-1E2D-82B7-F833-7AE4454D0851}"/>
              </a:ext>
            </a:extLst>
          </p:cNvPr>
          <p:cNvSpPr/>
          <p:nvPr/>
        </p:nvSpPr>
        <p:spPr>
          <a:xfrm rot="16200000">
            <a:off x="4768266" y="2540332"/>
            <a:ext cx="192894" cy="669459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" name="Seta: para Baixo 48">
            <a:extLst>
              <a:ext uri="{FF2B5EF4-FFF2-40B4-BE49-F238E27FC236}">
                <a16:creationId xmlns:a16="http://schemas.microsoft.com/office/drawing/2014/main" id="{B426F04A-FE2D-8850-F23D-E9F0907FEE23}"/>
              </a:ext>
            </a:extLst>
          </p:cNvPr>
          <p:cNvSpPr/>
          <p:nvPr/>
        </p:nvSpPr>
        <p:spPr>
          <a:xfrm rot="16200000">
            <a:off x="7214750" y="5010773"/>
            <a:ext cx="192894" cy="669459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" name="Seta: para Baixo 49">
            <a:extLst>
              <a:ext uri="{FF2B5EF4-FFF2-40B4-BE49-F238E27FC236}">
                <a16:creationId xmlns:a16="http://schemas.microsoft.com/office/drawing/2014/main" id="{3D84F4B2-37E3-CFCF-AA89-5FCC822C5F02}"/>
              </a:ext>
            </a:extLst>
          </p:cNvPr>
          <p:cNvSpPr/>
          <p:nvPr/>
        </p:nvSpPr>
        <p:spPr>
          <a:xfrm rot="16200000">
            <a:off x="9679826" y="2540333"/>
            <a:ext cx="192894" cy="669459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51" name="Agrupar 50">
            <a:extLst>
              <a:ext uri="{FF2B5EF4-FFF2-40B4-BE49-F238E27FC236}">
                <a16:creationId xmlns:a16="http://schemas.microsoft.com/office/drawing/2014/main" id="{F9991F2C-F247-4813-8A69-6952D9EF7FD8}"/>
              </a:ext>
            </a:extLst>
          </p:cNvPr>
          <p:cNvGrpSpPr/>
          <p:nvPr/>
        </p:nvGrpSpPr>
        <p:grpSpPr>
          <a:xfrm>
            <a:off x="9171961" y="5591846"/>
            <a:ext cx="450514" cy="461610"/>
            <a:chOff x="3672385" y="4863540"/>
            <a:chExt cx="776452" cy="776452"/>
          </a:xfrm>
        </p:grpSpPr>
        <p:sp>
          <p:nvSpPr>
            <p:cNvPr id="52" name="Elipse 51">
              <a:extLst>
                <a:ext uri="{FF2B5EF4-FFF2-40B4-BE49-F238E27FC236}">
                  <a16:creationId xmlns:a16="http://schemas.microsoft.com/office/drawing/2014/main" id="{6152639B-7F62-9083-BCA6-9E54FC31A008}"/>
                </a:ext>
              </a:extLst>
            </p:cNvPr>
            <p:cNvSpPr/>
            <p:nvPr/>
          </p:nvSpPr>
          <p:spPr>
            <a:xfrm>
              <a:off x="3684417" y="4912133"/>
              <a:ext cx="555785" cy="463702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53" name="Imagem 52">
              <a:extLst>
                <a:ext uri="{FF2B5EF4-FFF2-40B4-BE49-F238E27FC236}">
                  <a16:creationId xmlns:a16="http://schemas.microsoft.com/office/drawing/2014/main" id="{F01619B5-7579-84B5-236C-2160685696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72385" y="4863540"/>
              <a:ext cx="776452" cy="776452"/>
            </a:xfrm>
            <a:prstGeom prst="rect">
              <a:avLst/>
            </a:prstGeom>
          </p:spPr>
        </p:pic>
      </p:grp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627D5EDC-94A8-3C55-13E6-EFDBD4730F7D}"/>
              </a:ext>
            </a:extLst>
          </p:cNvPr>
          <p:cNvSpPr/>
          <p:nvPr/>
        </p:nvSpPr>
        <p:spPr>
          <a:xfrm>
            <a:off x="2572181" y="3762429"/>
            <a:ext cx="5073746" cy="816219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accent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accent6">
                    <a:lumMod val="75000"/>
                  </a:schemeClr>
                </a:solidFill>
              </a:rPr>
              <a:t>FASES ONDE PRÁTICAS DE PESQUISA PODEM TRAZER GRANDES CONTRIBUIÇÕES</a:t>
            </a:r>
          </a:p>
        </p:txBody>
      </p:sp>
      <p:sp>
        <p:nvSpPr>
          <p:cNvPr id="54" name="Seta: em Forma de U 53">
            <a:extLst>
              <a:ext uri="{FF2B5EF4-FFF2-40B4-BE49-F238E27FC236}">
                <a16:creationId xmlns:a16="http://schemas.microsoft.com/office/drawing/2014/main" id="{A7DE90A4-0FD1-D5AE-D5AE-844851AF5D1A}"/>
              </a:ext>
            </a:extLst>
          </p:cNvPr>
          <p:cNvSpPr/>
          <p:nvPr/>
        </p:nvSpPr>
        <p:spPr>
          <a:xfrm rot="10800000">
            <a:off x="3866727" y="5779658"/>
            <a:ext cx="2260506" cy="475267"/>
          </a:xfrm>
          <a:prstGeom prst="uturnArrow">
            <a:avLst>
              <a:gd name="adj1" fmla="val 22091"/>
              <a:gd name="adj2" fmla="val 25000"/>
              <a:gd name="adj3" fmla="val 25000"/>
              <a:gd name="adj4" fmla="val 43750"/>
              <a:gd name="adj5" fmla="val 95363"/>
            </a:avLst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55" name="Agrupar 54">
            <a:extLst>
              <a:ext uri="{FF2B5EF4-FFF2-40B4-BE49-F238E27FC236}">
                <a16:creationId xmlns:a16="http://schemas.microsoft.com/office/drawing/2014/main" id="{4004E09D-F0A9-9FB9-1EFB-45EAAF7AE02B}"/>
              </a:ext>
            </a:extLst>
          </p:cNvPr>
          <p:cNvGrpSpPr/>
          <p:nvPr/>
        </p:nvGrpSpPr>
        <p:grpSpPr>
          <a:xfrm>
            <a:off x="5895595" y="6008891"/>
            <a:ext cx="363808" cy="400165"/>
            <a:chOff x="3490165" y="5508473"/>
            <a:chExt cx="527376" cy="572541"/>
          </a:xfrm>
        </p:grpSpPr>
        <p:sp>
          <p:nvSpPr>
            <p:cNvPr id="58" name="Elipse 57">
              <a:extLst>
                <a:ext uri="{FF2B5EF4-FFF2-40B4-BE49-F238E27FC236}">
                  <a16:creationId xmlns:a16="http://schemas.microsoft.com/office/drawing/2014/main" id="{2FB8AB20-E22C-109F-CEBC-BB358BA1050A}"/>
                </a:ext>
              </a:extLst>
            </p:cNvPr>
            <p:cNvSpPr/>
            <p:nvPr/>
          </p:nvSpPr>
          <p:spPr>
            <a:xfrm>
              <a:off x="3490165" y="5508473"/>
              <a:ext cx="527376" cy="527376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600"/>
            </a:p>
          </p:txBody>
        </p:sp>
        <p:sp>
          <p:nvSpPr>
            <p:cNvPr id="63" name="CaixaDeTexto 62">
              <a:extLst>
                <a:ext uri="{FF2B5EF4-FFF2-40B4-BE49-F238E27FC236}">
                  <a16:creationId xmlns:a16="http://schemas.microsoft.com/office/drawing/2014/main" id="{8BCF6065-3644-3707-9E78-5D5B6EFC4490}"/>
                </a:ext>
              </a:extLst>
            </p:cNvPr>
            <p:cNvSpPr txBox="1"/>
            <p:nvPr/>
          </p:nvSpPr>
          <p:spPr>
            <a:xfrm>
              <a:off x="3531669" y="5508552"/>
              <a:ext cx="441313" cy="5724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000" b="1" dirty="0">
                  <a:solidFill>
                    <a:schemeClr val="accent2"/>
                  </a:solidFill>
                </a:rPr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82818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5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50"/>
                            </p:stCondLst>
                            <p:childTnLst>
                              <p:par>
                                <p:cTn id="5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5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5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2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5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2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250"/>
                            </p:stCondLst>
                            <p:childTnLst>
                              <p:par>
                                <p:cTn id="9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2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250"/>
                            </p:stCondLst>
                            <p:childTnLst>
                              <p:par>
                                <p:cTn id="9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2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250"/>
                            </p:stCondLst>
                            <p:childTnLst>
                              <p:par>
                                <p:cTn id="1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250"/>
                            </p:stCondLst>
                            <p:childTnLst>
                              <p:par>
                                <p:cTn id="1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2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0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2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2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250"/>
                            </p:stCondLst>
                            <p:childTnLst>
                              <p:par>
                                <p:cTn id="1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500"/>
                            </p:stCondLst>
                            <p:childTnLst>
                              <p:par>
                                <p:cTn id="1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1000"/>
                            </p:stCondLst>
                            <p:childTnLst>
                              <p:par>
                                <p:cTn id="1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1500"/>
                            </p:stCondLst>
                            <p:childTnLst>
                              <p:par>
                                <p:cTn id="1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2000"/>
                            </p:stCondLst>
                            <p:childTnLst>
                              <p:par>
                                <p:cTn id="16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2500"/>
                            </p:stCondLst>
                            <p:childTnLst>
                              <p:par>
                                <p:cTn id="1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3000"/>
                            </p:stCondLst>
                            <p:childTnLst>
                              <p:par>
                                <p:cTn id="1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7" grpId="0" animBg="1"/>
      <p:bldP spid="8" grpId="0" animBg="1"/>
      <p:bldP spid="9" grpId="0"/>
      <p:bldP spid="10" grpId="0"/>
      <p:bldP spid="11" grpId="0" animBg="1"/>
      <p:bldP spid="11" grpId="1" animBg="1"/>
      <p:bldP spid="12" grpId="0" animBg="1"/>
      <p:bldP spid="13" grpId="0" animBg="1"/>
      <p:bldP spid="13" grpId="1" animBg="1"/>
      <p:bldP spid="14" grpId="0" animBg="1"/>
      <p:bldP spid="16" grpId="0" animBg="1"/>
      <p:bldP spid="18" grpId="0" animBg="1"/>
      <p:bldP spid="18" grpId="1" animBg="1"/>
      <p:bldP spid="20" grpId="0" animBg="1"/>
      <p:bldP spid="20" grpId="1" animBg="1"/>
      <p:bldP spid="21" grpId="0" animBg="1"/>
      <p:bldP spid="32" grpId="0"/>
      <p:bldP spid="33" grpId="0"/>
      <p:bldP spid="34" grpId="0"/>
      <p:bldP spid="17" grpId="0" animBg="1"/>
      <p:bldP spid="17" grpId="1" animBg="1"/>
      <p:bldP spid="41" grpId="0" animBg="1"/>
      <p:bldP spid="42" grpId="0" animBg="1"/>
      <p:bldP spid="43" grpId="0"/>
      <p:bldP spid="15" grpId="0" animBg="1"/>
      <p:bldP spid="45" grpId="0" animBg="1"/>
      <p:bldP spid="46" grpId="0" animBg="1"/>
      <p:bldP spid="47" grpId="0"/>
      <p:bldP spid="48" grpId="0" animBg="1"/>
      <p:bldP spid="49" grpId="0" animBg="1"/>
      <p:bldP spid="50" grpId="0" animBg="1"/>
      <p:bldP spid="23" grpId="0" animBg="1"/>
      <p:bldP spid="5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3E270-572D-7B37-CE41-6AE85CE82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28723A43-48A9-7C13-9F8B-7F5388AA5750}"/>
              </a:ext>
            </a:extLst>
          </p:cNvPr>
          <p:cNvSpPr/>
          <p:nvPr/>
        </p:nvSpPr>
        <p:spPr>
          <a:xfrm>
            <a:off x="341222" y="4855733"/>
            <a:ext cx="1702711" cy="9103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cap="small" dirty="0">
                <a:solidFill>
                  <a:schemeClr val="bg1"/>
                </a:solidFill>
              </a:rPr>
              <a:t>Identifique Oportunidade</a:t>
            </a:r>
          </a:p>
          <a:p>
            <a:pPr algn="ctr"/>
            <a:r>
              <a:rPr lang="pt-BR" sz="1100" cap="small" dirty="0">
                <a:solidFill>
                  <a:schemeClr val="bg1"/>
                </a:solidFill>
              </a:rPr>
              <a:t>(real ou hipotética?)</a:t>
            </a:r>
            <a:endParaRPr lang="pt-BR" sz="1600" cap="small" dirty="0">
              <a:solidFill>
                <a:schemeClr val="bg1"/>
              </a:solidFill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E0DE98D-0626-5BD3-2F27-4E9E1D0F5F2C}"/>
              </a:ext>
            </a:extLst>
          </p:cNvPr>
          <p:cNvSpPr/>
          <p:nvPr/>
        </p:nvSpPr>
        <p:spPr>
          <a:xfrm>
            <a:off x="341222" y="2346159"/>
            <a:ext cx="1702711" cy="9103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cap="small" dirty="0">
                <a:solidFill>
                  <a:schemeClr val="bg1"/>
                </a:solidFill>
              </a:rPr>
              <a:t>Identifique sua Vocação ou Propósito</a:t>
            </a:r>
          </a:p>
        </p:txBody>
      </p:sp>
      <p:sp>
        <p:nvSpPr>
          <p:cNvPr id="7" name="Seta: para Baixo 6">
            <a:extLst>
              <a:ext uri="{FF2B5EF4-FFF2-40B4-BE49-F238E27FC236}">
                <a16:creationId xmlns:a16="http://schemas.microsoft.com/office/drawing/2014/main" id="{20DFB0D0-0F35-4852-D03F-24BED91693C6}"/>
              </a:ext>
            </a:extLst>
          </p:cNvPr>
          <p:cNvSpPr/>
          <p:nvPr/>
        </p:nvSpPr>
        <p:spPr>
          <a:xfrm>
            <a:off x="772396" y="3304682"/>
            <a:ext cx="172078" cy="1523999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Seta: para Baixo 7">
            <a:extLst>
              <a:ext uri="{FF2B5EF4-FFF2-40B4-BE49-F238E27FC236}">
                <a16:creationId xmlns:a16="http://schemas.microsoft.com/office/drawing/2014/main" id="{D097FD39-F064-C06D-63BB-C444BCF617BC}"/>
              </a:ext>
            </a:extLst>
          </p:cNvPr>
          <p:cNvSpPr/>
          <p:nvPr/>
        </p:nvSpPr>
        <p:spPr>
          <a:xfrm rot="10800000">
            <a:off x="1422107" y="3304681"/>
            <a:ext cx="172078" cy="1523999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93BBC93-E729-98AA-0EDD-F8E0385C2659}"/>
              </a:ext>
            </a:extLst>
          </p:cNvPr>
          <p:cNvSpPr txBox="1"/>
          <p:nvPr/>
        </p:nvSpPr>
        <p:spPr>
          <a:xfrm>
            <a:off x="35114" y="3342548"/>
            <a:ext cx="788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000" b="1" cap="small" dirty="0">
                <a:solidFill>
                  <a:schemeClr val="accent2"/>
                </a:solidFill>
              </a:rPr>
              <a:t>Use como</a:t>
            </a:r>
          </a:p>
          <a:p>
            <a:pPr algn="ctr"/>
            <a:r>
              <a:rPr lang="pt-BR" sz="1000" b="1" cap="small" dirty="0">
                <a:solidFill>
                  <a:schemeClr val="accent2"/>
                </a:solidFill>
              </a:rPr>
              <a:t>referência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B8CF195-F693-19AF-FDDD-B8ADCFCF6535}"/>
              </a:ext>
            </a:extLst>
          </p:cNvPr>
          <p:cNvSpPr txBox="1"/>
          <p:nvPr/>
        </p:nvSpPr>
        <p:spPr>
          <a:xfrm>
            <a:off x="1567867" y="4345559"/>
            <a:ext cx="6447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000" b="1" cap="small" dirty="0">
                <a:solidFill>
                  <a:schemeClr val="accent2"/>
                </a:solidFill>
              </a:rPr>
              <a:t>Busque</a:t>
            </a:r>
          </a:p>
          <a:p>
            <a:pPr algn="ctr"/>
            <a:r>
              <a:rPr lang="pt-BR" sz="1000" b="1" cap="small" dirty="0">
                <a:solidFill>
                  <a:schemeClr val="accent2"/>
                </a:solidFill>
              </a:rPr>
              <a:t>sintonia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B4918266-80CB-05C2-6656-4BF641D40BD7}"/>
              </a:ext>
            </a:extLst>
          </p:cNvPr>
          <p:cNvSpPr/>
          <p:nvPr/>
        </p:nvSpPr>
        <p:spPr>
          <a:xfrm>
            <a:off x="2795983" y="4855733"/>
            <a:ext cx="1696605" cy="9103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cap="small" dirty="0">
                <a:solidFill>
                  <a:schemeClr val="bg1"/>
                </a:solidFill>
              </a:rPr>
              <a:t>Confirme a Oportunidade</a:t>
            </a:r>
          </a:p>
        </p:txBody>
      </p:sp>
      <p:sp>
        <p:nvSpPr>
          <p:cNvPr id="12" name="Seta: para Baixo 11">
            <a:extLst>
              <a:ext uri="{FF2B5EF4-FFF2-40B4-BE49-F238E27FC236}">
                <a16:creationId xmlns:a16="http://schemas.microsoft.com/office/drawing/2014/main" id="{0455D59D-947E-4335-9B70-9377C566EFA2}"/>
              </a:ext>
            </a:extLst>
          </p:cNvPr>
          <p:cNvSpPr/>
          <p:nvPr/>
        </p:nvSpPr>
        <p:spPr>
          <a:xfrm rot="16200000">
            <a:off x="2331553" y="4991098"/>
            <a:ext cx="192894" cy="669459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A6B007D1-ACDC-76B7-65BD-5796117F69AE}"/>
              </a:ext>
            </a:extLst>
          </p:cNvPr>
          <p:cNvSpPr/>
          <p:nvPr/>
        </p:nvSpPr>
        <p:spPr>
          <a:xfrm>
            <a:off x="2792930" y="2346159"/>
            <a:ext cx="1702710" cy="9103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cap="small" dirty="0">
                <a:solidFill>
                  <a:schemeClr val="bg1"/>
                </a:solidFill>
              </a:rPr>
              <a:t>Entenda seu Cliente</a:t>
            </a:r>
          </a:p>
        </p:txBody>
      </p:sp>
      <p:sp>
        <p:nvSpPr>
          <p:cNvPr id="14" name="Seta: para Baixo 13">
            <a:extLst>
              <a:ext uri="{FF2B5EF4-FFF2-40B4-BE49-F238E27FC236}">
                <a16:creationId xmlns:a16="http://schemas.microsoft.com/office/drawing/2014/main" id="{5216A176-129F-12B9-C21C-764A6F88D78F}"/>
              </a:ext>
            </a:extLst>
          </p:cNvPr>
          <p:cNvSpPr/>
          <p:nvPr/>
        </p:nvSpPr>
        <p:spPr>
          <a:xfrm rot="10800000">
            <a:off x="3578370" y="3304681"/>
            <a:ext cx="180203" cy="1523999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Seta: em Forma de U 15">
            <a:extLst>
              <a:ext uri="{FF2B5EF4-FFF2-40B4-BE49-F238E27FC236}">
                <a16:creationId xmlns:a16="http://schemas.microsoft.com/office/drawing/2014/main" id="{CE8B819C-9ACD-8BCB-6786-9F32CD3DE35C}"/>
              </a:ext>
            </a:extLst>
          </p:cNvPr>
          <p:cNvSpPr/>
          <p:nvPr/>
        </p:nvSpPr>
        <p:spPr>
          <a:xfrm rot="10800000">
            <a:off x="1089849" y="5778985"/>
            <a:ext cx="2676813" cy="475267"/>
          </a:xfrm>
          <a:prstGeom prst="uturnArrow">
            <a:avLst>
              <a:gd name="adj1" fmla="val 22091"/>
              <a:gd name="adj2" fmla="val 25000"/>
              <a:gd name="adj3" fmla="val 25000"/>
              <a:gd name="adj4" fmla="val 43750"/>
              <a:gd name="adj5" fmla="val 95363"/>
            </a:avLst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733827D3-EC60-5FD7-DF99-46B7E67E5CD1}"/>
              </a:ext>
            </a:extLst>
          </p:cNvPr>
          <p:cNvSpPr/>
          <p:nvPr/>
        </p:nvSpPr>
        <p:spPr>
          <a:xfrm>
            <a:off x="5240250" y="2342149"/>
            <a:ext cx="1702710" cy="9103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cap="small" dirty="0">
                <a:solidFill>
                  <a:schemeClr val="bg1"/>
                </a:solidFill>
              </a:rPr>
              <a:t>Modele seu Negócio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60581565-A85E-3B29-1FCC-9D9D0C8DE9E7}"/>
              </a:ext>
            </a:extLst>
          </p:cNvPr>
          <p:cNvSpPr/>
          <p:nvPr/>
        </p:nvSpPr>
        <p:spPr>
          <a:xfrm>
            <a:off x="5240250" y="4855733"/>
            <a:ext cx="1702710" cy="9103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cap="small" dirty="0">
                <a:solidFill>
                  <a:schemeClr val="bg1"/>
                </a:solidFill>
              </a:rPr>
              <a:t>Valide seu</a:t>
            </a:r>
          </a:p>
          <a:p>
            <a:pPr algn="ctr"/>
            <a:r>
              <a:rPr lang="pt-BR" sz="1600" cap="small" dirty="0">
                <a:solidFill>
                  <a:schemeClr val="bg1"/>
                </a:solidFill>
              </a:rPr>
              <a:t>Modelo</a:t>
            </a:r>
          </a:p>
        </p:txBody>
      </p:sp>
      <p:sp>
        <p:nvSpPr>
          <p:cNvPr id="21" name="Seta: para Baixo 20">
            <a:extLst>
              <a:ext uri="{FF2B5EF4-FFF2-40B4-BE49-F238E27FC236}">
                <a16:creationId xmlns:a16="http://schemas.microsoft.com/office/drawing/2014/main" id="{9840CF1C-4EBD-410D-EFC1-021FDDE872B9}"/>
              </a:ext>
            </a:extLst>
          </p:cNvPr>
          <p:cNvSpPr/>
          <p:nvPr/>
        </p:nvSpPr>
        <p:spPr>
          <a:xfrm>
            <a:off x="5969585" y="3317540"/>
            <a:ext cx="180203" cy="1523999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4BB01B53-6DD3-0016-4CC6-6DDE41451D12}"/>
              </a:ext>
            </a:extLst>
          </p:cNvPr>
          <p:cNvGrpSpPr/>
          <p:nvPr/>
        </p:nvGrpSpPr>
        <p:grpSpPr>
          <a:xfrm>
            <a:off x="6721009" y="3030707"/>
            <a:ext cx="450514" cy="461610"/>
            <a:chOff x="3672385" y="4863540"/>
            <a:chExt cx="776452" cy="776452"/>
          </a:xfrm>
        </p:grpSpPr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92A3E522-59FA-AAFE-CA6F-9B9F20BDA77A}"/>
                </a:ext>
              </a:extLst>
            </p:cNvPr>
            <p:cNvSpPr/>
            <p:nvPr/>
          </p:nvSpPr>
          <p:spPr>
            <a:xfrm>
              <a:off x="3684417" y="4912133"/>
              <a:ext cx="555785" cy="463702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8" name="Imagem 27">
              <a:extLst>
                <a:ext uri="{FF2B5EF4-FFF2-40B4-BE49-F238E27FC236}">
                  <a16:creationId xmlns:a16="http://schemas.microsoft.com/office/drawing/2014/main" id="{7B870409-13DC-6CCA-D17E-7A7C143EA1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72385" y="4863540"/>
              <a:ext cx="776452" cy="776452"/>
            </a:xfrm>
            <a:prstGeom prst="rect">
              <a:avLst/>
            </a:prstGeom>
          </p:spPr>
        </p:pic>
      </p:grp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4C66D813-5C04-FE28-48A9-092078EB664C}"/>
              </a:ext>
            </a:extLst>
          </p:cNvPr>
          <p:cNvGrpSpPr/>
          <p:nvPr/>
        </p:nvGrpSpPr>
        <p:grpSpPr>
          <a:xfrm>
            <a:off x="6717415" y="5581759"/>
            <a:ext cx="450514" cy="461610"/>
            <a:chOff x="3672385" y="4863540"/>
            <a:chExt cx="776452" cy="776452"/>
          </a:xfrm>
        </p:grpSpPr>
        <p:sp>
          <p:nvSpPr>
            <p:cNvPr id="30" name="Elipse 29">
              <a:extLst>
                <a:ext uri="{FF2B5EF4-FFF2-40B4-BE49-F238E27FC236}">
                  <a16:creationId xmlns:a16="http://schemas.microsoft.com/office/drawing/2014/main" id="{42A08543-1BA3-BB00-F070-2C9AB1BFFFD7}"/>
                </a:ext>
              </a:extLst>
            </p:cNvPr>
            <p:cNvSpPr/>
            <p:nvPr/>
          </p:nvSpPr>
          <p:spPr>
            <a:xfrm>
              <a:off x="3684417" y="4912133"/>
              <a:ext cx="555785" cy="463702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31" name="Imagem 30">
              <a:extLst>
                <a:ext uri="{FF2B5EF4-FFF2-40B4-BE49-F238E27FC236}">
                  <a16:creationId xmlns:a16="http://schemas.microsoft.com/office/drawing/2014/main" id="{D8C4C7B5-5240-7C44-C090-C03ACBAB70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72385" y="4863540"/>
              <a:ext cx="776452" cy="776452"/>
            </a:xfrm>
            <a:prstGeom prst="rect">
              <a:avLst/>
            </a:prstGeom>
          </p:spPr>
        </p:pic>
      </p:grp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4D6F4615-45E1-2504-A1F8-CAD4EBC88C65}"/>
              </a:ext>
            </a:extLst>
          </p:cNvPr>
          <p:cNvSpPr txBox="1"/>
          <p:nvPr/>
        </p:nvSpPr>
        <p:spPr>
          <a:xfrm>
            <a:off x="577580" y="1445262"/>
            <a:ext cx="13319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>
                <a:solidFill>
                  <a:schemeClr val="accent2">
                    <a:lumMod val="75000"/>
                  </a:schemeClr>
                </a:solidFill>
              </a:rPr>
              <a:t>PONTO DE </a:t>
            </a:r>
          </a:p>
          <a:p>
            <a:pPr algn="ctr"/>
            <a:r>
              <a:rPr lang="pt-BR" b="1" dirty="0">
                <a:solidFill>
                  <a:schemeClr val="accent2">
                    <a:lumMod val="75000"/>
                  </a:schemeClr>
                </a:solidFill>
              </a:rPr>
              <a:t>PARTIDA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30C067AB-6BF8-2335-1437-63D7926F13CC}"/>
              </a:ext>
            </a:extLst>
          </p:cNvPr>
          <p:cNvSpPr txBox="1"/>
          <p:nvPr/>
        </p:nvSpPr>
        <p:spPr>
          <a:xfrm>
            <a:off x="2736602" y="1434404"/>
            <a:ext cx="18170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chemeClr val="accent2">
                    <a:lumMod val="75000"/>
                  </a:schemeClr>
                </a:solidFill>
              </a:rPr>
              <a:t>CONFIRMAÇÃO</a:t>
            </a:r>
          </a:p>
          <a:p>
            <a:pPr algn="ctr"/>
            <a:r>
              <a:rPr lang="pt-BR" b="1" dirty="0">
                <a:solidFill>
                  <a:schemeClr val="accent2">
                    <a:lumMod val="75000"/>
                  </a:schemeClr>
                </a:solidFill>
              </a:rPr>
              <a:t>DO FOCO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6BB104A1-8435-6330-E085-FA1F9261F2CB}"/>
              </a:ext>
            </a:extLst>
          </p:cNvPr>
          <p:cNvSpPr txBox="1"/>
          <p:nvPr/>
        </p:nvSpPr>
        <p:spPr>
          <a:xfrm>
            <a:off x="5358326" y="1445262"/>
            <a:ext cx="14665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>
                <a:solidFill>
                  <a:schemeClr val="accent2">
                    <a:lumMod val="75000"/>
                  </a:schemeClr>
                </a:solidFill>
              </a:rPr>
              <a:t>MODELO DE</a:t>
            </a:r>
          </a:p>
          <a:p>
            <a:pPr algn="ctr"/>
            <a:r>
              <a:rPr lang="pt-BR" b="1" dirty="0">
                <a:solidFill>
                  <a:schemeClr val="accent2">
                    <a:lumMod val="75000"/>
                  </a:schemeClr>
                </a:solidFill>
              </a:rPr>
              <a:t>NEGÓCIO</a:t>
            </a:r>
          </a:p>
        </p:txBody>
      </p: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0A6E4D71-FA2E-38A0-D1F0-A90F87431DF0}"/>
              </a:ext>
            </a:extLst>
          </p:cNvPr>
          <p:cNvGrpSpPr/>
          <p:nvPr/>
        </p:nvGrpSpPr>
        <p:grpSpPr>
          <a:xfrm>
            <a:off x="1815003" y="5548182"/>
            <a:ext cx="450514" cy="461610"/>
            <a:chOff x="3672385" y="4863540"/>
            <a:chExt cx="776452" cy="776452"/>
          </a:xfrm>
        </p:grpSpPr>
        <p:sp>
          <p:nvSpPr>
            <p:cNvPr id="36" name="Elipse 35">
              <a:extLst>
                <a:ext uri="{FF2B5EF4-FFF2-40B4-BE49-F238E27FC236}">
                  <a16:creationId xmlns:a16="http://schemas.microsoft.com/office/drawing/2014/main" id="{ABD148E8-847A-F665-9312-197EE1B79D6D}"/>
                </a:ext>
              </a:extLst>
            </p:cNvPr>
            <p:cNvSpPr/>
            <p:nvPr/>
          </p:nvSpPr>
          <p:spPr>
            <a:xfrm>
              <a:off x="3684417" y="4912133"/>
              <a:ext cx="555785" cy="463702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37" name="Imagem 36">
              <a:extLst>
                <a:ext uri="{FF2B5EF4-FFF2-40B4-BE49-F238E27FC236}">
                  <a16:creationId xmlns:a16="http://schemas.microsoft.com/office/drawing/2014/main" id="{E02B3D1C-BB21-2FA4-3B42-49D2F3D9BE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72385" y="4863540"/>
              <a:ext cx="776452" cy="776452"/>
            </a:xfrm>
            <a:prstGeom prst="rect">
              <a:avLst/>
            </a:prstGeom>
          </p:spPr>
        </p:pic>
      </p:grpSp>
      <p:grpSp>
        <p:nvGrpSpPr>
          <p:cNvPr id="40" name="Agrupar 39">
            <a:extLst>
              <a:ext uri="{FF2B5EF4-FFF2-40B4-BE49-F238E27FC236}">
                <a16:creationId xmlns:a16="http://schemas.microsoft.com/office/drawing/2014/main" id="{2B78133D-511C-5E8F-4641-631273E6AF0F}"/>
              </a:ext>
            </a:extLst>
          </p:cNvPr>
          <p:cNvGrpSpPr/>
          <p:nvPr/>
        </p:nvGrpSpPr>
        <p:grpSpPr>
          <a:xfrm>
            <a:off x="3519156" y="5996493"/>
            <a:ext cx="379675" cy="400165"/>
            <a:chOff x="3490165" y="5508473"/>
            <a:chExt cx="527376" cy="572541"/>
          </a:xfrm>
        </p:grpSpPr>
        <p:sp>
          <p:nvSpPr>
            <p:cNvPr id="39" name="Elipse 38">
              <a:extLst>
                <a:ext uri="{FF2B5EF4-FFF2-40B4-BE49-F238E27FC236}">
                  <a16:creationId xmlns:a16="http://schemas.microsoft.com/office/drawing/2014/main" id="{FF29D667-3569-CB7D-12B9-42455A3DCF0F}"/>
                </a:ext>
              </a:extLst>
            </p:cNvPr>
            <p:cNvSpPr/>
            <p:nvPr/>
          </p:nvSpPr>
          <p:spPr>
            <a:xfrm>
              <a:off x="3490165" y="5508473"/>
              <a:ext cx="527376" cy="527376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600"/>
            </a:p>
          </p:txBody>
        </p:sp>
        <p:sp>
          <p:nvSpPr>
            <p:cNvPr id="38" name="CaixaDeTexto 37">
              <a:extLst>
                <a:ext uri="{FF2B5EF4-FFF2-40B4-BE49-F238E27FC236}">
                  <a16:creationId xmlns:a16="http://schemas.microsoft.com/office/drawing/2014/main" id="{792D3279-3DDC-BE7B-C5F5-0CBBF6111A90}"/>
                </a:ext>
              </a:extLst>
            </p:cNvPr>
            <p:cNvSpPr txBox="1"/>
            <p:nvPr/>
          </p:nvSpPr>
          <p:spPr>
            <a:xfrm>
              <a:off x="3531669" y="5508552"/>
              <a:ext cx="441313" cy="5724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000" b="1" dirty="0">
                  <a:solidFill>
                    <a:schemeClr val="accent2"/>
                  </a:solidFill>
                </a:rPr>
                <a:t>?</a:t>
              </a:r>
            </a:p>
          </p:txBody>
        </p:sp>
      </p:grpSp>
      <p:sp>
        <p:nvSpPr>
          <p:cNvPr id="17" name="Retângulo 16">
            <a:extLst>
              <a:ext uri="{FF2B5EF4-FFF2-40B4-BE49-F238E27FC236}">
                <a16:creationId xmlns:a16="http://schemas.microsoft.com/office/drawing/2014/main" id="{7D54EBEF-D16F-AF37-A41E-C31AD3065323}"/>
              </a:ext>
            </a:extLst>
          </p:cNvPr>
          <p:cNvSpPr/>
          <p:nvPr/>
        </p:nvSpPr>
        <p:spPr>
          <a:xfrm>
            <a:off x="7694508" y="4868592"/>
            <a:ext cx="1702710" cy="9103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cap="small" dirty="0">
                <a:solidFill>
                  <a:schemeClr val="bg1"/>
                </a:solidFill>
              </a:rPr>
              <a:t>Desenvolva o Plano de Negócio</a:t>
            </a:r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D351BDCA-9ADD-1025-7F80-A71CD82DDD27}"/>
              </a:ext>
            </a:extLst>
          </p:cNvPr>
          <p:cNvSpPr/>
          <p:nvPr/>
        </p:nvSpPr>
        <p:spPr>
          <a:xfrm>
            <a:off x="7694508" y="2359018"/>
            <a:ext cx="1702710" cy="9103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cap="small" dirty="0">
                <a:solidFill>
                  <a:schemeClr val="bg1"/>
                </a:solidFill>
              </a:rPr>
              <a:t>Levante Recursos</a:t>
            </a:r>
          </a:p>
        </p:txBody>
      </p:sp>
      <p:sp>
        <p:nvSpPr>
          <p:cNvPr id="42" name="Seta: para Baixo 41">
            <a:extLst>
              <a:ext uri="{FF2B5EF4-FFF2-40B4-BE49-F238E27FC236}">
                <a16:creationId xmlns:a16="http://schemas.microsoft.com/office/drawing/2014/main" id="{CFA55BA7-58E9-2BF2-AD91-D0636B41F54D}"/>
              </a:ext>
            </a:extLst>
          </p:cNvPr>
          <p:cNvSpPr/>
          <p:nvPr/>
        </p:nvSpPr>
        <p:spPr>
          <a:xfrm rot="10800000">
            <a:off x="8434893" y="3304679"/>
            <a:ext cx="180203" cy="1523999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1D5F4691-3C0B-3541-C878-508172B618AF}"/>
              </a:ext>
            </a:extLst>
          </p:cNvPr>
          <p:cNvSpPr txBox="1"/>
          <p:nvPr/>
        </p:nvSpPr>
        <p:spPr>
          <a:xfrm>
            <a:off x="7738834" y="1473746"/>
            <a:ext cx="17027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>
                <a:solidFill>
                  <a:schemeClr val="accent2">
                    <a:lumMod val="75000"/>
                  </a:schemeClr>
                </a:solidFill>
              </a:rPr>
              <a:t>VIABILIZANDO</a:t>
            </a:r>
          </a:p>
          <a:p>
            <a:pPr algn="ctr"/>
            <a:r>
              <a:rPr lang="pt-BR" b="1" dirty="0">
                <a:solidFill>
                  <a:schemeClr val="accent2">
                    <a:lumMod val="75000"/>
                  </a:schemeClr>
                </a:solidFill>
              </a:rPr>
              <a:t>O NEGÓCIO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5F9A130B-9881-3F28-79DF-B2AAE03360B1}"/>
              </a:ext>
            </a:extLst>
          </p:cNvPr>
          <p:cNvSpPr txBox="1"/>
          <p:nvPr/>
        </p:nvSpPr>
        <p:spPr>
          <a:xfrm>
            <a:off x="2821745" y="404820"/>
            <a:ext cx="688380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b="1" dirty="0"/>
              <a:t>JORNADA EMPREENDEDORA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3F8995EA-865B-BB44-F9A9-FDBF0DEAE119}"/>
              </a:ext>
            </a:extLst>
          </p:cNvPr>
          <p:cNvSpPr/>
          <p:nvPr/>
        </p:nvSpPr>
        <p:spPr>
          <a:xfrm>
            <a:off x="10159817" y="4868592"/>
            <a:ext cx="1702710" cy="9103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cap="small" dirty="0">
                <a:solidFill>
                  <a:schemeClr val="bg1"/>
                </a:solidFill>
              </a:rPr>
              <a:t>Estruture a empresa</a:t>
            </a:r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E6AA19C9-0F08-720D-B9BB-49071E64ACC7}"/>
              </a:ext>
            </a:extLst>
          </p:cNvPr>
          <p:cNvSpPr/>
          <p:nvPr/>
        </p:nvSpPr>
        <p:spPr>
          <a:xfrm>
            <a:off x="10159817" y="2359018"/>
            <a:ext cx="1702710" cy="9103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cap="small" dirty="0">
                <a:solidFill>
                  <a:schemeClr val="bg1"/>
                </a:solidFill>
              </a:rPr>
              <a:t>Capacite-se</a:t>
            </a:r>
          </a:p>
        </p:txBody>
      </p:sp>
      <p:sp>
        <p:nvSpPr>
          <p:cNvPr id="46" name="Seta: para Baixo 45">
            <a:extLst>
              <a:ext uri="{FF2B5EF4-FFF2-40B4-BE49-F238E27FC236}">
                <a16:creationId xmlns:a16="http://schemas.microsoft.com/office/drawing/2014/main" id="{574B57B4-D0BF-4A96-E285-DE611B9340D0}"/>
              </a:ext>
            </a:extLst>
          </p:cNvPr>
          <p:cNvSpPr/>
          <p:nvPr/>
        </p:nvSpPr>
        <p:spPr>
          <a:xfrm>
            <a:off x="10900203" y="3304680"/>
            <a:ext cx="180203" cy="1523999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14FEEE43-28E9-34CF-5C10-F10AC6953804}"/>
              </a:ext>
            </a:extLst>
          </p:cNvPr>
          <p:cNvSpPr txBox="1"/>
          <p:nvPr/>
        </p:nvSpPr>
        <p:spPr>
          <a:xfrm>
            <a:off x="10223264" y="1473746"/>
            <a:ext cx="15758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>
                <a:solidFill>
                  <a:schemeClr val="accent2">
                    <a:lumMod val="75000"/>
                  </a:schemeClr>
                </a:solidFill>
              </a:rPr>
              <a:t>LIGANDO OS </a:t>
            </a:r>
          </a:p>
          <a:p>
            <a:pPr algn="ctr"/>
            <a:r>
              <a:rPr lang="pt-BR" b="1" dirty="0">
                <a:solidFill>
                  <a:schemeClr val="accent2">
                    <a:lumMod val="75000"/>
                  </a:schemeClr>
                </a:solidFill>
              </a:rPr>
              <a:t>MOTORES</a:t>
            </a:r>
          </a:p>
        </p:txBody>
      </p:sp>
      <p:sp>
        <p:nvSpPr>
          <p:cNvPr id="48" name="Seta: para Baixo 47">
            <a:extLst>
              <a:ext uri="{FF2B5EF4-FFF2-40B4-BE49-F238E27FC236}">
                <a16:creationId xmlns:a16="http://schemas.microsoft.com/office/drawing/2014/main" id="{22F883CF-77E1-9FE5-94E7-60C9450505CA}"/>
              </a:ext>
            </a:extLst>
          </p:cNvPr>
          <p:cNvSpPr/>
          <p:nvPr/>
        </p:nvSpPr>
        <p:spPr>
          <a:xfrm rot="16200000">
            <a:off x="4768266" y="2540332"/>
            <a:ext cx="192894" cy="669459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" name="Seta: para Baixo 48">
            <a:extLst>
              <a:ext uri="{FF2B5EF4-FFF2-40B4-BE49-F238E27FC236}">
                <a16:creationId xmlns:a16="http://schemas.microsoft.com/office/drawing/2014/main" id="{E9B09807-5376-7637-BE27-27451F8B4B95}"/>
              </a:ext>
            </a:extLst>
          </p:cNvPr>
          <p:cNvSpPr/>
          <p:nvPr/>
        </p:nvSpPr>
        <p:spPr>
          <a:xfrm rot="16200000">
            <a:off x="7214750" y="5010773"/>
            <a:ext cx="192894" cy="669459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" name="Seta: para Baixo 49">
            <a:extLst>
              <a:ext uri="{FF2B5EF4-FFF2-40B4-BE49-F238E27FC236}">
                <a16:creationId xmlns:a16="http://schemas.microsoft.com/office/drawing/2014/main" id="{CB3C4EA7-92A4-4CD3-0482-CBE07C071BEF}"/>
              </a:ext>
            </a:extLst>
          </p:cNvPr>
          <p:cNvSpPr/>
          <p:nvPr/>
        </p:nvSpPr>
        <p:spPr>
          <a:xfrm rot="16200000">
            <a:off x="9679826" y="2540333"/>
            <a:ext cx="192894" cy="669459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51" name="Agrupar 50">
            <a:extLst>
              <a:ext uri="{FF2B5EF4-FFF2-40B4-BE49-F238E27FC236}">
                <a16:creationId xmlns:a16="http://schemas.microsoft.com/office/drawing/2014/main" id="{DE0F4A8C-4C3F-263C-A854-A19811F87A31}"/>
              </a:ext>
            </a:extLst>
          </p:cNvPr>
          <p:cNvGrpSpPr/>
          <p:nvPr/>
        </p:nvGrpSpPr>
        <p:grpSpPr>
          <a:xfrm>
            <a:off x="9171961" y="5591846"/>
            <a:ext cx="450514" cy="461610"/>
            <a:chOff x="3672385" y="4863540"/>
            <a:chExt cx="776452" cy="776452"/>
          </a:xfrm>
        </p:grpSpPr>
        <p:sp>
          <p:nvSpPr>
            <p:cNvPr id="52" name="Elipse 51">
              <a:extLst>
                <a:ext uri="{FF2B5EF4-FFF2-40B4-BE49-F238E27FC236}">
                  <a16:creationId xmlns:a16="http://schemas.microsoft.com/office/drawing/2014/main" id="{08424916-F575-A22A-5D9D-6007E6BE547C}"/>
                </a:ext>
              </a:extLst>
            </p:cNvPr>
            <p:cNvSpPr/>
            <p:nvPr/>
          </p:nvSpPr>
          <p:spPr>
            <a:xfrm>
              <a:off x="3684417" y="4912133"/>
              <a:ext cx="555785" cy="463702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53" name="Imagem 52">
              <a:extLst>
                <a:ext uri="{FF2B5EF4-FFF2-40B4-BE49-F238E27FC236}">
                  <a16:creationId xmlns:a16="http://schemas.microsoft.com/office/drawing/2014/main" id="{9383443F-E522-AB95-5FD7-C26833DB49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72385" y="4863540"/>
              <a:ext cx="776452" cy="776452"/>
            </a:xfrm>
            <a:prstGeom prst="rect">
              <a:avLst/>
            </a:prstGeom>
          </p:spPr>
        </p:pic>
      </p:grpSp>
      <p:sp>
        <p:nvSpPr>
          <p:cNvPr id="54" name="Seta: em Forma de U 53">
            <a:extLst>
              <a:ext uri="{FF2B5EF4-FFF2-40B4-BE49-F238E27FC236}">
                <a16:creationId xmlns:a16="http://schemas.microsoft.com/office/drawing/2014/main" id="{4AB97232-2BC0-D1C8-E416-4A0C48142C36}"/>
              </a:ext>
            </a:extLst>
          </p:cNvPr>
          <p:cNvSpPr/>
          <p:nvPr/>
        </p:nvSpPr>
        <p:spPr>
          <a:xfrm rot="10800000">
            <a:off x="3866727" y="5779658"/>
            <a:ext cx="2260506" cy="475267"/>
          </a:xfrm>
          <a:prstGeom prst="uturnArrow">
            <a:avLst>
              <a:gd name="adj1" fmla="val 22091"/>
              <a:gd name="adj2" fmla="val 25000"/>
              <a:gd name="adj3" fmla="val 25000"/>
              <a:gd name="adj4" fmla="val 43750"/>
              <a:gd name="adj5" fmla="val 95363"/>
            </a:avLst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55" name="Agrupar 54">
            <a:extLst>
              <a:ext uri="{FF2B5EF4-FFF2-40B4-BE49-F238E27FC236}">
                <a16:creationId xmlns:a16="http://schemas.microsoft.com/office/drawing/2014/main" id="{BCB0CCF5-9538-65AE-B81D-29ADE6EEBD60}"/>
              </a:ext>
            </a:extLst>
          </p:cNvPr>
          <p:cNvGrpSpPr/>
          <p:nvPr/>
        </p:nvGrpSpPr>
        <p:grpSpPr>
          <a:xfrm>
            <a:off x="5895595" y="6008891"/>
            <a:ext cx="363808" cy="400165"/>
            <a:chOff x="3490165" y="5508473"/>
            <a:chExt cx="527376" cy="572541"/>
          </a:xfrm>
        </p:grpSpPr>
        <p:sp>
          <p:nvSpPr>
            <p:cNvPr id="58" name="Elipse 57">
              <a:extLst>
                <a:ext uri="{FF2B5EF4-FFF2-40B4-BE49-F238E27FC236}">
                  <a16:creationId xmlns:a16="http://schemas.microsoft.com/office/drawing/2014/main" id="{4D4C722A-19DD-98ED-4E53-37906541FFAD}"/>
                </a:ext>
              </a:extLst>
            </p:cNvPr>
            <p:cNvSpPr/>
            <p:nvPr/>
          </p:nvSpPr>
          <p:spPr>
            <a:xfrm>
              <a:off x="3490165" y="5508473"/>
              <a:ext cx="527376" cy="527376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600"/>
            </a:p>
          </p:txBody>
        </p:sp>
        <p:sp>
          <p:nvSpPr>
            <p:cNvPr id="63" name="CaixaDeTexto 62">
              <a:extLst>
                <a:ext uri="{FF2B5EF4-FFF2-40B4-BE49-F238E27FC236}">
                  <a16:creationId xmlns:a16="http://schemas.microsoft.com/office/drawing/2014/main" id="{F4C4BB82-2FA4-2A8F-24C1-6FD5547D1499}"/>
                </a:ext>
              </a:extLst>
            </p:cNvPr>
            <p:cNvSpPr txBox="1"/>
            <p:nvPr/>
          </p:nvSpPr>
          <p:spPr>
            <a:xfrm>
              <a:off x="3531669" y="5508552"/>
              <a:ext cx="441313" cy="5724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000" b="1" dirty="0">
                  <a:solidFill>
                    <a:schemeClr val="accent2"/>
                  </a:solidFill>
                </a:rPr>
                <a:t>?</a:t>
              </a:r>
            </a:p>
          </p:txBody>
        </p:sp>
      </p:grpSp>
      <p:sp>
        <p:nvSpPr>
          <p:cNvPr id="19" name="Retângulo 18">
            <a:extLst>
              <a:ext uri="{FF2B5EF4-FFF2-40B4-BE49-F238E27FC236}">
                <a16:creationId xmlns:a16="http://schemas.microsoft.com/office/drawing/2014/main" id="{185B3EB4-05BA-F275-F667-26A657DE2D9B}"/>
              </a:ext>
            </a:extLst>
          </p:cNvPr>
          <p:cNvSpPr/>
          <p:nvPr/>
        </p:nvSpPr>
        <p:spPr>
          <a:xfrm>
            <a:off x="0" y="1434404"/>
            <a:ext cx="2773681" cy="4930687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u="sng" dirty="0"/>
          </a:p>
        </p:txBody>
      </p:sp>
      <p:sp>
        <p:nvSpPr>
          <p:cNvPr id="56" name="Retângulo 55">
            <a:extLst>
              <a:ext uri="{FF2B5EF4-FFF2-40B4-BE49-F238E27FC236}">
                <a16:creationId xmlns:a16="http://schemas.microsoft.com/office/drawing/2014/main" id="{729226E5-FE7D-0713-561C-CE47EEF4295D}"/>
              </a:ext>
            </a:extLst>
          </p:cNvPr>
          <p:cNvSpPr/>
          <p:nvPr/>
        </p:nvSpPr>
        <p:spPr>
          <a:xfrm>
            <a:off x="4514049" y="1464517"/>
            <a:ext cx="7642837" cy="4930687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u="sng" dirty="0"/>
          </a:p>
        </p:txBody>
      </p:sp>
      <p:sp>
        <p:nvSpPr>
          <p:cNvPr id="57" name="Retângulo 56">
            <a:extLst>
              <a:ext uri="{FF2B5EF4-FFF2-40B4-BE49-F238E27FC236}">
                <a16:creationId xmlns:a16="http://schemas.microsoft.com/office/drawing/2014/main" id="{06D8D1A5-0D7F-244E-28E7-0472B3EC4EEB}"/>
              </a:ext>
            </a:extLst>
          </p:cNvPr>
          <p:cNvSpPr/>
          <p:nvPr/>
        </p:nvSpPr>
        <p:spPr>
          <a:xfrm>
            <a:off x="2777054" y="5748872"/>
            <a:ext cx="1752207" cy="646331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u="sng" dirty="0"/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CDCBDB09-EC0B-D11E-3C47-ED831CCF9638}"/>
              </a:ext>
            </a:extLst>
          </p:cNvPr>
          <p:cNvGrpSpPr/>
          <p:nvPr/>
        </p:nvGrpSpPr>
        <p:grpSpPr>
          <a:xfrm>
            <a:off x="4278199" y="5581759"/>
            <a:ext cx="450514" cy="461610"/>
            <a:chOff x="3672385" y="4863540"/>
            <a:chExt cx="776452" cy="776452"/>
          </a:xfrm>
        </p:grpSpPr>
        <p:sp>
          <p:nvSpPr>
            <p:cNvPr id="2" name="Elipse 1">
              <a:extLst>
                <a:ext uri="{FF2B5EF4-FFF2-40B4-BE49-F238E27FC236}">
                  <a16:creationId xmlns:a16="http://schemas.microsoft.com/office/drawing/2014/main" id="{E6CC38A2-CF9A-BEC5-A1CD-D1D4E563A95E}"/>
                </a:ext>
              </a:extLst>
            </p:cNvPr>
            <p:cNvSpPr/>
            <p:nvPr/>
          </p:nvSpPr>
          <p:spPr>
            <a:xfrm>
              <a:off x="3684417" y="4912133"/>
              <a:ext cx="555785" cy="463702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5" name="Imagem 24">
              <a:extLst>
                <a:ext uri="{FF2B5EF4-FFF2-40B4-BE49-F238E27FC236}">
                  <a16:creationId xmlns:a16="http://schemas.microsoft.com/office/drawing/2014/main" id="{BADAE1E8-2CD4-2FC0-FD6F-68CC5FE2DF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72385" y="4863540"/>
              <a:ext cx="776452" cy="776452"/>
            </a:xfrm>
            <a:prstGeom prst="rect">
              <a:avLst/>
            </a:prstGeom>
          </p:spPr>
        </p:pic>
      </p:grpSp>
      <p:grpSp>
        <p:nvGrpSpPr>
          <p:cNvPr id="6" name="Agrupar 5">
            <a:extLst>
              <a:ext uri="{FF2B5EF4-FFF2-40B4-BE49-F238E27FC236}">
                <a16:creationId xmlns:a16="http://schemas.microsoft.com/office/drawing/2014/main" id="{517C20FB-5347-A46E-BEA9-A7E977CD8E85}"/>
              </a:ext>
            </a:extLst>
          </p:cNvPr>
          <p:cNvGrpSpPr/>
          <p:nvPr/>
        </p:nvGrpSpPr>
        <p:grpSpPr>
          <a:xfrm>
            <a:off x="4278199" y="3030707"/>
            <a:ext cx="450514" cy="461610"/>
            <a:chOff x="3672385" y="4863540"/>
            <a:chExt cx="776452" cy="776452"/>
          </a:xfrm>
        </p:grpSpPr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2E2F77DE-92A0-A5BF-9B7F-487F53ECD9E8}"/>
                </a:ext>
              </a:extLst>
            </p:cNvPr>
            <p:cNvSpPr/>
            <p:nvPr/>
          </p:nvSpPr>
          <p:spPr>
            <a:xfrm>
              <a:off x="3684417" y="4912133"/>
              <a:ext cx="555785" cy="463702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4" name="Imagem 23">
              <a:extLst>
                <a:ext uri="{FF2B5EF4-FFF2-40B4-BE49-F238E27FC236}">
                  <a16:creationId xmlns:a16="http://schemas.microsoft.com/office/drawing/2014/main" id="{E1C32B33-9E6B-6CF7-B3BC-C7BCA036DD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72385" y="4863540"/>
              <a:ext cx="776452" cy="776452"/>
            </a:xfrm>
            <a:prstGeom prst="rect">
              <a:avLst/>
            </a:prstGeom>
          </p:spPr>
        </p:pic>
      </p:grpSp>
      <p:sp>
        <p:nvSpPr>
          <p:cNvPr id="59" name="Retângulo: Cantos Arredondados 58">
            <a:extLst>
              <a:ext uri="{FF2B5EF4-FFF2-40B4-BE49-F238E27FC236}">
                <a16:creationId xmlns:a16="http://schemas.microsoft.com/office/drawing/2014/main" id="{783F4345-D0B8-CC28-FC98-DA417352B86E}"/>
              </a:ext>
            </a:extLst>
          </p:cNvPr>
          <p:cNvSpPr/>
          <p:nvPr/>
        </p:nvSpPr>
        <p:spPr>
          <a:xfrm>
            <a:off x="2530284" y="1279818"/>
            <a:ext cx="2256822" cy="4930687"/>
          </a:xfrm>
          <a:prstGeom prst="roundRect">
            <a:avLst>
              <a:gd name="adj" fmla="val 7113"/>
            </a:avLst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7829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7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FB97F0F-AB93-BD60-F31A-6BA8EE108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0"/>
            <a:ext cx="0" cy="0"/>
          </a:xfrm>
        </p:spPr>
        <p:txBody>
          <a:bodyPr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10CE6B1-58E9-4040-8AE3-DF10BA7334E7}" type="slidenum">
              <a:rPr lang="pt-BR" smtClean="0"/>
              <a:pPr/>
              <a:t>4</a:t>
            </a:fld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C5463B3-B443-1F3F-AFA6-A8B53CD34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054" y="2753605"/>
            <a:ext cx="4210278" cy="3377137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17E0ADD3-E1A3-2A16-603C-0D88D6A4C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670" y="3869607"/>
            <a:ext cx="4021601" cy="282098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71B66523-29FB-7C16-3ECD-6C30D3E0411C}"/>
              </a:ext>
            </a:extLst>
          </p:cNvPr>
          <p:cNvSpPr/>
          <p:nvPr/>
        </p:nvSpPr>
        <p:spPr>
          <a:xfrm>
            <a:off x="6208336" y="1428063"/>
            <a:ext cx="4131107" cy="2258762"/>
          </a:xfrm>
          <a:prstGeom prst="roundRect">
            <a:avLst>
              <a:gd name="adj" fmla="val 8614"/>
            </a:avLst>
          </a:prstGeom>
          <a:solidFill>
            <a:schemeClr val="bg1"/>
          </a:solidFill>
          <a:ln>
            <a:solidFill>
              <a:srgbClr val="C0000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cap="small" dirty="0">
                <a:solidFill>
                  <a:srgbClr val="C00000"/>
                </a:solidFill>
              </a:rPr>
              <a:t>Cada persona deve representar um perfil de usuário de nosso produto ou serviço, e deve ser descrita buscando ser o mais realista no registro de suas características pessoais, hábitos, atividades frequentes, seus desejos/necessidades e suas dores... </a:t>
            </a:r>
          </a:p>
          <a:p>
            <a:pPr algn="ctr"/>
            <a:r>
              <a:rPr lang="pt-BR" sz="1400" cap="small" dirty="0">
                <a:solidFill>
                  <a:srgbClr val="C00000"/>
                </a:solidFill>
              </a:rPr>
              <a:t>Deve abranger, portanto, todas as características que julgarmos relevantes para contribuir na definição mais clara das funcionalidades que iremos prever em nosso software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938C5E9-8B03-89DA-E880-69556557634A}"/>
              </a:ext>
            </a:extLst>
          </p:cNvPr>
          <p:cNvSpPr txBox="1"/>
          <p:nvPr/>
        </p:nvSpPr>
        <p:spPr>
          <a:xfrm>
            <a:off x="1080443" y="704579"/>
            <a:ext cx="84464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pt-BR" sz="3200" b="1" dirty="0">
                <a:solidFill>
                  <a:prstClr val="black"/>
                </a:solidFill>
                <a:latin typeface="Calibri" panose="020F0502020204030204" pitchFamily="34" charset="0"/>
              </a:rPr>
              <a:t>IDENTIFICANDO E DESCREVENDO SEUS CLIENTES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FA36301-6C8D-29FA-AE44-D7ED395B77EA}"/>
              </a:ext>
            </a:extLst>
          </p:cNvPr>
          <p:cNvSpPr txBox="1"/>
          <p:nvPr/>
        </p:nvSpPr>
        <p:spPr>
          <a:xfrm>
            <a:off x="2195657" y="1731883"/>
            <a:ext cx="33050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>
                <a:solidFill>
                  <a:srgbClr val="C00000"/>
                </a:solidFill>
              </a:rPr>
              <a:t>IDENTIFICANDO E DESCREVENDO</a:t>
            </a:r>
          </a:p>
          <a:p>
            <a:pPr algn="ctr"/>
            <a:r>
              <a:rPr lang="pt-BR" b="1" dirty="0">
                <a:solidFill>
                  <a:srgbClr val="C00000"/>
                </a:solidFill>
              </a:rPr>
              <a:t>PERSONAS</a:t>
            </a:r>
          </a:p>
        </p:txBody>
      </p:sp>
    </p:spTree>
    <p:extLst>
      <p:ext uri="{BB962C8B-B14F-4D97-AF65-F5344CB8AC3E}">
        <p14:creationId xmlns:p14="http://schemas.microsoft.com/office/powerpoint/2010/main" val="4160438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9F048-E08A-E3B1-AF6A-6E2FEE535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4D281864-0955-56E6-E62B-8504543656DA}"/>
              </a:ext>
            </a:extLst>
          </p:cNvPr>
          <p:cNvSpPr txBox="1"/>
          <p:nvPr/>
        </p:nvSpPr>
        <p:spPr>
          <a:xfrm>
            <a:off x="2137972" y="2421208"/>
            <a:ext cx="791605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400" b="1" dirty="0"/>
              <a:t>MAS COMO ORGANIZAR E CONDUZIR UMA PESQUISA ??</a:t>
            </a:r>
          </a:p>
        </p:txBody>
      </p:sp>
    </p:spTree>
    <p:extLst>
      <p:ext uri="{BB962C8B-B14F-4D97-AF65-F5344CB8AC3E}">
        <p14:creationId xmlns:p14="http://schemas.microsoft.com/office/powerpoint/2010/main" val="17131079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26057B0-E3F0-2F60-F820-62FA6EE15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D7D703C-20FD-DF91-7AFD-EFDD821EC8A5}"/>
              </a:ext>
            </a:extLst>
          </p:cNvPr>
          <p:cNvSpPr txBox="1"/>
          <p:nvPr/>
        </p:nvSpPr>
        <p:spPr>
          <a:xfrm>
            <a:off x="2995600" y="485193"/>
            <a:ext cx="62008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cap="small" dirty="0"/>
              <a:t>Dinâmica de Planejamento de Pesquisa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77C08EA-3D87-4B8A-B76F-D1EC96EA9D7D}"/>
              </a:ext>
            </a:extLst>
          </p:cNvPr>
          <p:cNvSpPr txBox="1"/>
          <p:nvPr/>
        </p:nvSpPr>
        <p:spPr>
          <a:xfrm>
            <a:off x="574742" y="1403598"/>
            <a:ext cx="10692882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pt-BR" sz="2000" b="1" dirty="0"/>
              <a:t>Projeto: </a:t>
            </a:r>
            <a:r>
              <a:rPr lang="pt-BR" sz="2000" b="1" dirty="0">
                <a:solidFill>
                  <a:srgbClr val="C00000"/>
                </a:solidFill>
              </a:rPr>
              <a:t>Mochila Inteligente com Powerbank Embutido</a:t>
            </a:r>
          </a:p>
          <a:p>
            <a:pPr>
              <a:spcAft>
                <a:spcPts val="600"/>
              </a:spcAft>
            </a:pPr>
            <a:endParaRPr lang="pt-BR" sz="500" b="1" dirty="0">
              <a:solidFill>
                <a:srgbClr val="C00000"/>
              </a:solidFill>
            </a:endParaRPr>
          </a:p>
          <a:p>
            <a:pPr>
              <a:spcAft>
                <a:spcPts val="600"/>
              </a:spcAft>
            </a:pPr>
            <a:r>
              <a:rPr lang="pt-BR" b="1" dirty="0"/>
              <a:t>Cliente</a:t>
            </a:r>
            <a:r>
              <a:rPr lang="pt-BR" dirty="0"/>
              <a:t>: </a:t>
            </a:r>
            <a:r>
              <a:rPr lang="pt-BR" b="1" dirty="0" err="1">
                <a:solidFill>
                  <a:srgbClr val="C00000"/>
                </a:solidFill>
              </a:rPr>
              <a:t>NeoCarry</a:t>
            </a:r>
            <a:r>
              <a:rPr lang="pt-BR" dirty="0"/>
              <a:t> (empresa entrante no mercado de mochilas e acessórios urbanos)</a:t>
            </a:r>
          </a:p>
          <a:p>
            <a:pPr>
              <a:spcAft>
                <a:spcPts val="600"/>
              </a:spcAft>
            </a:pPr>
            <a:r>
              <a:rPr lang="pt-BR" b="1" dirty="0"/>
              <a:t>Desafio</a:t>
            </a:r>
            <a:r>
              <a:rPr lang="pt-BR" dirty="0"/>
              <a:t>: A </a:t>
            </a:r>
            <a:r>
              <a:rPr lang="pt-BR" dirty="0" err="1"/>
              <a:t>NeoCarry</a:t>
            </a:r>
            <a:r>
              <a:rPr lang="pt-BR" dirty="0"/>
              <a:t> deseja lançar uma mochila inteligente com powerbank embutido (10.000 </a:t>
            </a:r>
            <a:r>
              <a:rPr lang="pt-BR" dirty="0" err="1"/>
              <a:t>mAh</a:t>
            </a:r>
            <a:r>
              <a:rPr lang="pt-BR" dirty="0"/>
              <a:t>), porta USB externa, compartimento para notebook 15”, material resistente à água, bolsos organizadores e zíper oculto antirroubo. </a:t>
            </a:r>
          </a:p>
          <a:p>
            <a:pPr>
              <a:spcAft>
                <a:spcPts val="600"/>
              </a:spcAft>
            </a:pPr>
            <a:r>
              <a:rPr lang="pt-BR" dirty="0"/>
              <a:t>A empresa não sabe se há interesse suficiente no produto, quem é o público prioritário, e qual preço/posicionamento são adequados, por isso quer contratar seu grupo para a condução de uma pesquisa de mercado.</a:t>
            </a:r>
          </a:p>
          <a:p>
            <a:pPr>
              <a:spcAft>
                <a:spcPts val="600"/>
              </a:spcAft>
            </a:pPr>
            <a:r>
              <a:rPr lang="pt-BR" b="1" dirty="0"/>
              <a:t>Expectativa</a:t>
            </a:r>
            <a:r>
              <a:rPr lang="pt-BR" dirty="0"/>
              <a:t>: Antes de realizar a contratação de seu grupo a </a:t>
            </a:r>
            <a:r>
              <a:rPr lang="pt-BR" dirty="0" err="1"/>
              <a:t>NeoCarry</a:t>
            </a:r>
            <a:r>
              <a:rPr lang="pt-BR" dirty="0"/>
              <a:t> pediu que vocês apresentem o esboço de um plano de pesquisa que detalhe como vocês organizariam a pesquisa de mercado para responder as seguintes questões:</a:t>
            </a:r>
          </a:p>
          <a:p>
            <a:pPr>
              <a:spcAft>
                <a:spcPts val="600"/>
              </a:spcAft>
            </a:pPr>
            <a:endParaRPr lang="pt-BR" sz="500" dirty="0"/>
          </a:p>
          <a:p>
            <a:pPr marL="625475" indent="-269875">
              <a:buFont typeface="+mj-lt"/>
              <a:buAutoNum type="arabicPeriod"/>
            </a:pPr>
            <a:r>
              <a:rPr lang="pt-BR" dirty="0"/>
              <a:t>Existe demanda real ?</a:t>
            </a:r>
          </a:p>
          <a:p>
            <a:pPr marL="625475" indent="-269875">
              <a:buFont typeface="+mj-lt"/>
              <a:buAutoNum type="arabicPeriod"/>
            </a:pPr>
            <a:r>
              <a:rPr lang="pt-BR" dirty="0"/>
              <a:t>Quais segmentos têm maior interesse ? </a:t>
            </a:r>
          </a:p>
          <a:p>
            <a:pPr marL="625475" indent="-269875">
              <a:buFont typeface="+mj-lt"/>
              <a:buAutoNum type="arabicPeriod"/>
            </a:pPr>
            <a:r>
              <a:rPr lang="pt-BR" dirty="0"/>
              <a:t>Quais atributos são mais valorizados ?</a:t>
            </a:r>
          </a:p>
          <a:p>
            <a:pPr marL="625475" indent="-269875">
              <a:buFont typeface="+mj-lt"/>
              <a:buAutoNum type="arabicPeriod"/>
            </a:pPr>
            <a:r>
              <a:rPr lang="pt-BR" dirty="0"/>
              <a:t>Qual faixa de preço é aceitável ?</a:t>
            </a:r>
          </a:p>
          <a:p>
            <a:pPr marL="625475" indent="-269875">
              <a:buFont typeface="+mj-lt"/>
              <a:buAutoNum type="arabicPeriod"/>
            </a:pPr>
            <a:r>
              <a:rPr lang="pt-BR" dirty="0"/>
              <a:t>Quais canais de compra são preferidos ?</a:t>
            </a:r>
          </a:p>
          <a:p>
            <a:pPr>
              <a:spcAft>
                <a:spcPts val="600"/>
              </a:spcAft>
            </a:pPr>
            <a:endParaRPr lang="pt-BR" sz="500" dirty="0"/>
          </a:p>
        </p:txBody>
      </p:sp>
    </p:spTree>
    <p:extLst>
      <p:ext uri="{BB962C8B-B14F-4D97-AF65-F5344CB8AC3E}">
        <p14:creationId xmlns:p14="http://schemas.microsoft.com/office/powerpoint/2010/main" val="4250299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9AB8C04-82BA-7538-94AC-5B3758401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76E44063-7ED2-138B-6FC7-6102E8899CF9}"/>
              </a:ext>
            </a:extLst>
          </p:cNvPr>
          <p:cNvSpPr txBox="1"/>
          <p:nvPr/>
        </p:nvSpPr>
        <p:spPr>
          <a:xfrm>
            <a:off x="574741" y="1151672"/>
            <a:ext cx="11144507" cy="6109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pt-BR" sz="2000" b="1" dirty="0"/>
              <a:t>Hipóteses Iniciais dos executivos da </a:t>
            </a:r>
            <a:r>
              <a:rPr lang="pt-BR" sz="2000" b="1" dirty="0" err="1"/>
              <a:t>NeoCarry</a:t>
            </a:r>
            <a:r>
              <a:rPr lang="pt-BR" sz="2000" b="1" dirty="0"/>
              <a:t>:</a:t>
            </a:r>
          </a:p>
          <a:p>
            <a:pPr>
              <a:spcAft>
                <a:spcPts val="600"/>
              </a:spcAft>
            </a:pPr>
            <a:r>
              <a:rPr lang="pt-BR" sz="800" b="1" dirty="0"/>
              <a:t>            </a:t>
            </a:r>
            <a:r>
              <a:rPr lang="pt-BR" b="1" dirty="0"/>
              <a:t>Público-alvo provável</a:t>
            </a:r>
            <a:r>
              <a:rPr lang="pt-BR" dirty="0"/>
              <a:t>: </a:t>
            </a:r>
          </a:p>
          <a:p>
            <a:pPr marL="447675" indent="-1778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dirty="0"/>
              <a:t>Estudantes universitários e jovens profissionais (18–35) que usam mochila diariamente.</a:t>
            </a:r>
          </a:p>
          <a:p>
            <a:pPr marL="447675" indent="-1778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dirty="0"/>
              <a:t>Pessoas que trabalham/estudam com notebook e passam muito tempo em deslocamento.</a:t>
            </a:r>
          </a:p>
          <a:p>
            <a:pPr marL="269875">
              <a:spcAft>
                <a:spcPts val="600"/>
              </a:spcAft>
            </a:pPr>
            <a:r>
              <a:rPr lang="pt-BR" b="1" dirty="0"/>
              <a:t>Prováveis preferências do consumidor</a:t>
            </a:r>
          </a:p>
          <a:p>
            <a:pPr marL="447675" indent="-177800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47675" algn="l"/>
              </a:tabLst>
            </a:pPr>
            <a:r>
              <a:rPr lang="pt-BR" dirty="0"/>
              <a:t>H1: Usuários valorizam bateria integrada + segurança antirroubo.</a:t>
            </a:r>
          </a:p>
          <a:p>
            <a:pPr marL="447675" indent="-177800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47675" algn="l"/>
              </a:tabLst>
            </a:pPr>
            <a:r>
              <a:rPr lang="pt-BR" dirty="0"/>
              <a:t>H2: Design e conforto (ergonomia) são decisivos na compra.</a:t>
            </a:r>
          </a:p>
          <a:p>
            <a:pPr marL="447675" indent="-177800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47675" algn="l"/>
              </a:tabLst>
            </a:pPr>
            <a:r>
              <a:rPr lang="pt-BR" dirty="0"/>
              <a:t>H3: Preço de aceitação: R$ 249–349.</a:t>
            </a:r>
          </a:p>
          <a:p>
            <a:pPr marL="447675" indent="-177800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47675" algn="l"/>
              </a:tabLst>
            </a:pPr>
            <a:r>
              <a:rPr lang="pt-BR" dirty="0"/>
              <a:t>H4: Canais preferidos: e-commerce e marketplaces.</a:t>
            </a:r>
          </a:p>
          <a:p>
            <a:pPr>
              <a:spcAft>
                <a:spcPts val="600"/>
              </a:spcAft>
            </a:pPr>
            <a:r>
              <a:rPr lang="pt-BR" b="1" dirty="0"/>
              <a:t>Sua missão: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  <a:tabLst>
                <a:tab pos="268288" algn="l"/>
                <a:tab pos="269875" algn="l"/>
              </a:tabLst>
            </a:pPr>
            <a:r>
              <a:rPr lang="pt-BR" b="1" dirty="0">
                <a:solidFill>
                  <a:srgbClr val="C00000"/>
                </a:solidFill>
              </a:rPr>
              <a:t>Reúnam-se em grupos de até 4 pessoas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  <a:tabLst>
                <a:tab pos="268288" algn="l"/>
                <a:tab pos="269875" algn="l"/>
              </a:tabLst>
            </a:pPr>
            <a:r>
              <a:rPr lang="pt-BR" b="1" dirty="0">
                <a:solidFill>
                  <a:srgbClr val="C00000"/>
                </a:solidFill>
              </a:rPr>
              <a:t>Discutam a demanda e as hipóteses da </a:t>
            </a:r>
            <a:r>
              <a:rPr lang="pt-BR" b="1" dirty="0" err="1">
                <a:solidFill>
                  <a:srgbClr val="C00000"/>
                </a:solidFill>
              </a:rPr>
              <a:t>NeoCarry</a:t>
            </a:r>
            <a:endParaRPr lang="pt-BR" b="1" dirty="0">
              <a:solidFill>
                <a:srgbClr val="C00000"/>
              </a:solidFill>
            </a:endParaRP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  <a:tabLst>
                <a:tab pos="268288" algn="l"/>
                <a:tab pos="269875" algn="l"/>
              </a:tabLst>
            </a:pPr>
            <a:r>
              <a:rPr lang="pt-BR" b="1" dirty="0">
                <a:solidFill>
                  <a:srgbClr val="C00000"/>
                </a:solidFill>
              </a:rPr>
              <a:t>Elaborem um esboço preliminar de Plano de Pesquisa</a:t>
            </a:r>
            <a:r>
              <a:rPr lang="pt-BR" dirty="0">
                <a:solidFill>
                  <a:srgbClr val="C00000"/>
                </a:solidFill>
              </a:rPr>
              <a:t> propondo e justificando </a:t>
            </a:r>
            <a:r>
              <a:rPr lang="pt-BR" u="sng" dirty="0">
                <a:solidFill>
                  <a:srgbClr val="C00000"/>
                </a:solidFill>
              </a:rPr>
              <a:t>etapas do processo</a:t>
            </a:r>
            <a:r>
              <a:rPr lang="pt-BR" dirty="0">
                <a:solidFill>
                  <a:srgbClr val="C00000"/>
                </a:solidFill>
              </a:rPr>
              <a:t>, </a:t>
            </a:r>
            <a:r>
              <a:rPr lang="pt-BR" u="sng" dirty="0">
                <a:solidFill>
                  <a:srgbClr val="C00000"/>
                </a:solidFill>
              </a:rPr>
              <a:t>técnicas aplicáveis</a:t>
            </a:r>
            <a:r>
              <a:rPr lang="pt-BR" dirty="0">
                <a:solidFill>
                  <a:srgbClr val="C00000"/>
                </a:solidFill>
              </a:rPr>
              <a:t>, </a:t>
            </a:r>
            <a:r>
              <a:rPr lang="pt-BR" u="sng" dirty="0">
                <a:solidFill>
                  <a:srgbClr val="C00000"/>
                </a:solidFill>
              </a:rPr>
              <a:t>fontes de informação</a:t>
            </a:r>
            <a:r>
              <a:rPr lang="pt-BR" dirty="0">
                <a:solidFill>
                  <a:srgbClr val="C00000"/>
                </a:solidFill>
              </a:rPr>
              <a:t> e </a:t>
            </a:r>
            <a:r>
              <a:rPr lang="pt-BR" u="sng" dirty="0">
                <a:solidFill>
                  <a:srgbClr val="C00000"/>
                </a:solidFill>
              </a:rPr>
              <a:t>entregáveis</a:t>
            </a:r>
            <a:r>
              <a:rPr lang="pt-BR" dirty="0">
                <a:solidFill>
                  <a:srgbClr val="C00000"/>
                </a:solidFill>
              </a:rPr>
              <a:t> que vocês acreditam serem necessárias para a execução desse projeto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  <a:tabLst>
                <a:tab pos="268288" algn="l"/>
                <a:tab pos="269875" algn="l"/>
              </a:tabLst>
            </a:pPr>
            <a:r>
              <a:rPr lang="pt-BR" b="1" dirty="0">
                <a:solidFill>
                  <a:srgbClr val="C00000"/>
                </a:solidFill>
              </a:rPr>
              <a:t>Tempo disponível: 30 minutos</a:t>
            </a:r>
          </a:p>
          <a:p>
            <a:pPr>
              <a:spcAft>
                <a:spcPts val="600"/>
              </a:spcAft>
            </a:pPr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CE1DA80-8A9C-641C-E5EA-47223E0728BA}"/>
              </a:ext>
            </a:extLst>
          </p:cNvPr>
          <p:cNvSpPr txBox="1"/>
          <p:nvPr/>
        </p:nvSpPr>
        <p:spPr>
          <a:xfrm>
            <a:off x="2995600" y="485193"/>
            <a:ext cx="62008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cap="small" dirty="0"/>
              <a:t>Dinâmica de Planejamento de Pesquisa</a:t>
            </a:r>
          </a:p>
        </p:txBody>
      </p:sp>
    </p:spTree>
    <p:extLst>
      <p:ext uri="{BB962C8B-B14F-4D97-AF65-F5344CB8AC3E}">
        <p14:creationId xmlns:p14="http://schemas.microsoft.com/office/powerpoint/2010/main" val="25828244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6980679-F820-61BA-13C4-C5DFAED86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C1DE964F-3B78-845A-2035-6220D35522F8}"/>
              </a:ext>
            </a:extLst>
          </p:cNvPr>
          <p:cNvSpPr txBox="1"/>
          <p:nvPr/>
        </p:nvSpPr>
        <p:spPr>
          <a:xfrm>
            <a:off x="1183341" y="2551837"/>
            <a:ext cx="982531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400" b="1" dirty="0"/>
              <a:t>COMO IRÃO ORGANIZAR E CONDUZIR ESSA PESQUISA ?</a:t>
            </a:r>
          </a:p>
        </p:txBody>
      </p:sp>
    </p:spTree>
    <p:extLst>
      <p:ext uri="{BB962C8B-B14F-4D97-AF65-F5344CB8AC3E}">
        <p14:creationId xmlns:p14="http://schemas.microsoft.com/office/powerpoint/2010/main" val="1609140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3"/>
          <p:cNvSpPr>
            <a:spLocks noChangeArrowheads="1"/>
          </p:cNvSpPr>
          <p:nvPr/>
        </p:nvSpPr>
        <p:spPr bwMode="auto">
          <a:xfrm>
            <a:off x="1276970" y="1320468"/>
            <a:ext cx="7054138" cy="675383"/>
          </a:xfrm>
          <a:prstGeom prst="rect">
            <a:avLst/>
          </a:prstGeom>
          <a:solidFill>
            <a:schemeClr val="tx2">
              <a:lumMod val="20000"/>
              <a:lumOff val="80000"/>
              <a:alpha val="69019"/>
            </a:schemeClr>
          </a:solidFill>
          <a:ln w="9525">
            <a:solidFill>
              <a:schemeClr val="tx2">
                <a:lumMod val="40000"/>
                <a:lumOff val="6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>
            <a:flatTx/>
          </a:bodyPr>
          <a:lstStyle>
            <a:lvl1pPr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pt-BR" altLang="pt-BR" sz="2400" cap="small" dirty="0">
                <a:latin typeface="Calibri" panose="020F0502020204030204" pitchFamily="34" charset="0"/>
              </a:rPr>
              <a:t>Definição do p</a:t>
            </a:r>
            <a:r>
              <a:rPr lang="ro-RO" altLang="pt-BR" sz="2400" cap="small" dirty="0">
                <a:latin typeface="Calibri" panose="020F0502020204030204" pitchFamily="34" charset="0"/>
              </a:rPr>
              <a:t>roblema e</a:t>
            </a:r>
            <a:r>
              <a:rPr lang="pt-BR" altLang="pt-BR" sz="2400" cap="small" dirty="0">
                <a:latin typeface="Calibri" panose="020F0502020204030204" pitchFamily="34" charset="0"/>
              </a:rPr>
              <a:t> dos o</a:t>
            </a:r>
            <a:r>
              <a:rPr lang="ro-RO" altLang="pt-BR" sz="2400" cap="small" dirty="0">
                <a:latin typeface="Calibri" panose="020F0502020204030204" pitchFamily="34" charset="0"/>
              </a:rPr>
              <a:t>bjetivos da</a:t>
            </a:r>
            <a:r>
              <a:rPr lang="pt-BR" altLang="pt-BR" sz="2400" cap="small" dirty="0">
                <a:latin typeface="Calibri" panose="020F0502020204030204" pitchFamily="34" charset="0"/>
              </a:rPr>
              <a:t> </a:t>
            </a:r>
            <a:r>
              <a:rPr lang="ro-RO" altLang="pt-BR" sz="2400" cap="small" dirty="0">
                <a:latin typeface="Calibri" panose="020F0502020204030204" pitchFamily="34" charset="0"/>
              </a:rPr>
              <a:t>pesquisa</a:t>
            </a:r>
            <a:endParaRPr lang="pt-BR" altLang="pt-BR" sz="2400" cap="small" dirty="0">
              <a:latin typeface="Calibri" panose="020F0502020204030204" pitchFamily="34" charset="0"/>
            </a:endParaRPr>
          </a:p>
        </p:txBody>
      </p:sp>
      <p:sp>
        <p:nvSpPr>
          <p:cNvPr id="63492" name="Rectangle 4"/>
          <p:cNvSpPr>
            <a:spLocks noChangeArrowheads="1"/>
          </p:cNvSpPr>
          <p:nvPr/>
        </p:nvSpPr>
        <p:spPr bwMode="auto">
          <a:xfrm>
            <a:off x="1677762" y="2253918"/>
            <a:ext cx="7054138" cy="675383"/>
          </a:xfrm>
          <a:prstGeom prst="rect">
            <a:avLst/>
          </a:prstGeom>
          <a:solidFill>
            <a:schemeClr val="tx2">
              <a:lumMod val="40000"/>
              <a:lumOff val="60000"/>
              <a:alpha val="69019"/>
            </a:schemeClr>
          </a:solidFill>
          <a:ln w="9525"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>
            <a:flatTx/>
          </a:bodyPr>
          <a:lstStyle>
            <a:lvl1pPr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/>
            <a:r>
              <a:rPr lang="pt-BR" altLang="pt-BR" sz="2400" cap="small" dirty="0">
                <a:latin typeface="Calibri" panose="020F0502020204030204" pitchFamily="34" charset="0"/>
              </a:rPr>
              <a:t>Desenvolvimento do Plano</a:t>
            </a:r>
            <a:r>
              <a:rPr lang="pt-PT" altLang="pt-BR" sz="2400" cap="small" dirty="0">
                <a:latin typeface="Calibri" panose="020F0502020204030204" pitchFamily="34" charset="0"/>
              </a:rPr>
              <a:t> de Pesquisa</a:t>
            </a:r>
            <a:endParaRPr lang="pt-PT" altLang="pt-BR" sz="1600" cap="small" dirty="0">
              <a:latin typeface="Calibri" panose="020F0502020204030204" pitchFamily="34" charset="0"/>
            </a:endParaRPr>
          </a:p>
        </p:txBody>
      </p:sp>
      <p:sp>
        <p:nvSpPr>
          <p:cNvPr id="63493" name="Rectangle 5"/>
          <p:cNvSpPr>
            <a:spLocks noChangeArrowheads="1"/>
          </p:cNvSpPr>
          <p:nvPr/>
        </p:nvSpPr>
        <p:spPr bwMode="auto">
          <a:xfrm>
            <a:off x="2078554" y="3187368"/>
            <a:ext cx="7054138" cy="675383"/>
          </a:xfrm>
          <a:prstGeom prst="rect">
            <a:avLst/>
          </a:prstGeom>
          <a:solidFill>
            <a:schemeClr val="tx2">
              <a:lumMod val="60000"/>
              <a:lumOff val="40000"/>
              <a:alpha val="69019"/>
            </a:schemeClr>
          </a:solidFill>
          <a:ln w="9525"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>
            <a:flatTx/>
          </a:bodyPr>
          <a:lstStyle>
            <a:lvl1pPr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/>
            <a:r>
              <a:rPr lang="pt-BR" altLang="pt-BR" sz="2400" cap="small" dirty="0">
                <a:latin typeface="Calibri" panose="020F0502020204030204" pitchFamily="34" charset="0"/>
              </a:rPr>
              <a:t>Coleta de informações</a:t>
            </a:r>
            <a:endParaRPr lang="pt-BR" altLang="pt-BR" sz="1600" cap="small" dirty="0">
              <a:latin typeface="Calibri" panose="020F0502020204030204" pitchFamily="34" charset="0"/>
            </a:endParaRPr>
          </a:p>
        </p:txBody>
      </p:sp>
      <p:sp>
        <p:nvSpPr>
          <p:cNvPr id="63494" name="Rectangle 6"/>
          <p:cNvSpPr>
            <a:spLocks noChangeArrowheads="1"/>
          </p:cNvSpPr>
          <p:nvPr/>
        </p:nvSpPr>
        <p:spPr bwMode="auto">
          <a:xfrm>
            <a:off x="2479346" y="4120818"/>
            <a:ext cx="7054138" cy="675383"/>
          </a:xfrm>
          <a:prstGeom prst="rect">
            <a:avLst/>
          </a:prstGeom>
          <a:solidFill>
            <a:schemeClr val="tx2">
              <a:lumMod val="75000"/>
              <a:alpha val="69019"/>
            </a:schemeClr>
          </a:solidFill>
          <a:ln w="9525"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>
            <a:flatTx/>
          </a:bodyPr>
          <a:lstStyle>
            <a:lvl1pPr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/>
            <a:r>
              <a:rPr lang="pt-BR" altLang="pt-BR" sz="2400" cap="small" dirty="0">
                <a:solidFill>
                  <a:schemeClr val="bg1"/>
                </a:solidFill>
                <a:latin typeface="Calibri" panose="020F0502020204030204" pitchFamily="34" charset="0"/>
              </a:rPr>
              <a:t>Análise das  informações</a:t>
            </a:r>
            <a:endParaRPr lang="pt-BR" altLang="pt-BR" sz="1600" cap="small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63495" name="Rectangle 7"/>
          <p:cNvSpPr>
            <a:spLocks noChangeArrowheads="1"/>
          </p:cNvSpPr>
          <p:nvPr/>
        </p:nvSpPr>
        <p:spPr bwMode="auto">
          <a:xfrm>
            <a:off x="2880137" y="5054268"/>
            <a:ext cx="7054138" cy="675383"/>
          </a:xfrm>
          <a:prstGeom prst="rect">
            <a:avLst/>
          </a:prstGeom>
          <a:solidFill>
            <a:schemeClr val="tx2">
              <a:lumMod val="50000"/>
              <a:alpha val="69019"/>
            </a:schemeClr>
          </a:solidFill>
          <a:ln w="9525"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>
            <a:flatTx/>
          </a:bodyPr>
          <a:lstStyle>
            <a:lvl1pPr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/>
            <a:r>
              <a:rPr lang="pt-BR" altLang="pt-BR" sz="2400" cap="small" dirty="0">
                <a:solidFill>
                  <a:schemeClr val="bg1"/>
                </a:solidFill>
                <a:latin typeface="Calibri" panose="020F0502020204030204" pitchFamily="34" charset="0"/>
              </a:rPr>
              <a:t>Apresentação dos resultados</a:t>
            </a:r>
            <a:endParaRPr lang="pt-BR" altLang="pt-BR" sz="1600" cap="small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2" name="Seta: Dobrada 1">
            <a:extLst>
              <a:ext uri="{FF2B5EF4-FFF2-40B4-BE49-F238E27FC236}">
                <a16:creationId xmlns:a16="http://schemas.microsoft.com/office/drawing/2014/main" id="{A41EEB12-F821-4525-87D3-EB977B82AFEC}"/>
              </a:ext>
            </a:extLst>
          </p:cNvPr>
          <p:cNvSpPr/>
          <p:nvPr/>
        </p:nvSpPr>
        <p:spPr>
          <a:xfrm rot="10800000" flipH="1">
            <a:off x="1360290" y="2082467"/>
            <a:ext cx="317472" cy="532251"/>
          </a:xfrm>
          <a:prstGeom prst="bentArrow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9" name="Seta: Dobrada 8">
            <a:extLst>
              <a:ext uri="{FF2B5EF4-FFF2-40B4-BE49-F238E27FC236}">
                <a16:creationId xmlns:a16="http://schemas.microsoft.com/office/drawing/2014/main" id="{A5156FD4-D65B-41BE-A18A-01CAA2DE933B}"/>
              </a:ext>
            </a:extLst>
          </p:cNvPr>
          <p:cNvSpPr/>
          <p:nvPr/>
        </p:nvSpPr>
        <p:spPr>
          <a:xfrm rot="10800000" flipH="1">
            <a:off x="1761082" y="3015918"/>
            <a:ext cx="317472" cy="532251"/>
          </a:xfrm>
          <a:prstGeom prst="bentArrow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0" name="Seta: Dobrada 9">
            <a:extLst>
              <a:ext uri="{FF2B5EF4-FFF2-40B4-BE49-F238E27FC236}">
                <a16:creationId xmlns:a16="http://schemas.microsoft.com/office/drawing/2014/main" id="{9C6BACB8-AF9E-4890-9A72-C5A6C2DF13C1}"/>
              </a:ext>
            </a:extLst>
          </p:cNvPr>
          <p:cNvSpPr/>
          <p:nvPr/>
        </p:nvSpPr>
        <p:spPr>
          <a:xfrm rot="10800000" flipH="1">
            <a:off x="2161874" y="3949369"/>
            <a:ext cx="317472" cy="532251"/>
          </a:xfrm>
          <a:prstGeom prst="bentArrow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1" name="Seta: Dobrada 10">
            <a:extLst>
              <a:ext uri="{FF2B5EF4-FFF2-40B4-BE49-F238E27FC236}">
                <a16:creationId xmlns:a16="http://schemas.microsoft.com/office/drawing/2014/main" id="{5B28D484-D44D-486F-9B48-F3921A953517}"/>
              </a:ext>
            </a:extLst>
          </p:cNvPr>
          <p:cNvSpPr/>
          <p:nvPr/>
        </p:nvSpPr>
        <p:spPr>
          <a:xfrm rot="10800000" flipH="1">
            <a:off x="2562666" y="4882820"/>
            <a:ext cx="317472" cy="532251"/>
          </a:xfrm>
          <a:prstGeom prst="bentArrow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D84C909-51E3-1702-5960-7156CD8245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36032" y="816353"/>
            <a:ext cx="8229600" cy="341313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Autofit/>
          </a:bodyPr>
          <a:lstStyle/>
          <a:p>
            <a:pPr eaLnBrk="0" hangingPunct="0"/>
            <a:r>
              <a:rPr lang="pt-BR" altLang="pt-BR" sz="3200" cap="all" dirty="0">
                <a:latin typeface="+mn-lt"/>
              </a:rPr>
              <a:t>O processo de pesquisa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1154682B-2683-5CA0-F858-4741713631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2456" y="5971634"/>
            <a:ext cx="7054138" cy="675383"/>
          </a:xfrm>
          <a:prstGeom prst="rect">
            <a:avLst/>
          </a:prstGeom>
          <a:solidFill>
            <a:schemeClr val="accent3">
              <a:lumMod val="50000"/>
              <a:alpha val="69019"/>
            </a:schemeClr>
          </a:solidFill>
          <a:ln w="9525"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>
            <a:flatTx/>
          </a:bodyPr>
          <a:lstStyle>
            <a:lvl1pPr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/>
            <a:r>
              <a:rPr lang="pt-BR" altLang="pt-BR" sz="2400" cap="small" dirty="0">
                <a:solidFill>
                  <a:schemeClr val="bg1"/>
                </a:solidFill>
                <a:latin typeface="Calibri" panose="020F0502020204030204" pitchFamily="34" charset="0"/>
              </a:rPr>
              <a:t>Tomada de Decisão (Ação !)</a:t>
            </a:r>
            <a:endParaRPr lang="pt-BR" altLang="pt-BR" sz="1600" cap="small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5" name="Seta: Dobrada 4">
            <a:extLst>
              <a:ext uri="{FF2B5EF4-FFF2-40B4-BE49-F238E27FC236}">
                <a16:creationId xmlns:a16="http://schemas.microsoft.com/office/drawing/2014/main" id="{6535DCE0-7E44-3E81-3742-D60B96758DFF}"/>
              </a:ext>
            </a:extLst>
          </p:cNvPr>
          <p:cNvSpPr/>
          <p:nvPr/>
        </p:nvSpPr>
        <p:spPr>
          <a:xfrm rot="10800000" flipH="1">
            <a:off x="2994985" y="5800186"/>
            <a:ext cx="317472" cy="532251"/>
          </a:xfrm>
          <a:prstGeom prst="bentArrow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3113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3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3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3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3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3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5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animBg="1"/>
      <p:bldP spid="63492" grpId="0" animBg="1"/>
      <p:bldP spid="63493" grpId="0" animBg="1"/>
      <p:bldP spid="63494" grpId="0" animBg="1"/>
      <p:bldP spid="63495" grpId="0" animBg="1"/>
      <p:bldP spid="2" grpId="0" animBg="1"/>
      <p:bldP spid="9" grpId="0" animBg="1"/>
      <p:bldP spid="10" grpId="0" animBg="1"/>
      <p:bldP spid="11" grpId="0" animBg="1"/>
      <p:bldP spid="3" grpId="0" animBg="1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D0A96-7EC1-B69D-CE3A-DCF0A2B23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3">
            <a:extLst>
              <a:ext uri="{FF2B5EF4-FFF2-40B4-BE49-F238E27FC236}">
                <a16:creationId xmlns:a16="http://schemas.microsoft.com/office/drawing/2014/main" id="{BCAB0D7C-96E7-56E7-4F1C-82F98288A1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8815" y="1755385"/>
            <a:ext cx="7054138" cy="762000"/>
          </a:xfrm>
          <a:prstGeom prst="rect">
            <a:avLst/>
          </a:prstGeom>
          <a:solidFill>
            <a:schemeClr val="tx2">
              <a:lumMod val="20000"/>
              <a:lumOff val="80000"/>
              <a:alpha val="69019"/>
            </a:schemeClr>
          </a:solidFill>
          <a:ln w="9525">
            <a:solidFill>
              <a:schemeClr val="tx2">
                <a:lumMod val="40000"/>
                <a:lumOff val="6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>
            <a:flatTx/>
          </a:bodyPr>
          <a:lstStyle>
            <a:lvl1pPr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pt-BR" altLang="pt-BR" sz="2400" cap="small" dirty="0">
                <a:latin typeface="Calibri" panose="020F0502020204030204" pitchFamily="34" charset="0"/>
              </a:rPr>
              <a:t>Definição do p</a:t>
            </a:r>
            <a:r>
              <a:rPr lang="ro-RO" altLang="pt-BR" sz="2400" cap="small" dirty="0">
                <a:latin typeface="Calibri" panose="020F0502020204030204" pitchFamily="34" charset="0"/>
              </a:rPr>
              <a:t>roblema e</a:t>
            </a:r>
            <a:r>
              <a:rPr lang="pt-BR" altLang="pt-BR" sz="2400" cap="small" dirty="0">
                <a:latin typeface="Calibri" panose="020F0502020204030204" pitchFamily="34" charset="0"/>
              </a:rPr>
              <a:t> dos o</a:t>
            </a:r>
            <a:r>
              <a:rPr lang="ro-RO" altLang="pt-BR" sz="2400" cap="small" dirty="0">
                <a:latin typeface="Calibri" panose="020F0502020204030204" pitchFamily="34" charset="0"/>
              </a:rPr>
              <a:t>bjetivos da</a:t>
            </a:r>
            <a:r>
              <a:rPr lang="pt-BR" altLang="pt-BR" sz="2400" cap="small" dirty="0">
                <a:latin typeface="Calibri" panose="020F0502020204030204" pitchFamily="34" charset="0"/>
              </a:rPr>
              <a:t> </a:t>
            </a:r>
            <a:r>
              <a:rPr lang="ro-RO" altLang="pt-BR" sz="2400" cap="small" dirty="0">
                <a:latin typeface="Calibri" panose="020F0502020204030204" pitchFamily="34" charset="0"/>
              </a:rPr>
              <a:t>pesquisa</a:t>
            </a:r>
            <a:endParaRPr lang="pt-BR" altLang="pt-BR" sz="2400" cap="small" dirty="0">
              <a:latin typeface="Calibri" panose="020F0502020204030204" pitchFamily="34" charset="0"/>
            </a:endParaRPr>
          </a:p>
        </p:txBody>
      </p:sp>
      <p:sp>
        <p:nvSpPr>
          <p:cNvPr id="63492" name="Rectangle 4">
            <a:extLst>
              <a:ext uri="{FF2B5EF4-FFF2-40B4-BE49-F238E27FC236}">
                <a16:creationId xmlns:a16="http://schemas.microsoft.com/office/drawing/2014/main" id="{70C35B4A-48D9-4CBE-6F54-E2A9C29843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607" y="2688835"/>
            <a:ext cx="7054138" cy="762000"/>
          </a:xfrm>
          <a:prstGeom prst="rect">
            <a:avLst/>
          </a:prstGeom>
          <a:solidFill>
            <a:schemeClr val="tx2">
              <a:lumMod val="40000"/>
              <a:lumOff val="60000"/>
              <a:alpha val="69019"/>
            </a:schemeClr>
          </a:solidFill>
          <a:ln w="9525"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>
            <a:flatTx/>
          </a:bodyPr>
          <a:lstStyle>
            <a:lvl1pPr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/>
            <a:r>
              <a:rPr lang="pt-BR" altLang="pt-BR" sz="2400" cap="small" dirty="0">
                <a:latin typeface="Calibri" panose="020F0502020204030204" pitchFamily="34" charset="0"/>
              </a:rPr>
              <a:t>Desenvolvimento do Plano</a:t>
            </a:r>
            <a:r>
              <a:rPr lang="pt-PT" altLang="pt-BR" sz="2400" cap="small" dirty="0">
                <a:latin typeface="Calibri" panose="020F0502020204030204" pitchFamily="34" charset="0"/>
              </a:rPr>
              <a:t> de Pesquisa</a:t>
            </a:r>
            <a:endParaRPr lang="pt-PT" altLang="pt-BR" sz="1600" cap="small" dirty="0">
              <a:latin typeface="Calibri" panose="020F0502020204030204" pitchFamily="34" charset="0"/>
            </a:endParaRPr>
          </a:p>
        </p:txBody>
      </p:sp>
      <p:sp>
        <p:nvSpPr>
          <p:cNvPr id="63493" name="Rectangle 5">
            <a:extLst>
              <a:ext uri="{FF2B5EF4-FFF2-40B4-BE49-F238E27FC236}">
                <a16:creationId xmlns:a16="http://schemas.microsoft.com/office/drawing/2014/main" id="{F9671890-5CFB-2CFD-343D-02D85B593F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0399" y="3622285"/>
            <a:ext cx="7054138" cy="762000"/>
          </a:xfrm>
          <a:prstGeom prst="rect">
            <a:avLst/>
          </a:prstGeom>
          <a:solidFill>
            <a:schemeClr val="tx2">
              <a:lumMod val="60000"/>
              <a:lumOff val="40000"/>
              <a:alpha val="69019"/>
            </a:schemeClr>
          </a:solidFill>
          <a:ln w="9525"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>
            <a:flatTx/>
          </a:bodyPr>
          <a:lstStyle>
            <a:lvl1pPr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/>
            <a:r>
              <a:rPr lang="pt-BR" altLang="pt-BR" sz="2400" cap="small" dirty="0">
                <a:latin typeface="Calibri" panose="020F0502020204030204" pitchFamily="34" charset="0"/>
              </a:rPr>
              <a:t>Coleta de informações</a:t>
            </a:r>
            <a:endParaRPr lang="pt-BR" altLang="pt-BR" sz="1600" cap="small" dirty="0">
              <a:latin typeface="Calibri" panose="020F0502020204030204" pitchFamily="34" charset="0"/>
            </a:endParaRPr>
          </a:p>
        </p:txBody>
      </p:sp>
      <p:sp>
        <p:nvSpPr>
          <p:cNvPr id="63494" name="Rectangle 6">
            <a:extLst>
              <a:ext uri="{FF2B5EF4-FFF2-40B4-BE49-F238E27FC236}">
                <a16:creationId xmlns:a16="http://schemas.microsoft.com/office/drawing/2014/main" id="{40BCF636-3AC3-9FCB-B661-981499FD6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1191" y="4555735"/>
            <a:ext cx="7054138" cy="762000"/>
          </a:xfrm>
          <a:prstGeom prst="rect">
            <a:avLst/>
          </a:prstGeom>
          <a:solidFill>
            <a:schemeClr val="tx2">
              <a:lumMod val="75000"/>
              <a:alpha val="69019"/>
            </a:schemeClr>
          </a:solidFill>
          <a:ln w="9525"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>
            <a:flatTx/>
          </a:bodyPr>
          <a:lstStyle>
            <a:lvl1pPr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/>
            <a:r>
              <a:rPr lang="pt-BR" altLang="pt-BR" sz="2400" cap="small" dirty="0">
                <a:solidFill>
                  <a:schemeClr val="bg1"/>
                </a:solidFill>
                <a:latin typeface="Calibri" panose="020F0502020204030204" pitchFamily="34" charset="0"/>
              </a:rPr>
              <a:t>Análise das  informações</a:t>
            </a:r>
            <a:endParaRPr lang="pt-BR" altLang="pt-BR" sz="1600" cap="small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63495" name="Rectangle 7">
            <a:extLst>
              <a:ext uri="{FF2B5EF4-FFF2-40B4-BE49-F238E27FC236}">
                <a16:creationId xmlns:a16="http://schemas.microsoft.com/office/drawing/2014/main" id="{C174D8EB-B26A-0FB3-4566-B78DFA8F1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1982" y="5489185"/>
            <a:ext cx="7054138" cy="762000"/>
          </a:xfrm>
          <a:prstGeom prst="rect">
            <a:avLst/>
          </a:prstGeom>
          <a:solidFill>
            <a:schemeClr val="tx2">
              <a:lumMod val="50000"/>
              <a:alpha val="69019"/>
            </a:schemeClr>
          </a:solidFill>
          <a:ln w="9525"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>
            <a:flatTx/>
          </a:bodyPr>
          <a:lstStyle>
            <a:lvl1pPr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/>
            <a:r>
              <a:rPr lang="pt-BR" altLang="pt-BR" sz="2400" cap="small" dirty="0">
                <a:solidFill>
                  <a:schemeClr val="bg1"/>
                </a:solidFill>
                <a:latin typeface="Calibri" panose="020F0502020204030204" pitchFamily="34" charset="0"/>
              </a:rPr>
              <a:t>Apresentação dos resultados</a:t>
            </a:r>
            <a:endParaRPr lang="pt-BR" altLang="pt-BR" sz="1600" cap="small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2" name="Seta: Dobrada 1">
            <a:extLst>
              <a:ext uri="{FF2B5EF4-FFF2-40B4-BE49-F238E27FC236}">
                <a16:creationId xmlns:a16="http://schemas.microsoft.com/office/drawing/2014/main" id="{A9987FF1-7044-9850-F83F-032AD536F5E5}"/>
              </a:ext>
            </a:extLst>
          </p:cNvPr>
          <p:cNvSpPr/>
          <p:nvPr/>
        </p:nvSpPr>
        <p:spPr>
          <a:xfrm rot="10800000" flipH="1">
            <a:off x="1892135" y="2517385"/>
            <a:ext cx="317472" cy="600511"/>
          </a:xfrm>
          <a:prstGeom prst="bentArrow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9" name="Seta: Dobrada 8">
            <a:extLst>
              <a:ext uri="{FF2B5EF4-FFF2-40B4-BE49-F238E27FC236}">
                <a16:creationId xmlns:a16="http://schemas.microsoft.com/office/drawing/2014/main" id="{F3B22BF7-88C2-58E8-7E9F-23F5E8D3D243}"/>
              </a:ext>
            </a:extLst>
          </p:cNvPr>
          <p:cNvSpPr/>
          <p:nvPr/>
        </p:nvSpPr>
        <p:spPr>
          <a:xfrm rot="10800000" flipH="1">
            <a:off x="2292927" y="3450836"/>
            <a:ext cx="317472" cy="600511"/>
          </a:xfrm>
          <a:prstGeom prst="bentArrow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0" name="Seta: Dobrada 9">
            <a:extLst>
              <a:ext uri="{FF2B5EF4-FFF2-40B4-BE49-F238E27FC236}">
                <a16:creationId xmlns:a16="http://schemas.microsoft.com/office/drawing/2014/main" id="{5310C69F-524D-2A5D-E8E2-27F9B5CA1352}"/>
              </a:ext>
            </a:extLst>
          </p:cNvPr>
          <p:cNvSpPr/>
          <p:nvPr/>
        </p:nvSpPr>
        <p:spPr>
          <a:xfrm rot="10800000" flipH="1">
            <a:off x="2693719" y="4384287"/>
            <a:ext cx="317472" cy="600511"/>
          </a:xfrm>
          <a:prstGeom prst="bentArrow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1" name="Seta: Dobrada 10">
            <a:extLst>
              <a:ext uri="{FF2B5EF4-FFF2-40B4-BE49-F238E27FC236}">
                <a16:creationId xmlns:a16="http://schemas.microsoft.com/office/drawing/2014/main" id="{A02AF63D-6214-CC1C-B818-FFB1303F65AC}"/>
              </a:ext>
            </a:extLst>
          </p:cNvPr>
          <p:cNvSpPr/>
          <p:nvPr/>
        </p:nvSpPr>
        <p:spPr>
          <a:xfrm rot="10800000" flipH="1">
            <a:off x="3094511" y="5317738"/>
            <a:ext cx="317472" cy="600511"/>
          </a:xfrm>
          <a:prstGeom prst="bentArrow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F02AD82-E857-9F5D-A25C-5E071DB14D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36032" y="816353"/>
            <a:ext cx="8229600" cy="341313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Autofit/>
          </a:bodyPr>
          <a:lstStyle/>
          <a:p>
            <a:pPr eaLnBrk="0" hangingPunct="0"/>
            <a:r>
              <a:rPr lang="pt-BR" altLang="pt-BR" sz="3200" cap="all" dirty="0">
                <a:latin typeface="+mn-lt"/>
              </a:rPr>
              <a:t>O processo de pesquisa</a:t>
            </a:r>
          </a:p>
        </p:txBody>
      </p:sp>
    </p:spTree>
    <p:extLst>
      <p:ext uri="{BB962C8B-B14F-4D97-AF65-F5344CB8AC3E}">
        <p14:creationId xmlns:p14="http://schemas.microsoft.com/office/powerpoint/2010/main" val="3651789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3"/>
          <p:cNvSpPr>
            <a:spLocks noChangeArrowheads="1"/>
          </p:cNvSpPr>
          <p:nvPr/>
        </p:nvSpPr>
        <p:spPr bwMode="auto">
          <a:xfrm>
            <a:off x="1808815" y="1755385"/>
            <a:ext cx="7054138" cy="762000"/>
          </a:xfrm>
          <a:prstGeom prst="rect">
            <a:avLst/>
          </a:prstGeom>
          <a:solidFill>
            <a:schemeClr val="tx2">
              <a:lumMod val="20000"/>
              <a:lumOff val="80000"/>
              <a:alpha val="69019"/>
            </a:schemeClr>
          </a:solidFill>
          <a:ln w="9525">
            <a:solidFill>
              <a:schemeClr val="tx2">
                <a:lumMod val="40000"/>
                <a:lumOff val="6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>
            <a:flatTx/>
          </a:bodyPr>
          <a:lstStyle>
            <a:lvl1pPr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pt-BR" altLang="pt-BR" sz="2400" cap="small" dirty="0">
                <a:latin typeface="Calibri" panose="020F0502020204030204" pitchFamily="34" charset="0"/>
              </a:rPr>
              <a:t>Definição do p</a:t>
            </a:r>
            <a:r>
              <a:rPr lang="ro-RO" altLang="pt-BR" sz="2400" cap="small" dirty="0">
                <a:latin typeface="Calibri" panose="020F0502020204030204" pitchFamily="34" charset="0"/>
              </a:rPr>
              <a:t>roblema e</a:t>
            </a:r>
            <a:r>
              <a:rPr lang="pt-BR" altLang="pt-BR" sz="2400" cap="small" dirty="0">
                <a:latin typeface="Calibri" panose="020F0502020204030204" pitchFamily="34" charset="0"/>
              </a:rPr>
              <a:t> dos o</a:t>
            </a:r>
            <a:r>
              <a:rPr lang="ro-RO" altLang="pt-BR" sz="2400" cap="small" dirty="0">
                <a:latin typeface="Calibri" panose="020F0502020204030204" pitchFamily="34" charset="0"/>
              </a:rPr>
              <a:t>bjetivos da</a:t>
            </a:r>
            <a:r>
              <a:rPr lang="pt-BR" altLang="pt-BR" sz="2400" cap="small" dirty="0">
                <a:latin typeface="Calibri" panose="020F0502020204030204" pitchFamily="34" charset="0"/>
              </a:rPr>
              <a:t> </a:t>
            </a:r>
            <a:r>
              <a:rPr lang="ro-RO" altLang="pt-BR" sz="2400" cap="small" dirty="0">
                <a:latin typeface="Calibri" panose="020F0502020204030204" pitchFamily="34" charset="0"/>
              </a:rPr>
              <a:t>pesquisa</a:t>
            </a:r>
            <a:endParaRPr lang="pt-BR" altLang="pt-BR" sz="2400" cap="small" dirty="0">
              <a:latin typeface="Calibri" panose="020F0502020204030204" pitchFamily="34" charset="0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B8F2DFB-655B-4A87-ABD1-2C44824DC924}"/>
              </a:ext>
            </a:extLst>
          </p:cNvPr>
          <p:cNvSpPr/>
          <p:nvPr/>
        </p:nvSpPr>
        <p:spPr>
          <a:xfrm>
            <a:off x="2069911" y="2795715"/>
            <a:ext cx="8052179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3200" b="1" cap="small" dirty="0"/>
              <a:t>IMPORTANTE</a:t>
            </a:r>
            <a:endParaRPr lang="pt-BR" sz="2400" b="1" cap="small" dirty="0"/>
          </a:p>
          <a:p>
            <a:pPr algn="ctr"/>
            <a:endParaRPr lang="pt-BR" cap="small" dirty="0"/>
          </a:p>
          <a:p>
            <a:pPr algn="ctr"/>
            <a:r>
              <a:rPr lang="pt-BR" sz="2400" cap="small" dirty="0"/>
              <a:t>Clareza do problema e dos objetivos e é fundamental</a:t>
            </a:r>
          </a:p>
          <a:p>
            <a:pPr algn="ctr"/>
            <a:endParaRPr lang="pt-BR" sz="2400" cap="small" dirty="0"/>
          </a:p>
          <a:p>
            <a:pPr algn="ctr"/>
            <a:r>
              <a:rPr lang="pt-BR" sz="2400" cap="small" dirty="0"/>
              <a:t>O problema de pesquisa não pode ser definido de maneira muito genérica nem excessivamente limitada</a:t>
            </a:r>
            <a:endParaRPr lang="pt-BR" sz="24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6156DB5-AAFD-4891-8E42-166145C1051C}"/>
              </a:ext>
            </a:extLst>
          </p:cNvPr>
          <p:cNvSpPr txBox="1"/>
          <p:nvPr/>
        </p:nvSpPr>
        <p:spPr>
          <a:xfrm>
            <a:off x="1808815" y="5395316"/>
            <a:ext cx="87008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rgbClr val="C00000"/>
                </a:solidFill>
              </a:rPr>
              <a:t>“PRECISAMOS SABER SE OS ALUNOS ESTÃO PRONTOS PARA VOLTAR ÀS AULAS PRESENCIAIS E QUAIS SUAS PREOCUPAÇÕES, PARA DEFINIR COMO SERÁ O RETORNO”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4BE2324-B392-93CC-52C2-93606FC9117E}"/>
              </a:ext>
            </a:extLst>
          </p:cNvPr>
          <p:cNvSpPr txBox="1">
            <a:spLocks noChangeArrowheads="1"/>
          </p:cNvSpPr>
          <p:nvPr/>
        </p:nvSpPr>
        <p:spPr>
          <a:xfrm>
            <a:off x="1136032" y="816353"/>
            <a:ext cx="8229600" cy="34131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eaLnBrk="0" hangingPunct="0"/>
            <a:r>
              <a:rPr lang="pt-BR" altLang="pt-BR" sz="3200" cap="all">
                <a:latin typeface="+mn-lt"/>
              </a:rPr>
              <a:t>O processo de pesquisa</a:t>
            </a:r>
            <a:endParaRPr lang="pt-BR" altLang="pt-BR" sz="3200" cap="all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130634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2354690" y="623357"/>
            <a:ext cx="8289561" cy="732306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Autofit/>
          </a:bodyPr>
          <a:lstStyle/>
          <a:p>
            <a:pPr eaLnBrk="0" hangingPunct="0"/>
            <a:r>
              <a:rPr lang="pt-BR" altLang="pt-BR" cap="all" dirty="0">
                <a:latin typeface="+mn-lt"/>
              </a:rPr>
              <a:t>Definição do problema e objetivos da pesquisa</a:t>
            </a:r>
          </a:p>
        </p:txBody>
      </p:sp>
      <p:sp>
        <p:nvSpPr>
          <p:cNvPr id="64515" name="Rectangle 3"/>
          <p:cNvSpPr>
            <a:spLocks noChangeArrowheads="1"/>
          </p:cNvSpPr>
          <p:nvPr/>
        </p:nvSpPr>
        <p:spPr bwMode="auto">
          <a:xfrm>
            <a:off x="1847850" y="2384096"/>
            <a:ext cx="2743200" cy="8382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40000"/>
                <a:lumOff val="6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>
            <a:flatTx/>
          </a:bodyPr>
          <a:lstStyle>
            <a:lvl1pPr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/>
            <a:r>
              <a:rPr lang="pt-BR" altLang="pt-BR" sz="2000" b="1" cap="small" dirty="0">
                <a:latin typeface="Calibri" panose="020F0502020204030204" pitchFamily="34" charset="0"/>
              </a:rPr>
              <a:t>Pesquisa Exploratória</a:t>
            </a:r>
          </a:p>
        </p:txBody>
      </p:sp>
      <p:sp>
        <p:nvSpPr>
          <p:cNvPr id="64516" name="Rectangle 4"/>
          <p:cNvSpPr>
            <a:spLocks noChangeArrowheads="1"/>
          </p:cNvSpPr>
          <p:nvPr/>
        </p:nvSpPr>
        <p:spPr bwMode="auto">
          <a:xfrm>
            <a:off x="1847850" y="3755696"/>
            <a:ext cx="2743200" cy="838200"/>
          </a:xfrm>
          <a:prstGeom prst="rect">
            <a:avLst/>
          </a:prstGeom>
          <a:solidFill>
            <a:srgbClr val="C5D8A0"/>
          </a:solidFill>
          <a:ln w="9525"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>
            <a:flatTx/>
          </a:bodyPr>
          <a:lstStyle>
            <a:lvl1pPr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/>
            <a:r>
              <a:rPr lang="pt-BR" altLang="pt-BR" sz="2000" b="1" cap="small" dirty="0">
                <a:latin typeface="Calibri" panose="020F0502020204030204" pitchFamily="34" charset="0"/>
              </a:rPr>
              <a:t>Pesquisa Descritiva</a:t>
            </a:r>
          </a:p>
        </p:txBody>
      </p:sp>
      <p:sp>
        <p:nvSpPr>
          <p:cNvPr id="64517" name="Rectangle 5"/>
          <p:cNvSpPr>
            <a:spLocks noChangeArrowheads="1"/>
          </p:cNvSpPr>
          <p:nvPr/>
        </p:nvSpPr>
        <p:spPr bwMode="auto">
          <a:xfrm>
            <a:off x="1847850" y="5051096"/>
            <a:ext cx="2743200" cy="838200"/>
          </a:xfrm>
          <a:prstGeom prst="rect">
            <a:avLst/>
          </a:prstGeom>
          <a:solidFill>
            <a:srgbClr val="A3C167"/>
          </a:solidFill>
          <a:ln w="9525"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>
            <a:flatTx/>
          </a:bodyPr>
          <a:lstStyle>
            <a:lvl1pPr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/>
            <a:r>
              <a:rPr lang="pt-BR" altLang="pt-BR" sz="2000" b="1" cap="small" dirty="0">
                <a:latin typeface="Calibri" panose="020F0502020204030204" pitchFamily="34" charset="0"/>
              </a:rPr>
              <a:t>Pesquisa Causal</a:t>
            </a:r>
          </a:p>
        </p:txBody>
      </p:sp>
      <p:sp>
        <p:nvSpPr>
          <p:cNvPr id="64518" name="Rectangle 6"/>
          <p:cNvSpPr>
            <a:spLocks noChangeArrowheads="1"/>
          </p:cNvSpPr>
          <p:nvPr/>
        </p:nvSpPr>
        <p:spPr bwMode="auto">
          <a:xfrm>
            <a:off x="5734050" y="2384096"/>
            <a:ext cx="4610100" cy="8382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40000"/>
                <a:lumOff val="6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>
            <a:flatTx/>
          </a:bodyPr>
          <a:lstStyle>
            <a:lvl1pPr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/>
            <a:r>
              <a:rPr lang="pt-BR" altLang="pt-BR" sz="2000" cap="small" dirty="0">
                <a:latin typeface="Calibri" panose="020F0502020204030204" pitchFamily="34" charset="0"/>
              </a:rPr>
              <a:t>Busca esclarecimentos do problema</a:t>
            </a:r>
          </a:p>
          <a:p>
            <a:pPr algn="ctr"/>
            <a:r>
              <a:rPr lang="pt-BR" altLang="pt-BR" sz="2000" cap="small" dirty="0">
                <a:latin typeface="Calibri" panose="020F0502020204030204" pitchFamily="34" charset="0"/>
              </a:rPr>
              <a:t>sugere soluções ou novas </a:t>
            </a:r>
            <a:r>
              <a:rPr lang="pt-BR" altLang="pt-BR" sz="2000" cap="small" dirty="0" err="1">
                <a:latin typeface="Calibri" panose="020F0502020204030204" pitchFamily="34" charset="0"/>
              </a:rPr>
              <a:t>idéias</a:t>
            </a:r>
            <a:r>
              <a:rPr lang="pt-BR" altLang="pt-BR" sz="2000" cap="small" dirty="0">
                <a:latin typeface="Calibri" panose="020F0502020204030204" pitchFamily="34" charset="0"/>
              </a:rPr>
              <a:t>.</a:t>
            </a:r>
          </a:p>
        </p:txBody>
      </p:sp>
      <p:sp>
        <p:nvSpPr>
          <p:cNvPr id="64519" name="Rectangle 7"/>
          <p:cNvSpPr>
            <a:spLocks noChangeArrowheads="1"/>
          </p:cNvSpPr>
          <p:nvPr/>
        </p:nvSpPr>
        <p:spPr bwMode="auto">
          <a:xfrm>
            <a:off x="5734050" y="3755696"/>
            <a:ext cx="4610100" cy="838200"/>
          </a:xfrm>
          <a:prstGeom prst="rect">
            <a:avLst/>
          </a:prstGeom>
          <a:solidFill>
            <a:srgbClr val="C5D8A0"/>
          </a:solidFill>
          <a:ln w="9525"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>
            <a:flatTx/>
          </a:bodyPr>
          <a:lstStyle>
            <a:lvl1pPr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/>
            <a:r>
              <a:rPr lang="pt-BR" altLang="pt-BR" sz="2000" cap="small" dirty="0">
                <a:latin typeface="Calibri" panose="020F0502020204030204" pitchFamily="34" charset="0"/>
              </a:rPr>
              <a:t>Determina magnitudes.</a:t>
            </a:r>
          </a:p>
        </p:txBody>
      </p:sp>
      <p:sp>
        <p:nvSpPr>
          <p:cNvPr id="64520" name="Rectangle 8"/>
          <p:cNvSpPr>
            <a:spLocks noChangeArrowheads="1"/>
          </p:cNvSpPr>
          <p:nvPr/>
        </p:nvSpPr>
        <p:spPr bwMode="auto">
          <a:xfrm>
            <a:off x="5734050" y="5051096"/>
            <a:ext cx="4610100" cy="83820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>
            <a:flatTx/>
          </a:bodyPr>
          <a:lstStyle>
            <a:lvl1pPr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pt-BR" altLang="pt-BR" sz="2000" cap="small" dirty="0">
                <a:latin typeface="Calibri" panose="020F0502020204030204" pitchFamily="34" charset="0"/>
              </a:rPr>
              <a:t>Testa relações de causa e efeito.</a:t>
            </a:r>
          </a:p>
          <a:p>
            <a:pPr algn="ctr">
              <a:lnSpc>
                <a:spcPct val="90000"/>
              </a:lnSpc>
            </a:pPr>
            <a:r>
              <a:rPr lang="pt-BR" altLang="pt-BR" sz="2000" cap="small" dirty="0">
                <a:latin typeface="Calibri" panose="020F0502020204030204" pitchFamily="34" charset="0"/>
              </a:rPr>
              <a:t>Testa hipóteses sobre essas relações</a:t>
            </a:r>
          </a:p>
        </p:txBody>
      </p:sp>
      <p:sp>
        <p:nvSpPr>
          <p:cNvPr id="64521" name="AutoShape 9"/>
          <p:cNvSpPr>
            <a:spLocks noChangeArrowheads="1"/>
          </p:cNvSpPr>
          <p:nvPr/>
        </p:nvSpPr>
        <p:spPr bwMode="auto">
          <a:xfrm>
            <a:off x="4740950" y="2612696"/>
            <a:ext cx="838200" cy="381000"/>
          </a:xfrm>
          <a:prstGeom prst="rightArrow">
            <a:avLst>
              <a:gd name="adj1" fmla="val 50000"/>
              <a:gd name="adj2" fmla="val 55000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/>
            <a:endParaRPr lang="pt-BR" altLang="pt-BR" cap="small" dirty="0">
              <a:latin typeface="Calibri" panose="020F0502020204030204" pitchFamily="34" charset="0"/>
            </a:endParaRPr>
          </a:p>
        </p:txBody>
      </p:sp>
      <p:sp>
        <p:nvSpPr>
          <p:cNvPr id="64522" name="AutoShape 10"/>
          <p:cNvSpPr>
            <a:spLocks noChangeArrowheads="1"/>
          </p:cNvSpPr>
          <p:nvPr/>
        </p:nvSpPr>
        <p:spPr bwMode="auto">
          <a:xfrm>
            <a:off x="4740950" y="3984296"/>
            <a:ext cx="838200" cy="381000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C5D8A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/>
            <a:endParaRPr lang="pt-BR" altLang="pt-BR" cap="small" dirty="0">
              <a:latin typeface="Calibri" panose="020F0502020204030204" pitchFamily="34" charset="0"/>
            </a:endParaRPr>
          </a:p>
        </p:txBody>
      </p:sp>
      <p:sp>
        <p:nvSpPr>
          <p:cNvPr id="64523" name="AutoShape 11"/>
          <p:cNvSpPr>
            <a:spLocks noChangeArrowheads="1"/>
          </p:cNvSpPr>
          <p:nvPr/>
        </p:nvSpPr>
        <p:spPr bwMode="auto">
          <a:xfrm>
            <a:off x="4740950" y="5279696"/>
            <a:ext cx="838200" cy="381000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A3C167"/>
          </a:solidFill>
          <a:ln w="9525"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>
            <a:flatTx/>
          </a:bodyPr>
          <a:lstStyle>
            <a:lvl1pPr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/>
            <a:endParaRPr lang="pt-BR" altLang="pt-BR" sz="2000" b="1" cap="small" dirty="0">
              <a:latin typeface="Calibri" panose="020F0502020204030204" pitchFamily="34" charset="0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DE77F690-766B-445A-9678-14DDD7AF5B02}"/>
              </a:ext>
            </a:extLst>
          </p:cNvPr>
          <p:cNvSpPr txBox="1">
            <a:spLocks noChangeArrowheads="1"/>
          </p:cNvSpPr>
          <p:nvPr/>
        </p:nvSpPr>
        <p:spPr>
          <a:xfrm>
            <a:off x="2790860" y="1411187"/>
            <a:ext cx="6808362" cy="73230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Gotham HTF" pitchFamily="2" charset="0"/>
                <a:ea typeface="+mj-ea"/>
                <a:cs typeface="+mj-cs"/>
              </a:defRPr>
            </a:lvl1pPr>
          </a:lstStyle>
          <a:p>
            <a:pPr algn="ctr" eaLnBrk="0" hangingPunct="0"/>
            <a:r>
              <a:rPr lang="pt-BR" altLang="pt-BR" sz="2400" cap="all" dirty="0">
                <a:latin typeface="+mn-lt"/>
              </a:rPr>
              <a:t>Diferentes objetivos de uma pesquisa</a:t>
            </a:r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DB363099-3821-4507-BF26-41E142DE51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9050" y="2384096"/>
            <a:ext cx="4610100" cy="8382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40000"/>
                <a:lumOff val="6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>
            <a:flatTx/>
          </a:bodyPr>
          <a:lstStyle>
            <a:lvl1pPr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/>
            <a:r>
              <a:rPr lang="pt-BR" sz="1100" dirty="0">
                <a:solidFill>
                  <a:srgbClr val="C00000"/>
                </a:solidFill>
                <a:latin typeface="+mn-lt"/>
              </a:rPr>
              <a:t>“PRECISAMOS SABER SE OS ALUNOS ESTÃO PRONTOS</a:t>
            </a:r>
          </a:p>
          <a:p>
            <a:pPr algn="ctr"/>
            <a:r>
              <a:rPr lang="pt-BR" sz="1100" dirty="0">
                <a:solidFill>
                  <a:srgbClr val="C00000"/>
                </a:solidFill>
                <a:latin typeface="+mn-lt"/>
              </a:rPr>
              <a:t> PARA VOLTAR ÀS AULAS PRESENCIAIS E </a:t>
            </a:r>
          </a:p>
          <a:p>
            <a:pPr algn="ctr"/>
            <a:r>
              <a:rPr lang="pt-BR" sz="1100" dirty="0">
                <a:solidFill>
                  <a:srgbClr val="C00000"/>
                </a:solidFill>
                <a:latin typeface="+mn-lt"/>
              </a:rPr>
              <a:t>QUAIS SUAS PREOCUPAÇÕES, PARA DEFINIR COMO SERÁ O RETORNO”</a:t>
            </a:r>
          </a:p>
        </p:txBody>
      </p:sp>
      <p:sp>
        <p:nvSpPr>
          <p:cNvPr id="14" name="Rectangle 7">
            <a:extLst>
              <a:ext uri="{FF2B5EF4-FFF2-40B4-BE49-F238E27FC236}">
                <a16:creationId xmlns:a16="http://schemas.microsoft.com/office/drawing/2014/main" id="{4403FC8E-BF5F-4C27-A8E8-B3A403BD13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9050" y="3756256"/>
            <a:ext cx="4610100" cy="838200"/>
          </a:xfrm>
          <a:prstGeom prst="rect">
            <a:avLst/>
          </a:prstGeom>
          <a:solidFill>
            <a:srgbClr val="C5D8A0"/>
          </a:solidFill>
          <a:ln w="9525"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>
            <a:flatTx/>
          </a:bodyPr>
          <a:lstStyle>
            <a:lvl1pPr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/>
            <a:r>
              <a:rPr lang="pt-BR" sz="1100" dirty="0">
                <a:solidFill>
                  <a:srgbClr val="C00000"/>
                </a:solidFill>
                <a:latin typeface="+mn-lt"/>
              </a:rPr>
              <a:t>“PRECISAMOS SABER QUAL O PERCENTUAL DE ALUNOS ESTÁ</a:t>
            </a:r>
          </a:p>
          <a:p>
            <a:pPr algn="ctr"/>
            <a:r>
              <a:rPr lang="pt-BR" sz="1100" dirty="0">
                <a:solidFill>
                  <a:srgbClr val="C00000"/>
                </a:solidFill>
                <a:latin typeface="+mn-lt"/>
              </a:rPr>
              <a:t>PREPARADO PARA VOLTAR ÀS AULA PRESENCIAIS, IDENTIFICANDO O</a:t>
            </a:r>
          </a:p>
          <a:p>
            <a:pPr algn="ctr"/>
            <a:r>
              <a:rPr lang="pt-BR" sz="1100" dirty="0">
                <a:solidFill>
                  <a:srgbClr val="C00000"/>
                </a:solidFill>
                <a:latin typeface="+mn-lt"/>
              </a:rPr>
              <a:t>VOLUME E AS CAUSAS DAS RESTRIÇÕES DOS QUE NÃO PODEM VOLTAR”</a:t>
            </a: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CBFA2923-9F62-425B-9743-F7D93F0E87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4050" y="5051096"/>
            <a:ext cx="4610100" cy="838200"/>
          </a:xfrm>
          <a:prstGeom prst="rect">
            <a:avLst/>
          </a:prstGeom>
          <a:solidFill>
            <a:srgbClr val="A3C167"/>
          </a:solidFill>
          <a:ln w="9525"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>
            <a:flatTx/>
          </a:bodyPr>
          <a:lstStyle>
            <a:lvl1pPr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lvl="0" algn="ctr" eaLnBrk="1" hangingPunct="1"/>
            <a:r>
              <a:rPr lang="pt-BR" sz="1100" dirty="0">
                <a:solidFill>
                  <a:srgbClr val="C00000"/>
                </a:solidFill>
                <a:latin typeface="+mn-lt"/>
              </a:rPr>
              <a:t>“PRECISAMOS CONFIRMAR SE O PRINCIPAL FATOR DE RESISTÊNCIA </a:t>
            </a:r>
          </a:p>
          <a:p>
            <a:pPr lvl="0" algn="ctr" eaLnBrk="1" hangingPunct="1"/>
            <a:r>
              <a:rPr lang="pt-BR" sz="1100" dirty="0">
                <a:solidFill>
                  <a:srgbClr val="C00000"/>
                </a:solidFill>
                <a:latin typeface="+mn-lt"/>
              </a:rPr>
              <a:t>PARA A VOLTA AO PRESENCIAL É O MEDO DE CONTÁGIO OU </a:t>
            </a:r>
          </a:p>
          <a:p>
            <a:pPr lvl="0" algn="ctr" eaLnBrk="1" hangingPunct="1"/>
            <a:r>
              <a:rPr lang="pt-BR" sz="1100" dirty="0">
                <a:solidFill>
                  <a:srgbClr val="C00000"/>
                </a:solidFill>
                <a:latin typeface="+mn-lt"/>
              </a:rPr>
              <a:t>APENAS A PREFERÊNCIA PELO MODELO ON-LINE? ”</a:t>
            </a:r>
          </a:p>
        </p:txBody>
      </p:sp>
    </p:spTree>
    <p:extLst>
      <p:ext uri="{BB962C8B-B14F-4D97-AF65-F5344CB8AC3E}">
        <p14:creationId xmlns:p14="http://schemas.microsoft.com/office/powerpoint/2010/main" val="3974243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4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4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4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4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4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4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4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4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5" grpId="0" animBg="1"/>
      <p:bldP spid="64516" grpId="0" animBg="1"/>
      <p:bldP spid="64517" grpId="0" animBg="1"/>
      <p:bldP spid="64518" grpId="0" animBg="1"/>
      <p:bldP spid="64519" grpId="0" animBg="1"/>
      <p:bldP spid="64520" grpId="0" animBg="1"/>
      <p:bldP spid="64521" grpId="0" animBg="1"/>
      <p:bldP spid="64522" grpId="0" animBg="1"/>
      <p:bldP spid="64523" grpId="0" animBg="1"/>
      <p:bldP spid="13" grpId="0" animBg="1"/>
      <p:bldP spid="14" grpId="0" animBg="1"/>
      <p:bldP spid="1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3"/>
          <p:cNvSpPr>
            <a:spLocks noChangeArrowheads="1"/>
          </p:cNvSpPr>
          <p:nvPr/>
        </p:nvSpPr>
        <p:spPr bwMode="auto">
          <a:xfrm>
            <a:off x="1808815" y="1755385"/>
            <a:ext cx="7054138" cy="762000"/>
          </a:xfrm>
          <a:prstGeom prst="rect">
            <a:avLst/>
          </a:prstGeom>
          <a:solidFill>
            <a:schemeClr val="tx2">
              <a:lumMod val="20000"/>
              <a:lumOff val="80000"/>
              <a:alpha val="69019"/>
            </a:schemeClr>
          </a:solidFill>
          <a:ln w="9525">
            <a:solidFill>
              <a:schemeClr val="tx2">
                <a:lumMod val="40000"/>
                <a:lumOff val="6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>
            <a:flatTx/>
          </a:bodyPr>
          <a:lstStyle>
            <a:lvl1pPr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pt-BR" altLang="pt-BR" sz="2400" cap="small" dirty="0">
                <a:latin typeface="Calibri" panose="020F0502020204030204" pitchFamily="34" charset="0"/>
              </a:rPr>
              <a:t>Definição do p</a:t>
            </a:r>
            <a:r>
              <a:rPr lang="ro-RO" altLang="pt-BR" sz="2400" cap="small" dirty="0">
                <a:latin typeface="Calibri" panose="020F0502020204030204" pitchFamily="34" charset="0"/>
              </a:rPr>
              <a:t>roblema e</a:t>
            </a:r>
            <a:r>
              <a:rPr lang="pt-BR" altLang="pt-BR" sz="2400" cap="small" dirty="0">
                <a:latin typeface="Calibri" panose="020F0502020204030204" pitchFamily="34" charset="0"/>
              </a:rPr>
              <a:t> dos o</a:t>
            </a:r>
            <a:r>
              <a:rPr lang="ro-RO" altLang="pt-BR" sz="2400" cap="small" dirty="0">
                <a:latin typeface="Calibri" panose="020F0502020204030204" pitchFamily="34" charset="0"/>
              </a:rPr>
              <a:t>bjetivos da</a:t>
            </a:r>
            <a:r>
              <a:rPr lang="pt-BR" altLang="pt-BR" sz="2400" cap="small" dirty="0">
                <a:latin typeface="Calibri" panose="020F0502020204030204" pitchFamily="34" charset="0"/>
              </a:rPr>
              <a:t> </a:t>
            </a:r>
            <a:r>
              <a:rPr lang="ro-RO" altLang="pt-BR" sz="2400" cap="small" dirty="0">
                <a:latin typeface="Calibri" panose="020F0502020204030204" pitchFamily="34" charset="0"/>
              </a:rPr>
              <a:t>pesquisa</a:t>
            </a:r>
            <a:endParaRPr lang="pt-BR" altLang="pt-BR" sz="2400" cap="small" dirty="0">
              <a:latin typeface="Calibri" panose="020F0502020204030204" pitchFamily="34" charset="0"/>
            </a:endParaRPr>
          </a:p>
        </p:txBody>
      </p:sp>
      <p:sp>
        <p:nvSpPr>
          <p:cNvPr id="63492" name="Rectangle 4"/>
          <p:cNvSpPr>
            <a:spLocks noChangeArrowheads="1"/>
          </p:cNvSpPr>
          <p:nvPr/>
        </p:nvSpPr>
        <p:spPr bwMode="auto">
          <a:xfrm>
            <a:off x="2209607" y="2688835"/>
            <a:ext cx="7054138" cy="762000"/>
          </a:xfrm>
          <a:prstGeom prst="rect">
            <a:avLst/>
          </a:prstGeom>
          <a:solidFill>
            <a:schemeClr val="tx2">
              <a:lumMod val="40000"/>
              <a:lumOff val="60000"/>
              <a:alpha val="69019"/>
            </a:schemeClr>
          </a:solidFill>
          <a:ln w="9525"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>
            <a:flatTx/>
          </a:bodyPr>
          <a:lstStyle>
            <a:lvl1pPr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/>
            <a:r>
              <a:rPr lang="pt-BR" altLang="pt-BR" sz="2400" cap="small" dirty="0">
                <a:latin typeface="Calibri" panose="020F0502020204030204" pitchFamily="34" charset="0"/>
              </a:rPr>
              <a:t>Desenvolvimento do Plano</a:t>
            </a:r>
            <a:r>
              <a:rPr lang="pt-PT" altLang="pt-BR" sz="2400" cap="small" dirty="0">
                <a:latin typeface="Calibri" panose="020F0502020204030204" pitchFamily="34" charset="0"/>
              </a:rPr>
              <a:t> de Pesquisa</a:t>
            </a:r>
            <a:endParaRPr lang="pt-PT" altLang="pt-BR" sz="1600" cap="small" dirty="0">
              <a:latin typeface="Calibri" panose="020F0502020204030204" pitchFamily="34" charset="0"/>
            </a:endParaRPr>
          </a:p>
        </p:txBody>
      </p:sp>
      <p:sp>
        <p:nvSpPr>
          <p:cNvPr id="2" name="Seta: Dobrada 1">
            <a:extLst>
              <a:ext uri="{FF2B5EF4-FFF2-40B4-BE49-F238E27FC236}">
                <a16:creationId xmlns:a16="http://schemas.microsoft.com/office/drawing/2014/main" id="{A41EEB12-F821-4525-87D3-EB977B82AFEC}"/>
              </a:ext>
            </a:extLst>
          </p:cNvPr>
          <p:cNvSpPr/>
          <p:nvPr/>
        </p:nvSpPr>
        <p:spPr>
          <a:xfrm rot="10800000" flipH="1">
            <a:off x="1892135" y="2517385"/>
            <a:ext cx="317472" cy="600511"/>
          </a:xfrm>
          <a:prstGeom prst="bentArrow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ABCCDF4-DAA1-481D-863F-4F4190498ADC}"/>
              </a:ext>
            </a:extLst>
          </p:cNvPr>
          <p:cNvSpPr/>
          <p:nvPr/>
        </p:nvSpPr>
        <p:spPr>
          <a:xfrm>
            <a:off x="2670413" y="3830635"/>
            <a:ext cx="6769289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cap="small" dirty="0"/>
              <a:t>Elaboração do </a:t>
            </a:r>
            <a:r>
              <a:rPr lang="pt-BR" sz="2400" b="1" cap="small" dirty="0"/>
              <a:t>Plano de Pesquisa </a:t>
            </a:r>
            <a:r>
              <a:rPr lang="pt-BR" sz="2400" cap="small" dirty="0"/>
              <a:t>com a definição de:</a:t>
            </a:r>
          </a:p>
          <a:p>
            <a:endParaRPr lang="pt-BR" sz="1050" cap="small" dirty="0"/>
          </a:p>
          <a:p>
            <a:pPr marL="627063" indent="-273050">
              <a:buFont typeface="Arial" panose="020B0604020202020204" pitchFamily="34" charset="0"/>
              <a:buChar char="•"/>
            </a:pPr>
            <a:r>
              <a:rPr lang="pt-BR" sz="2400" cap="small" dirty="0"/>
              <a:t>Tipos e fontes de dados</a:t>
            </a:r>
          </a:p>
          <a:p>
            <a:pPr marL="627063" indent="-273050">
              <a:buFont typeface="Arial" panose="020B0604020202020204" pitchFamily="34" charset="0"/>
              <a:buChar char="•"/>
            </a:pPr>
            <a:r>
              <a:rPr lang="pt-BR" sz="2400" cap="small" dirty="0"/>
              <a:t>Abordagem de pesquisa (escolha de métodos)</a:t>
            </a:r>
          </a:p>
          <a:p>
            <a:pPr marL="627063" indent="-273050">
              <a:buFont typeface="Arial" panose="020B0604020202020204" pitchFamily="34" charset="0"/>
              <a:buChar char="•"/>
            </a:pPr>
            <a:r>
              <a:rPr lang="pt-BR" sz="2400" cap="small" dirty="0"/>
              <a:t>Instrumentos de pesquisa</a:t>
            </a:r>
          </a:p>
          <a:p>
            <a:pPr marL="627063" indent="-273050">
              <a:buFont typeface="Arial" panose="020B0604020202020204" pitchFamily="34" charset="0"/>
              <a:buChar char="•"/>
            </a:pPr>
            <a:r>
              <a:rPr lang="pt-BR" sz="2400" cap="small" dirty="0"/>
              <a:t>Plano de amostragem</a:t>
            </a:r>
          </a:p>
          <a:p>
            <a:pPr marL="627063" indent="-273050">
              <a:buFont typeface="Arial" panose="020B0604020202020204" pitchFamily="34" charset="0"/>
              <a:buChar char="•"/>
            </a:pPr>
            <a:r>
              <a:rPr lang="pt-BR" sz="2400" cap="small" dirty="0"/>
              <a:t>Método de contato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E03436D-A3BD-EC38-A7FB-D8BED522876C}"/>
              </a:ext>
            </a:extLst>
          </p:cNvPr>
          <p:cNvSpPr txBox="1">
            <a:spLocks noChangeArrowheads="1"/>
          </p:cNvSpPr>
          <p:nvPr/>
        </p:nvSpPr>
        <p:spPr>
          <a:xfrm>
            <a:off x="1136032" y="816353"/>
            <a:ext cx="8229600" cy="34131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eaLnBrk="0" hangingPunct="0"/>
            <a:r>
              <a:rPr lang="pt-BR" altLang="pt-BR" sz="3200" cap="all">
                <a:latin typeface="+mn-lt"/>
              </a:rPr>
              <a:t>O processo de pesquisa</a:t>
            </a:r>
            <a:endParaRPr lang="pt-BR" altLang="pt-BR" sz="3200" cap="all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86635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3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2" grpId="0" animBg="1"/>
      <p:bldP spid="2" grpId="0" animBg="1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3"/>
          <p:cNvSpPr>
            <a:spLocks noChangeArrowheads="1"/>
          </p:cNvSpPr>
          <p:nvPr/>
        </p:nvSpPr>
        <p:spPr bwMode="auto">
          <a:xfrm>
            <a:off x="1808815" y="1755385"/>
            <a:ext cx="7054138" cy="762000"/>
          </a:xfrm>
          <a:prstGeom prst="rect">
            <a:avLst/>
          </a:prstGeom>
          <a:solidFill>
            <a:schemeClr val="tx2">
              <a:lumMod val="20000"/>
              <a:lumOff val="80000"/>
              <a:alpha val="69019"/>
            </a:schemeClr>
          </a:solidFill>
          <a:ln w="9525">
            <a:solidFill>
              <a:schemeClr val="tx2">
                <a:lumMod val="40000"/>
                <a:lumOff val="6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>
            <a:flatTx/>
          </a:bodyPr>
          <a:lstStyle>
            <a:lvl1pPr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pt-BR" altLang="pt-BR" sz="2400" cap="small" dirty="0">
                <a:latin typeface="Calibri" panose="020F0502020204030204" pitchFamily="34" charset="0"/>
              </a:rPr>
              <a:t>Definição do p</a:t>
            </a:r>
            <a:r>
              <a:rPr lang="ro-RO" altLang="pt-BR" sz="2400" cap="small" dirty="0">
                <a:latin typeface="Calibri" panose="020F0502020204030204" pitchFamily="34" charset="0"/>
              </a:rPr>
              <a:t>roblema e</a:t>
            </a:r>
            <a:r>
              <a:rPr lang="pt-BR" altLang="pt-BR" sz="2400" cap="small" dirty="0">
                <a:latin typeface="Calibri" panose="020F0502020204030204" pitchFamily="34" charset="0"/>
              </a:rPr>
              <a:t> dos o</a:t>
            </a:r>
            <a:r>
              <a:rPr lang="ro-RO" altLang="pt-BR" sz="2400" cap="small" dirty="0">
                <a:latin typeface="Calibri" panose="020F0502020204030204" pitchFamily="34" charset="0"/>
              </a:rPr>
              <a:t>bjetivos da</a:t>
            </a:r>
            <a:r>
              <a:rPr lang="pt-BR" altLang="pt-BR" sz="2400" cap="small" dirty="0">
                <a:latin typeface="Calibri" panose="020F0502020204030204" pitchFamily="34" charset="0"/>
              </a:rPr>
              <a:t> </a:t>
            </a:r>
            <a:r>
              <a:rPr lang="ro-RO" altLang="pt-BR" sz="2400" cap="small" dirty="0">
                <a:latin typeface="Calibri" panose="020F0502020204030204" pitchFamily="34" charset="0"/>
              </a:rPr>
              <a:t>pesquisa</a:t>
            </a:r>
            <a:endParaRPr lang="pt-BR" altLang="pt-BR" sz="2400" cap="small" dirty="0">
              <a:latin typeface="Calibri" panose="020F0502020204030204" pitchFamily="34" charset="0"/>
            </a:endParaRPr>
          </a:p>
        </p:txBody>
      </p:sp>
      <p:sp>
        <p:nvSpPr>
          <p:cNvPr id="63492" name="Rectangle 4"/>
          <p:cNvSpPr>
            <a:spLocks noChangeArrowheads="1"/>
          </p:cNvSpPr>
          <p:nvPr/>
        </p:nvSpPr>
        <p:spPr bwMode="auto">
          <a:xfrm>
            <a:off x="2209607" y="2688835"/>
            <a:ext cx="7054138" cy="762000"/>
          </a:xfrm>
          <a:prstGeom prst="rect">
            <a:avLst/>
          </a:prstGeom>
          <a:solidFill>
            <a:schemeClr val="tx2">
              <a:lumMod val="40000"/>
              <a:lumOff val="60000"/>
              <a:alpha val="69019"/>
            </a:schemeClr>
          </a:solidFill>
          <a:ln w="9525"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>
            <a:flatTx/>
          </a:bodyPr>
          <a:lstStyle>
            <a:lvl1pPr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/>
            <a:r>
              <a:rPr lang="pt-BR" altLang="pt-BR" sz="2400" cap="small" dirty="0">
                <a:latin typeface="Calibri" panose="020F0502020204030204" pitchFamily="34" charset="0"/>
              </a:rPr>
              <a:t>Desenvolvimento do Plano</a:t>
            </a:r>
            <a:r>
              <a:rPr lang="pt-PT" altLang="pt-BR" sz="2400" cap="small" dirty="0">
                <a:latin typeface="Calibri" panose="020F0502020204030204" pitchFamily="34" charset="0"/>
              </a:rPr>
              <a:t> de Pesquisa</a:t>
            </a:r>
            <a:endParaRPr lang="pt-PT" altLang="pt-BR" sz="1600" cap="small" dirty="0">
              <a:latin typeface="Calibri" panose="020F0502020204030204" pitchFamily="34" charset="0"/>
            </a:endParaRPr>
          </a:p>
        </p:txBody>
      </p:sp>
      <p:sp>
        <p:nvSpPr>
          <p:cNvPr id="2" name="Seta: Dobrada 1">
            <a:extLst>
              <a:ext uri="{FF2B5EF4-FFF2-40B4-BE49-F238E27FC236}">
                <a16:creationId xmlns:a16="http://schemas.microsoft.com/office/drawing/2014/main" id="{A41EEB12-F821-4525-87D3-EB977B82AFEC}"/>
              </a:ext>
            </a:extLst>
          </p:cNvPr>
          <p:cNvSpPr/>
          <p:nvPr/>
        </p:nvSpPr>
        <p:spPr>
          <a:xfrm rot="10800000" flipH="1">
            <a:off x="1892135" y="2517385"/>
            <a:ext cx="317472" cy="600511"/>
          </a:xfrm>
          <a:prstGeom prst="bentArrow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ABCCDF4-DAA1-481D-863F-4F4190498ADC}"/>
              </a:ext>
            </a:extLst>
          </p:cNvPr>
          <p:cNvSpPr/>
          <p:nvPr/>
        </p:nvSpPr>
        <p:spPr>
          <a:xfrm>
            <a:off x="2670413" y="3830635"/>
            <a:ext cx="6769289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cap="small" dirty="0"/>
              <a:t>Elaboração do </a:t>
            </a:r>
            <a:r>
              <a:rPr lang="pt-BR" sz="2400" b="1" cap="small" dirty="0"/>
              <a:t>Plano de Pesquisa </a:t>
            </a:r>
            <a:r>
              <a:rPr lang="pt-BR" sz="2400" cap="small" dirty="0"/>
              <a:t>com a definição de:</a:t>
            </a:r>
          </a:p>
          <a:p>
            <a:endParaRPr lang="pt-BR" sz="1050" cap="small" dirty="0"/>
          </a:p>
          <a:p>
            <a:pPr marL="627063" indent="-273050">
              <a:buFont typeface="Arial" panose="020B0604020202020204" pitchFamily="34" charset="0"/>
              <a:buChar char="•"/>
            </a:pPr>
            <a:r>
              <a:rPr lang="pt-BR" sz="2400" b="1" cap="small" dirty="0">
                <a:solidFill>
                  <a:srgbClr val="C00000"/>
                </a:solidFill>
              </a:rPr>
              <a:t>Tipos e fontes de dados</a:t>
            </a:r>
          </a:p>
          <a:p>
            <a:pPr marL="627063" indent="-273050">
              <a:buFont typeface="Arial" panose="020B0604020202020204" pitchFamily="34" charset="0"/>
              <a:buChar char="•"/>
            </a:pPr>
            <a:r>
              <a:rPr lang="pt-BR" sz="2400" cap="small" dirty="0"/>
              <a:t>Abordagem de pesquisa (escolha de métodos)</a:t>
            </a:r>
          </a:p>
          <a:p>
            <a:pPr marL="627063" indent="-273050">
              <a:buFont typeface="Arial" panose="020B0604020202020204" pitchFamily="34" charset="0"/>
              <a:buChar char="•"/>
            </a:pPr>
            <a:r>
              <a:rPr lang="pt-BR" sz="2400" cap="small" dirty="0"/>
              <a:t>Instrumentos de pesquisa</a:t>
            </a:r>
          </a:p>
          <a:p>
            <a:pPr marL="627063" indent="-273050">
              <a:buFont typeface="Arial" panose="020B0604020202020204" pitchFamily="34" charset="0"/>
              <a:buChar char="•"/>
            </a:pPr>
            <a:r>
              <a:rPr lang="pt-BR" sz="2400" cap="small" dirty="0"/>
              <a:t>Plano de amostragem</a:t>
            </a:r>
          </a:p>
          <a:p>
            <a:pPr marL="627063" indent="-273050">
              <a:buFont typeface="Arial" panose="020B0604020202020204" pitchFamily="34" charset="0"/>
              <a:buChar char="•"/>
            </a:pPr>
            <a:r>
              <a:rPr lang="pt-BR" sz="2400" cap="small" dirty="0"/>
              <a:t>Método de contato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4393E54-13BF-6A40-00EA-A5E13DAE99B1}"/>
              </a:ext>
            </a:extLst>
          </p:cNvPr>
          <p:cNvSpPr txBox="1">
            <a:spLocks noChangeArrowheads="1"/>
          </p:cNvSpPr>
          <p:nvPr/>
        </p:nvSpPr>
        <p:spPr>
          <a:xfrm>
            <a:off x="1136032" y="816353"/>
            <a:ext cx="8229600" cy="34131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eaLnBrk="0" hangingPunct="0"/>
            <a:r>
              <a:rPr lang="pt-BR" altLang="pt-BR" sz="3200" cap="all">
                <a:latin typeface="+mn-lt"/>
              </a:rPr>
              <a:t>O processo de pesquisa</a:t>
            </a:r>
            <a:endParaRPr lang="pt-BR" altLang="pt-BR" sz="3200" cap="all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6993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>
            <a:extLst>
              <a:ext uri="{FF2B5EF4-FFF2-40B4-BE49-F238E27FC236}">
                <a16:creationId xmlns:a16="http://schemas.microsoft.com/office/drawing/2014/main" id="{E43D13AB-7A19-4050-A39F-B985AC2CA241}"/>
              </a:ext>
            </a:extLst>
          </p:cNvPr>
          <p:cNvSpPr/>
          <p:nvPr/>
        </p:nvSpPr>
        <p:spPr>
          <a:xfrm>
            <a:off x="1691800" y="2041599"/>
            <a:ext cx="1644238" cy="13107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A998F10A-2787-4D2F-B2FA-0A465075E53E}"/>
              </a:ext>
            </a:extLst>
          </p:cNvPr>
          <p:cNvSpPr/>
          <p:nvPr/>
        </p:nvSpPr>
        <p:spPr>
          <a:xfrm>
            <a:off x="3663101" y="2041599"/>
            <a:ext cx="6837101" cy="13107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B47EB30A-FD77-47CF-9E4B-44D43FBE42CF}"/>
              </a:ext>
            </a:extLst>
          </p:cNvPr>
          <p:cNvSpPr/>
          <p:nvPr/>
        </p:nvSpPr>
        <p:spPr>
          <a:xfrm>
            <a:off x="1691800" y="3584980"/>
            <a:ext cx="1644238" cy="251736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5AECAD0-EA81-44FD-9EBC-580269BBB175}"/>
              </a:ext>
            </a:extLst>
          </p:cNvPr>
          <p:cNvSpPr/>
          <p:nvPr/>
        </p:nvSpPr>
        <p:spPr>
          <a:xfrm>
            <a:off x="3663101" y="3584980"/>
            <a:ext cx="6837101" cy="251736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4ABF0FB-315C-4854-BF33-0B603850CD22}"/>
              </a:ext>
            </a:extLst>
          </p:cNvPr>
          <p:cNvSpPr/>
          <p:nvPr/>
        </p:nvSpPr>
        <p:spPr>
          <a:xfrm>
            <a:off x="1162482" y="755653"/>
            <a:ext cx="7538935" cy="46166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Autofit/>
          </a:bodyPr>
          <a:lstStyle/>
          <a:p>
            <a:pPr defTabSz="457200" eaLnBrk="0" hangingPunct="0">
              <a:spcBef>
                <a:spcPct val="0"/>
              </a:spcBef>
            </a:pPr>
            <a:r>
              <a:rPr lang="pt-BR" altLang="pt-BR" sz="3200" b="1" cap="all" dirty="0">
                <a:ea typeface="+mj-ea"/>
                <a:cs typeface="+mj-cs"/>
              </a:rPr>
              <a:t>Tipos e fontes de dados</a:t>
            </a:r>
            <a:endParaRPr lang="pt-PT" altLang="pt-BR" sz="3200" b="1" cap="all" dirty="0">
              <a:ea typeface="+mj-ea"/>
              <a:cs typeface="+mj-cs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7FDC7F30-F853-457A-A589-2712350964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35524" y="3650038"/>
            <a:ext cx="6266688" cy="2333559"/>
          </a:xfrm>
        </p:spPr>
        <p:txBody>
          <a:bodyPr anchor="ctr">
            <a:noAutofit/>
          </a:bodyPr>
          <a:lstStyle/>
          <a:p>
            <a:pPr marL="0" indent="0">
              <a:spcBef>
                <a:spcPct val="0"/>
              </a:spcBef>
              <a:buNone/>
            </a:pPr>
            <a:r>
              <a:rPr lang="pt-BR" altLang="pt-BR" sz="1800" cap="small" dirty="0"/>
              <a:t>são aqueles que foram </a:t>
            </a:r>
            <a:r>
              <a:rPr lang="pt-BR" altLang="pt-BR" sz="1800" b="1" cap="small" dirty="0"/>
              <a:t>coletados para outra finalidade ou momento </a:t>
            </a:r>
            <a:r>
              <a:rPr lang="pt-BR" altLang="pt-BR" sz="1800" cap="small" dirty="0"/>
              <a:t>e podem ser encontrados prontos e disponíveis para uso</a:t>
            </a:r>
          </a:p>
          <a:p>
            <a:pPr marL="622300" lvl="3" indent="-274638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pt-BR" altLang="pt-BR" sz="1600" cap="small" dirty="0"/>
              <a:t>Fontes internas (apenas empresas em operação).</a:t>
            </a:r>
          </a:p>
          <a:p>
            <a:pPr marL="622300" lvl="3" indent="-274638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pt-BR" altLang="pt-BR" sz="1600" cap="small" dirty="0"/>
              <a:t>Publicações governamentais.</a:t>
            </a:r>
          </a:p>
          <a:p>
            <a:pPr marL="622300" lvl="3" indent="-274638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pt-BR" altLang="pt-BR" sz="1600" cap="small" dirty="0"/>
              <a:t>Periódicos e livros.</a:t>
            </a:r>
          </a:p>
          <a:p>
            <a:pPr marL="622300" lvl="3" indent="-274638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pt-BR" altLang="pt-BR" sz="1600" cap="small" dirty="0"/>
              <a:t>Dados comerciais.</a:t>
            </a:r>
          </a:p>
          <a:p>
            <a:pPr marL="622300" lvl="3" indent="-274638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pt-BR" altLang="pt-BR" sz="1600" cap="small" dirty="0"/>
              <a:t>Informações on-line (</a:t>
            </a:r>
            <a:r>
              <a:rPr lang="pt-BR" altLang="pt-BR" sz="1400" cap="small" dirty="0"/>
              <a:t>Associações/Entidades de Negócios ...)</a:t>
            </a:r>
          </a:p>
          <a:p>
            <a:pPr marL="987425" lvl="3" indent="-274638">
              <a:spcBef>
                <a:spcPct val="0"/>
              </a:spcBef>
              <a:buFont typeface="Wingdings" panose="05000000000000000000" pitchFamily="2" charset="2"/>
              <a:buChar char="§"/>
            </a:pPr>
            <a:endParaRPr lang="pt-BR" altLang="pt-BR" sz="700" cap="small" dirty="0"/>
          </a:p>
          <a:p>
            <a:pPr marL="0" lvl="3" indent="0">
              <a:spcBef>
                <a:spcPct val="0"/>
              </a:spcBef>
              <a:buNone/>
            </a:pPr>
            <a:r>
              <a:rPr lang="pt-BR" altLang="pt-BR" cap="small" dirty="0">
                <a:solidFill>
                  <a:srgbClr val="C00000"/>
                </a:solidFill>
                <a:latin typeface="Calibri" panose="020F0502020204030204" pitchFamily="34" charset="0"/>
              </a:rPr>
              <a:t>Podem ser públicos ou comerciais e negociáveis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D7FEC09-3370-4725-AAA4-08B012C8CB0D}"/>
              </a:ext>
            </a:extLst>
          </p:cNvPr>
          <p:cNvSpPr/>
          <p:nvPr/>
        </p:nvSpPr>
        <p:spPr>
          <a:xfrm>
            <a:off x="1802348" y="4486332"/>
            <a:ext cx="141436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altLang="pt-BR" sz="2000" b="1" cap="small" dirty="0">
                <a:solidFill>
                  <a:prstClr val="black"/>
                </a:solidFill>
                <a:latin typeface="Calibri" panose="020F0502020204030204" pitchFamily="34" charset="0"/>
              </a:rPr>
              <a:t>Dados</a:t>
            </a:r>
          </a:p>
          <a:p>
            <a:pPr algn="ctr"/>
            <a:r>
              <a:rPr lang="pt-BR" altLang="pt-BR" sz="2000" b="1" cap="small" dirty="0">
                <a:solidFill>
                  <a:prstClr val="black"/>
                </a:solidFill>
                <a:latin typeface="Calibri" panose="020F0502020204030204" pitchFamily="34" charset="0"/>
              </a:rPr>
              <a:t>secundários</a:t>
            </a:r>
            <a:endParaRPr lang="pt-BR" dirty="0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87C9847E-3B4C-451C-A22F-07FE8237F1FD}"/>
              </a:ext>
            </a:extLst>
          </p:cNvPr>
          <p:cNvSpPr/>
          <p:nvPr/>
        </p:nvSpPr>
        <p:spPr>
          <a:xfrm>
            <a:off x="1909044" y="2352822"/>
            <a:ext cx="120097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altLang="pt-BR" sz="2000" b="1" cap="small" dirty="0">
                <a:solidFill>
                  <a:prstClr val="black"/>
                </a:solidFill>
                <a:latin typeface="Calibri" panose="020F0502020204030204" pitchFamily="34" charset="0"/>
              </a:rPr>
              <a:t>Dados</a:t>
            </a:r>
          </a:p>
          <a:p>
            <a:pPr algn="ctr"/>
            <a:r>
              <a:rPr lang="pt-BR" altLang="pt-BR" sz="2000" b="1" cap="small" dirty="0">
                <a:solidFill>
                  <a:prstClr val="black"/>
                </a:solidFill>
                <a:latin typeface="Calibri" panose="020F0502020204030204" pitchFamily="34" charset="0"/>
              </a:rPr>
              <a:t>primários</a:t>
            </a:r>
            <a:endParaRPr lang="pt-BR" dirty="0"/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A6159A85-7440-4CE9-B322-6FFA050D675F}"/>
              </a:ext>
            </a:extLst>
          </p:cNvPr>
          <p:cNvSpPr txBox="1">
            <a:spLocks noChangeArrowheads="1"/>
          </p:cNvSpPr>
          <p:nvPr/>
        </p:nvSpPr>
        <p:spPr>
          <a:xfrm>
            <a:off x="3935524" y="2070835"/>
            <a:ext cx="6415599" cy="12814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Gotham HTF Book" pitchFamily="2" charset="0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Gotham HTF Book" pitchFamily="2" charset="0"/>
                <a:ea typeface="+mn-ea"/>
                <a:cs typeface="+mn-cs"/>
              </a:defRPr>
            </a:lvl2pPr>
            <a:lvl3pPr marL="1257300" indent="-342900" algn="l" defTabSz="457200" rtl="0" eaLnBrk="1" latinLnBrk="0" hangingPunct="1">
              <a:spcBef>
                <a:spcPct val="200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Gotham HTF Book" pitchFamily="2" charset="0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Gotham HTF Book" pitchFamily="2" charset="0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Gotham HTF Book" pitchFamily="2" charset="0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lang="pt-BR" altLang="pt-BR" sz="1800" cap="small" dirty="0">
                <a:latin typeface="Calibri" panose="020F0502020204030204" pitchFamily="34" charset="0"/>
              </a:rPr>
              <a:t>são </a:t>
            </a:r>
            <a:r>
              <a:rPr lang="pt-BR" altLang="pt-BR" sz="1800" b="1" cap="small" dirty="0">
                <a:latin typeface="Calibri" panose="020F0502020204030204" pitchFamily="34" charset="0"/>
              </a:rPr>
              <a:t>dados novos</a:t>
            </a:r>
            <a:r>
              <a:rPr lang="pt-BR" altLang="pt-BR" sz="1800" cap="small" dirty="0">
                <a:latin typeface="Calibri" panose="020F0502020204030204" pitchFamily="34" charset="0"/>
              </a:rPr>
              <a:t>, que serão coletados para uma finalidade especifica ou para um projeto especifico de pesquisa. </a:t>
            </a:r>
          </a:p>
          <a:p>
            <a:pPr marL="0" indent="0">
              <a:spcBef>
                <a:spcPct val="0"/>
              </a:spcBef>
              <a:buNone/>
            </a:pPr>
            <a:endParaRPr lang="pt-BR" altLang="pt-BR" sz="900" cap="small" dirty="0">
              <a:latin typeface="Calibri" panose="020F0502020204030204" pitchFamily="34" charset="0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pt-BR" altLang="pt-BR" sz="1800" cap="small" dirty="0">
                <a:solidFill>
                  <a:srgbClr val="C00000"/>
                </a:solidFill>
                <a:latin typeface="Calibri" panose="020F0502020204030204" pitchFamily="34" charset="0"/>
              </a:rPr>
              <a:t>São obtidos por demanda e esforço próprios do interessado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854501A3-F0BB-4DDA-E8BE-96577D1947CD}"/>
              </a:ext>
            </a:extLst>
          </p:cNvPr>
          <p:cNvSpPr/>
          <p:nvPr/>
        </p:nvSpPr>
        <p:spPr>
          <a:xfrm>
            <a:off x="767375" y="5805891"/>
            <a:ext cx="1848849" cy="500347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solidFill>
                  <a:srgbClr val="C00000"/>
                </a:solidFill>
              </a:rPr>
              <a:t>Pesquisa Web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95CC118D-CB3E-3704-F886-7FFF84C8C5A0}"/>
              </a:ext>
            </a:extLst>
          </p:cNvPr>
          <p:cNvSpPr/>
          <p:nvPr/>
        </p:nvSpPr>
        <p:spPr>
          <a:xfrm>
            <a:off x="446590" y="1483765"/>
            <a:ext cx="2490415" cy="707886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solidFill>
                  <a:srgbClr val="C00000"/>
                </a:solidFill>
              </a:rPr>
              <a:t>Diferentes abordagens de Pesquisa</a:t>
            </a:r>
          </a:p>
        </p:txBody>
      </p:sp>
    </p:spTree>
    <p:extLst>
      <p:ext uri="{BB962C8B-B14F-4D97-AF65-F5344CB8AC3E}">
        <p14:creationId xmlns:p14="http://schemas.microsoft.com/office/powerpoint/2010/main" val="1910663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1" grpId="0" animBg="1"/>
      <p:bldP spid="7" grpId="0" animBg="1"/>
      <p:bldP spid="8" grpId="0" build="p"/>
      <p:bldP spid="6" grpId="0"/>
      <p:bldP spid="14" grpId="0"/>
      <p:bldP spid="15" grpId="0" build="allAtOnce"/>
      <p:bldP spid="3" grpId="0" animBg="1"/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3"/>
          <p:cNvSpPr>
            <a:spLocks noChangeArrowheads="1"/>
          </p:cNvSpPr>
          <p:nvPr/>
        </p:nvSpPr>
        <p:spPr bwMode="auto">
          <a:xfrm>
            <a:off x="1808815" y="1755385"/>
            <a:ext cx="7054138" cy="762000"/>
          </a:xfrm>
          <a:prstGeom prst="rect">
            <a:avLst/>
          </a:prstGeom>
          <a:solidFill>
            <a:schemeClr val="tx2">
              <a:lumMod val="20000"/>
              <a:lumOff val="80000"/>
              <a:alpha val="69019"/>
            </a:schemeClr>
          </a:solidFill>
          <a:ln w="9525">
            <a:solidFill>
              <a:schemeClr val="tx2">
                <a:lumMod val="40000"/>
                <a:lumOff val="6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>
            <a:flatTx/>
          </a:bodyPr>
          <a:lstStyle>
            <a:lvl1pPr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pt-BR" altLang="pt-BR" sz="2400" cap="small" dirty="0">
                <a:latin typeface="Calibri" panose="020F0502020204030204" pitchFamily="34" charset="0"/>
              </a:rPr>
              <a:t>Definição do p</a:t>
            </a:r>
            <a:r>
              <a:rPr lang="ro-RO" altLang="pt-BR" sz="2400" cap="small" dirty="0">
                <a:latin typeface="Calibri" panose="020F0502020204030204" pitchFamily="34" charset="0"/>
              </a:rPr>
              <a:t>roblema e</a:t>
            </a:r>
            <a:r>
              <a:rPr lang="pt-BR" altLang="pt-BR" sz="2400" cap="small" dirty="0">
                <a:latin typeface="Calibri" panose="020F0502020204030204" pitchFamily="34" charset="0"/>
              </a:rPr>
              <a:t> dos o</a:t>
            </a:r>
            <a:r>
              <a:rPr lang="ro-RO" altLang="pt-BR" sz="2400" cap="small" dirty="0">
                <a:latin typeface="Calibri" panose="020F0502020204030204" pitchFamily="34" charset="0"/>
              </a:rPr>
              <a:t>bjetivos da</a:t>
            </a:r>
            <a:r>
              <a:rPr lang="pt-BR" altLang="pt-BR" sz="2400" cap="small" dirty="0">
                <a:latin typeface="Calibri" panose="020F0502020204030204" pitchFamily="34" charset="0"/>
              </a:rPr>
              <a:t> </a:t>
            </a:r>
            <a:r>
              <a:rPr lang="ro-RO" altLang="pt-BR" sz="2400" cap="small" dirty="0">
                <a:latin typeface="Calibri" panose="020F0502020204030204" pitchFamily="34" charset="0"/>
              </a:rPr>
              <a:t>pesquisa</a:t>
            </a:r>
            <a:endParaRPr lang="pt-BR" altLang="pt-BR" sz="2400" cap="small" dirty="0">
              <a:latin typeface="Calibri" panose="020F0502020204030204" pitchFamily="34" charset="0"/>
            </a:endParaRPr>
          </a:p>
        </p:txBody>
      </p:sp>
      <p:sp>
        <p:nvSpPr>
          <p:cNvPr id="63492" name="Rectangle 4"/>
          <p:cNvSpPr>
            <a:spLocks noChangeArrowheads="1"/>
          </p:cNvSpPr>
          <p:nvPr/>
        </p:nvSpPr>
        <p:spPr bwMode="auto">
          <a:xfrm>
            <a:off x="2209607" y="2688835"/>
            <a:ext cx="7054138" cy="762000"/>
          </a:xfrm>
          <a:prstGeom prst="rect">
            <a:avLst/>
          </a:prstGeom>
          <a:solidFill>
            <a:schemeClr val="tx2">
              <a:lumMod val="40000"/>
              <a:lumOff val="60000"/>
              <a:alpha val="69019"/>
            </a:schemeClr>
          </a:solidFill>
          <a:ln w="9525"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>
            <a:flatTx/>
          </a:bodyPr>
          <a:lstStyle>
            <a:lvl1pPr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/>
            <a:r>
              <a:rPr lang="pt-BR" altLang="pt-BR" sz="2400" cap="small" dirty="0">
                <a:latin typeface="Calibri" panose="020F0502020204030204" pitchFamily="34" charset="0"/>
              </a:rPr>
              <a:t>Desenvolvimento do Plano</a:t>
            </a:r>
            <a:r>
              <a:rPr lang="pt-PT" altLang="pt-BR" sz="2400" cap="small" dirty="0">
                <a:latin typeface="Calibri" panose="020F0502020204030204" pitchFamily="34" charset="0"/>
              </a:rPr>
              <a:t> de Pesquisa</a:t>
            </a:r>
            <a:endParaRPr lang="pt-PT" altLang="pt-BR" sz="1600" cap="small" dirty="0">
              <a:latin typeface="Calibri" panose="020F0502020204030204" pitchFamily="34" charset="0"/>
            </a:endParaRPr>
          </a:p>
        </p:txBody>
      </p:sp>
      <p:sp>
        <p:nvSpPr>
          <p:cNvPr id="2" name="Seta: Dobrada 1">
            <a:extLst>
              <a:ext uri="{FF2B5EF4-FFF2-40B4-BE49-F238E27FC236}">
                <a16:creationId xmlns:a16="http://schemas.microsoft.com/office/drawing/2014/main" id="{A41EEB12-F821-4525-87D3-EB977B82AFEC}"/>
              </a:ext>
            </a:extLst>
          </p:cNvPr>
          <p:cNvSpPr/>
          <p:nvPr/>
        </p:nvSpPr>
        <p:spPr>
          <a:xfrm rot="10800000" flipH="1">
            <a:off x="1892135" y="2517385"/>
            <a:ext cx="317472" cy="600511"/>
          </a:xfrm>
          <a:prstGeom prst="bentArrow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ABCCDF4-DAA1-481D-863F-4F4190498ADC}"/>
              </a:ext>
            </a:extLst>
          </p:cNvPr>
          <p:cNvSpPr/>
          <p:nvPr/>
        </p:nvSpPr>
        <p:spPr>
          <a:xfrm>
            <a:off x="2670413" y="3830635"/>
            <a:ext cx="6769289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cap="small" dirty="0"/>
              <a:t>Elaboração do </a:t>
            </a:r>
            <a:r>
              <a:rPr lang="pt-BR" sz="2400" b="1" cap="small" dirty="0"/>
              <a:t>Plano de Pesquisa </a:t>
            </a:r>
            <a:r>
              <a:rPr lang="pt-BR" sz="2400" cap="small" dirty="0"/>
              <a:t>com a definição de:</a:t>
            </a:r>
          </a:p>
          <a:p>
            <a:endParaRPr lang="pt-BR" sz="1050" cap="small" dirty="0"/>
          </a:p>
          <a:p>
            <a:pPr marL="627063" indent="-273050">
              <a:buFont typeface="Arial" panose="020B0604020202020204" pitchFamily="34" charset="0"/>
              <a:buChar char="•"/>
            </a:pPr>
            <a:r>
              <a:rPr lang="pt-BR" sz="2400" cap="small" dirty="0"/>
              <a:t>Tipos e fontes de dados</a:t>
            </a:r>
          </a:p>
          <a:p>
            <a:pPr marL="627063" indent="-273050">
              <a:buFont typeface="Arial" panose="020B0604020202020204" pitchFamily="34" charset="0"/>
              <a:buChar char="•"/>
            </a:pPr>
            <a:r>
              <a:rPr lang="pt-BR" sz="2400" b="1" cap="small" dirty="0">
                <a:solidFill>
                  <a:srgbClr val="C00000"/>
                </a:solidFill>
              </a:rPr>
              <a:t>Abordagem de pesquisa (escolha de métodos)</a:t>
            </a:r>
          </a:p>
          <a:p>
            <a:pPr marL="627063" indent="-273050">
              <a:buFont typeface="Arial" panose="020B0604020202020204" pitchFamily="34" charset="0"/>
              <a:buChar char="•"/>
            </a:pPr>
            <a:r>
              <a:rPr lang="pt-BR" sz="2400" cap="small" dirty="0"/>
              <a:t>Instrumentos de pesquisa</a:t>
            </a:r>
          </a:p>
          <a:p>
            <a:pPr marL="627063" indent="-273050">
              <a:buFont typeface="Arial" panose="020B0604020202020204" pitchFamily="34" charset="0"/>
              <a:buChar char="•"/>
            </a:pPr>
            <a:r>
              <a:rPr lang="pt-BR" sz="2400" cap="small" dirty="0"/>
              <a:t>Plano de amostragem</a:t>
            </a:r>
          </a:p>
          <a:p>
            <a:pPr marL="627063" indent="-273050">
              <a:buFont typeface="Arial" panose="020B0604020202020204" pitchFamily="34" charset="0"/>
              <a:buChar char="•"/>
            </a:pPr>
            <a:r>
              <a:rPr lang="pt-BR" sz="2400" cap="small" dirty="0"/>
              <a:t>Método de contato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7147D8-B380-2AF7-9F85-233871A88546}"/>
              </a:ext>
            </a:extLst>
          </p:cNvPr>
          <p:cNvSpPr txBox="1">
            <a:spLocks noChangeArrowheads="1"/>
          </p:cNvSpPr>
          <p:nvPr/>
        </p:nvSpPr>
        <p:spPr>
          <a:xfrm>
            <a:off x="1136032" y="816353"/>
            <a:ext cx="5984615" cy="34131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eaLnBrk="0" hangingPunct="0"/>
            <a:r>
              <a:rPr lang="pt-BR" altLang="pt-BR" sz="3200" cap="all" dirty="0">
                <a:latin typeface="+mn-lt"/>
              </a:rPr>
              <a:t>O processo de pesquisa</a:t>
            </a:r>
          </a:p>
        </p:txBody>
      </p:sp>
    </p:spTree>
    <p:extLst>
      <p:ext uri="{BB962C8B-B14F-4D97-AF65-F5344CB8AC3E}">
        <p14:creationId xmlns:p14="http://schemas.microsoft.com/office/powerpoint/2010/main" val="1200434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1118008" y="748933"/>
            <a:ext cx="7520153" cy="483433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Autofit/>
          </a:bodyPr>
          <a:lstStyle/>
          <a:p>
            <a:pPr eaLnBrk="0" hangingPunct="0"/>
            <a:r>
              <a:rPr lang="en-US" altLang="pt-BR" sz="3200" cap="all" dirty="0" err="1">
                <a:latin typeface="+mn-lt"/>
              </a:rPr>
              <a:t>Escolha</a:t>
            </a:r>
            <a:r>
              <a:rPr lang="en-US" altLang="pt-BR" sz="3200" cap="all" dirty="0">
                <a:latin typeface="+mn-lt"/>
              </a:rPr>
              <a:t> do </a:t>
            </a:r>
            <a:r>
              <a:rPr lang="en-US" altLang="pt-BR" sz="3200" cap="all" dirty="0" err="1">
                <a:latin typeface="+mn-lt"/>
              </a:rPr>
              <a:t>método</a:t>
            </a:r>
            <a:r>
              <a:rPr lang="en-US" altLang="pt-BR" sz="3200" cap="all" dirty="0">
                <a:latin typeface="+mn-lt"/>
              </a:rPr>
              <a:t> de </a:t>
            </a:r>
            <a:r>
              <a:rPr lang="en-US" altLang="pt-BR" sz="3200" cap="all" dirty="0" err="1">
                <a:latin typeface="+mn-lt"/>
              </a:rPr>
              <a:t>pesquisa</a:t>
            </a:r>
            <a:endParaRPr lang="pt-BR" altLang="pt-BR" sz="3200" cap="all" dirty="0">
              <a:latin typeface="+mn-lt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EA9D39D-157A-B92E-890F-3AF804AAEF06}"/>
              </a:ext>
            </a:extLst>
          </p:cNvPr>
          <p:cNvSpPr txBox="1">
            <a:spLocks noChangeArrowheads="1"/>
          </p:cNvSpPr>
          <p:nvPr/>
        </p:nvSpPr>
        <p:spPr>
          <a:xfrm>
            <a:off x="2027666" y="1756628"/>
            <a:ext cx="7032357" cy="48343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eaLnBrk="0" hangingPunct="0"/>
            <a:r>
              <a:rPr lang="en-US" altLang="pt-BR" sz="2400" cap="all" dirty="0" err="1">
                <a:latin typeface="+mn-lt"/>
              </a:rPr>
              <a:t>Tipos</a:t>
            </a:r>
            <a:r>
              <a:rPr lang="en-US" altLang="pt-BR" sz="2400" cap="all" dirty="0">
                <a:latin typeface="+mn-lt"/>
              </a:rPr>
              <a:t> </a:t>
            </a:r>
            <a:r>
              <a:rPr lang="en-US" altLang="pt-BR" sz="2400" cap="all" dirty="0" err="1">
                <a:latin typeface="+mn-lt"/>
              </a:rPr>
              <a:t>mais</a:t>
            </a:r>
            <a:r>
              <a:rPr lang="en-US" altLang="pt-BR" sz="2400" cap="all" dirty="0">
                <a:latin typeface="+mn-lt"/>
              </a:rPr>
              <a:t> </a:t>
            </a:r>
            <a:r>
              <a:rPr lang="en-US" altLang="pt-BR" sz="2400" cap="all" dirty="0" err="1">
                <a:latin typeface="+mn-lt"/>
              </a:rPr>
              <a:t>comuns</a:t>
            </a:r>
            <a:r>
              <a:rPr lang="en-US" altLang="pt-BR" sz="2400" cap="all" dirty="0">
                <a:latin typeface="+mn-lt"/>
              </a:rPr>
              <a:t> </a:t>
            </a:r>
            <a:r>
              <a:rPr lang="en-US" altLang="pt-BR" sz="2400" cap="all" dirty="0" err="1">
                <a:latin typeface="+mn-lt"/>
              </a:rPr>
              <a:t>em</a:t>
            </a:r>
            <a:r>
              <a:rPr lang="en-US" altLang="pt-BR" sz="2400" cap="all" dirty="0">
                <a:latin typeface="+mn-lt"/>
              </a:rPr>
              <a:t> </a:t>
            </a:r>
            <a:r>
              <a:rPr lang="en-US" altLang="pt-BR" sz="2400" cap="all" dirty="0" err="1">
                <a:latin typeface="+mn-lt"/>
              </a:rPr>
              <a:t>pesquisas</a:t>
            </a:r>
            <a:r>
              <a:rPr lang="en-US" altLang="pt-BR" sz="2400" cap="all" dirty="0">
                <a:latin typeface="+mn-lt"/>
              </a:rPr>
              <a:t> de marketing</a:t>
            </a:r>
            <a:endParaRPr lang="pt-BR" altLang="pt-BR" sz="2400" cap="all" dirty="0">
              <a:latin typeface="+mn-lt"/>
            </a:endParaRP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3CF2F1B-5814-371F-A3B4-54084D0E24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7666" y="2304628"/>
            <a:ext cx="7265855" cy="3804439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marL="355600" indent="-3556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pt-BR" altLang="pt-BR" sz="2800" b="1" cap="small" dirty="0" err="1">
                <a:solidFill>
                  <a:srgbClr val="C00000"/>
                </a:solidFill>
                <a:latin typeface="Calibri" panose="020F0502020204030204" pitchFamily="34" charset="0"/>
              </a:rPr>
              <a:t>Survey</a:t>
            </a:r>
            <a:r>
              <a:rPr lang="pt-BR" altLang="pt-BR" sz="2800" cap="small" dirty="0">
                <a:latin typeface="Calibri" panose="020F0502020204030204" pitchFamily="34" charset="0"/>
              </a:rPr>
              <a:t> (Enquete/Entrevista)</a:t>
            </a:r>
          </a:p>
          <a:p>
            <a:pPr marL="355600" indent="-3556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pt-BR" sz="2800" b="1" cap="small" dirty="0" err="1">
                <a:solidFill>
                  <a:srgbClr val="C00000"/>
                </a:solidFill>
                <a:latin typeface="Calibri" panose="020F0502020204030204" pitchFamily="34" charset="0"/>
              </a:rPr>
              <a:t>Pesquisa</a:t>
            </a:r>
            <a:r>
              <a:rPr lang="en-US" altLang="pt-BR" sz="2800" b="1" cap="small" dirty="0">
                <a:solidFill>
                  <a:srgbClr val="C00000"/>
                </a:solidFill>
                <a:latin typeface="Calibri" panose="020F0502020204030204" pitchFamily="34" charset="0"/>
              </a:rPr>
              <a:t> </a:t>
            </a:r>
            <a:r>
              <a:rPr lang="en-US" altLang="pt-BR" sz="2800" b="1" cap="small" dirty="0" err="1">
                <a:solidFill>
                  <a:srgbClr val="C00000"/>
                </a:solidFill>
                <a:latin typeface="Calibri" panose="020F0502020204030204" pitchFamily="34" charset="0"/>
              </a:rPr>
              <a:t>Etnográfica</a:t>
            </a:r>
            <a:r>
              <a:rPr lang="en-US" altLang="pt-BR" sz="2800" cap="small" dirty="0">
                <a:solidFill>
                  <a:srgbClr val="C00000"/>
                </a:solidFill>
                <a:latin typeface="Calibri" panose="020F0502020204030204" pitchFamily="34" charset="0"/>
              </a:rPr>
              <a:t> </a:t>
            </a:r>
            <a:r>
              <a:rPr lang="en-US" altLang="pt-BR" sz="2800" cap="small" dirty="0">
                <a:latin typeface="Calibri" panose="020F0502020204030204" pitchFamily="34" charset="0"/>
              </a:rPr>
              <a:t>(</a:t>
            </a:r>
            <a:r>
              <a:rPr lang="en-US" altLang="pt-BR" sz="2800" cap="small" dirty="0" err="1">
                <a:latin typeface="Calibri" panose="020F0502020204030204" pitchFamily="34" charset="0"/>
              </a:rPr>
              <a:t>Observação</a:t>
            </a:r>
            <a:r>
              <a:rPr lang="en-US" altLang="pt-BR" sz="2800" cap="small" dirty="0">
                <a:latin typeface="Calibri" panose="020F0502020204030204" pitchFamily="34" charset="0"/>
              </a:rPr>
              <a:t>)</a:t>
            </a:r>
          </a:p>
          <a:p>
            <a:pPr marL="355600" indent="-3556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pt-BR" altLang="pt-BR" sz="2800" b="1" cap="small" dirty="0">
                <a:solidFill>
                  <a:srgbClr val="C00000"/>
                </a:solidFill>
                <a:latin typeface="Calibri" panose="020F0502020204030204" pitchFamily="34" charset="0"/>
              </a:rPr>
              <a:t>Focus </a:t>
            </a:r>
            <a:r>
              <a:rPr lang="pt-BR" altLang="pt-BR" sz="2800" b="1" cap="small" dirty="0" err="1">
                <a:solidFill>
                  <a:srgbClr val="C00000"/>
                </a:solidFill>
                <a:latin typeface="Calibri" panose="020F0502020204030204" pitchFamily="34" charset="0"/>
              </a:rPr>
              <a:t>Groups</a:t>
            </a:r>
            <a:r>
              <a:rPr lang="pt-BR" altLang="pt-BR" sz="2800" b="1" cap="small" dirty="0">
                <a:solidFill>
                  <a:srgbClr val="C00000"/>
                </a:solidFill>
                <a:latin typeface="Calibri" panose="020F0502020204030204" pitchFamily="34" charset="0"/>
              </a:rPr>
              <a:t> </a:t>
            </a:r>
            <a:r>
              <a:rPr lang="pt-BR" altLang="pt-BR" sz="2800" cap="small" dirty="0">
                <a:latin typeface="Calibri" panose="020F0502020204030204" pitchFamily="34" charset="0"/>
              </a:rPr>
              <a:t>(Grupos focais)</a:t>
            </a:r>
          </a:p>
          <a:p>
            <a:pPr marL="355600" indent="-3556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pt-BR" altLang="pt-BR" sz="2800" b="1" cap="small" dirty="0">
                <a:solidFill>
                  <a:srgbClr val="C00000"/>
                </a:solidFill>
                <a:latin typeface="Calibri" panose="020F0502020204030204" pitchFamily="34" charset="0"/>
              </a:rPr>
              <a:t>Método Delphi </a:t>
            </a:r>
            <a:r>
              <a:rPr lang="pt-BR" altLang="pt-BR" sz="2800" cap="small" dirty="0">
                <a:latin typeface="Calibri" panose="020F0502020204030204" pitchFamily="34" charset="0"/>
              </a:rPr>
              <a:t>(Consulta à especialistas)</a:t>
            </a:r>
          </a:p>
          <a:p>
            <a:pPr marL="355600" indent="-3556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pt-BR" altLang="pt-BR" sz="2800" b="1" cap="small" dirty="0">
                <a:solidFill>
                  <a:srgbClr val="C00000"/>
                </a:solidFill>
                <a:latin typeface="Calibri" panose="020F0502020204030204" pitchFamily="34" charset="0"/>
              </a:rPr>
              <a:t>Comportamental </a:t>
            </a:r>
            <a:r>
              <a:rPr lang="pt-BR" altLang="pt-BR" sz="2800" cap="small" dirty="0">
                <a:latin typeface="Calibri" panose="020F0502020204030204" pitchFamily="34" charset="0"/>
              </a:rPr>
              <a:t>(Analise de rastro digital)</a:t>
            </a:r>
          </a:p>
          <a:p>
            <a:pPr marL="355600" indent="-3556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pt-BR" altLang="pt-BR" sz="2800" b="1" cap="small" dirty="0">
                <a:solidFill>
                  <a:srgbClr val="C00000"/>
                </a:solidFill>
                <a:latin typeface="Calibri" panose="020F0502020204030204" pitchFamily="34" charset="0"/>
              </a:rPr>
              <a:t>Experimental </a:t>
            </a:r>
            <a:r>
              <a:rPr lang="pt-BR" altLang="pt-BR" sz="2800" cap="small" dirty="0">
                <a:latin typeface="Calibri" panose="020F0502020204030204" pitchFamily="34" charset="0"/>
              </a:rPr>
              <a:t>(Testes e Observação)</a:t>
            </a:r>
          </a:p>
        </p:txBody>
      </p:sp>
    </p:spTree>
    <p:extLst>
      <p:ext uri="{BB962C8B-B14F-4D97-AF65-F5344CB8AC3E}">
        <p14:creationId xmlns:p14="http://schemas.microsoft.com/office/powerpoint/2010/main" val="130742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9A43EE34-53A0-44AD-B367-4BD561191736}"/>
              </a:ext>
            </a:extLst>
          </p:cNvPr>
          <p:cNvSpPr/>
          <p:nvPr/>
        </p:nvSpPr>
        <p:spPr>
          <a:xfrm>
            <a:off x="1165819" y="761045"/>
            <a:ext cx="6200800" cy="46166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Autofit/>
          </a:bodyPr>
          <a:lstStyle/>
          <a:p>
            <a:pPr defTabSz="457200" eaLnBrk="0" hangingPunct="0">
              <a:spcBef>
                <a:spcPct val="0"/>
              </a:spcBef>
            </a:pPr>
            <a:r>
              <a:rPr lang="pt-BR" altLang="pt-BR" sz="3200" b="1" cap="all" dirty="0" err="1">
                <a:ea typeface="+mj-ea"/>
                <a:cs typeface="+mj-cs"/>
              </a:rPr>
              <a:t>Survey</a:t>
            </a:r>
            <a:r>
              <a:rPr lang="pt-BR" altLang="pt-BR" sz="3200" b="1" cap="all" dirty="0">
                <a:ea typeface="+mj-ea"/>
                <a:cs typeface="+mj-cs"/>
              </a:rPr>
              <a:t> (ENQUETE / PESQUISA)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24B4BB4-5545-4A56-8476-3885459EE6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6661" y="1949282"/>
            <a:ext cx="3515591" cy="1757796"/>
          </a:xfrm>
          <a:prstGeom prst="rect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DA8CC42B-0026-453A-8DF6-15D61CFF0F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232" y="2877969"/>
            <a:ext cx="2896568" cy="3739872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08FDDD69-8E9A-4302-903E-21F55920FE2E}"/>
              </a:ext>
            </a:extLst>
          </p:cNvPr>
          <p:cNvSpPr txBox="1"/>
          <p:nvPr/>
        </p:nvSpPr>
        <p:spPr>
          <a:xfrm>
            <a:off x="1855476" y="1469382"/>
            <a:ext cx="570402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cap="small" dirty="0"/>
              <a:t>Levantamento realizado com apoio de questionário </a:t>
            </a:r>
          </a:p>
          <a:p>
            <a:pPr marL="355600" indent="-177800">
              <a:buFont typeface="Arial" panose="020B0604020202020204" pitchFamily="34" charset="0"/>
              <a:buChar char="•"/>
            </a:pPr>
            <a:r>
              <a:rPr lang="pt-BR" sz="1600" b="1" cap="small" dirty="0"/>
              <a:t>Estruturado ou semiestruturado</a:t>
            </a:r>
          </a:p>
          <a:p>
            <a:pPr marL="355600" indent="-177800">
              <a:buFont typeface="Arial" panose="020B0604020202020204" pitchFamily="34" charset="0"/>
              <a:buChar char="•"/>
            </a:pPr>
            <a:r>
              <a:rPr lang="pt-BR" sz="1600" b="1" cap="small" dirty="0"/>
              <a:t>Qualitativo ou quantitativo</a:t>
            </a:r>
          </a:p>
          <a:p>
            <a:pPr marL="355600" indent="-177800">
              <a:buFont typeface="Arial" panose="020B0604020202020204" pitchFamily="34" charset="0"/>
              <a:buChar char="•"/>
            </a:pPr>
            <a:r>
              <a:rPr lang="pt-BR" sz="1600" b="1" cap="small" dirty="0"/>
              <a:t>Com questões abertas e questões fechadas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129CED0-1F4C-4191-A3CB-DC9F5E82B2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9202" y="4548853"/>
            <a:ext cx="2981033" cy="21494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F31C431-9765-45AD-90D5-6C890635C5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5548" y="3982200"/>
            <a:ext cx="1809408" cy="6650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00227C5C-A191-4B89-A0A4-C5580D85B2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4051" y="3399947"/>
            <a:ext cx="1313719" cy="7009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91110519-4351-4A01-B12C-348B41C5809A}"/>
              </a:ext>
            </a:extLst>
          </p:cNvPr>
          <p:cNvSpPr txBox="1"/>
          <p:nvPr/>
        </p:nvSpPr>
        <p:spPr>
          <a:xfrm>
            <a:off x="4741709" y="3544673"/>
            <a:ext cx="22422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cap="small" dirty="0">
                <a:solidFill>
                  <a:schemeClr val="tx2"/>
                </a:solidFill>
              </a:rPr>
              <a:t>Pode ser usado em entrevista pessoal ou auto aplicado ...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13305D6-B844-4D3E-98BA-A361C3BBAE15}"/>
              </a:ext>
            </a:extLst>
          </p:cNvPr>
          <p:cNvSpPr txBox="1"/>
          <p:nvPr/>
        </p:nvSpPr>
        <p:spPr>
          <a:xfrm>
            <a:off x="7649943" y="5161906"/>
            <a:ext cx="2730224" cy="10156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2000" b="1" cap="small" dirty="0"/>
              <a:t>Método mais adequado para alto volume de entrevistados e de dados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60B07654-A936-4804-B1D9-3B7EB51A6809}"/>
              </a:ext>
            </a:extLst>
          </p:cNvPr>
          <p:cNvSpPr txBox="1"/>
          <p:nvPr/>
        </p:nvSpPr>
        <p:spPr>
          <a:xfrm>
            <a:off x="7859670" y="1211501"/>
            <a:ext cx="24424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cap="small" dirty="0">
                <a:solidFill>
                  <a:schemeClr val="tx2"/>
                </a:solidFill>
              </a:rPr>
              <a:t>... Ou pode ser aplicado de forma digital</a:t>
            </a:r>
          </a:p>
        </p:txBody>
      </p:sp>
    </p:spTree>
    <p:extLst>
      <p:ext uri="{BB962C8B-B14F-4D97-AF65-F5344CB8AC3E}">
        <p14:creationId xmlns:p14="http://schemas.microsoft.com/office/powerpoint/2010/main" val="2047604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2" grpId="0" animBg="1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BCFB6E4F-A003-3668-C3ED-A9967643B58A}"/>
              </a:ext>
            </a:extLst>
          </p:cNvPr>
          <p:cNvSpPr/>
          <p:nvPr/>
        </p:nvSpPr>
        <p:spPr>
          <a:xfrm>
            <a:off x="10954244" y="5728996"/>
            <a:ext cx="1237756" cy="107615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83615C33-6132-4B17-A73B-FCD62797DB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670578"/>
            <a:ext cx="9144000" cy="513457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053A9205-4754-4541-9466-4AA513403A0C}"/>
              </a:ext>
            </a:extLst>
          </p:cNvPr>
          <p:cNvSpPr/>
          <p:nvPr/>
        </p:nvSpPr>
        <p:spPr>
          <a:xfrm>
            <a:off x="1208315" y="767645"/>
            <a:ext cx="7461276" cy="46166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Autofit/>
          </a:bodyPr>
          <a:lstStyle/>
          <a:p>
            <a:pPr defTabSz="457200" eaLnBrk="0" hangingPunct="0">
              <a:spcBef>
                <a:spcPct val="0"/>
              </a:spcBef>
            </a:pPr>
            <a:r>
              <a:rPr lang="pt-BR" altLang="pt-BR" sz="3200" b="1" cap="all" dirty="0">
                <a:ea typeface="+mj-ea"/>
                <a:cs typeface="+mj-cs"/>
              </a:rPr>
              <a:t>Pesquisa Etnográfica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91C6A51-EC0A-4ECB-BE40-BCE3053112E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0900"/>
          <a:stretch>
            <a:fillRect/>
          </a:stretch>
        </p:blipFill>
        <p:spPr>
          <a:xfrm>
            <a:off x="1058083" y="3315069"/>
            <a:ext cx="2446897" cy="142001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22394C05-6C49-490F-B9B0-EC0B07F350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9668" y="3315069"/>
            <a:ext cx="2754576" cy="144100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0977E3D0-B854-4E9D-B132-C5FCE704E2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7240" y="4765615"/>
            <a:ext cx="2390045" cy="1568467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D242ED0C-37DA-4518-A718-7CBA819320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6924" y="1307707"/>
            <a:ext cx="2446898" cy="1411672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C0F92262-1821-5CCC-8338-DFE3081C9A1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500"/>
          <a:stretch>
            <a:fillRect/>
          </a:stretch>
        </p:blipFill>
        <p:spPr>
          <a:xfrm>
            <a:off x="2776210" y="1307707"/>
            <a:ext cx="2446898" cy="141167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8AF0B9AD-30C5-B115-5793-F172E5CFAB5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54244" y="3732038"/>
            <a:ext cx="1003041" cy="1003041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88008CDF-2A63-BE6D-04F0-49CDCA5DF4A5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1" b="1610"/>
          <a:stretch>
            <a:fillRect/>
          </a:stretch>
        </p:blipFill>
        <p:spPr>
          <a:xfrm>
            <a:off x="328977" y="4765615"/>
            <a:ext cx="2390045" cy="1568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251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053A9205-4754-4541-9466-4AA513403A0C}"/>
              </a:ext>
            </a:extLst>
          </p:cNvPr>
          <p:cNvSpPr/>
          <p:nvPr/>
        </p:nvSpPr>
        <p:spPr>
          <a:xfrm>
            <a:off x="1165823" y="761839"/>
            <a:ext cx="6200800" cy="46166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Autofit/>
          </a:bodyPr>
          <a:lstStyle/>
          <a:p>
            <a:pPr defTabSz="457200" eaLnBrk="0" hangingPunct="0">
              <a:spcBef>
                <a:spcPct val="0"/>
              </a:spcBef>
            </a:pPr>
            <a:r>
              <a:rPr lang="pt-BR" altLang="pt-BR" sz="3200" b="1" cap="all" dirty="0">
                <a:ea typeface="+mj-ea"/>
                <a:cs typeface="+mj-cs"/>
              </a:rPr>
              <a:t>Focus </a:t>
            </a:r>
            <a:r>
              <a:rPr lang="pt-BR" altLang="pt-BR" sz="3200" b="1" cap="all" dirty="0" err="1">
                <a:ea typeface="+mj-ea"/>
                <a:cs typeface="+mj-cs"/>
              </a:rPr>
              <a:t>group</a:t>
            </a:r>
            <a:endParaRPr lang="pt-BR" altLang="pt-BR" sz="3200" b="1" cap="all" dirty="0">
              <a:ea typeface="+mj-ea"/>
              <a:cs typeface="+mj-cs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BD592CE4-24B1-473B-8F5A-CAF3603A8C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9061" y="1326627"/>
            <a:ext cx="3253839" cy="18302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7C02ECA7-1996-406E-9F7F-E991B0F45A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411043" y="4416447"/>
            <a:ext cx="3141856" cy="21421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AE9A320D-A3DF-4481-B45C-41366852E9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5168" y="4109312"/>
            <a:ext cx="3141856" cy="20937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0E064841-8BB9-4CAF-81F8-259E72B0CA4B}"/>
              </a:ext>
            </a:extLst>
          </p:cNvPr>
          <p:cNvSpPr txBox="1"/>
          <p:nvPr/>
        </p:nvSpPr>
        <p:spPr>
          <a:xfrm>
            <a:off x="1658289" y="2764293"/>
            <a:ext cx="34068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cap="small" dirty="0"/>
              <a:t>Método bastante recomendado para testar ideias ou produtos, ouvir opiniões e Validar conceitos...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56062E81-4DF1-4089-AA44-712A09E16C76}"/>
              </a:ext>
            </a:extLst>
          </p:cNvPr>
          <p:cNvSpPr txBox="1"/>
          <p:nvPr/>
        </p:nvSpPr>
        <p:spPr>
          <a:xfrm>
            <a:off x="8619744" y="1563964"/>
            <a:ext cx="20482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cap="small" dirty="0">
                <a:solidFill>
                  <a:schemeClr val="tx2"/>
                </a:solidFill>
              </a:rPr>
              <a:t>...Consistindo de Experimentação, </a:t>
            </a:r>
          </a:p>
          <a:p>
            <a:r>
              <a:rPr lang="pt-BR" cap="small" dirty="0">
                <a:solidFill>
                  <a:schemeClr val="tx2"/>
                </a:solidFill>
              </a:rPr>
              <a:t>Dinâmica de uso ou Discussão de tema ...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3CFC3635-7874-4FC0-B5E6-5A9E3B565D2C}"/>
              </a:ext>
            </a:extLst>
          </p:cNvPr>
          <p:cNvSpPr txBox="1"/>
          <p:nvPr/>
        </p:nvSpPr>
        <p:spPr>
          <a:xfrm>
            <a:off x="2371237" y="6238611"/>
            <a:ext cx="20897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cap="small" dirty="0">
                <a:solidFill>
                  <a:schemeClr val="tx2"/>
                </a:solidFill>
              </a:rPr>
              <a:t>Sessões moderadas por especialista...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2BFBDCC6-1483-49B3-8D1D-0FA2C7F7F8E0}"/>
              </a:ext>
            </a:extLst>
          </p:cNvPr>
          <p:cNvSpPr txBox="1"/>
          <p:nvPr/>
        </p:nvSpPr>
        <p:spPr>
          <a:xfrm>
            <a:off x="5112095" y="3429000"/>
            <a:ext cx="31418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cap="small" dirty="0">
                <a:solidFill>
                  <a:schemeClr val="tx2"/>
                </a:solidFill>
              </a:rPr>
              <a:t>... Com observação oculta por pesquisadores e analistas, através de espelhos ou câmeras </a:t>
            </a: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66892919-60C9-4B9C-BCC9-DE02526647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2058" y="3448375"/>
            <a:ext cx="2249390" cy="16870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C0070F31-0A73-40D1-944E-47861A262456}"/>
              </a:ext>
            </a:extLst>
          </p:cNvPr>
          <p:cNvSpPr txBox="1"/>
          <p:nvPr/>
        </p:nvSpPr>
        <p:spPr>
          <a:xfrm>
            <a:off x="1658290" y="1368194"/>
            <a:ext cx="334518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cap="small" dirty="0"/>
              <a:t>Consulta a consumidores através de Pesquisa observada </a:t>
            </a:r>
          </a:p>
          <a:p>
            <a:pPr algn="ctr"/>
            <a:r>
              <a:rPr lang="pt-BR" sz="2000" b="1" cap="small" dirty="0"/>
              <a:t>Realizada em pequenos grupos</a:t>
            </a:r>
          </a:p>
          <a:p>
            <a:pPr algn="ctr"/>
            <a:r>
              <a:rPr lang="pt-BR" sz="2000" b="1" cap="small" dirty="0"/>
              <a:t>E com roteiro pré-definido</a:t>
            </a:r>
          </a:p>
        </p:txBody>
      </p:sp>
    </p:spTree>
    <p:extLst>
      <p:ext uri="{BB962C8B-B14F-4D97-AF65-F5344CB8AC3E}">
        <p14:creationId xmlns:p14="http://schemas.microsoft.com/office/powerpoint/2010/main" val="19771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6" grpId="0"/>
      <p:bldP spid="17" grpId="0"/>
      <p:bldP spid="1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>
            <a:extLst>
              <a:ext uri="{FF2B5EF4-FFF2-40B4-BE49-F238E27FC236}">
                <a16:creationId xmlns:a16="http://schemas.microsoft.com/office/drawing/2014/main" id="{53A50A12-0233-76D5-0F89-3AB1893CD7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377" y="2597459"/>
            <a:ext cx="2957666" cy="1770742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053A9205-4754-4541-9466-4AA513403A0C}"/>
              </a:ext>
            </a:extLst>
          </p:cNvPr>
          <p:cNvSpPr/>
          <p:nvPr/>
        </p:nvSpPr>
        <p:spPr>
          <a:xfrm>
            <a:off x="1198480" y="752245"/>
            <a:ext cx="6200800" cy="46166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Autofit/>
          </a:bodyPr>
          <a:lstStyle/>
          <a:p>
            <a:pPr defTabSz="457200" eaLnBrk="0" hangingPunct="0">
              <a:spcBef>
                <a:spcPct val="0"/>
              </a:spcBef>
            </a:pPr>
            <a:r>
              <a:rPr lang="pt-BR" altLang="pt-BR" sz="3200" b="1" cap="all" dirty="0">
                <a:ea typeface="+mj-ea"/>
                <a:cs typeface="+mj-cs"/>
              </a:rPr>
              <a:t>Método comportamental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C0070F31-0A73-40D1-944E-47861A262456}"/>
              </a:ext>
            </a:extLst>
          </p:cNvPr>
          <p:cNvSpPr txBox="1"/>
          <p:nvPr/>
        </p:nvSpPr>
        <p:spPr>
          <a:xfrm>
            <a:off x="1771035" y="1397853"/>
            <a:ext cx="609147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cap="small" dirty="0"/>
              <a:t>Coleta de dados comportamentais</a:t>
            </a:r>
          </a:p>
          <a:p>
            <a:r>
              <a:rPr lang="pt-BR" sz="2000" b="1" cap="small" dirty="0"/>
              <a:t>Comportamento de Compra, busca, consumo, interesses...</a:t>
            </a:r>
          </a:p>
          <a:p>
            <a:r>
              <a:rPr lang="pt-BR" sz="2000" b="1" cap="small" dirty="0"/>
              <a:t>Fortemente embasada em dados secundários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3E2FAA1-9E06-3958-8637-BDC01C4026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9909" y="3538354"/>
            <a:ext cx="2488662" cy="248866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15A11B4-9B70-F3BD-3522-7C7F410F70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9898" y="3479966"/>
            <a:ext cx="3126375" cy="1664543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5381BC3D-17C8-C6DA-354B-CCFC0E46F2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803" y="4870535"/>
            <a:ext cx="2850717" cy="1770741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0C1126D8-D9FD-6B06-311C-292365C34CDE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600"/>
          <a:stretch>
            <a:fillRect/>
          </a:stretch>
        </p:blipFill>
        <p:spPr>
          <a:xfrm>
            <a:off x="7988915" y="983077"/>
            <a:ext cx="2365916" cy="427524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E9AE71DE-0DCD-A6B6-2202-4E4BED078F0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82215" y="3821598"/>
            <a:ext cx="2206260" cy="2488662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2CA8C2F9-3EF9-9212-12BA-63015D323F04}"/>
              </a:ext>
            </a:extLst>
          </p:cNvPr>
          <p:cNvSpPr txBox="1"/>
          <p:nvPr/>
        </p:nvSpPr>
        <p:spPr>
          <a:xfrm>
            <a:off x="4660072" y="6105755"/>
            <a:ext cx="22124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cap="small" dirty="0">
                <a:solidFill>
                  <a:srgbClr val="C00000"/>
                </a:solidFill>
              </a:rPr>
              <a:t>Base para a </a:t>
            </a:r>
            <a:r>
              <a:rPr lang="pt-BR" b="1" cap="small" dirty="0" err="1">
                <a:solidFill>
                  <a:srgbClr val="C00000"/>
                </a:solidFill>
              </a:rPr>
              <a:t>IoB</a:t>
            </a:r>
            <a:r>
              <a:rPr lang="pt-BR" cap="small" dirty="0">
                <a:solidFill>
                  <a:srgbClr val="C00000"/>
                </a:solidFill>
              </a:rPr>
              <a:t> </a:t>
            </a:r>
          </a:p>
          <a:p>
            <a:pPr algn="ctr"/>
            <a:r>
              <a:rPr lang="pt-BR" cap="small" dirty="0">
                <a:solidFill>
                  <a:srgbClr val="C00000"/>
                </a:solidFill>
              </a:rPr>
              <a:t>(Internet </a:t>
            </a:r>
            <a:r>
              <a:rPr lang="pt-BR" cap="small" dirty="0" err="1">
                <a:solidFill>
                  <a:srgbClr val="C00000"/>
                </a:solidFill>
              </a:rPr>
              <a:t>of</a:t>
            </a:r>
            <a:r>
              <a:rPr lang="pt-BR" cap="small" dirty="0">
                <a:solidFill>
                  <a:srgbClr val="C00000"/>
                </a:solidFill>
              </a:rPr>
              <a:t> </a:t>
            </a:r>
            <a:r>
              <a:rPr lang="pt-BR" cap="small" dirty="0" err="1">
                <a:solidFill>
                  <a:srgbClr val="C00000"/>
                </a:solidFill>
              </a:rPr>
              <a:t>Behavior</a:t>
            </a:r>
            <a:r>
              <a:rPr lang="pt-BR" cap="small" dirty="0">
                <a:solidFill>
                  <a:srgbClr val="C00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1891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75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25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75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053A9205-4754-4541-9466-4AA513403A0C}"/>
              </a:ext>
            </a:extLst>
          </p:cNvPr>
          <p:cNvSpPr/>
          <p:nvPr/>
        </p:nvSpPr>
        <p:spPr>
          <a:xfrm>
            <a:off x="1195939" y="740597"/>
            <a:ext cx="6200800" cy="46166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Autofit/>
          </a:bodyPr>
          <a:lstStyle/>
          <a:p>
            <a:pPr defTabSz="457200" eaLnBrk="0" hangingPunct="0">
              <a:spcBef>
                <a:spcPct val="0"/>
              </a:spcBef>
            </a:pPr>
            <a:r>
              <a:rPr lang="pt-BR" altLang="pt-BR" sz="3200" b="1" cap="all" dirty="0">
                <a:ea typeface="+mj-ea"/>
                <a:cs typeface="+mj-cs"/>
              </a:rPr>
              <a:t>Método experimental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C0070F31-0A73-40D1-944E-47861A262456}"/>
              </a:ext>
            </a:extLst>
          </p:cNvPr>
          <p:cNvSpPr txBox="1"/>
          <p:nvPr/>
        </p:nvSpPr>
        <p:spPr>
          <a:xfrm>
            <a:off x="1195939" y="1570779"/>
            <a:ext cx="352397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cap="small" dirty="0"/>
              <a:t>Simulações</a:t>
            </a:r>
          </a:p>
          <a:p>
            <a:r>
              <a:rPr lang="pt-BR" sz="2400" b="1" cap="small" dirty="0"/>
              <a:t>Tentativa e erro</a:t>
            </a:r>
          </a:p>
          <a:p>
            <a:r>
              <a:rPr lang="pt-BR" sz="2400" b="1" cap="small" dirty="0"/>
              <a:t>Avaliação de opções</a:t>
            </a:r>
          </a:p>
          <a:p>
            <a:r>
              <a:rPr lang="pt-BR" sz="2400" b="1" cap="small" dirty="0"/>
              <a:t>Testes de protótipos</a:t>
            </a:r>
          </a:p>
          <a:p>
            <a:r>
              <a:rPr lang="pt-BR" sz="2400" b="1" cap="small" dirty="0"/>
              <a:t>Processos científicos</a:t>
            </a:r>
          </a:p>
          <a:p>
            <a:r>
              <a:rPr lang="pt-BR" sz="2400" b="1" cap="small" dirty="0"/>
              <a:t>...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676A707-006E-43A8-A0C2-0E8CF7E63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2020" y="1094134"/>
            <a:ext cx="3219505" cy="18109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4EA5B9DF-E6F8-417F-ADC1-2EB093EEB5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73446">
            <a:off x="4676068" y="5080382"/>
            <a:ext cx="2428558" cy="161903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ED79FC2-8766-9522-71CD-AC04C71BFD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6164" y="2309618"/>
            <a:ext cx="3731485" cy="248887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DE0048D-5A62-3E6B-5B7D-B5E201C695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2868" y="3810230"/>
            <a:ext cx="3865089" cy="2174112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A0638D65-1767-6DB7-BEBD-B79E41C4CC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319" y="4247620"/>
            <a:ext cx="3359020" cy="2241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766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aixaDeTexto 12">
            <a:extLst>
              <a:ext uri="{FF2B5EF4-FFF2-40B4-BE49-F238E27FC236}">
                <a16:creationId xmlns:a16="http://schemas.microsoft.com/office/drawing/2014/main" id="{0E064841-8BB9-4CAF-81F8-259E72B0CA4B}"/>
              </a:ext>
            </a:extLst>
          </p:cNvPr>
          <p:cNvSpPr txBox="1"/>
          <p:nvPr/>
        </p:nvSpPr>
        <p:spPr>
          <a:xfrm>
            <a:off x="5619495" y="1202883"/>
            <a:ext cx="28572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cap="small" dirty="0">
                <a:solidFill>
                  <a:schemeClr val="tx2"/>
                </a:solidFill>
              </a:rPr>
              <a:t>Busca de consenso entre os especialistas sobre cenários futuros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C0070F31-0A73-40D1-944E-47861A262456}"/>
              </a:ext>
            </a:extLst>
          </p:cNvPr>
          <p:cNvSpPr txBox="1"/>
          <p:nvPr/>
        </p:nvSpPr>
        <p:spPr>
          <a:xfrm>
            <a:off x="758158" y="1252297"/>
            <a:ext cx="38952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cap="small" dirty="0"/>
              <a:t>Consulta a especialistas que utiliza </a:t>
            </a:r>
            <a:r>
              <a:rPr lang="pt-BR" sz="2000" b="1" cap="small" dirty="0" err="1"/>
              <a:t>survey</a:t>
            </a:r>
            <a:r>
              <a:rPr lang="pt-BR" sz="2000" b="1" cap="small" dirty="0"/>
              <a:t> de múltiplas rodadas com </a:t>
            </a:r>
          </a:p>
          <a:p>
            <a:pPr algn="ctr"/>
            <a:r>
              <a:rPr lang="pt-BR" sz="2000" b="1" cap="small" dirty="0"/>
              <a:t>respostas anônimas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0CF206C-F8D8-4C19-941D-FA6932BE98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93253" y="2387884"/>
            <a:ext cx="5572380" cy="431410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40D54B62-AFF7-4A6B-AEDD-53860172B07D}"/>
              </a:ext>
            </a:extLst>
          </p:cNvPr>
          <p:cNvSpPr/>
          <p:nvPr/>
        </p:nvSpPr>
        <p:spPr>
          <a:xfrm>
            <a:off x="4900895" y="1529296"/>
            <a:ext cx="761784" cy="461665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70D65EEB-E8D1-44CC-9362-EED1CDE6BC52}"/>
              </a:ext>
            </a:extLst>
          </p:cNvPr>
          <p:cNvSpPr txBox="1"/>
          <p:nvPr/>
        </p:nvSpPr>
        <p:spPr>
          <a:xfrm>
            <a:off x="272362" y="3614550"/>
            <a:ext cx="214684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cap="small" dirty="0"/>
              <a:t>Adequado para exploração de cenários futuros de temas sobre os quais não há dados históricos que permitam extrapolação 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AC2BDEC-6BF6-2180-40ED-620C58D93018}"/>
              </a:ext>
            </a:extLst>
          </p:cNvPr>
          <p:cNvSpPr/>
          <p:nvPr/>
        </p:nvSpPr>
        <p:spPr>
          <a:xfrm>
            <a:off x="1195939" y="740597"/>
            <a:ext cx="6200800" cy="46166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Autofit/>
          </a:bodyPr>
          <a:lstStyle/>
          <a:p>
            <a:pPr defTabSz="457200" eaLnBrk="0" hangingPunct="0">
              <a:spcBef>
                <a:spcPct val="0"/>
              </a:spcBef>
            </a:pPr>
            <a:r>
              <a:rPr lang="pt-BR" altLang="pt-BR" sz="3200" b="1" cap="all" dirty="0">
                <a:ea typeface="+mj-ea"/>
                <a:cs typeface="+mj-cs"/>
              </a:rPr>
              <a:t>Método DELPHI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3CCD728-9FE7-5583-4C90-14AA099BBB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2558" y="1374110"/>
            <a:ext cx="1397373" cy="9257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F0B4C45A-8824-79FB-929D-938911EBE8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1545" y="4302028"/>
            <a:ext cx="1397373" cy="9308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65428928-DB07-6EE3-2B7C-E90E8D981D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48459" y="3424729"/>
            <a:ext cx="1622172" cy="10772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CAD43C9-4413-1358-D735-5B2E4BE8501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57617" y="2677556"/>
            <a:ext cx="1537744" cy="8530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32C8F19D-3D7B-7229-3C0F-7C9C3A643678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r="21820"/>
          <a:stretch/>
        </p:blipFill>
        <p:spPr>
          <a:xfrm>
            <a:off x="10380148" y="2006094"/>
            <a:ext cx="1393635" cy="9138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CE74A23-03EE-3978-71B0-5A3A8D44D56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69334" y="4966801"/>
            <a:ext cx="1204985" cy="7986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23111E77-0A0D-3146-EA1C-02188863150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43756" y="5653441"/>
            <a:ext cx="1325162" cy="8827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72581BF1-F0DC-E5BE-38D7-6B2D1EE864F6}"/>
              </a:ext>
            </a:extLst>
          </p:cNvPr>
          <p:cNvSpPr txBox="1"/>
          <p:nvPr/>
        </p:nvSpPr>
        <p:spPr>
          <a:xfrm>
            <a:off x="9212486" y="2204077"/>
            <a:ext cx="1397374" cy="52322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400" b="1" cap="small" dirty="0">
                <a:solidFill>
                  <a:srgbClr val="FF0000"/>
                </a:solidFill>
              </a:rPr>
              <a:t>Pesquisa &amp; Desenvolvimento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105F81D6-4244-B76F-D340-2810D7E23691}"/>
              </a:ext>
            </a:extLst>
          </p:cNvPr>
          <p:cNvSpPr txBox="1"/>
          <p:nvPr/>
        </p:nvSpPr>
        <p:spPr>
          <a:xfrm>
            <a:off x="10668361" y="1365823"/>
            <a:ext cx="1223180" cy="52322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400" b="1" cap="small" dirty="0">
                <a:solidFill>
                  <a:srgbClr val="FF0000"/>
                </a:solidFill>
              </a:rPr>
              <a:t>Profissionais da Área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AFFF7A8A-4A03-C35E-9ABE-A76C6FE649B9}"/>
              </a:ext>
            </a:extLst>
          </p:cNvPr>
          <p:cNvSpPr txBox="1"/>
          <p:nvPr/>
        </p:nvSpPr>
        <p:spPr>
          <a:xfrm>
            <a:off x="10561041" y="3011005"/>
            <a:ext cx="1031847" cy="307777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400" b="1" cap="small" dirty="0">
                <a:solidFill>
                  <a:srgbClr val="FF0000"/>
                </a:solidFill>
              </a:rPr>
              <a:t>Executivos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5E94E760-26EE-3A75-0299-83790A9F61F9}"/>
              </a:ext>
            </a:extLst>
          </p:cNvPr>
          <p:cNvSpPr txBox="1"/>
          <p:nvPr/>
        </p:nvSpPr>
        <p:spPr>
          <a:xfrm>
            <a:off x="10561041" y="4620173"/>
            <a:ext cx="1031847" cy="307777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400" b="1" cap="small" dirty="0">
                <a:solidFill>
                  <a:srgbClr val="FF0000"/>
                </a:solidFill>
              </a:rPr>
              <a:t>Estudiosos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BCD83B71-C663-7AB0-175C-8A7B55F1FD83}"/>
              </a:ext>
            </a:extLst>
          </p:cNvPr>
          <p:cNvSpPr txBox="1"/>
          <p:nvPr/>
        </p:nvSpPr>
        <p:spPr>
          <a:xfrm>
            <a:off x="9369805" y="5266006"/>
            <a:ext cx="1031847" cy="307777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400" b="1" cap="small" dirty="0">
                <a:solidFill>
                  <a:srgbClr val="FF0000"/>
                </a:solidFill>
              </a:rPr>
              <a:t>Usuários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0B0A21E0-C37B-ED69-A168-ABEDAEEF9D0D}"/>
              </a:ext>
            </a:extLst>
          </p:cNvPr>
          <p:cNvSpPr txBox="1"/>
          <p:nvPr/>
        </p:nvSpPr>
        <p:spPr>
          <a:xfrm>
            <a:off x="9989886" y="6447947"/>
            <a:ext cx="1489147" cy="307777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400" b="1" cap="small" dirty="0">
                <a:solidFill>
                  <a:srgbClr val="FF0000"/>
                </a:solidFill>
              </a:rPr>
              <a:t>Observadores ...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32C1F099-4D78-88F1-A868-4558A39DFBB7}"/>
              </a:ext>
            </a:extLst>
          </p:cNvPr>
          <p:cNvSpPr txBox="1"/>
          <p:nvPr/>
        </p:nvSpPr>
        <p:spPr>
          <a:xfrm>
            <a:off x="10290463" y="5872988"/>
            <a:ext cx="809538" cy="307777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400" b="1" cap="small" dirty="0">
                <a:solidFill>
                  <a:srgbClr val="FF0000"/>
                </a:solidFill>
              </a:rPr>
              <a:t>Líderes</a:t>
            </a:r>
          </a:p>
        </p:txBody>
      </p:sp>
      <p:sp>
        <p:nvSpPr>
          <p:cNvPr id="24" name="Seta: para a Direita 23">
            <a:extLst>
              <a:ext uri="{FF2B5EF4-FFF2-40B4-BE49-F238E27FC236}">
                <a16:creationId xmlns:a16="http://schemas.microsoft.com/office/drawing/2014/main" id="{E2706F22-488A-24B5-BBF2-DEDCDC49F89B}"/>
              </a:ext>
            </a:extLst>
          </p:cNvPr>
          <p:cNvSpPr/>
          <p:nvPr/>
        </p:nvSpPr>
        <p:spPr>
          <a:xfrm>
            <a:off x="8281972" y="1625134"/>
            <a:ext cx="761784" cy="461665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3827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75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25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75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000"/>
                            </p:stCondLst>
                            <p:childTnLst>
                              <p:par>
                                <p:cTn id="5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25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35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375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400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425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450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475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9" grpId="0"/>
      <p:bldP spid="4" grpId="0" animBg="1"/>
      <p:bldP spid="14" grpId="0"/>
      <p:bldP spid="15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3" grpId="0" animBg="1"/>
      <p:bldP spid="2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3"/>
          <p:cNvSpPr>
            <a:spLocks noChangeArrowheads="1"/>
          </p:cNvSpPr>
          <p:nvPr/>
        </p:nvSpPr>
        <p:spPr bwMode="auto">
          <a:xfrm>
            <a:off x="1808815" y="1755385"/>
            <a:ext cx="7054138" cy="762000"/>
          </a:xfrm>
          <a:prstGeom prst="rect">
            <a:avLst/>
          </a:prstGeom>
          <a:solidFill>
            <a:schemeClr val="tx2">
              <a:lumMod val="20000"/>
              <a:lumOff val="80000"/>
              <a:alpha val="69019"/>
            </a:schemeClr>
          </a:solidFill>
          <a:ln w="9525">
            <a:solidFill>
              <a:schemeClr val="tx2">
                <a:lumMod val="40000"/>
                <a:lumOff val="6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>
            <a:flatTx/>
          </a:bodyPr>
          <a:lstStyle>
            <a:lvl1pPr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pt-BR" altLang="pt-BR" sz="2400" cap="small" dirty="0">
                <a:latin typeface="Calibri" panose="020F0502020204030204" pitchFamily="34" charset="0"/>
              </a:rPr>
              <a:t>Definição do p</a:t>
            </a:r>
            <a:r>
              <a:rPr lang="ro-RO" altLang="pt-BR" sz="2400" cap="small" dirty="0">
                <a:latin typeface="Calibri" panose="020F0502020204030204" pitchFamily="34" charset="0"/>
              </a:rPr>
              <a:t>roblema e</a:t>
            </a:r>
            <a:r>
              <a:rPr lang="pt-BR" altLang="pt-BR" sz="2400" cap="small" dirty="0">
                <a:latin typeface="Calibri" panose="020F0502020204030204" pitchFamily="34" charset="0"/>
              </a:rPr>
              <a:t> dos o</a:t>
            </a:r>
            <a:r>
              <a:rPr lang="ro-RO" altLang="pt-BR" sz="2400" cap="small" dirty="0">
                <a:latin typeface="Calibri" panose="020F0502020204030204" pitchFamily="34" charset="0"/>
              </a:rPr>
              <a:t>bjetivos da</a:t>
            </a:r>
            <a:r>
              <a:rPr lang="pt-BR" altLang="pt-BR" sz="2400" cap="small" dirty="0">
                <a:latin typeface="Calibri" panose="020F0502020204030204" pitchFamily="34" charset="0"/>
              </a:rPr>
              <a:t> </a:t>
            </a:r>
            <a:r>
              <a:rPr lang="ro-RO" altLang="pt-BR" sz="2400" cap="small" dirty="0">
                <a:latin typeface="Calibri" panose="020F0502020204030204" pitchFamily="34" charset="0"/>
              </a:rPr>
              <a:t>pesquisa</a:t>
            </a:r>
            <a:endParaRPr lang="pt-BR" altLang="pt-BR" sz="2400" cap="small" dirty="0">
              <a:latin typeface="Calibri" panose="020F0502020204030204" pitchFamily="34" charset="0"/>
            </a:endParaRPr>
          </a:p>
        </p:txBody>
      </p:sp>
      <p:sp>
        <p:nvSpPr>
          <p:cNvPr id="63492" name="Rectangle 4"/>
          <p:cNvSpPr>
            <a:spLocks noChangeArrowheads="1"/>
          </p:cNvSpPr>
          <p:nvPr/>
        </p:nvSpPr>
        <p:spPr bwMode="auto">
          <a:xfrm>
            <a:off x="2209607" y="2688835"/>
            <a:ext cx="7054138" cy="762000"/>
          </a:xfrm>
          <a:prstGeom prst="rect">
            <a:avLst/>
          </a:prstGeom>
          <a:solidFill>
            <a:schemeClr val="tx2">
              <a:lumMod val="40000"/>
              <a:lumOff val="60000"/>
              <a:alpha val="69019"/>
            </a:schemeClr>
          </a:solidFill>
          <a:ln w="9525"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>
            <a:flatTx/>
          </a:bodyPr>
          <a:lstStyle>
            <a:lvl1pPr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/>
            <a:r>
              <a:rPr lang="pt-BR" altLang="pt-BR" sz="2400" cap="small" dirty="0">
                <a:latin typeface="Calibri" panose="020F0502020204030204" pitchFamily="34" charset="0"/>
              </a:rPr>
              <a:t>Desenvolvimento do Plano</a:t>
            </a:r>
            <a:r>
              <a:rPr lang="pt-PT" altLang="pt-BR" sz="2400" cap="small" dirty="0">
                <a:latin typeface="Calibri" panose="020F0502020204030204" pitchFamily="34" charset="0"/>
              </a:rPr>
              <a:t> de Pesquisa</a:t>
            </a:r>
            <a:endParaRPr lang="pt-PT" altLang="pt-BR" sz="1600" cap="small" dirty="0">
              <a:latin typeface="Calibri" panose="020F0502020204030204" pitchFamily="34" charset="0"/>
            </a:endParaRPr>
          </a:p>
        </p:txBody>
      </p:sp>
      <p:sp>
        <p:nvSpPr>
          <p:cNvPr id="2" name="Seta: Dobrada 1">
            <a:extLst>
              <a:ext uri="{FF2B5EF4-FFF2-40B4-BE49-F238E27FC236}">
                <a16:creationId xmlns:a16="http://schemas.microsoft.com/office/drawing/2014/main" id="{A41EEB12-F821-4525-87D3-EB977B82AFEC}"/>
              </a:ext>
            </a:extLst>
          </p:cNvPr>
          <p:cNvSpPr/>
          <p:nvPr/>
        </p:nvSpPr>
        <p:spPr>
          <a:xfrm rot="10800000" flipH="1">
            <a:off x="1892135" y="2517385"/>
            <a:ext cx="317472" cy="600511"/>
          </a:xfrm>
          <a:prstGeom prst="bentArrow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ABCCDF4-DAA1-481D-863F-4F4190498ADC}"/>
              </a:ext>
            </a:extLst>
          </p:cNvPr>
          <p:cNvSpPr/>
          <p:nvPr/>
        </p:nvSpPr>
        <p:spPr>
          <a:xfrm>
            <a:off x="2670413" y="3830635"/>
            <a:ext cx="6769289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cap="small" dirty="0"/>
              <a:t>Elaboração do </a:t>
            </a:r>
            <a:r>
              <a:rPr lang="pt-BR" sz="2400" b="1" cap="small" dirty="0"/>
              <a:t>Plano de Pesquisa </a:t>
            </a:r>
            <a:r>
              <a:rPr lang="pt-BR" sz="2400" cap="small" dirty="0"/>
              <a:t>com a definição de:</a:t>
            </a:r>
          </a:p>
          <a:p>
            <a:endParaRPr lang="pt-BR" sz="1050" cap="small" dirty="0"/>
          </a:p>
          <a:p>
            <a:pPr marL="627063" indent="-273050">
              <a:buFont typeface="Arial" panose="020B0604020202020204" pitchFamily="34" charset="0"/>
              <a:buChar char="•"/>
            </a:pPr>
            <a:r>
              <a:rPr lang="pt-BR" sz="2400" cap="small" dirty="0"/>
              <a:t>Tipos e fontes de dados</a:t>
            </a:r>
          </a:p>
          <a:p>
            <a:pPr marL="627063" indent="-273050">
              <a:buFont typeface="Arial" panose="020B0604020202020204" pitchFamily="34" charset="0"/>
              <a:buChar char="•"/>
            </a:pPr>
            <a:r>
              <a:rPr lang="pt-BR" sz="2400" cap="small" dirty="0"/>
              <a:t>Abordagem de pesquisa (escolha de métodos)</a:t>
            </a:r>
          </a:p>
          <a:p>
            <a:pPr marL="627063" indent="-273050">
              <a:buFont typeface="Arial" panose="020B0604020202020204" pitchFamily="34" charset="0"/>
              <a:buChar char="•"/>
            </a:pPr>
            <a:r>
              <a:rPr lang="pt-BR" sz="2400" b="1" cap="small" dirty="0">
                <a:solidFill>
                  <a:srgbClr val="C00000"/>
                </a:solidFill>
              </a:rPr>
              <a:t>Instrumentos de pesquisa</a:t>
            </a:r>
          </a:p>
          <a:p>
            <a:pPr marL="627063" indent="-273050">
              <a:buFont typeface="Arial" panose="020B0604020202020204" pitchFamily="34" charset="0"/>
              <a:buChar char="•"/>
            </a:pPr>
            <a:r>
              <a:rPr lang="pt-BR" sz="2400" cap="small" dirty="0"/>
              <a:t>Plano de amostragem</a:t>
            </a:r>
          </a:p>
          <a:p>
            <a:pPr marL="627063" indent="-273050">
              <a:buFont typeface="Arial" panose="020B0604020202020204" pitchFamily="34" charset="0"/>
              <a:buChar char="•"/>
            </a:pPr>
            <a:r>
              <a:rPr lang="pt-BR" sz="2400" cap="small" dirty="0"/>
              <a:t>Método de contato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E480DA-95D7-9C4A-D06A-CF44F852BC12}"/>
              </a:ext>
            </a:extLst>
          </p:cNvPr>
          <p:cNvSpPr txBox="1">
            <a:spLocks noChangeArrowheads="1"/>
          </p:cNvSpPr>
          <p:nvPr/>
        </p:nvSpPr>
        <p:spPr>
          <a:xfrm>
            <a:off x="1136032" y="816353"/>
            <a:ext cx="5984615" cy="34131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eaLnBrk="0" hangingPunct="0"/>
            <a:r>
              <a:rPr lang="pt-BR" altLang="pt-BR" sz="3200" cap="all" dirty="0">
                <a:latin typeface="+mn-lt"/>
              </a:rPr>
              <a:t>O processo de pesquisa</a:t>
            </a:r>
          </a:p>
        </p:txBody>
      </p:sp>
    </p:spTree>
    <p:extLst>
      <p:ext uri="{BB962C8B-B14F-4D97-AF65-F5344CB8AC3E}">
        <p14:creationId xmlns:p14="http://schemas.microsoft.com/office/powerpoint/2010/main" val="4148213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1132497" y="752178"/>
            <a:ext cx="8371424" cy="483433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Autofit/>
          </a:bodyPr>
          <a:lstStyle/>
          <a:p>
            <a:pPr eaLnBrk="0" hangingPunct="0"/>
            <a:r>
              <a:rPr lang="en-US" altLang="pt-BR" sz="3200" cap="all" dirty="0" err="1">
                <a:latin typeface="+mn-lt"/>
              </a:rPr>
              <a:t>Definição</a:t>
            </a:r>
            <a:r>
              <a:rPr lang="en-US" altLang="pt-BR" sz="3200" cap="all" dirty="0">
                <a:latin typeface="+mn-lt"/>
              </a:rPr>
              <a:t> dos </a:t>
            </a:r>
            <a:r>
              <a:rPr lang="en-US" altLang="pt-BR" sz="3200" cap="all" dirty="0" err="1">
                <a:latin typeface="+mn-lt"/>
              </a:rPr>
              <a:t>instrumentos</a:t>
            </a:r>
            <a:r>
              <a:rPr lang="en-US" altLang="pt-BR" sz="3200" cap="all" dirty="0">
                <a:latin typeface="+mn-lt"/>
              </a:rPr>
              <a:t> de </a:t>
            </a:r>
            <a:r>
              <a:rPr lang="en-US" altLang="pt-BR" sz="3200" cap="all" dirty="0" err="1">
                <a:latin typeface="+mn-lt"/>
              </a:rPr>
              <a:t>pesquisa</a:t>
            </a:r>
            <a:endParaRPr lang="pt-BR" altLang="pt-BR" sz="3200" cap="all" dirty="0">
              <a:latin typeface="+mn-lt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32CE4E25-FC29-4E80-B6D4-9227792BBF71}"/>
              </a:ext>
            </a:extLst>
          </p:cNvPr>
          <p:cNvSpPr/>
          <p:nvPr/>
        </p:nvSpPr>
        <p:spPr>
          <a:xfrm>
            <a:off x="1409651" y="1703022"/>
            <a:ext cx="10234357" cy="4585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>
              <a:spcAft>
                <a:spcPts val="1200"/>
              </a:spcAft>
            </a:pPr>
            <a:r>
              <a:rPr lang="pt-BR" sz="2800" b="1" cap="small" dirty="0">
                <a:solidFill>
                  <a:srgbClr val="C00000"/>
                </a:solidFill>
              </a:rPr>
              <a:t>Questionário</a:t>
            </a:r>
            <a:r>
              <a:rPr lang="pt-BR" sz="2800" b="1" cap="small" dirty="0"/>
              <a:t>: </a:t>
            </a:r>
            <a:r>
              <a:rPr lang="pt-BR" sz="2800" cap="small" dirty="0"/>
              <a:t>Conjunto de perguntas (abertas ou fechadas) que são feitas ao entrevistado</a:t>
            </a:r>
          </a:p>
          <a:p>
            <a:pPr marL="0" lvl="2">
              <a:spcAft>
                <a:spcPts val="1200"/>
              </a:spcAft>
            </a:pPr>
            <a:r>
              <a:rPr lang="pt-BR" sz="2800" b="1" cap="small" dirty="0">
                <a:solidFill>
                  <a:srgbClr val="C00000"/>
                </a:solidFill>
              </a:rPr>
              <a:t>Roteiro</a:t>
            </a:r>
            <a:r>
              <a:rPr lang="pt-BR" sz="2800" cap="small" dirty="0"/>
              <a:t>: No caso de pesquisas baseadas em observação é preciso um roteiro que determine o que será observado e os procedimentos de observação e métodos de documentação</a:t>
            </a:r>
          </a:p>
          <a:p>
            <a:pPr marL="0" lvl="2">
              <a:spcAft>
                <a:spcPts val="1200"/>
              </a:spcAft>
            </a:pPr>
            <a:r>
              <a:rPr lang="pt-BR" sz="2800" b="1" cap="small" dirty="0">
                <a:solidFill>
                  <a:srgbClr val="C00000"/>
                </a:solidFill>
              </a:rPr>
              <a:t>Observação</a:t>
            </a:r>
            <a:r>
              <a:rPr lang="pt-BR" sz="2800" b="1" cap="small" dirty="0"/>
              <a:t>:</a:t>
            </a:r>
            <a:r>
              <a:rPr lang="pt-BR" sz="2800" cap="small" dirty="0"/>
              <a:t> Métodos </a:t>
            </a:r>
            <a:r>
              <a:rPr lang="pt-BR" sz="2800" cap="small" dirty="0" err="1"/>
              <a:t>semi-estruturados</a:t>
            </a:r>
            <a:r>
              <a:rPr lang="pt-BR" sz="2800" cap="small" dirty="0"/>
              <a:t> que permitem ampla gama de respostas (aplicação mais exploratória)</a:t>
            </a:r>
          </a:p>
          <a:p>
            <a:pPr marL="0" lvl="2">
              <a:spcAft>
                <a:spcPts val="1200"/>
              </a:spcAft>
            </a:pPr>
            <a:r>
              <a:rPr lang="pt-BR" sz="2800" b="1" cap="small" dirty="0">
                <a:solidFill>
                  <a:srgbClr val="C00000"/>
                </a:solidFill>
              </a:rPr>
              <a:t>Instrumentos Mecânicos</a:t>
            </a:r>
            <a:r>
              <a:rPr lang="pt-BR" sz="2800" b="1" cap="small" dirty="0"/>
              <a:t>:</a:t>
            </a:r>
            <a:r>
              <a:rPr lang="pt-BR" sz="2800" cap="small" dirty="0"/>
              <a:t> coletores ou medidores (mais experimentais)</a:t>
            </a:r>
          </a:p>
          <a:p>
            <a:pPr marL="0" lvl="2">
              <a:spcAft>
                <a:spcPts val="1200"/>
              </a:spcAft>
            </a:pPr>
            <a:r>
              <a:rPr lang="pt-BR" sz="2800" b="1" cap="small" dirty="0" err="1">
                <a:solidFill>
                  <a:srgbClr val="C00000"/>
                </a:solidFill>
              </a:rPr>
              <a:t>IAs</a:t>
            </a:r>
            <a:r>
              <a:rPr lang="pt-BR" sz="2800" b="1" cap="small" dirty="0">
                <a:solidFill>
                  <a:srgbClr val="C00000"/>
                </a:solidFill>
              </a:rPr>
              <a:t> Generativas !!</a:t>
            </a:r>
          </a:p>
        </p:txBody>
      </p:sp>
    </p:spTree>
    <p:extLst>
      <p:ext uri="{BB962C8B-B14F-4D97-AF65-F5344CB8AC3E}">
        <p14:creationId xmlns:p14="http://schemas.microsoft.com/office/powerpoint/2010/main" val="2038456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3"/>
          <p:cNvSpPr>
            <a:spLocks noChangeArrowheads="1"/>
          </p:cNvSpPr>
          <p:nvPr/>
        </p:nvSpPr>
        <p:spPr bwMode="auto">
          <a:xfrm>
            <a:off x="1808815" y="1755385"/>
            <a:ext cx="7054138" cy="762000"/>
          </a:xfrm>
          <a:prstGeom prst="rect">
            <a:avLst/>
          </a:prstGeom>
          <a:solidFill>
            <a:schemeClr val="tx2">
              <a:lumMod val="20000"/>
              <a:lumOff val="80000"/>
              <a:alpha val="69019"/>
            </a:schemeClr>
          </a:solidFill>
          <a:ln w="9525">
            <a:solidFill>
              <a:schemeClr val="tx2">
                <a:lumMod val="40000"/>
                <a:lumOff val="6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>
            <a:flatTx/>
          </a:bodyPr>
          <a:lstStyle>
            <a:lvl1pPr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pt-BR" altLang="pt-BR" sz="2400" cap="small" dirty="0">
                <a:latin typeface="Calibri" panose="020F0502020204030204" pitchFamily="34" charset="0"/>
              </a:rPr>
              <a:t>Definição do p</a:t>
            </a:r>
            <a:r>
              <a:rPr lang="ro-RO" altLang="pt-BR" sz="2400" cap="small" dirty="0">
                <a:latin typeface="Calibri" panose="020F0502020204030204" pitchFamily="34" charset="0"/>
              </a:rPr>
              <a:t>roblema e</a:t>
            </a:r>
            <a:r>
              <a:rPr lang="pt-BR" altLang="pt-BR" sz="2400" cap="small" dirty="0">
                <a:latin typeface="Calibri" panose="020F0502020204030204" pitchFamily="34" charset="0"/>
              </a:rPr>
              <a:t> dos o</a:t>
            </a:r>
            <a:r>
              <a:rPr lang="ro-RO" altLang="pt-BR" sz="2400" cap="small" dirty="0">
                <a:latin typeface="Calibri" panose="020F0502020204030204" pitchFamily="34" charset="0"/>
              </a:rPr>
              <a:t>bjetivos da</a:t>
            </a:r>
            <a:r>
              <a:rPr lang="pt-BR" altLang="pt-BR" sz="2400" cap="small" dirty="0">
                <a:latin typeface="Calibri" panose="020F0502020204030204" pitchFamily="34" charset="0"/>
              </a:rPr>
              <a:t> </a:t>
            </a:r>
            <a:r>
              <a:rPr lang="ro-RO" altLang="pt-BR" sz="2400" cap="small" dirty="0">
                <a:latin typeface="Calibri" panose="020F0502020204030204" pitchFamily="34" charset="0"/>
              </a:rPr>
              <a:t>pesquisa</a:t>
            </a:r>
            <a:endParaRPr lang="pt-BR" altLang="pt-BR" sz="2400" cap="small" dirty="0">
              <a:latin typeface="Calibri" panose="020F0502020204030204" pitchFamily="34" charset="0"/>
            </a:endParaRPr>
          </a:p>
        </p:txBody>
      </p:sp>
      <p:sp>
        <p:nvSpPr>
          <p:cNvPr id="63492" name="Rectangle 4"/>
          <p:cNvSpPr>
            <a:spLocks noChangeArrowheads="1"/>
          </p:cNvSpPr>
          <p:nvPr/>
        </p:nvSpPr>
        <p:spPr bwMode="auto">
          <a:xfrm>
            <a:off x="2209607" y="2688835"/>
            <a:ext cx="7054138" cy="762000"/>
          </a:xfrm>
          <a:prstGeom prst="rect">
            <a:avLst/>
          </a:prstGeom>
          <a:solidFill>
            <a:schemeClr val="tx2">
              <a:lumMod val="40000"/>
              <a:lumOff val="60000"/>
              <a:alpha val="69019"/>
            </a:schemeClr>
          </a:solidFill>
          <a:ln w="9525"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>
            <a:flatTx/>
          </a:bodyPr>
          <a:lstStyle>
            <a:lvl1pPr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/>
            <a:r>
              <a:rPr lang="pt-BR" altLang="pt-BR" sz="2400" cap="small" dirty="0">
                <a:latin typeface="Calibri" panose="020F0502020204030204" pitchFamily="34" charset="0"/>
              </a:rPr>
              <a:t>Desenvolvimento do Plano</a:t>
            </a:r>
            <a:r>
              <a:rPr lang="pt-PT" altLang="pt-BR" sz="2400" cap="small" dirty="0">
                <a:latin typeface="Calibri" panose="020F0502020204030204" pitchFamily="34" charset="0"/>
              </a:rPr>
              <a:t> de Pesquisa</a:t>
            </a:r>
            <a:endParaRPr lang="pt-PT" altLang="pt-BR" sz="1600" cap="small" dirty="0">
              <a:latin typeface="Calibri" panose="020F0502020204030204" pitchFamily="34" charset="0"/>
            </a:endParaRPr>
          </a:p>
        </p:txBody>
      </p:sp>
      <p:sp>
        <p:nvSpPr>
          <p:cNvPr id="2" name="Seta: Dobrada 1">
            <a:extLst>
              <a:ext uri="{FF2B5EF4-FFF2-40B4-BE49-F238E27FC236}">
                <a16:creationId xmlns:a16="http://schemas.microsoft.com/office/drawing/2014/main" id="{A41EEB12-F821-4525-87D3-EB977B82AFEC}"/>
              </a:ext>
            </a:extLst>
          </p:cNvPr>
          <p:cNvSpPr/>
          <p:nvPr/>
        </p:nvSpPr>
        <p:spPr>
          <a:xfrm rot="10800000" flipH="1">
            <a:off x="1892135" y="2517385"/>
            <a:ext cx="317472" cy="600511"/>
          </a:xfrm>
          <a:prstGeom prst="bentArrow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ABCCDF4-DAA1-481D-863F-4F4190498ADC}"/>
              </a:ext>
            </a:extLst>
          </p:cNvPr>
          <p:cNvSpPr/>
          <p:nvPr/>
        </p:nvSpPr>
        <p:spPr>
          <a:xfrm>
            <a:off x="2670413" y="3830635"/>
            <a:ext cx="6769289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cap="small" dirty="0"/>
              <a:t>Elaboração do </a:t>
            </a:r>
            <a:r>
              <a:rPr lang="pt-BR" sz="2400" b="1" cap="small" dirty="0"/>
              <a:t>Plano de Pesquisa </a:t>
            </a:r>
            <a:r>
              <a:rPr lang="pt-BR" sz="2400" cap="small" dirty="0"/>
              <a:t>com a definição de:</a:t>
            </a:r>
          </a:p>
          <a:p>
            <a:endParaRPr lang="pt-BR" sz="1050" cap="small" dirty="0"/>
          </a:p>
          <a:p>
            <a:pPr marL="627063" indent="-273050">
              <a:buFont typeface="Arial" panose="020B0604020202020204" pitchFamily="34" charset="0"/>
              <a:buChar char="•"/>
            </a:pPr>
            <a:r>
              <a:rPr lang="pt-BR" sz="2400" cap="small" dirty="0"/>
              <a:t>Tipos e fontes de dados</a:t>
            </a:r>
          </a:p>
          <a:p>
            <a:pPr marL="627063" indent="-273050">
              <a:buFont typeface="Arial" panose="020B0604020202020204" pitchFamily="34" charset="0"/>
              <a:buChar char="•"/>
            </a:pPr>
            <a:r>
              <a:rPr lang="pt-BR" sz="2400" cap="small" dirty="0"/>
              <a:t>Abordagem de pesquisa (escolha de métodos)</a:t>
            </a:r>
          </a:p>
          <a:p>
            <a:pPr marL="627063" indent="-273050">
              <a:buFont typeface="Arial" panose="020B0604020202020204" pitchFamily="34" charset="0"/>
              <a:buChar char="•"/>
            </a:pPr>
            <a:r>
              <a:rPr lang="pt-BR" sz="2400" cap="small" dirty="0"/>
              <a:t>Instrumentos de pesquisa</a:t>
            </a:r>
          </a:p>
          <a:p>
            <a:pPr marL="627063" indent="-273050">
              <a:buFont typeface="Arial" panose="020B0604020202020204" pitchFamily="34" charset="0"/>
              <a:buChar char="•"/>
            </a:pPr>
            <a:r>
              <a:rPr lang="pt-BR" sz="2400" b="1" cap="small" dirty="0">
                <a:solidFill>
                  <a:srgbClr val="C00000"/>
                </a:solidFill>
              </a:rPr>
              <a:t>Plano de amostragem</a:t>
            </a:r>
          </a:p>
          <a:p>
            <a:pPr marL="627063" indent="-273050">
              <a:buFont typeface="Arial" panose="020B0604020202020204" pitchFamily="34" charset="0"/>
              <a:buChar char="•"/>
            </a:pPr>
            <a:r>
              <a:rPr lang="pt-BR" sz="2400" cap="small" dirty="0">
                <a:solidFill>
                  <a:srgbClr val="C00000"/>
                </a:solidFill>
              </a:rPr>
              <a:t>Método de contato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C05B71D-88D5-3E57-E994-B0DE8E4D1BA9}"/>
              </a:ext>
            </a:extLst>
          </p:cNvPr>
          <p:cNvSpPr txBox="1">
            <a:spLocks noChangeArrowheads="1"/>
          </p:cNvSpPr>
          <p:nvPr/>
        </p:nvSpPr>
        <p:spPr>
          <a:xfrm>
            <a:off x="1136032" y="816353"/>
            <a:ext cx="5984615" cy="34131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eaLnBrk="0" hangingPunct="0"/>
            <a:r>
              <a:rPr lang="pt-BR" altLang="pt-BR" sz="3200" cap="all" dirty="0">
                <a:latin typeface="+mn-lt"/>
              </a:rPr>
              <a:t>O processo de pesquisa</a:t>
            </a:r>
          </a:p>
        </p:txBody>
      </p:sp>
    </p:spTree>
    <p:extLst>
      <p:ext uri="{BB962C8B-B14F-4D97-AF65-F5344CB8AC3E}">
        <p14:creationId xmlns:p14="http://schemas.microsoft.com/office/powerpoint/2010/main" val="3216888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1102805" y="753546"/>
            <a:ext cx="7194889" cy="483433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Autofit/>
          </a:bodyPr>
          <a:lstStyle/>
          <a:p>
            <a:pPr algn="ctr" eaLnBrk="0" hangingPunct="0"/>
            <a:r>
              <a:rPr lang="en-US" altLang="pt-BR" sz="3200" cap="all" dirty="0" err="1">
                <a:latin typeface="+mn-lt"/>
              </a:rPr>
              <a:t>Definição</a:t>
            </a:r>
            <a:r>
              <a:rPr lang="en-US" altLang="pt-BR" sz="3200" cap="all" dirty="0">
                <a:latin typeface="+mn-lt"/>
              </a:rPr>
              <a:t> do plano de </a:t>
            </a:r>
            <a:r>
              <a:rPr lang="en-US" altLang="pt-BR" sz="3200" cap="all" dirty="0" err="1">
                <a:latin typeface="+mn-lt"/>
              </a:rPr>
              <a:t>amostragem</a:t>
            </a:r>
            <a:endParaRPr lang="pt-BR" altLang="pt-BR" sz="3200" cap="all" dirty="0">
              <a:latin typeface="+mn-lt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32CE4E25-FC29-4E80-B6D4-9227792BBF71}"/>
              </a:ext>
            </a:extLst>
          </p:cNvPr>
          <p:cNvSpPr/>
          <p:nvPr/>
        </p:nvSpPr>
        <p:spPr>
          <a:xfrm>
            <a:off x="854773" y="1886189"/>
            <a:ext cx="9634424" cy="4585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5250" lvl="2">
              <a:spcAft>
                <a:spcPts val="1200"/>
              </a:spcAft>
            </a:pPr>
            <a:r>
              <a:rPr lang="pt-BR" sz="2800" b="1" cap="small" dirty="0">
                <a:solidFill>
                  <a:srgbClr val="C00000"/>
                </a:solidFill>
              </a:rPr>
              <a:t>Unidade de Amostragem</a:t>
            </a:r>
            <a:r>
              <a:rPr lang="pt-BR" sz="2800" b="1" cap="small" dirty="0"/>
              <a:t>:</a:t>
            </a:r>
            <a:r>
              <a:rPr lang="pt-BR" sz="2800" cap="small" dirty="0"/>
              <a:t> Quem será entrevistado? Qual o perfil ideal dos entrevistados? Qual o perfil das empresas?...</a:t>
            </a:r>
          </a:p>
          <a:p>
            <a:pPr marL="95250" lvl="2">
              <a:spcAft>
                <a:spcPts val="1200"/>
              </a:spcAft>
            </a:pPr>
            <a:r>
              <a:rPr lang="pt-BR" sz="2800" b="1" cap="small" dirty="0">
                <a:solidFill>
                  <a:srgbClr val="C00000"/>
                </a:solidFill>
              </a:rPr>
              <a:t>Tamanho da Amostra</a:t>
            </a:r>
            <a:r>
              <a:rPr lang="pt-BR" sz="2800" b="1" cap="small" dirty="0"/>
              <a:t>:</a:t>
            </a:r>
            <a:r>
              <a:rPr lang="pt-BR" sz="2800" cap="small" dirty="0"/>
              <a:t> Quantas pessoas serão entrevistadas? Quantas empresas serão pesquisadas?</a:t>
            </a:r>
          </a:p>
          <a:p>
            <a:pPr marL="95250" lvl="2">
              <a:spcAft>
                <a:spcPts val="1200"/>
              </a:spcAft>
            </a:pPr>
            <a:r>
              <a:rPr lang="pt-BR" sz="2800" b="1" cap="small" dirty="0">
                <a:solidFill>
                  <a:srgbClr val="C00000"/>
                </a:solidFill>
              </a:rPr>
              <a:t>Procedimento de Amostragem</a:t>
            </a:r>
            <a:r>
              <a:rPr lang="pt-BR" sz="2800" b="1" cap="small" dirty="0"/>
              <a:t>:</a:t>
            </a:r>
            <a:r>
              <a:rPr lang="pt-BR" sz="2800" cap="small" dirty="0"/>
              <a:t> Como os entrevistados serão selecionados? Qual o corte? Adotaremos segmentação da Amostra?</a:t>
            </a:r>
          </a:p>
          <a:p>
            <a:pPr marL="95250" lvl="2">
              <a:spcAft>
                <a:spcPts val="1200"/>
              </a:spcAft>
            </a:pPr>
            <a:r>
              <a:rPr lang="pt-BR" sz="2800" b="1" cap="small" dirty="0">
                <a:solidFill>
                  <a:srgbClr val="C00000"/>
                </a:solidFill>
              </a:rPr>
              <a:t>Como serão Contatados</a:t>
            </a:r>
            <a:r>
              <a:rPr lang="pt-BR" sz="2800" b="1" cap="small" dirty="0"/>
              <a:t>?</a:t>
            </a:r>
            <a:r>
              <a:rPr lang="pt-BR" sz="2800" cap="small" dirty="0"/>
              <a:t>: Correio, Telefone, Pessoal ou On-line...</a:t>
            </a:r>
          </a:p>
          <a:p>
            <a:pPr marL="0" lvl="2">
              <a:spcAft>
                <a:spcPts val="1200"/>
              </a:spcAft>
            </a:pPr>
            <a:endParaRPr lang="pt-BR" sz="2800" cap="small" dirty="0"/>
          </a:p>
        </p:txBody>
      </p:sp>
      <p:sp>
        <p:nvSpPr>
          <p:cNvPr id="3" name="Retângulo: Cantos Arredondados 2">
            <a:hlinkClick r:id="rId3"/>
            <a:extLst>
              <a:ext uri="{FF2B5EF4-FFF2-40B4-BE49-F238E27FC236}">
                <a16:creationId xmlns:a16="http://schemas.microsoft.com/office/drawing/2014/main" id="{3A3BABE8-90F0-D89A-D02A-9F77ED5148C7}"/>
              </a:ext>
            </a:extLst>
          </p:cNvPr>
          <p:cNvSpPr/>
          <p:nvPr/>
        </p:nvSpPr>
        <p:spPr>
          <a:xfrm>
            <a:off x="9953131" y="3051112"/>
            <a:ext cx="1384096" cy="576038"/>
          </a:xfrm>
          <a:prstGeom prst="roundRect">
            <a:avLst>
              <a:gd name="adj" fmla="val 7973"/>
            </a:avLst>
          </a:prstGeom>
          <a:solidFill>
            <a:schemeClr val="bg2">
              <a:lumMod val="5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cap="small" dirty="0">
                <a:solidFill>
                  <a:schemeClr val="tx1"/>
                </a:solidFill>
              </a:rPr>
              <a:t>Calculadora de Amostragem</a:t>
            </a:r>
          </a:p>
        </p:txBody>
      </p:sp>
    </p:spTree>
    <p:extLst>
      <p:ext uri="{BB962C8B-B14F-4D97-AF65-F5344CB8AC3E}">
        <p14:creationId xmlns:p14="http://schemas.microsoft.com/office/powerpoint/2010/main" val="4266342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3"/>
          <p:cNvSpPr>
            <a:spLocks noChangeArrowheads="1"/>
          </p:cNvSpPr>
          <p:nvPr/>
        </p:nvSpPr>
        <p:spPr bwMode="auto">
          <a:xfrm>
            <a:off x="1808815" y="1755385"/>
            <a:ext cx="7054138" cy="762000"/>
          </a:xfrm>
          <a:prstGeom prst="rect">
            <a:avLst/>
          </a:prstGeom>
          <a:solidFill>
            <a:schemeClr val="tx2">
              <a:lumMod val="20000"/>
              <a:lumOff val="80000"/>
              <a:alpha val="69019"/>
            </a:schemeClr>
          </a:solidFill>
          <a:ln w="9525">
            <a:solidFill>
              <a:schemeClr val="tx2">
                <a:lumMod val="40000"/>
                <a:lumOff val="6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>
            <a:flatTx/>
          </a:bodyPr>
          <a:lstStyle>
            <a:lvl1pPr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pt-BR" altLang="pt-BR" sz="2400" cap="small" dirty="0">
                <a:latin typeface="Calibri" panose="020F0502020204030204" pitchFamily="34" charset="0"/>
              </a:rPr>
              <a:t>Definição do p</a:t>
            </a:r>
            <a:r>
              <a:rPr lang="ro-RO" altLang="pt-BR" sz="2400" cap="small" dirty="0">
                <a:latin typeface="Calibri" panose="020F0502020204030204" pitchFamily="34" charset="0"/>
              </a:rPr>
              <a:t>roblema e</a:t>
            </a:r>
            <a:r>
              <a:rPr lang="pt-BR" altLang="pt-BR" sz="2400" cap="small" dirty="0">
                <a:latin typeface="Calibri" panose="020F0502020204030204" pitchFamily="34" charset="0"/>
              </a:rPr>
              <a:t> dos o</a:t>
            </a:r>
            <a:r>
              <a:rPr lang="ro-RO" altLang="pt-BR" sz="2400" cap="small" dirty="0">
                <a:latin typeface="Calibri" panose="020F0502020204030204" pitchFamily="34" charset="0"/>
              </a:rPr>
              <a:t>bjetivos da</a:t>
            </a:r>
            <a:r>
              <a:rPr lang="pt-BR" altLang="pt-BR" sz="2400" cap="small" dirty="0">
                <a:latin typeface="Calibri" panose="020F0502020204030204" pitchFamily="34" charset="0"/>
              </a:rPr>
              <a:t> </a:t>
            </a:r>
            <a:r>
              <a:rPr lang="ro-RO" altLang="pt-BR" sz="2400" cap="small" dirty="0">
                <a:latin typeface="Calibri" panose="020F0502020204030204" pitchFamily="34" charset="0"/>
              </a:rPr>
              <a:t>pesquisa</a:t>
            </a:r>
            <a:endParaRPr lang="pt-BR" altLang="pt-BR" sz="2400" cap="small" dirty="0">
              <a:latin typeface="Calibri" panose="020F0502020204030204" pitchFamily="34" charset="0"/>
            </a:endParaRPr>
          </a:p>
        </p:txBody>
      </p:sp>
      <p:sp>
        <p:nvSpPr>
          <p:cNvPr id="63492" name="Rectangle 4"/>
          <p:cNvSpPr>
            <a:spLocks noChangeArrowheads="1"/>
          </p:cNvSpPr>
          <p:nvPr/>
        </p:nvSpPr>
        <p:spPr bwMode="auto">
          <a:xfrm>
            <a:off x="2209607" y="2688835"/>
            <a:ext cx="7054138" cy="762000"/>
          </a:xfrm>
          <a:prstGeom prst="rect">
            <a:avLst/>
          </a:prstGeom>
          <a:solidFill>
            <a:schemeClr val="tx2">
              <a:lumMod val="40000"/>
              <a:lumOff val="60000"/>
              <a:alpha val="69019"/>
            </a:schemeClr>
          </a:solidFill>
          <a:ln w="9525"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>
            <a:flatTx/>
          </a:bodyPr>
          <a:lstStyle>
            <a:lvl1pPr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/>
            <a:r>
              <a:rPr lang="pt-BR" altLang="pt-BR" sz="2400" cap="small" dirty="0">
                <a:latin typeface="Calibri" panose="020F0502020204030204" pitchFamily="34" charset="0"/>
              </a:rPr>
              <a:t>Desenvolvimento do Plano</a:t>
            </a:r>
            <a:r>
              <a:rPr lang="pt-PT" altLang="pt-BR" sz="2400" cap="small" dirty="0">
                <a:latin typeface="Calibri" panose="020F0502020204030204" pitchFamily="34" charset="0"/>
              </a:rPr>
              <a:t> de Pesquisa</a:t>
            </a:r>
            <a:endParaRPr lang="pt-PT" altLang="pt-BR" sz="1600" cap="small" dirty="0">
              <a:latin typeface="Calibri" panose="020F0502020204030204" pitchFamily="34" charset="0"/>
            </a:endParaRPr>
          </a:p>
        </p:txBody>
      </p:sp>
      <p:sp>
        <p:nvSpPr>
          <p:cNvPr id="63493" name="Rectangle 5"/>
          <p:cNvSpPr>
            <a:spLocks noChangeArrowheads="1"/>
          </p:cNvSpPr>
          <p:nvPr/>
        </p:nvSpPr>
        <p:spPr bwMode="auto">
          <a:xfrm>
            <a:off x="2610399" y="3622285"/>
            <a:ext cx="7054138" cy="762000"/>
          </a:xfrm>
          <a:prstGeom prst="rect">
            <a:avLst/>
          </a:prstGeom>
          <a:solidFill>
            <a:schemeClr val="tx2">
              <a:lumMod val="60000"/>
              <a:lumOff val="40000"/>
              <a:alpha val="69019"/>
            </a:schemeClr>
          </a:solidFill>
          <a:ln w="9525"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>
            <a:flatTx/>
          </a:bodyPr>
          <a:lstStyle>
            <a:lvl1pPr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/>
            <a:r>
              <a:rPr lang="pt-BR" altLang="pt-BR" sz="2400" cap="small" dirty="0">
                <a:latin typeface="Calibri" panose="020F0502020204030204" pitchFamily="34" charset="0"/>
              </a:rPr>
              <a:t>Coleta de informações</a:t>
            </a:r>
            <a:endParaRPr lang="pt-BR" altLang="pt-BR" sz="1600" cap="small" dirty="0">
              <a:latin typeface="Calibri" panose="020F0502020204030204" pitchFamily="34" charset="0"/>
            </a:endParaRPr>
          </a:p>
        </p:txBody>
      </p:sp>
      <p:sp>
        <p:nvSpPr>
          <p:cNvPr id="2" name="Seta: Dobrada 1">
            <a:extLst>
              <a:ext uri="{FF2B5EF4-FFF2-40B4-BE49-F238E27FC236}">
                <a16:creationId xmlns:a16="http://schemas.microsoft.com/office/drawing/2014/main" id="{A41EEB12-F821-4525-87D3-EB977B82AFEC}"/>
              </a:ext>
            </a:extLst>
          </p:cNvPr>
          <p:cNvSpPr/>
          <p:nvPr/>
        </p:nvSpPr>
        <p:spPr>
          <a:xfrm rot="10800000" flipH="1">
            <a:off x="1892135" y="2517385"/>
            <a:ext cx="317472" cy="600511"/>
          </a:xfrm>
          <a:prstGeom prst="bentArrow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9" name="Seta: Dobrada 8">
            <a:extLst>
              <a:ext uri="{FF2B5EF4-FFF2-40B4-BE49-F238E27FC236}">
                <a16:creationId xmlns:a16="http://schemas.microsoft.com/office/drawing/2014/main" id="{A5156FD4-D65B-41BE-A18A-01CAA2DE933B}"/>
              </a:ext>
            </a:extLst>
          </p:cNvPr>
          <p:cNvSpPr/>
          <p:nvPr/>
        </p:nvSpPr>
        <p:spPr>
          <a:xfrm rot="10800000" flipH="1">
            <a:off x="2292927" y="3450836"/>
            <a:ext cx="317472" cy="600511"/>
          </a:xfrm>
          <a:prstGeom prst="bentArrow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A534EED-370B-377D-0607-4BA7A9FFEBCB}"/>
              </a:ext>
            </a:extLst>
          </p:cNvPr>
          <p:cNvSpPr txBox="1">
            <a:spLocks noChangeArrowheads="1"/>
          </p:cNvSpPr>
          <p:nvPr/>
        </p:nvSpPr>
        <p:spPr>
          <a:xfrm>
            <a:off x="1136032" y="816353"/>
            <a:ext cx="5984615" cy="34131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eaLnBrk="0" hangingPunct="0"/>
            <a:r>
              <a:rPr lang="pt-BR" altLang="pt-BR" sz="3200" cap="all" dirty="0">
                <a:latin typeface="+mn-lt"/>
              </a:rPr>
              <a:t>O processo de pesquisa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7FDADF6-79C0-683C-D1FC-604AFF16594E}"/>
              </a:ext>
            </a:extLst>
          </p:cNvPr>
          <p:cNvSpPr/>
          <p:nvPr/>
        </p:nvSpPr>
        <p:spPr>
          <a:xfrm>
            <a:off x="2292926" y="4630379"/>
            <a:ext cx="797581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7063" indent="-273050">
              <a:buFont typeface="Arial" panose="020B0604020202020204" pitchFamily="34" charset="0"/>
              <a:buChar char="•"/>
            </a:pPr>
            <a:r>
              <a:rPr lang="pt-BR" sz="2400" cap="small" dirty="0"/>
              <a:t>Estruturação e ativação da equipe</a:t>
            </a:r>
          </a:p>
          <a:p>
            <a:pPr marL="627063" indent="-273050">
              <a:buFont typeface="Arial" panose="020B0604020202020204" pitchFamily="34" charset="0"/>
              <a:buChar char="•"/>
            </a:pPr>
            <a:r>
              <a:rPr lang="pt-BR" sz="2400" cap="small" dirty="0"/>
              <a:t>Definição de tempo e/ou volume da coleta</a:t>
            </a:r>
          </a:p>
          <a:p>
            <a:pPr marL="627063" indent="-273050">
              <a:buFont typeface="Arial" panose="020B0604020202020204" pitchFamily="34" charset="0"/>
              <a:buChar char="•"/>
            </a:pPr>
            <a:r>
              <a:rPr lang="pt-BR" sz="2400" cap="small" dirty="0"/>
              <a:t>Aplicação do Método/Ferramenta</a:t>
            </a:r>
          </a:p>
          <a:p>
            <a:pPr marL="627063" indent="-273050">
              <a:buFont typeface="Arial" panose="020B0604020202020204" pitchFamily="34" charset="0"/>
              <a:buChar char="•"/>
            </a:pPr>
            <a:r>
              <a:rPr lang="pt-BR" sz="2400" cap="small" dirty="0"/>
              <a:t>Coleta e documentação de dados/informações/descobertas</a:t>
            </a:r>
          </a:p>
        </p:txBody>
      </p:sp>
    </p:spTree>
    <p:extLst>
      <p:ext uri="{BB962C8B-B14F-4D97-AF65-F5344CB8AC3E}">
        <p14:creationId xmlns:p14="http://schemas.microsoft.com/office/powerpoint/2010/main" val="2098013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3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3" grpId="0" animBg="1"/>
      <p:bldP spid="9" grpId="0" animBg="1"/>
      <p:bldP spid="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FFF05-ECB1-FB5F-C4CE-936C5216C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3">
            <a:extLst>
              <a:ext uri="{FF2B5EF4-FFF2-40B4-BE49-F238E27FC236}">
                <a16:creationId xmlns:a16="http://schemas.microsoft.com/office/drawing/2014/main" id="{B47269DD-7345-A14B-5686-AE58CDB295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8815" y="1755385"/>
            <a:ext cx="7054138" cy="762000"/>
          </a:xfrm>
          <a:prstGeom prst="rect">
            <a:avLst/>
          </a:prstGeom>
          <a:solidFill>
            <a:schemeClr val="tx2">
              <a:lumMod val="20000"/>
              <a:lumOff val="80000"/>
              <a:alpha val="69019"/>
            </a:schemeClr>
          </a:solidFill>
          <a:ln w="9525">
            <a:solidFill>
              <a:schemeClr val="tx2">
                <a:lumMod val="40000"/>
                <a:lumOff val="6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>
            <a:flatTx/>
          </a:bodyPr>
          <a:lstStyle>
            <a:lvl1pPr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pt-BR" altLang="pt-BR" sz="2400" cap="small" dirty="0">
                <a:latin typeface="Calibri" panose="020F0502020204030204" pitchFamily="34" charset="0"/>
              </a:rPr>
              <a:t>Definição do p</a:t>
            </a:r>
            <a:r>
              <a:rPr lang="ro-RO" altLang="pt-BR" sz="2400" cap="small" dirty="0">
                <a:latin typeface="Calibri" panose="020F0502020204030204" pitchFamily="34" charset="0"/>
              </a:rPr>
              <a:t>roblema e</a:t>
            </a:r>
            <a:r>
              <a:rPr lang="pt-BR" altLang="pt-BR" sz="2400" cap="small" dirty="0">
                <a:latin typeface="Calibri" panose="020F0502020204030204" pitchFamily="34" charset="0"/>
              </a:rPr>
              <a:t> dos o</a:t>
            </a:r>
            <a:r>
              <a:rPr lang="ro-RO" altLang="pt-BR" sz="2400" cap="small" dirty="0">
                <a:latin typeface="Calibri" panose="020F0502020204030204" pitchFamily="34" charset="0"/>
              </a:rPr>
              <a:t>bjetivos da</a:t>
            </a:r>
            <a:r>
              <a:rPr lang="pt-BR" altLang="pt-BR" sz="2400" cap="small" dirty="0">
                <a:latin typeface="Calibri" panose="020F0502020204030204" pitchFamily="34" charset="0"/>
              </a:rPr>
              <a:t> </a:t>
            </a:r>
            <a:r>
              <a:rPr lang="ro-RO" altLang="pt-BR" sz="2400" cap="small" dirty="0">
                <a:latin typeface="Calibri" panose="020F0502020204030204" pitchFamily="34" charset="0"/>
              </a:rPr>
              <a:t>pesquisa</a:t>
            </a:r>
            <a:endParaRPr lang="pt-BR" altLang="pt-BR" sz="2400" cap="small" dirty="0">
              <a:latin typeface="Calibri" panose="020F0502020204030204" pitchFamily="34" charset="0"/>
            </a:endParaRPr>
          </a:p>
        </p:txBody>
      </p:sp>
      <p:sp>
        <p:nvSpPr>
          <p:cNvPr id="63492" name="Rectangle 4">
            <a:extLst>
              <a:ext uri="{FF2B5EF4-FFF2-40B4-BE49-F238E27FC236}">
                <a16:creationId xmlns:a16="http://schemas.microsoft.com/office/drawing/2014/main" id="{773FD889-C796-43BC-0ADE-751DEB9D04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607" y="2688835"/>
            <a:ext cx="7054138" cy="762000"/>
          </a:xfrm>
          <a:prstGeom prst="rect">
            <a:avLst/>
          </a:prstGeom>
          <a:solidFill>
            <a:schemeClr val="tx2">
              <a:lumMod val="40000"/>
              <a:lumOff val="60000"/>
              <a:alpha val="69019"/>
            </a:schemeClr>
          </a:solidFill>
          <a:ln w="9525"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>
            <a:flatTx/>
          </a:bodyPr>
          <a:lstStyle>
            <a:lvl1pPr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/>
            <a:r>
              <a:rPr lang="pt-BR" altLang="pt-BR" sz="2400" cap="small" dirty="0">
                <a:latin typeface="Calibri" panose="020F0502020204030204" pitchFamily="34" charset="0"/>
              </a:rPr>
              <a:t>Desenvolvimento do Plano</a:t>
            </a:r>
            <a:r>
              <a:rPr lang="pt-PT" altLang="pt-BR" sz="2400" cap="small" dirty="0">
                <a:latin typeface="Calibri" panose="020F0502020204030204" pitchFamily="34" charset="0"/>
              </a:rPr>
              <a:t> de Pesquisa</a:t>
            </a:r>
            <a:endParaRPr lang="pt-PT" altLang="pt-BR" sz="1600" cap="small" dirty="0">
              <a:latin typeface="Calibri" panose="020F0502020204030204" pitchFamily="34" charset="0"/>
            </a:endParaRPr>
          </a:p>
        </p:txBody>
      </p:sp>
      <p:sp>
        <p:nvSpPr>
          <p:cNvPr id="63493" name="Rectangle 5">
            <a:extLst>
              <a:ext uri="{FF2B5EF4-FFF2-40B4-BE49-F238E27FC236}">
                <a16:creationId xmlns:a16="http://schemas.microsoft.com/office/drawing/2014/main" id="{F6313EB0-FE27-1303-FB0A-4C0133D5F3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0399" y="3622285"/>
            <a:ext cx="7054138" cy="762000"/>
          </a:xfrm>
          <a:prstGeom prst="rect">
            <a:avLst/>
          </a:prstGeom>
          <a:solidFill>
            <a:schemeClr val="tx2">
              <a:lumMod val="60000"/>
              <a:lumOff val="40000"/>
              <a:alpha val="69019"/>
            </a:schemeClr>
          </a:solidFill>
          <a:ln w="9525"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>
            <a:flatTx/>
          </a:bodyPr>
          <a:lstStyle>
            <a:lvl1pPr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/>
            <a:r>
              <a:rPr lang="pt-BR" altLang="pt-BR" sz="2400" cap="small" dirty="0">
                <a:latin typeface="Calibri" panose="020F0502020204030204" pitchFamily="34" charset="0"/>
              </a:rPr>
              <a:t>Coleta de informações</a:t>
            </a:r>
            <a:endParaRPr lang="pt-BR" altLang="pt-BR" sz="1600" cap="small" dirty="0">
              <a:latin typeface="Calibri" panose="020F0502020204030204" pitchFamily="34" charset="0"/>
            </a:endParaRPr>
          </a:p>
        </p:txBody>
      </p:sp>
      <p:sp>
        <p:nvSpPr>
          <p:cNvPr id="63494" name="Rectangle 6">
            <a:extLst>
              <a:ext uri="{FF2B5EF4-FFF2-40B4-BE49-F238E27FC236}">
                <a16:creationId xmlns:a16="http://schemas.microsoft.com/office/drawing/2014/main" id="{A5BEBCA0-A77D-134F-6F78-49EC8C654E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1191" y="4555735"/>
            <a:ext cx="7054138" cy="762000"/>
          </a:xfrm>
          <a:prstGeom prst="rect">
            <a:avLst/>
          </a:prstGeom>
          <a:solidFill>
            <a:schemeClr val="tx2">
              <a:lumMod val="75000"/>
              <a:alpha val="69019"/>
            </a:schemeClr>
          </a:solidFill>
          <a:ln w="9525"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>
            <a:flatTx/>
          </a:bodyPr>
          <a:lstStyle>
            <a:lvl1pPr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/>
            <a:r>
              <a:rPr lang="pt-BR" altLang="pt-BR" sz="2400" cap="small" dirty="0">
                <a:solidFill>
                  <a:schemeClr val="bg1"/>
                </a:solidFill>
                <a:latin typeface="Calibri" panose="020F0502020204030204" pitchFamily="34" charset="0"/>
              </a:rPr>
              <a:t>Análise das  informações</a:t>
            </a:r>
            <a:endParaRPr lang="pt-BR" altLang="pt-BR" sz="1600" cap="small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2" name="Seta: Dobrada 1">
            <a:extLst>
              <a:ext uri="{FF2B5EF4-FFF2-40B4-BE49-F238E27FC236}">
                <a16:creationId xmlns:a16="http://schemas.microsoft.com/office/drawing/2014/main" id="{1A1D0706-0495-E4DA-45C1-B20C5708C1C6}"/>
              </a:ext>
            </a:extLst>
          </p:cNvPr>
          <p:cNvSpPr/>
          <p:nvPr/>
        </p:nvSpPr>
        <p:spPr>
          <a:xfrm rot="10800000" flipH="1">
            <a:off x="1892135" y="2517385"/>
            <a:ext cx="317472" cy="600511"/>
          </a:xfrm>
          <a:prstGeom prst="bentArrow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9" name="Seta: Dobrada 8">
            <a:extLst>
              <a:ext uri="{FF2B5EF4-FFF2-40B4-BE49-F238E27FC236}">
                <a16:creationId xmlns:a16="http://schemas.microsoft.com/office/drawing/2014/main" id="{2997CC28-2AE7-D817-61C7-6DF416C0C930}"/>
              </a:ext>
            </a:extLst>
          </p:cNvPr>
          <p:cNvSpPr/>
          <p:nvPr/>
        </p:nvSpPr>
        <p:spPr>
          <a:xfrm rot="10800000" flipH="1">
            <a:off x="2292927" y="3450836"/>
            <a:ext cx="317472" cy="600511"/>
          </a:xfrm>
          <a:prstGeom prst="bentArrow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0" name="Seta: Dobrada 9">
            <a:extLst>
              <a:ext uri="{FF2B5EF4-FFF2-40B4-BE49-F238E27FC236}">
                <a16:creationId xmlns:a16="http://schemas.microsoft.com/office/drawing/2014/main" id="{378D3F68-8795-3E6E-9550-4FA5D1F61429}"/>
              </a:ext>
            </a:extLst>
          </p:cNvPr>
          <p:cNvSpPr/>
          <p:nvPr/>
        </p:nvSpPr>
        <p:spPr>
          <a:xfrm rot="10800000" flipH="1">
            <a:off x="2693719" y="4384287"/>
            <a:ext cx="317472" cy="600511"/>
          </a:xfrm>
          <a:prstGeom prst="bentArrow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A4648C4-3E6B-4B32-25F1-7550824075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36032" y="816353"/>
            <a:ext cx="8229600" cy="341313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Autofit/>
          </a:bodyPr>
          <a:lstStyle/>
          <a:p>
            <a:pPr eaLnBrk="0" hangingPunct="0"/>
            <a:r>
              <a:rPr lang="pt-BR" altLang="pt-BR" sz="3200" cap="all" dirty="0">
                <a:latin typeface="+mn-lt"/>
              </a:rPr>
              <a:t>O processo de pesquisa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63DDD73-2448-3EF6-ABB5-26A874DD79C8}"/>
              </a:ext>
            </a:extLst>
          </p:cNvPr>
          <p:cNvSpPr/>
          <p:nvPr/>
        </p:nvSpPr>
        <p:spPr>
          <a:xfrm>
            <a:off x="2768787" y="5489183"/>
            <a:ext cx="797581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7063" indent="-273050">
              <a:buFont typeface="Arial" panose="020B0604020202020204" pitchFamily="34" charset="0"/>
              <a:buChar char="•"/>
            </a:pPr>
            <a:r>
              <a:rPr lang="pt-BR" sz="2400" cap="small" dirty="0"/>
              <a:t>Tabulação / limpeza /organização dos dados</a:t>
            </a:r>
          </a:p>
          <a:p>
            <a:pPr marL="627063" indent="-273050">
              <a:buFont typeface="Arial" panose="020B0604020202020204" pitchFamily="34" charset="0"/>
              <a:buChar char="•"/>
            </a:pPr>
            <a:r>
              <a:rPr lang="pt-BR" sz="2400" cap="small" dirty="0"/>
              <a:t>Analise (manual/estatística/I.A. ...)</a:t>
            </a:r>
          </a:p>
          <a:p>
            <a:pPr marL="627063" indent="-273050">
              <a:buFont typeface="Arial" panose="020B0604020202020204" pitchFamily="34" charset="0"/>
              <a:buChar char="•"/>
            </a:pPr>
            <a:r>
              <a:rPr lang="pt-BR" sz="2400" cap="small" dirty="0"/>
              <a:t>Conclusões</a:t>
            </a:r>
          </a:p>
        </p:txBody>
      </p:sp>
    </p:spTree>
    <p:extLst>
      <p:ext uri="{BB962C8B-B14F-4D97-AF65-F5344CB8AC3E}">
        <p14:creationId xmlns:p14="http://schemas.microsoft.com/office/powerpoint/2010/main" val="3322676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3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4" grpId="0" animBg="1"/>
      <p:bldP spid="10" grpId="0" animBg="1"/>
      <p:bldP spid="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01AE2-3EDF-A809-21A2-0C1C01703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3">
            <a:extLst>
              <a:ext uri="{FF2B5EF4-FFF2-40B4-BE49-F238E27FC236}">
                <a16:creationId xmlns:a16="http://schemas.microsoft.com/office/drawing/2014/main" id="{5A9BB196-0B2D-3113-311F-353DBDBBEA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8815" y="1755385"/>
            <a:ext cx="7054138" cy="762000"/>
          </a:xfrm>
          <a:prstGeom prst="rect">
            <a:avLst/>
          </a:prstGeom>
          <a:solidFill>
            <a:schemeClr val="tx2">
              <a:lumMod val="20000"/>
              <a:lumOff val="80000"/>
              <a:alpha val="69019"/>
            </a:schemeClr>
          </a:solidFill>
          <a:ln w="9525">
            <a:solidFill>
              <a:schemeClr val="tx2">
                <a:lumMod val="40000"/>
                <a:lumOff val="6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>
            <a:flatTx/>
          </a:bodyPr>
          <a:lstStyle>
            <a:lvl1pPr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pt-BR" altLang="pt-BR" sz="2400" cap="small" dirty="0">
                <a:latin typeface="Calibri" panose="020F0502020204030204" pitchFamily="34" charset="0"/>
              </a:rPr>
              <a:t>Definição do p</a:t>
            </a:r>
            <a:r>
              <a:rPr lang="ro-RO" altLang="pt-BR" sz="2400" cap="small" dirty="0">
                <a:latin typeface="Calibri" panose="020F0502020204030204" pitchFamily="34" charset="0"/>
              </a:rPr>
              <a:t>roblema e</a:t>
            </a:r>
            <a:r>
              <a:rPr lang="pt-BR" altLang="pt-BR" sz="2400" cap="small" dirty="0">
                <a:latin typeface="Calibri" panose="020F0502020204030204" pitchFamily="34" charset="0"/>
              </a:rPr>
              <a:t> dos o</a:t>
            </a:r>
            <a:r>
              <a:rPr lang="ro-RO" altLang="pt-BR" sz="2400" cap="small" dirty="0">
                <a:latin typeface="Calibri" panose="020F0502020204030204" pitchFamily="34" charset="0"/>
              </a:rPr>
              <a:t>bjetivos da</a:t>
            </a:r>
            <a:r>
              <a:rPr lang="pt-BR" altLang="pt-BR" sz="2400" cap="small" dirty="0">
                <a:latin typeface="Calibri" panose="020F0502020204030204" pitchFamily="34" charset="0"/>
              </a:rPr>
              <a:t> </a:t>
            </a:r>
            <a:r>
              <a:rPr lang="ro-RO" altLang="pt-BR" sz="2400" cap="small" dirty="0">
                <a:latin typeface="Calibri" panose="020F0502020204030204" pitchFamily="34" charset="0"/>
              </a:rPr>
              <a:t>pesquisa</a:t>
            </a:r>
            <a:endParaRPr lang="pt-BR" altLang="pt-BR" sz="2400" cap="small" dirty="0">
              <a:latin typeface="Calibri" panose="020F0502020204030204" pitchFamily="34" charset="0"/>
            </a:endParaRPr>
          </a:p>
        </p:txBody>
      </p:sp>
      <p:sp>
        <p:nvSpPr>
          <p:cNvPr id="63492" name="Rectangle 4">
            <a:extLst>
              <a:ext uri="{FF2B5EF4-FFF2-40B4-BE49-F238E27FC236}">
                <a16:creationId xmlns:a16="http://schemas.microsoft.com/office/drawing/2014/main" id="{D60DEAE9-2DDB-5027-FB82-FB3014AD2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607" y="2688835"/>
            <a:ext cx="7054138" cy="762000"/>
          </a:xfrm>
          <a:prstGeom prst="rect">
            <a:avLst/>
          </a:prstGeom>
          <a:solidFill>
            <a:schemeClr val="tx2">
              <a:lumMod val="40000"/>
              <a:lumOff val="60000"/>
              <a:alpha val="69019"/>
            </a:schemeClr>
          </a:solidFill>
          <a:ln w="9525"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>
            <a:flatTx/>
          </a:bodyPr>
          <a:lstStyle>
            <a:lvl1pPr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/>
            <a:r>
              <a:rPr lang="pt-BR" altLang="pt-BR" sz="2400" cap="small" dirty="0">
                <a:latin typeface="Calibri" panose="020F0502020204030204" pitchFamily="34" charset="0"/>
              </a:rPr>
              <a:t>Desenvolvimento do Plano</a:t>
            </a:r>
            <a:r>
              <a:rPr lang="pt-PT" altLang="pt-BR" sz="2400" cap="small" dirty="0">
                <a:latin typeface="Calibri" panose="020F0502020204030204" pitchFamily="34" charset="0"/>
              </a:rPr>
              <a:t> de Pesquisa</a:t>
            </a:r>
            <a:endParaRPr lang="pt-PT" altLang="pt-BR" sz="1600" cap="small" dirty="0">
              <a:latin typeface="Calibri" panose="020F0502020204030204" pitchFamily="34" charset="0"/>
            </a:endParaRPr>
          </a:p>
        </p:txBody>
      </p:sp>
      <p:sp>
        <p:nvSpPr>
          <p:cNvPr id="63493" name="Rectangle 5">
            <a:extLst>
              <a:ext uri="{FF2B5EF4-FFF2-40B4-BE49-F238E27FC236}">
                <a16:creationId xmlns:a16="http://schemas.microsoft.com/office/drawing/2014/main" id="{8E1513A6-3B38-0602-43F8-EC11C96550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0399" y="3622285"/>
            <a:ext cx="7054138" cy="762000"/>
          </a:xfrm>
          <a:prstGeom prst="rect">
            <a:avLst/>
          </a:prstGeom>
          <a:solidFill>
            <a:schemeClr val="tx2">
              <a:lumMod val="60000"/>
              <a:lumOff val="40000"/>
              <a:alpha val="69019"/>
            </a:schemeClr>
          </a:solidFill>
          <a:ln w="9525"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>
            <a:flatTx/>
          </a:bodyPr>
          <a:lstStyle>
            <a:lvl1pPr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/>
            <a:r>
              <a:rPr lang="pt-BR" altLang="pt-BR" sz="2400" cap="small" dirty="0">
                <a:latin typeface="Calibri" panose="020F0502020204030204" pitchFamily="34" charset="0"/>
              </a:rPr>
              <a:t>Coleta de informações</a:t>
            </a:r>
            <a:endParaRPr lang="pt-BR" altLang="pt-BR" sz="1600" cap="small" dirty="0">
              <a:latin typeface="Calibri" panose="020F0502020204030204" pitchFamily="34" charset="0"/>
            </a:endParaRPr>
          </a:p>
        </p:txBody>
      </p:sp>
      <p:sp>
        <p:nvSpPr>
          <p:cNvPr id="63494" name="Rectangle 6">
            <a:extLst>
              <a:ext uri="{FF2B5EF4-FFF2-40B4-BE49-F238E27FC236}">
                <a16:creationId xmlns:a16="http://schemas.microsoft.com/office/drawing/2014/main" id="{44384920-F8B3-8B8C-4865-4416BD8264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1191" y="4555735"/>
            <a:ext cx="7054138" cy="762000"/>
          </a:xfrm>
          <a:prstGeom prst="rect">
            <a:avLst/>
          </a:prstGeom>
          <a:solidFill>
            <a:schemeClr val="tx2">
              <a:lumMod val="75000"/>
              <a:alpha val="69019"/>
            </a:schemeClr>
          </a:solidFill>
          <a:ln w="9525"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>
            <a:flatTx/>
          </a:bodyPr>
          <a:lstStyle>
            <a:lvl1pPr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/>
            <a:r>
              <a:rPr lang="pt-BR" altLang="pt-BR" sz="2400" cap="small" dirty="0">
                <a:solidFill>
                  <a:schemeClr val="bg1"/>
                </a:solidFill>
                <a:latin typeface="Calibri" panose="020F0502020204030204" pitchFamily="34" charset="0"/>
              </a:rPr>
              <a:t>Análise das  informações</a:t>
            </a:r>
            <a:endParaRPr lang="pt-BR" altLang="pt-BR" sz="1600" cap="small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63495" name="Rectangle 7">
            <a:extLst>
              <a:ext uri="{FF2B5EF4-FFF2-40B4-BE49-F238E27FC236}">
                <a16:creationId xmlns:a16="http://schemas.microsoft.com/office/drawing/2014/main" id="{90834A8C-831D-C693-1F53-D5CD9EC0A9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1982" y="5489185"/>
            <a:ext cx="7054138" cy="762000"/>
          </a:xfrm>
          <a:prstGeom prst="rect">
            <a:avLst/>
          </a:prstGeom>
          <a:solidFill>
            <a:schemeClr val="tx2">
              <a:lumMod val="50000"/>
              <a:alpha val="69019"/>
            </a:schemeClr>
          </a:solidFill>
          <a:ln w="9525"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>
            <a:flatTx/>
          </a:bodyPr>
          <a:lstStyle>
            <a:lvl1pPr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/>
            <a:r>
              <a:rPr lang="pt-BR" altLang="pt-BR" sz="2400" cap="small" dirty="0">
                <a:solidFill>
                  <a:schemeClr val="bg1"/>
                </a:solidFill>
                <a:latin typeface="Calibri" panose="020F0502020204030204" pitchFamily="34" charset="0"/>
              </a:rPr>
              <a:t>Apresentação dos resultados</a:t>
            </a:r>
            <a:endParaRPr lang="pt-BR" altLang="pt-BR" sz="1600" cap="small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2" name="Seta: Dobrada 1">
            <a:extLst>
              <a:ext uri="{FF2B5EF4-FFF2-40B4-BE49-F238E27FC236}">
                <a16:creationId xmlns:a16="http://schemas.microsoft.com/office/drawing/2014/main" id="{F6FCE08B-5689-CC6D-FD57-4CF3466ADB5C}"/>
              </a:ext>
            </a:extLst>
          </p:cNvPr>
          <p:cNvSpPr/>
          <p:nvPr/>
        </p:nvSpPr>
        <p:spPr>
          <a:xfrm rot="10800000" flipH="1">
            <a:off x="1892135" y="2517385"/>
            <a:ext cx="317472" cy="600511"/>
          </a:xfrm>
          <a:prstGeom prst="bentArrow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9" name="Seta: Dobrada 8">
            <a:extLst>
              <a:ext uri="{FF2B5EF4-FFF2-40B4-BE49-F238E27FC236}">
                <a16:creationId xmlns:a16="http://schemas.microsoft.com/office/drawing/2014/main" id="{BAACFA8C-BB10-20DF-73E5-2DFD6ECF53B0}"/>
              </a:ext>
            </a:extLst>
          </p:cNvPr>
          <p:cNvSpPr/>
          <p:nvPr/>
        </p:nvSpPr>
        <p:spPr>
          <a:xfrm rot="10800000" flipH="1">
            <a:off x="2292927" y="3450836"/>
            <a:ext cx="317472" cy="600511"/>
          </a:xfrm>
          <a:prstGeom prst="bentArrow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0" name="Seta: Dobrada 9">
            <a:extLst>
              <a:ext uri="{FF2B5EF4-FFF2-40B4-BE49-F238E27FC236}">
                <a16:creationId xmlns:a16="http://schemas.microsoft.com/office/drawing/2014/main" id="{1BA71F32-BD76-CB6E-7379-5623ED868C63}"/>
              </a:ext>
            </a:extLst>
          </p:cNvPr>
          <p:cNvSpPr/>
          <p:nvPr/>
        </p:nvSpPr>
        <p:spPr>
          <a:xfrm rot="10800000" flipH="1">
            <a:off x="2693719" y="4384287"/>
            <a:ext cx="317472" cy="600511"/>
          </a:xfrm>
          <a:prstGeom prst="bentArrow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1" name="Seta: Dobrada 10">
            <a:extLst>
              <a:ext uri="{FF2B5EF4-FFF2-40B4-BE49-F238E27FC236}">
                <a16:creationId xmlns:a16="http://schemas.microsoft.com/office/drawing/2014/main" id="{0BE4A549-7826-8A2B-D38F-4633575873B1}"/>
              </a:ext>
            </a:extLst>
          </p:cNvPr>
          <p:cNvSpPr/>
          <p:nvPr/>
        </p:nvSpPr>
        <p:spPr>
          <a:xfrm rot="10800000" flipH="1">
            <a:off x="3094511" y="5317738"/>
            <a:ext cx="317472" cy="600511"/>
          </a:xfrm>
          <a:prstGeom prst="bentArrow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D1B389E-E6CA-B918-A3B2-7E38A860E5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36032" y="816353"/>
            <a:ext cx="8229600" cy="341313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Autofit/>
          </a:bodyPr>
          <a:lstStyle/>
          <a:p>
            <a:pPr eaLnBrk="0" hangingPunct="0"/>
            <a:r>
              <a:rPr lang="pt-BR" altLang="pt-BR" sz="3200" cap="all" dirty="0">
                <a:latin typeface="+mn-lt"/>
              </a:rPr>
              <a:t>O processo de pesquisa</a:t>
            </a:r>
          </a:p>
        </p:txBody>
      </p:sp>
    </p:spTree>
    <p:extLst>
      <p:ext uri="{BB962C8B-B14F-4D97-AF65-F5344CB8AC3E}">
        <p14:creationId xmlns:p14="http://schemas.microsoft.com/office/powerpoint/2010/main" val="2850972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3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5" grpId="0" animBg="1"/>
      <p:bldP spid="1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1103319" y="513547"/>
            <a:ext cx="8319541" cy="966709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Autofit/>
          </a:bodyPr>
          <a:lstStyle/>
          <a:p>
            <a:pPr eaLnBrk="0" hangingPunct="0"/>
            <a:r>
              <a:rPr lang="pt-BR" altLang="pt-BR" sz="3200" cap="all" dirty="0">
                <a:latin typeface="+mn-lt"/>
              </a:rPr>
              <a:t>Uma boa pesquisa de marketing ...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idx="1"/>
          </p:nvPr>
        </p:nvSpPr>
        <p:spPr>
          <a:xfrm>
            <a:off x="1183432" y="1642265"/>
            <a:ext cx="9825135" cy="4702188"/>
          </a:xfrm>
        </p:spPr>
        <p:txBody>
          <a:bodyPr wrap="none" anchor="ctr">
            <a:normAutofit lnSpcReduction="10000"/>
          </a:bodyPr>
          <a:lstStyle/>
          <a:p>
            <a:pPr>
              <a:lnSpc>
                <a:spcPct val="14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pt-BR" altLang="pt-BR" sz="3200" b="1" cap="small" dirty="0">
                <a:latin typeface="Calibri" panose="020F0502020204030204" pitchFamily="34" charset="0"/>
              </a:rPr>
              <a:t> É científica.</a:t>
            </a:r>
          </a:p>
          <a:p>
            <a:pPr>
              <a:lnSpc>
                <a:spcPct val="14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pt-BR" altLang="pt-BR" sz="3200" b="1" cap="small" dirty="0">
                <a:latin typeface="Calibri" panose="020F0502020204030204" pitchFamily="34" charset="0"/>
              </a:rPr>
              <a:t> É criativa.</a:t>
            </a:r>
          </a:p>
          <a:p>
            <a:pPr>
              <a:lnSpc>
                <a:spcPct val="14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pt-BR" altLang="pt-BR" sz="3200" b="1" cap="small" dirty="0">
                <a:latin typeface="Calibri" panose="020F0502020204030204" pitchFamily="34" charset="0"/>
              </a:rPr>
              <a:t> Utiliza métodos múltiplos.</a:t>
            </a:r>
          </a:p>
          <a:p>
            <a:pPr>
              <a:lnSpc>
                <a:spcPct val="14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pt-BR" altLang="pt-BR" sz="3200" b="1" cap="small" dirty="0">
                <a:latin typeface="Calibri" panose="020F0502020204030204" pitchFamily="34" charset="0"/>
              </a:rPr>
              <a:t> Conjuga a interdependência dos modelos com os dados.</a:t>
            </a:r>
          </a:p>
          <a:p>
            <a:pPr>
              <a:lnSpc>
                <a:spcPct val="14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pt-BR" altLang="pt-BR" sz="3200" b="1" cap="small" dirty="0">
                <a:latin typeface="Calibri" panose="020F0502020204030204" pitchFamily="34" charset="0"/>
              </a:rPr>
              <a:t> Conhece o custo e o valor da informação.</a:t>
            </a:r>
          </a:p>
          <a:p>
            <a:pPr>
              <a:lnSpc>
                <a:spcPct val="14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pt-BR" altLang="pt-BR" sz="3200" b="1" cap="small" dirty="0">
                <a:latin typeface="Calibri" panose="020F0502020204030204" pitchFamily="34" charset="0"/>
              </a:rPr>
              <a:t> Mantém um ceticismo sadio.</a:t>
            </a:r>
          </a:p>
          <a:p>
            <a:pPr>
              <a:lnSpc>
                <a:spcPct val="14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pt-BR" altLang="pt-BR" sz="3200" b="1" cap="small" dirty="0">
                <a:latin typeface="Calibri" panose="020F0502020204030204" pitchFamily="34" charset="0"/>
              </a:rPr>
              <a:t> É ética.</a:t>
            </a:r>
          </a:p>
        </p:txBody>
      </p:sp>
    </p:spTree>
    <p:extLst>
      <p:ext uri="{BB962C8B-B14F-4D97-AF65-F5344CB8AC3E}">
        <p14:creationId xmlns:p14="http://schemas.microsoft.com/office/powerpoint/2010/main" val="36091537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7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7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7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624B4BB4-5545-4A56-8476-3885459EE6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6661" y="1802321"/>
            <a:ext cx="3515591" cy="1757796"/>
          </a:xfrm>
          <a:prstGeom prst="rect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DA8CC42B-0026-453A-8DF6-15D61CFF0F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232" y="2731008"/>
            <a:ext cx="2896568" cy="3739872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08FDDD69-8E9A-4302-903E-21F55920FE2E}"/>
              </a:ext>
            </a:extLst>
          </p:cNvPr>
          <p:cNvSpPr txBox="1"/>
          <p:nvPr/>
        </p:nvSpPr>
        <p:spPr>
          <a:xfrm>
            <a:off x="1855476" y="1322421"/>
            <a:ext cx="570402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cap="small" dirty="0"/>
              <a:t>Levantamento realizado com apoio de questionário </a:t>
            </a:r>
          </a:p>
          <a:p>
            <a:pPr marL="355600" indent="-177800">
              <a:buFont typeface="Arial" panose="020B0604020202020204" pitchFamily="34" charset="0"/>
              <a:buChar char="•"/>
            </a:pPr>
            <a:r>
              <a:rPr lang="pt-BR" sz="1600" b="1" cap="small" dirty="0"/>
              <a:t>Estruturado ou semiestruturado</a:t>
            </a:r>
          </a:p>
          <a:p>
            <a:pPr marL="355600" indent="-177800">
              <a:buFont typeface="Arial" panose="020B0604020202020204" pitchFamily="34" charset="0"/>
              <a:buChar char="•"/>
            </a:pPr>
            <a:r>
              <a:rPr lang="pt-BR" sz="1600" b="1" cap="small" dirty="0"/>
              <a:t>Qualitativo ou quantitativo</a:t>
            </a:r>
          </a:p>
          <a:p>
            <a:pPr marL="355600" indent="-177800">
              <a:buFont typeface="Arial" panose="020B0604020202020204" pitchFamily="34" charset="0"/>
              <a:buChar char="•"/>
            </a:pPr>
            <a:r>
              <a:rPr lang="pt-BR" sz="1600" b="1" cap="small" dirty="0"/>
              <a:t>Com questões abertas e questões fechadas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129CED0-1F4C-4191-A3CB-DC9F5E82B2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9202" y="4401892"/>
            <a:ext cx="2981033" cy="21494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F31C431-9765-45AD-90D5-6C890635C5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5548" y="3835239"/>
            <a:ext cx="1809408" cy="6650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00227C5C-A191-4B89-A0A4-C5580D85B2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4051" y="3252986"/>
            <a:ext cx="1313719" cy="7009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113305D6-B844-4D3E-98BA-A361C3BBAE15}"/>
              </a:ext>
            </a:extLst>
          </p:cNvPr>
          <p:cNvSpPr txBox="1"/>
          <p:nvPr/>
        </p:nvSpPr>
        <p:spPr>
          <a:xfrm>
            <a:off x="7649943" y="5014945"/>
            <a:ext cx="2730224" cy="10156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2000" b="1" cap="small" dirty="0"/>
              <a:t>Método mais adequado para alto volume de entrevistados e de dados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60B07654-A936-4804-B1D9-3B7EB51A6809}"/>
              </a:ext>
            </a:extLst>
          </p:cNvPr>
          <p:cNvSpPr txBox="1"/>
          <p:nvPr/>
        </p:nvSpPr>
        <p:spPr>
          <a:xfrm>
            <a:off x="7859670" y="1064540"/>
            <a:ext cx="24424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cap="small" dirty="0">
                <a:solidFill>
                  <a:schemeClr val="tx2"/>
                </a:solidFill>
              </a:rPr>
              <a:t>... Ou pode ser aplicado de forma digital</a:t>
            </a: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10D2E749-9A99-4822-8990-E3F34AEDEC5B}"/>
              </a:ext>
            </a:extLst>
          </p:cNvPr>
          <p:cNvSpPr/>
          <p:nvPr/>
        </p:nvSpPr>
        <p:spPr>
          <a:xfrm>
            <a:off x="7948551" y="1064539"/>
            <a:ext cx="2353583" cy="64633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CB9B5958-C32C-4B4C-82AF-4ECE494AB178}"/>
              </a:ext>
            </a:extLst>
          </p:cNvPr>
          <p:cNvSpPr/>
          <p:nvPr/>
        </p:nvSpPr>
        <p:spPr>
          <a:xfrm>
            <a:off x="1847232" y="1322421"/>
            <a:ext cx="5436300" cy="39945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C1E1E2C1-0BF7-41D3-AF3C-9C702602A66B}"/>
              </a:ext>
            </a:extLst>
          </p:cNvPr>
          <p:cNvCxnSpPr>
            <a:cxnSpLocks/>
            <a:stCxn id="14" idx="3"/>
            <a:endCxn id="2" idx="1"/>
          </p:cNvCxnSpPr>
          <p:nvPr/>
        </p:nvCxnSpPr>
        <p:spPr>
          <a:xfrm flipV="1">
            <a:off x="7283532" y="1387704"/>
            <a:ext cx="665018" cy="13444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21115DAD-7595-43CB-9609-A264DB9776F1}"/>
              </a:ext>
            </a:extLst>
          </p:cNvPr>
          <p:cNvSpPr/>
          <p:nvPr/>
        </p:nvSpPr>
        <p:spPr>
          <a:xfrm>
            <a:off x="7649943" y="3164001"/>
            <a:ext cx="2958682" cy="1433408"/>
          </a:xfrm>
          <a:prstGeom prst="roundRect">
            <a:avLst>
              <a:gd name="adj" fmla="val 4240"/>
            </a:avLst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B3621F1-B17E-28BE-53B9-F38030DB6BE2}"/>
              </a:ext>
            </a:extLst>
          </p:cNvPr>
          <p:cNvSpPr/>
          <p:nvPr/>
        </p:nvSpPr>
        <p:spPr>
          <a:xfrm>
            <a:off x="1143050" y="737316"/>
            <a:ext cx="6200800" cy="46166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Autofit/>
          </a:bodyPr>
          <a:lstStyle/>
          <a:p>
            <a:pPr defTabSz="457200" eaLnBrk="0" hangingPunct="0">
              <a:spcBef>
                <a:spcPct val="0"/>
              </a:spcBef>
            </a:pPr>
            <a:r>
              <a:rPr lang="pt-BR" altLang="pt-BR" sz="2800" b="1" cap="all" dirty="0">
                <a:ea typeface="+mj-ea"/>
                <a:cs typeface="+mj-cs"/>
              </a:rPr>
              <a:t>O método de </a:t>
            </a:r>
            <a:r>
              <a:rPr lang="pt-BR" altLang="pt-BR" sz="2800" b="1" cap="all" dirty="0" err="1">
                <a:ea typeface="+mj-ea"/>
                <a:cs typeface="+mj-cs"/>
              </a:rPr>
              <a:t>Survey</a:t>
            </a:r>
            <a:endParaRPr lang="pt-BR" altLang="pt-BR" sz="2800" b="1" cap="all" dirty="0">
              <a:ea typeface="+mj-ea"/>
              <a:cs typeface="+mj-cs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6CC619B3-7685-FF5A-E491-4F94D7EEB715}"/>
              </a:ext>
            </a:extLst>
          </p:cNvPr>
          <p:cNvSpPr txBox="1"/>
          <p:nvPr/>
        </p:nvSpPr>
        <p:spPr>
          <a:xfrm>
            <a:off x="4741709" y="3397712"/>
            <a:ext cx="22422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cap="small" dirty="0">
                <a:solidFill>
                  <a:schemeClr val="tx2"/>
                </a:solidFill>
              </a:rPr>
              <a:t>Pode ser usado em entrevista pessoal ou auto aplicado ...</a:t>
            </a:r>
          </a:p>
        </p:txBody>
      </p:sp>
    </p:spTree>
    <p:extLst>
      <p:ext uri="{BB962C8B-B14F-4D97-AF65-F5344CB8AC3E}">
        <p14:creationId xmlns:p14="http://schemas.microsoft.com/office/powerpoint/2010/main" val="2038384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4" grpId="0" animBg="1"/>
      <p:bldP spid="1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/>
          <p:cNvGraphicFramePr>
            <a:graphicFrameLocks noGrp="1"/>
          </p:cNvGraphicFramePr>
          <p:nvPr/>
        </p:nvGraphicFramePr>
        <p:xfrm>
          <a:off x="1850036" y="1302706"/>
          <a:ext cx="8579969" cy="512314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938832">
                  <a:extLst>
                    <a:ext uri="{9D8B030D-6E8A-4147-A177-3AD203B41FA5}">
                      <a16:colId xmlns:a16="http://schemas.microsoft.com/office/drawing/2014/main" val="3188293245"/>
                    </a:ext>
                  </a:extLst>
                </a:gridCol>
                <a:gridCol w="2610790">
                  <a:extLst>
                    <a:ext uri="{9D8B030D-6E8A-4147-A177-3AD203B41FA5}">
                      <a16:colId xmlns:a16="http://schemas.microsoft.com/office/drawing/2014/main" val="1100620018"/>
                    </a:ext>
                  </a:extLst>
                </a:gridCol>
                <a:gridCol w="4030347">
                  <a:extLst>
                    <a:ext uri="{9D8B030D-6E8A-4147-A177-3AD203B41FA5}">
                      <a16:colId xmlns:a16="http://schemas.microsoft.com/office/drawing/2014/main" val="2450819575"/>
                    </a:ext>
                  </a:extLst>
                </a:gridCol>
              </a:tblGrid>
              <a:tr h="640393">
                <a:tc gridSpan="3"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TIPOS DE PERGUNTAS FECHADAS</a:t>
                      </a:r>
                    </a:p>
                  </a:txBody>
                  <a:tcPr marL="68580" marR="68580" marT="34290" marB="34290" anchor="ctr"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970223"/>
                  </a:ext>
                </a:extLst>
              </a:tr>
              <a:tr h="640393">
                <a:tc>
                  <a:txBody>
                    <a:bodyPr/>
                    <a:lstStyle/>
                    <a:p>
                      <a:pPr algn="l"/>
                      <a:r>
                        <a:rPr lang="pt-BR" sz="1400" dirty="0"/>
                        <a:t>DICOTÔMICA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cap="small" dirty="0"/>
                        <a:t>Duas</a:t>
                      </a:r>
                      <a:r>
                        <a:rPr lang="pt-BR" sz="1400" cap="small" baseline="0" dirty="0"/>
                        <a:t> respostas possíveis</a:t>
                      </a:r>
                      <a:endParaRPr lang="pt-BR" sz="1400" cap="small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00" cap="small" dirty="0"/>
                        <a:t>Sim / Não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611038141"/>
                  </a:ext>
                </a:extLst>
              </a:tr>
              <a:tr h="640393">
                <a:tc>
                  <a:txBody>
                    <a:bodyPr/>
                    <a:lstStyle/>
                    <a:p>
                      <a:pPr algn="l"/>
                      <a:r>
                        <a:rPr lang="pt-BR" sz="1400" dirty="0"/>
                        <a:t>MULTIPLA</a:t>
                      </a:r>
                      <a:r>
                        <a:rPr lang="pt-BR" sz="1400" baseline="0" dirty="0"/>
                        <a:t> ESCOLHA</a:t>
                      </a:r>
                      <a:endParaRPr lang="pt-BR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cap="small" dirty="0"/>
                        <a:t>Questão</a:t>
                      </a:r>
                      <a:r>
                        <a:rPr lang="pt-BR" sz="1400" cap="small" baseline="0" dirty="0"/>
                        <a:t> com 2 ou mais respostas possíveis</a:t>
                      </a:r>
                      <a:endParaRPr lang="pt-BR" sz="1400" cap="small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cap="small" baseline="0" dirty="0"/>
                        <a:t>Múltiplas opções de resposta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296790664"/>
                  </a:ext>
                </a:extLst>
              </a:tr>
              <a:tr h="640393">
                <a:tc>
                  <a:txBody>
                    <a:bodyPr/>
                    <a:lstStyle/>
                    <a:p>
                      <a:pPr algn="l"/>
                      <a:r>
                        <a:rPr lang="pt-BR" sz="1400" dirty="0"/>
                        <a:t>ESCALA LIKERT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cap="small" dirty="0"/>
                        <a:t>Indicação</a:t>
                      </a:r>
                      <a:r>
                        <a:rPr lang="pt-BR" sz="1400" cap="small" baseline="0" dirty="0"/>
                        <a:t> de concordância/ discordância com escala </a:t>
                      </a:r>
                      <a:endParaRPr lang="pt-BR" sz="1400" cap="small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00" cap="small" dirty="0"/>
                        <a:t>  Discordo       </a:t>
                      </a:r>
                      <a:r>
                        <a:rPr lang="pt-BR" sz="1200" cap="small" dirty="0" err="1"/>
                        <a:t>Discordo</a:t>
                      </a:r>
                      <a:r>
                        <a:rPr lang="pt-BR" sz="1200" cap="small" dirty="0"/>
                        <a:t>    Neutro      Concordo    </a:t>
                      </a:r>
                      <a:r>
                        <a:rPr lang="pt-BR" sz="1200" cap="small" dirty="0" err="1"/>
                        <a:t>Concordo</a:t>
                      </a:r>
                      <a:endParaRPr lang="pt-BR" sz="1200" cap="small" dirty="0"/>
                    </a:p>
                    <a:p>
                      <a:pPr algn="l"/>
                      <a:r>
                        <a:rPr lang="pt-BR" sz="1200" cap="small" dirty="0"/>
                        <a:t>Totalmente                                                                </a:t>
                      </a:r>
                      <a:r>
                        <a:rPr lang="pt-BR" sz="1200" cap="small" dirty="0" err="1"/>
                        <a:t>Totalmente</a:t>
                      </a:r>
                      <a:endParaRPr lang="pt-BR" sz="1200" cap="small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740542049"/>
                  </a:ext>
                </a:extLst>
              </a:tr>
              <a:tr h="640393">
                <a:tc>
                  <a:txBody>
                    <a:bodyPr/>
                    <a:lstStyle/>
                    <a:p>
                      <a:pPr algn="l"/>
                      <a:r>
                        <a:rPr lang="pt-BR" sz="1400" dirty="0"/>
                        <a:t>DIFERENCIAL SEMANTICO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cap="small" dirty="0"/>
                        <a:t>Escala</a:t>
                      </a:r>
                      <a:r>
                        <a:rPr lang="pt-BR" sz="1400" cap="small" baseline="0" dirty="0"/>
                        <a:t> que liga duas palavras bipolares</a:t>
                      </a:r>
                      <a:endParaRPr lang="pt-BR" sz="1400" cap="small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cap="small" dirty="0"/>
                        <a:t>Grande</a:t>
                      </a:r>
                      <a:r>
                        <a:rPr lang="pt-BR" sz="1400" cap="small" baseline="0" dirty="0"/>
                        <a:t> _____________________________Pequeno</a:t>
                      </a:r>
                      <a:endParaRPr lang="pt-BR" sz="1400" cap="small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751975942"/>
                  </a:ext>
                </a:extLst>
              </a:tr>
              <a:tr h="640393">
                <a:tc>
                  <a:txBody>
                    <a:bodyPr/>
                    <a:lstStyle/>
                    <a:p>
                      <a:pPr algn="l"/>
                      <a:r>
                        <a:rPr lang="pt-BR" sz="1400" dirty="0"/>
                        <a:t>ESCALA DE IMPORTÂNCIA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cap="small" dirty="0"/>
                        <a:t>Escala</a:t>
                      </a:r>
                      <a:r>
                        <a:rPr lang="pt-BR" sz="1400" cap="small" baseline="0" dirty="0"/>
                        <a:t> que mede a importância dada a um determinado atributo</a:t>
                      </a:r>
                      <a:endParaRPr lang="pt-BR" sz="1400" cap="small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cap="small" dirty="0"/>
                        <a:t>Extremamente</a:t>
                      </a:r>
                      <a:r>
                        <a:rPr lang="pt-BR" sz="1000" cap="small" baseline="0" dirty="0"/>
                        <a:t> </a:t>
                      </a:r>
                      <a:r>
                        <a:rPr lang="pt-BR" sz="1000" cap="small" dirty="0"/>
                        <a:t>     Muito           Alguma            Pouco         Totalmente</a:t>
                      </a:r>
                      <a:r>
                        <a:rPr lang="pt-BR" sz="1000" cap="small" baseline="0" dirty="0"/>
                        <a:t> sem</a:t>
                      </a:r>
                      <a:endParaRPr lang="pt-BR" sz="1000" cap="small" dirty="0"/>
                    </a:p>
                    <a:p>
                      <a:pPr algn="l"/>
                      <a:r>
                        <a:rPr lang="pt-BR" sz="1000" cap="small" dirty="0"/>
                        <a:t>   Importante</a:t>
                      </a:r>
                      <a:r>
                        <a:rPr lang="pt-BR" sz="1000" cap="small" baseline="0" dirty="0"/>
                        <a:t>     </a:t>
                      </a:r>
                      <a:r>
                        <a:rPr lang="pt-BR" sz="1000" cap="small" baseline="0" dirty="0" err="1"/>
                        <a:t>Importante</a:t>
                      </a:r>
                      <a:r>
                        <a:rPr lang="pt-BR" sz="1000" cap="small" dirty="0"/>
                        <a:t>    Importância   Importante       Importância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4097800970"/>
                  </a:ext>
                </a:extLst>
              </a:tr>
              <a:tr h="640393">
                <a:tc>
                  <a:txBody>
                    <a:bodyPr/>
                    <a:lstStyle/>
                    <a:p>
                      <a:pPr algn="l"/>
                      <a:r>
                        <a:rPr lang="pt-BR" sz="1400" dirty="0"/>
                        <a:t>ESCALA DE CLASSIFICAÇÃO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cap="small" dirty="0"/>
                        <a:t>Escala</a:t>
                      </a:r>
                      <a:r>
                        <a:rPr lang="pt-BR" sz="1400" cap="small" baseline="0" dirty="0"/>
                        <a:t> que classifica algum atributo de “excelente” a “ruim”</a:t>
                      </a:r>
                      <a:endParaRPr lang="pt-BR" sz="1400" cap="small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cap="small" dirty="0"/>
                        <a:t>Excelente</a:t>
                      </a:r>
                      <a:r>
                        <a:rPr lang="pt-BR" sz="1400" cap="small" baseline="0" dirty="0"/>
                        <a:t> </a:t>
                      </a:r>
                      <a:r>
                        <a:rPr lang="pt-BR" sz="1400" cap="small" dirty="0"/>
                        <a:t>      Bom       Razoável        Ruim       Péssimo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831037043"/>
                  </a:ext>
                </a:extLst>
              </a:tr>
              <a:tr h="640393">
                <a:tc>
                  <a:txBody>
                    <a:bodyPr/>
                    <a:lstStyle/>
                    <a:p>
                      <a:pPr algn="l"/>
                      <a:r>
                        <a:rPr lang="pt-BR" sz="1400" dirty="0"/>
                        <a:t>ESCALA</a:t>
                      </a:r>
                      <a:r>
                        <a:rPr lang="pt-BR" sz="1400" baseline="0" dirty="0"/>
                        <a:t> DE INTENÇÃO DE COMPRA</a:t>
                      </a:r>
                      <a:endParaRPr lang="pt-BR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cap="small" dirty="0"/>
                        <a:t>Escala que descreve a intenção de compra do</a:t>
                      </a:r>
                      <a:r>
                        <a:rPr lang="pt-BR" sz="1400" cap="small" baseline="0" dirty="0"/>
                        <a:t> entrevistado</a:t>
                      </a:r>
                      <a:endParaRPr lang="pt-BR" sz="1400" cap="small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u="none" strike="noStrike" kern="1200" cap="small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Certamente    Provavelmente     Não tenho    Provavelmente     Certamente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u="none" strike="noStrike" kern="1200" cap="small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 Usaria                  </a:t>
                      </a:r>
                      <a:r>
                        <a:rPr kumimoji="0" lang="pt-BR" sz="1000" u="none" strike="noStrike" kern="1200" cap="small" spc="0" normalizeH="0" baseline="0" noProof="0" dirty="0" err="1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Usaria</a:t>
                      </a:r>
                      <a:r>
                        <a:rPr kumimoji="0" lang="pt-BR" sz="1000" u="none" strike="noStrike" kern="1200" cap="small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             certeza          não usaria           não usaria</a:t>
                      </a:r>
                      <a:endParaRPr lang="pt-BR" sz="1400" cap="small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297194468"/>
                  </a:ext>
                </a:extLst>
              </a:tr>
            </a:tbl>
          </a:graphicData>
        </a:graphic>
      </p:graphicFrame>
      <p:sp>
        <p:nvSpPr>
          <p:cNvPr id="6" name="Rectangle 2">
            <a:extLst>
              <a:ext uri="{FF2B5EF4-FFF2-40B4-BE49-F238E27FC236}">
                <a16:creationId xmlns:a16="http://schemas.microsoft.com/office/drawing/2014/main" id="{C203BCC6-DF3E-4F9D-A9CA-EF5B9857ACF4}"/>
              </a:ext>
            </a:extLst>
          </p:cNvPr>
          <p:cNvSpPr txBox="1">
            <a:spLocks noChangeArrowheads="1"/>
          </p:cNvSpPr>
          <p:nvPr/>
        </p:nvSpPr>
        <p:spPr>
          <a:xfrm>
            <a:off x="1163886" y="777793"/>
            <a:ext cx="8229600" cy="34131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eaLnBrk="0" hangingPunct="0"/>
            <a:r>
              <a:rPr lang="pt-BR" altLang="pt-BR" cap="all" dirty="0">
                <a:latin typeface="+mn-lt"/>
              </a:rPr>
              <a:t>A MONTAGEM DO QUESTIONÁRIO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24DC552-F39A-4180-8D96-9DCC080582FA}"/>
              </a:ext>
            </a:extLst>
          </p:cNvPr>
          <p:cNvSpPr txBox="1"/>
          <p:nvPr/>
        </p:nvSpPr>
        <p:spPr>
          <a:xfrm>
            <a:off x="7996052" y="6451738"/>
            <a:ext cx="1397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Fonte: Kotler</a:t>
            </a:r>
          </a:p>
        </p:txBody>
      </p:sp>
    </p:spTree>
    <p:extLst>
      <p:ext uri="{BB962C8B-B14F-4D97-AF65-F5344CB8AC3E}">
        <p14:creationId xmlns:p14="http://schemas.microsoft.com/office/powerpoint/2010/main" val="30906334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/>
          <p:cNvGraphicFramePr>
            <a:graphicFrameLocks noGrp="1"/>
          </p:cNvGraphicFramePr>
          <p:nvPr/>
        </p:nvGraphicFramePr>
        <p:xfrm>
          <a:off x="1850036" y="1465545"/>
          <a:ext cx="8579969" cy="502467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46684">
                  <a:extLst>
                    <a:ext uri="{9D8B030D-6E8A-4147-A177-3AD203B41FA5}">
                      <a16:colId xmlns:a16="http://schemas.microsoft.com/office/drawing/2014/main" val="3188293245"/>
                    </a:ext>
                  </a:extLst>
                </a:gridCol>
                <a:gridCol w="2824958">
                  <a:extLst>
                    <a:ext uri="{9D8B030D-6E8A-4147-A177-3AD203B41FA5}">
                      <a16:colId xmlns:a16="http://schemas.microsoft.com/office/drawing/2014/main" val="1100620018"/>
                    </a:ext>
                  </a:extLst>
                </a:gridCol>
                <a:gridCol w="4008327">
                  <a:extLst>
                    <a:ext uri="{9D8B030D-6E8A-4147-A177-3AD203B41FA5}">
                      <a16:colId xmlns:a16="http://schemas.microsoft.com/office/drawing/2014/main" val="2450819575"/>
                    </a:ext>
                  </a:extLst>
                </a:gridCol>
              </a:tblGrid>
              <a:tr h="678799">
                <a:tc gridSpan="3"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TIPOS DE PERGUNTAS ABERTAS</a:t>
                      </a:r>
                    </a:p>
                  </a:txBody>
                  <a:tcPr marL="68580" marR="68580" marT="34290" marB="34290" anchor="ctr"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970223"/>
                  </a:ext>
                </a:extLst>
              </a:tr>
              <a:tr h="678799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COMPLETAMENTE</a:t>
                      </a:r>
                      <a:r>
                        <a:rPr lang="pt-BR" sz="1400" baseline="0" dirty="0"/>
                        <a:t> NÃO ESTRUTURADA</a:t>
                      </a:r>
                      <a:endParaRPr lang="pt-BR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cap="small" dirty="0"/>
                        <a:t>Admite</a:t>
                      </a:r>
                      <a:r>
                        <a:rPr lang="pt-BR" sz="1400" cap="small" baseline="0" dirty="0"/>
                        <a:t> diversas formas de resposta</a:t>
                      </a:r>
                      <a:endParaRPr lang="pt-BR" sz="1400" cap="small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cap="small" dirty="0"/>
                        <a:t>Qual sua</a:t>
                      </a:r>
                      <a:r>
                        <a:rPr lang="pt-BR" sz="1400" cap="small" baseline="0" dirty="0"/>
                        <a:t> opinião...</a:t>
                      </a:r>
                      <a:endParaRPr lang="pt-BR" sz="1400" cap="small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611038141"/>
                  </a:ext>
                </a:extLst>
              </a:tr>
              <a:tr h="678799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ASSOCIAÇÃO</a:t>
                      </a:r>
                      <a:r>
                        <a:rPr lang="pt-BR" sz="1400" baseline="0" dirty="0"/>
                        <a:t> DE PALAVRAS</a:t>
                      </a:r>
                      <a:endParaRPr lang="pt-BR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cap="small" dirty="0"/>
                        <a:t>Apresenta</a:t>
                      </a:r>
                      <a:r>
                        <a:rPr lang="pt-BR" sz="1400" cap="small" baseline="0" dirty="0"/>
                        <a:t> palavras e pede qual palavra vem a cabeça a partir dessa</a:t>
                      </a:r>
                      <a:endParaRPr lang="pt-BR" sz="1400" cap="small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cap="small" baseline="0" dirty="0"/>
                        <a:t>Companhia Aérea __________________________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296790664"/>
                  </a:ext>
                </a:extLst>
              </a:tr>
              <a:tr h="678799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COMPLEMENTAÇÃO DE FRASE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cap="small" dirty="0"/>
                        <a:t>Frase incompleta para ser completada</a:t>
                      </a:r>
                      <a:r>
                        <a:rPr lang="pt-BR" sz="1400" cap="small" baseline="0" dirty="0"/>
                        <a:t> pelo entrevistado</a:t>
                      </a:r>
                      <a:endParaRPr lang="pt-BR" sz="1400" cap="small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00" cap="small" dirty="0"/>
                        <a:t>  </a:t>
                      </a:r>
                      <a:r>
                        <a:rPr lang="pt-BR" sz="1400" cap="small" dirty="0"/>
                        <a:t>Quando escolho uma</a:t>
                      </a:r>
                      <a:r>
                        <a:rPr lang="pt-BR" sz="1400" cap="small" baseline="0" dirty="0"/>
                        <a:t> Cia aérea procuro ________</a:t>
                      </a:r>
                      <a:endParaRPr lang="pt-BR" sz="1400" cap="small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740542049"/>
                  </a:ext>
                </a:extLst>
              </a:tr>
              <a:tr h="6787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COMPLEMENTAÇÃO </a:t>
                      </a:r>
                      <a:r>
                        <a:rPr lang="pt-BR" sz="1400"/>
                        <a:t>DE HISTÓRIA</a:t>
                      </a:r>
                      <a:endParaRPr lang="pt-BR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cap="small" dirty="0"/>
                        <a:t>História incompleta para ser completada</a:t>
                      </a:r>
                      <a:r>
                        <a:rPr lang="pt-BR" sz="1400" cap="small" baseline="0" dirty="0"/>
                        <a:t> pelo entrevistado</a:t>
                      </a:r>
                      <a:endParaRPr lang="pt-BR" sz="1400" cap="small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cap="small" dirty="0"/>
                        <a:t>Na última vez que viajei de avião _______________</a:t>
                      </a:r>
                    </a:p>
                    <a:p>
                      <a:pPr algn="l"/>
                      <a:r>
                        <a:rPr lang="pt-BR" sz="1400" cap="small" dirty="0"/>
                        <a:t>__________________________________________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751975942"/>
                  </a:ext>
                </a:extLst>
              </a:tr>
              <a:tr h="8123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/>
                        <a:t>COMPLEMENTAÇÃO DE FIGURA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cap="small" dirty="0"/>
                        <a:t>Figura apresentada com 2 personagens onde um afirma</a:t>
                      </a:r>
                      <a:r>
                        <a:rPr lang="pt-BR" sz="1400" cap="small" baseline="0" dirty="0"/>
                        <a:t> algo. O entrevistado preenche o outro balão com a reação</a:t>
                      </a:r>
                      <a:endParaRPr lang="pt-BR" sz="1400" cap="small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endParaRPr lang="pt-BR" sz="1000" cap="small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4097800970"/>
                  </a:ext>
                </a:extLst>
              </a:tr>
              <a:tr h="678799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TESTE DE PERCEPÇÃO TEMÁTICA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cap="small" dirty="0"/>
                        <a:t>A</a:t>
                      </a:r>
                      <a:r>
                        <a:rPr lang="pt-BR" sz="1400" cap="small" baseline="0" dirty="0"/>
                        <a:t> partir de uma figura apresentada o entrevistado deve inventar uma história</a:t>
                      </a:r>
                      <a:endParaRPr lang="pt-BR" sz="1400" cap="small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endParaRPr lang="pt-BR" sz="1400" cap="small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831037043"/>
                  </a:ext>
                </a:extLst>
              </a:tr>
            </a:tbl>
          </a:graphicData>
        </a:graphic>
      </p:graphicFrame>
      <p:sp>
        <p:nvSpPr>
          <p:cNvPr id="9" name="CaixaDeTexto 8">
            <a:extLst>
              <a:ext uri="{FF2B5EF4-FFF2-40B4-BE49-F238E27FC236}">
                <a16:creationId xmlns:a16="http://schemas.microsoft.com/office/drawing/2014/main" id="{0E891A63-4EF8-498C-B6E3-953108ED0178}"/>
              </a:ext>
            </a:extLst>
          </p:cNvPr>
          <p:cNvSpPr txBox="1"/>
          <p:nvPr/>
        </p:nvSpPr>
        <p:spPr>
          <a:xfrm>
            <a:off x="7996052" y="6451738"/>
            <a:ext cx="1397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Fonte: Kotler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5F3BD8D-F66F-0F11-05A8-91EF8FCDE46C}"/>
              </a:ext>
            </a:extLst>
          </p:cNvPr>
          <p:cNvSpPr txBox="1">
            <a:spLocks noChangeArrowheads="1"/>
          </p:cNvSpPr>
          <p:nvPr/>
        </p:nvSpPr>
        <p:spPr>
          <a:xfrm>
            <a:off x="1163886" y="777793"/>
            <a:ext cx="8229600" cy="34131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eaLnBrk="0" hangingPunct="0"/>
            <a:r>
              <a:rPr lang="pt-BR" altLang="pt-BR" cap="all" dirty="0">
                <a:latin typeface="+mn-lt"/>
              </a:rPr>
              <a:t>A MONTAGEM DO QUESTIONÁRIO</a:t>
            </a:r>
          </a:p>
        </p:txBody>
      </p:sp>
    </p:spTree>
    <p:extLst>
      <p:ext uri="{BB962C8B-B14F-4D97-AF65-F5344CB8AC3E}">
        <p14:creationId xmlns:p14="http://schemas.microsoft.com/office/powerpoint/2010/main" val="27069327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D8215F23-20EE-4268-A39E-F476E5C4F629}"/>
              </a:ext>
            </a:extLst>
          </p:cNvPr>
          <p:cNvSpPr/>
          <p:nvPr/>
        </p:nvSpPr>
        <p:spPr>
          <a:xfrm>
            <a:off x="2665203" y="1307803"/>
            <a:ext cx="6861595" cy="4972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2" algn="ctr">
              <a:spcAft>
                <a:spcPts val="900"/>
              </a:spcAft>
            </a:pPr>
            <a:r>
              <a:rPr lang="pt-BR" sz="3200" b="1" cap="small" dirty="0">
                <a:solidFill>
                  <a:schemeClr val="tx1"/>
                </a:solidFill>
              </a:rPr>
              <a:t>CUIDADOS NA MONTAGEM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9434807-0450-44D7-AAE0-C11903279814}"/>
              </a:ext>
            </a:extLst>
          </p:cNvPr>
          <p:cNvSpPr txBox="1"/>
          <p:nvPr/>
        </p:nvSpPr>
        <p:spPr>
          <a:xfrm>
            <a:off x="1950721" y="1957979"/>
            <a:ext cx="8229600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pt-BR" sz="2000" b="1" cap="small" dirty="0"/>
              <a:t>Certifique-se de que as perguntas não sejam tendenciosas</a:t>
            </a:r>
            <a:r>
              <a:rPr lang="pt-BR" cap="small" dirty="0"/>
              <a:t>. Não induza o entrevistado a uma reposta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pt-BR" sz="2000" b="1" cap="small" dirty="0"/>
              <a:t>Não faça perguntas complexas</a:t>
            </a:r>
            <a:r>
              <a:rPr lang="pt-BR" cap="small" dirty="0"/>
              <a:t>. Perguntas que incluem múltiplas ideias ou duas questões em uma só confundem os entrevistados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pt-BR" sz="2000" b="1" cap="small" dirty="0"/>
              <a:t>Faça perguntas específicas</a:t>
            </a:r>
            <a:r>
              <a:rPr lang="pt-BR" cap="small" dirty="0"/>
              <a:t>. Em alguns casos é aconselhável acrescentar dicas de memória. Por exemplo, seja específico com períodos de tempo.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pt-BR" sz="2000" b="1" cap="small" dirty="0"/>
              <a:t>Evite jargões ou abreviações</a:t>
            </a:r>
            <a:r>
              <a:rPr lang="pt-BR" cap="small" dirty="0"/>
              <a:t>. Evite expressões e siglas que não sejam de conhecimento geral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pt-BR" sz="2000" b="1" cap="small" dirty="0"/>
              <a:t>Evite palavras sofisticadas ou incomuns</a:t>
            </a:r>
            <a:r>
              <a:rPr lang="pt-BR" cap="small" dirty="0"/>
              <a:t>. Use apenas palavras corriqueiras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pt-BR" sz="2000" b="1" cap="small" dirty="0"/>
              <a:t>Evite palavras ambíguas</a:t>
            </a:r>
            <a:r>
              <a:rPr lang="pt-BR" cap="small" dirty="0"/>
              <a:t>. Palavras como “normalmente” ou “frequentemente” não possuem significado específico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pt-BR" sz="2000" b="1" cap="small" dirty="0"/>
              <a:t>Evite perguntas que incluam uma negação</a:t>
            </a:r>
            <a:r>
              <a:rPr lang="pt-BR" cap="small" dirty="0"/>
              <a:t>. É melhor dizer “Você já...” do que dizer “Você nunca”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A434B01-7129-4A2C-9C38-154AEC13CFEA}"/>
              </a:ext>
            </a:extLst>
          </p:cNvPr>
          <p:cNvSpPr txBox="1"/>
          <p:nvPr/>
        </p:nvSpPr>
        <p:spPr>
          <a:xfrm>
            <a:off x="7996052" y="6451738"/>
            <a:ext cx="1397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Fonte: Kotler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C72F39D-3E68-51A1-8854-274AA56BA268}"/>
              </a:ext>
            </a:extLst>
          </p:cNvPr>
          <p:cNvSpPr txBox="1">
            <a:spLocks noChangeArrowheads="1"/>
          </p:cNvSpPr>
          <p:nvPr/>
        </p:nvSpPr>
        <p:spPr>
          <a:xfrm>
            <a:off x="1163886" y="777793"/>
            <a:ext cx="8229600" cy="34131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eaLnBrk="0" hangingPunct="0"/>
            <a:r>
              <a:rPr lang="pt-BR" altLang="pt-BR" cap="all" dirty="0">
                <a:latin typeface="+mn-lt"/>
              </a:rPr>
              <a:t>A MONTAGEM DO QUESTIONÁRIO</a:t>
            </a:r>
          </a:p>
        </p:txBody>
      </p:sp>
    </p:spTree>
    <p:extLst>
      <p:ext uri="{BB962C8B-B14F-4D97-AF65-F5344CB8AC3E}">
        <p14:creationId xmlns:p14="http://schemas.microsoft.com/office/powerpoint/2010/main" val="4124742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9434807-0450-44D7-AAE0-C11903279814}"/>
              </a:ext>
            </a:extLst>
          </p:cNvPr>
          <p:cNvSpPr txBox="1"/>
          <p:nvPr/>
        </p:nvSpPr>
        <p:spPr>
          <a:xfrm>
            <a:off x="1950721" y="2074831"/>
            <a:ext cx="8527274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55600">
              <a:spcAft>
                <a:spcPts val="600"/>
              </a:spcAft>
              <a:buFont typeface="+mj-lt"/>
              <a:buAutoNum type="arabicPeriod" startAt="8"/>
            </a:pPr>
            <a:r>
              <a:rPr lang="pt-BR" sz="2000" b="1" cap="small" dirty="0"/>
              <a:t>Evite perguntas hipotéticas</a:t>
            </a:r>
            <a:r>
              <a:rPr lang="pt-BR" cap="small" dirty="0"/>
              <a:t>. É difícil responder a perguntas sobre situações imaginárias, pois as repostas não são necessariamente confiáveis.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 startAt="8"/>
            </a:pPr>
            <a:r>
              <a:rPr lang="pt-BR" sz="2000" b="1" cap="small" dirty="0"/>
              <a:t>Não use palavras de sonoridade ambígua</a:t>
            </a:r>
            <a:r>
              <a:rPr lang="pt-BR" cap="small" dirty="0"/>
              <a:t>. Isso é mais importante especialmente em entrevistas por telefone. “Qual sua opinião sobre os pleitos?” pode resultar em respostas interessantes, mas não necessariamente relevantes...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 startAt="8"/>
            </a:pPr>
            <a:r>
              <a:rPr lang="pt-BR" sz="2000" b="1" cap="small" dirty="0"/>
              <a:t>Use faixas de valores para perguntas delicadas</a:t>
            </a:r>
            <a:r>
              <a:rPr lang="pt-BR" cap="small" dirty="0"/>
              <a:t>. Ao perguntar sobre idade, salário, nível de faturamento, por exemplo, o melhor é oferecer opções de faixas de valores.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 startAt="8"/>
            </a:pPr>
            <a:r>
              <a:rPr lang="pt-BR" sz="2000" b="1" cap="small" dirty="0"/>
              <a:t>Certifique-se que os itens de resposta de múltipla escolha não se sobreponham</a:t>
            </a:r>
            <a:r>
              <a:rPr lang="pt-BR" cap="small" dirty="0"/>
              <a:t>. Procure usar categorias sequenciais e não se sobrepor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 startAt="8"/>
            </a:pPr>
            <a:r>
              <a:rPr lang="pt-BR" sz="2000" b="1" cap="small" dirty="0"/>
              <a:t>Inclua o item “outros” em perguntas fechadas com opções predefinidas</a:t>
            </a:r>
            <a:r>
              <a:rPr lang="pt-BR" cap="small" dirty="0"/>
              <a:t>. Respostas predefinidas sempre devem oferecer uma alternativa a tudo que foi listado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76B854F-3FCF-447D-88EA-54515F7FD6DD}"/>
              </a:ext>
            </a:extLst>
          </p:cNvPr>
          <p:cNvSpPr txBox="1"/>
          <p:nvPr/>
        </p:nvSpPr>
        <p:spPr>
          <a:xfrm>
            <a:off x="7996052" y="6451738"/>
            <a:ext cx="1397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Fonte: Kotler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F3A3CBF-0EBE-0FE5-DC63-046AB05F166F}"/>
              </a:ext>
            </a:extLst>
          </p:cNvPr>
          <p:cNvSpPr/>
          <p:nvPr/>
        </p:nvSpPr>
        <p:spPr>
          <a:xfrm>
            <a:off x="2665203" y="1307803"/>
            <a:ext cx="6861595" cy="4972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2" algn="ctr">
              <a:spcAft>
                <a:spcPts val="900"/>
              </a:spcAft>
            </a:pPr>
            <a:r>
              <a:rPr lang="pt-BR" sz="3200" b="1" cap="small" dirty="0">
                <a:solidFill>
                  <a:schemeClr val="tx1"/>
                </a:solidFill>
              </a:rPr>
              <a:t>CUIDADOS NA MONTAGEM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348EFE5-F7CD-E9D1-8615-03E0F0361E01}"/>
              </a:ext>
            </a:extLst>
          </p:cNvPr>
          <p:cNvSpPr txBox="1">
            <a:spLocks noChangeArrowheads="1"/>
          </p:cNvSpPr>
          <p:nvPr/>
        </p:nvSpPr>
        <p:spPr>
          <a:xfrm>
            <a:off x="1163886" y="777793"/>
            <a:ext cx="8229600" cy="34131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eaLnBrk="0" hangingPunct="0"/>
            <a:r>
              <a:rPr lang="pt-BR" altLang="pt-BR" cap="all" dirty="0">
                <a:latin typeface="+mn-lt"/>
              </a:rPr>
              <a:t>A MONTAGEM DO QUESTIONÁRIO</a:t>
            </a:r>
          </a:p>
        </p:txBody>
      </p:sp>
    </p:spTree>
    <p:extLst>
      <p:ext uri="{BB962C8B-B14F-4D97-AF65-F5344CB8AC3E}">
        <p14:creationId xmlns:p14="http://schemas.microsoft.com/office/powerpoint/2010/main" val="20640962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D4F26E2-6737-4D39-A4FA-C8757C8A962C}"/>
              </a:ext>
            </a:extLst>
          </p:cNvPr>
          <p:cNvSpPr/>
          <p:nvPr/>
        </p:nvSpPr>
        <p:spPr>
          <a:xfrm>
            <a:off x="1766047" y="1339460"/>
            <a:ext cx="8659906" cy="52382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2" algn="ctr">
              <a:spcAft>
                <a:spcPts val="900"/>
              </a:spcAft>
            </a:pPr>
            <a:r>
              <a:rPr lang="pt-BR" sz="3600" u="sng" cap="small" dirty="0">
                <a:solidFill>
                  <a:schemeClr val="tx1"/>
                </a:solidFill>
              </a:rPr>
              <a:t>O que verificar no teste</a:t>
            </a:r>
            <a:endParaRPr lang="pt-BR" sz="600" cap="small" dirty="0">
              <a:solidFill>
                <a:schemeClr val="tx1"/>
              </a:solidFill>
            </a:endParaRPr>
          </a:p>
          <a:p>
            <a:pPr marL="457200" lvl="2" indent="-457200">
              <a:buFont typeface="+mj-lt"/>
              <a:buAutoNum type="arabicPeriod"/>
            </a:pPr>
            <a:r>
              <a:rPr lang="pt-BR" sz="2400" cap="small" dirty="0">
                <a:solidFill>
                  <a:schemeClr val="tx1"/>
                </a:solidFill>
              </a:rPr>
              <a:t>O questionário é coerente com o objetivo da pesquisa? </a:t>
            </a:r>
          </a:p>
          <a:p>
            <a:pPr marL="457200" lvl="3">
              <a:spcAft>
                <a:spcPts val="600"/>
              </a:spcAft>
            </a:pPr>
            <a:r>
              <a:rPr lang="pt-BR" i="1" cap="small" dirty="0">
                <a:solidFill>
                  <a:schemeClr val="tx1"/>
                </a:solidFill>
              </a:rPr>
              <a:t>Esta avaliação será melhor realizada ao final do teste, analisando-se as respostas obtidas</a:t>
            </a:r>
          </a:p>
          <a:p>
            <a:pPr marL="457200" lvl="2" indent="-457200">
              <a:buFont typeface="+mj-lt"/>
              <a:buAutoNum type="arabicPeriod"/>
            </a:pPr>
            <a:r>
              <a:rPr lang="pt-BR" sz="2400" cap="small" dirty="0">
                <a:solidFill>
                  <a:schemeClr val="tx1"/>
                </a:solidFill>
              </a:rPr>
              <a:t>As perguntas são claras e objetivas?</a:t>
            </a:r>
          </a:p>
          <a:p>
            <a:pPr marL="457200" lvl="3">
              <a:spcAft>
                <a:spcPts val="600"/>
              </a:spcAft>
            </a:pPr>
            <a:r>
              <a:rPr lang="pt-BR" i="1" cap="small" dirty="0">
                <a:solidFill>
                  <a:schemeClr val="tx1"/>
                </a:solidFill>
              </a:rPr>
              <a:t>Este é o chamado teste cognitivo. Os entrevistados entenderam as perguntas?</a:t>
            </a:r>
          </a:p>
          <a:p>
            <a:pPr marL="457200" lvl="2" indent="-457200">
              <a:buFont typeface="+mj-lt"/>
              <a:buAutoNum type="arabicPeriod"/>
            </a:pPr>
            <a:r>
              <a:rPr lang="pt-BR" sz="2400" cap="small" dirty="0">
                <a:solidFill>
                  <a:schemeClr val="tx1"/>
                </a:solidFill>
              </a:rPr>
              <a:t>Abrangência das perguntas foi adequada?</a:t>
            </a:r>
          </a:p>
          <a:p>
            <a:pPr marL="457200" lvl="3">
              <a:spcAft>
                <a:spcPts val="600"/>
              </a:spcAft>
            </a:pPr>
            <a:r>
              <a:rPr lang="pt-BR" i="1" cap="small" dirty="0">
                <a:solidFill>
                  <a:schemeClr val="tx1"/>
                </a:solidFill>
              </a:rPr>
              <a:t>Também será melhor realizada ao final do teste</a:t>
            </a:r>
            <a:endParaRPr lang="pt-BR" sz="2400" i="1" cap="small" dirty="0">
              <a:solidFill>
                <a:schemeClr val="tx1"/>
              </a:solidFill>
            </a:endParaRPr>
          </a:p>
          <a:p>
            <a:pPr marL="457200" lvl="2" indent="-457200">
              <a:buFont typeface="+mj-lt"/>
              <a:buAutoNum type="arabicPeriod"/>
            </a:pPr>
            <a:r>
              <a:rPr lang="pt-BR" sz="2400" cap="small" dirty="0">
                <a:solidFill>
                  <a:schemeClr val="tx1"/>
                </a:solidFill>
              </a:rPr>
              <a:t>O tamanho do questionário está adequado?</a:t>
            </a:r>
          </a:p>
          <a:p>
            <a:pPr marL="457200" lvl="3">
              <a:spcAft>
                <a:spcPts val="600"/>
              </a:spcAft>
            </a:pPr>
            <a:r>
              <a:rPr lang="pt-BR" i="1" cap="small" dirty="0">
                <a:solidFill>
                  <a:schemeClr val="tx1"/>
                </a:solidFill>
              </a:rPr>
              <a:t>Analise o tempo de aplicação e a paciência dos entrevistados ...</a:t>
            </a:r>
          </a:p>
          <a:p>
            <a:pPr marL="457200" lvl="2" indent="-457200">
              <a:buFont typeface="+mj-lt"/>
              <a:buAutoNum type="arabicPeriod"/>
            </a:pPr>
            <a:r>
              <a:rPr lang="pt-BR" sz="2400" cap="small" dirty="0">
                <a:solidFill>
                  <a:schemeClr val="tx1"/>
                </a:solidFill>
              </a:rPr>
              <a:t>Tipo das perguntas estava adequado?</a:t>
            </a:r>
          </a:p>
          <a:p>
            <a:pPr marL="457200" lvl="3">
              <a:spcAft>
                <a:spcPts val="600"/>
              </a:spcAft>
            </a:pPr>
            <a:r>
              <a:rPr lang="pt-BR" i="1" cap="small" dirty="0">
                <a:solidFill>
                  <a:schemeClr val="tx1"/>
                </a:solidFill>
              </a:rPr>
              <a:t>Verifique a adequação de acordo com as respostas e com as dúvidas dos entrevistados</a:t>
            </a:r>
          </a:p>
          <a:p>
            <a:pPr marL="457200" lvl="2" indent="-457200">
              <a:buFont typeface="+mj-lt"/>
              <a:buAutoNum type="arabicPeriod"/>
            </a:pPr>
            <a:r>
              <a:rPr lang="pt-BR" sz="2400" cap="small" dirty="0">
                <a:solidFill>
                  <a:schemeClr val="tx1"/>
                </a:solidFill>
              </a:rPr>
              <a:t>Perguntas fechadas tem todas as respostas relevantes? </a:t>
            </a:r>
          </a:p>
          <a:p>
            <a:pPr marL="457200" lvl="3">
              <a:spcAft>
                <a:spcPts val="600"/>
              </a:spcAft>
            </a:pPr>
            <a:r>
              <a:rPr lang="pt-BR" i="1" cap="small" dirty="0">
                <a:solidFill>
                  <a:schemeClr val="tx1"/>
                </a:solidFill>
              </a:rPr>
              <a:t>Veja se é necessário incluir ou revisar as opções e não se esqueça de incluir a opção  “outros”, “não sei” ou “nenhum” se a questão exigir</a:t>
            </a:r>
          </a:p>
          <a:p>
            <a:pPr marL="1006079" lvl="2">
              <a:spcAft>
                <a:spcPts val="900"/>
              </a:spcAft>
            </a:pPr>
            <a:endParaRPr lang="pt-BR" sz="2800" cap="small" dirty="0">
              <a:solidFill>
                <a:schemeClr val="tx1"/>
              </a:solidFill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1764333-A37B-461D-BE90-B1DBB9B24736}"/>
              </a:ext>
            </a:extLst>
          </p:cNvPr>
          <p:cNvSpPr txBox="1">
            <a:spLocks noChangeArrowheads="1"/>
          </p:cNvSpPr>
          <p:nvPr/>
        </p:nvSpPr>
        <p:spPr>
          <a:xfrm>
            <a:off x="1144806" y="813562"/>
            <a:ext cx="8229600" cy="34131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eaLnBrk="0" hangingPunct="0"/>
            <a:r>
              <a:rPr lang="pt-BR" altLang="pt-BR" cap="all" dirty="0">
                <a:latin typeface="+mn-lt"/>
              </a:rPr>
              <a:t>Validação e Teste do questionário</a:t>
            </a:r>
          </a:p>
        </p:txBody>
      </p:sp>
    </p:spTree>
    <p:extLst>
      <p:ext uri="{BB962C8B-B14F-4D97-AF65-F5344CB8AC3E}">
        <p14:creationId xmlns:p14="http://schemas.microsoft.com/office/powerpoint/2010/main" val="20373668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D4F26E2-6737-4D39-A4FA-C8757C8A962C}"/>
              </a:ext>
            </a:extLst>
          </p:cNvPr>
          <p:cNvSpPr/>
          <p:nvPr/>
        </p:nvSpPr>
        <p:spPr>
          <a:xfrm>
            <a:off x="1686646" y="1484121"/>
            <a:ext cx="8621485" cy="47037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2" algn="ctr">
              <a:spcAft>
                <a:spcPts val="900"/>
              </a:spcAft>
            </a:pPr>
            <a:r>
              <a:rPr lang="pt-BR" sz="3200" u="sng" cap="small" dirty="0">
                <a:solidFill>
                  <a:schemeClr val="tx1"/>
                </a:solidFill>
              </a:rPr>
              <a:t>Como fazer</a:t>
            </a:r>
            <a:endParaRPr lang="pt-BR" sz="500" cap="small" dirty="0">
              <a:solidFill>
                <a:schemeClr val="tx1"/>
              </a:solidFill>
            </a:endParaRPr>
          </a:p>
          <a:p>
            <a:pPr marL="457200" lvl="2" indent="-457200">
              <a:spcAft>
                <a:spcPts val="600"/>
              </a:spcAft>
              <a:buFont typeface="+mj-lt"/>
              <a:buAutoNum type="arabicPeriod"/>
            </a:pPr>
            <a:r>
              <a:rPr lang="pt-BR" sz="2000" cap="small" dirty="0">
                <a:solidFill>
                  <a:schemeClr val="tx1"/>
                </a:solidFill>
              </a:rPr>
              <a:t>Faça uma boa revisão de texto (Erros de português minam a credibilidade)</a:t>
            </a:r>
          </a:p>
          <a:p>
            <a:pPr marL="457200" lvl="2" indent="-457200">
              <a:spcAft>
                <a:spcPts val="600"/>
              </a:spcAft>
              <a:buFont typeface="+mj-lt"/>
              <a:buAutoNum type="arabicPeriod"/>
            </a:pPr>
            <a:r>
              <a:rPr lang="pt-BR" sz="2000" cap="small" dirty="0">
                <a:solidFill>
                  <a:schemeClr val="tx1"/>
                </a:solidFill>
              </a:rPr>
              <a:t>Inclua um texto inicial esclarecendo do que trata a entrevista</a:t>
            </a:r>
          </a:p>
          <a:p>
            <a:pPr marL="457200" lvl="2" indent="-457200">
              <a:spcAft>
                <a:spcPts val="600"/>
              </a:spcAft>
              <a:buFont typeface="+mj-lt"/>
              <a:buAutoNum type="arabicPeriod"/>
            </a:pPr>
            <a:r>
              <a:rPr lang="pt-BR" sz="2000" cap="small" dirty="0">
                <a:solidFill>
                  <a:schemeClr val="tx1"/>
                </a:solidFill>
              </a:rPr>
              <a:t>Selecione uma pequena amostra de respondentes do universo de pesquisa. Se quiser faça um pré-teste no próprio grupo.</a:t>
            </a:r>
          </a:p>
          <a:p>
            <a:pPr marL="457200" lvl="2" indent="-457200">
              <a:spcAft>
                <a:spcPts val="600"/>
              </a:spcAft>
              <a:buFont typeface="+mj-lt"/>
              <a:buAutoNum type="arabicPeriod"/>
            </a:pPr>
            <a:r>
              <a:rPr lang="pt-BR" sz="2000" cap="small" dirty="0">
                <a:solidFill>
                  <a:schemeClr val="tx1"/>
                </a:solidFill>
              </a:rPr>
              <a:t>Imprima uma copia do questionário, se possível, para anotações</a:t>
            </a:r>
          </a:p>
          <a:p>
            <a:pPr marL="457200" lvl="2" indent="-457200">
              <a:spcAft>
                <a:spcPts val="600"/>
              </a:spcAft>
              <a:buFont typeface="+mj-lt"/>
              <a:buAutoNum type="arabicPeriod"/>
            </a:pPr>
            <a:r>
              <a:rPr lang="pt-BR" sz="2000" cap="small" dirty="0">
                <a:solidFill>
                  <a:schemeClr val="tx1"/>
                </a:solidFill>
              </a:rPr>
              <a:t>Faça o teste de forma oral, lendo as questões exatamente como estão escritas, sem complementos ou esclarecimentos (sugiro apenas um ou dois aplicadores)</a:t>
            </a:r>
          </a:p>
          <a:p>
            <a:pPr marL="457200" lvl="2" indent="-457200">
              <a:spcAft>
                <a:spcPts val="600"/>
              </a:spcAft>
              <a:buFont typeface="+mj-lt"/>
              <a:buAutoNum type="arabicPeriod"/>
            </a:pPr>
            <a:r>
              <a:rPr lang="pt-BR" sz="2000" cap="small" dirty="0">
                <a:solidFill>
                  <a:schemeClr val="tx1"/>
                </a:solidFill>
              </a:rPr>
              <a:t>Anote as dúvidas ou observações que surgirem durante a aplicação e se achar necessário altere as questões entre uma aplicação e outra</a:t>
            </a:r>
          </a:p>
          <a:p>
            <a:pPr marL="457200" lvl="2" indent="-457200">
              <a:spcAft>
                <a:spcPts val="600"/>
              </a:spcAft>
              <a:buFont typeface="+mj-lt"/>
              <a:buAutoNum type="arabicPeriod"/>
            </a:pPr>
            <a:r>
              <a:rPr lang="pt-BR" sz="2000" cap="small" dirty="0">
                <a:solidFill>
                  <a:schemeClr val="tx1"/>
                </a:solidFill>
              </a:rPr>
              <a:t>Lembre-se que seu objetivo é verificar os itens listados no slide anterior</a:t>
            </a:r>
          </a:p>
          <a:p>
            <a:pPr marL="457200" lvl="2" indent="-457200">
              <a:spcAft>
                <a:spcPts val="600"/>
              </a:spcAft>
              <a:buFont typeface="+mj-lt"/>
              <a:buAutoNum type="arabicPeriod"/>
            </a:pPr>
            <a:r>
              <a:rPr lang="pt-BR" sz="2000" cap="small" dirty="0">
                <a:solidFill>
                  <a:schemeClr val="tx1"/>
                </a:solidFill>
              </a:rPr>
              <a:t>Revisem as respostas e as anotações e gerem a versão definitiva do questionário</a:t>
            </a:r>
            <a:endParaRPr lang="pt-BR" sz="2400" cap="small" dirty="0">
              <a:solidFill>
                <a:schemeClr val="tx1"/>
              </a:solidFill>
            </a:endParaRPr>
          </a:p>
          <a:p>
            <a:pPr marL="1006079" lvl="2">
              <a:spcAft>
                <a:spcPts val="900"/>
              </a:spcAft>
            </a:pPr>
            <a:endParaRPr lang="pt-BR" sz="2400" cap="small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9CF535-62AE-B6F8-276F-5A0F48EA70DC}"/>
              </a:ext>
            </a:extLst>
          </p:cNvPr>
          <p:cNvSpPr txBox="1">
            <a:spLocks noChangeArrowheads="1"/>
          </p:cNvSpPr>
          <p:nvPr/>
        </p:nvSpPr>
        <p:spPr>
          <a:xfrm>
            <a:off x="1144806" y="813562"/>
            <a:ext cx="8229600" cy="34131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eaLnBrk="0" hangingPunct="0"/>
            <a:r>
              <a:rPr lang="pt-BR" altLang="pt-BR" cap="all" dirty="0">
                <a:latin typeface="+mn-lt"/>
              </a:rPr>
              <a:t>Validação e Teste do questionário</a:t>
            </a:r>
          </a:p>
        </p:txBody>
      </p:sp>
    </p:spTree>
    <p:extLst>
      <p:ext uri="{BB962C8B-B14F-4D97-AF65-F5344CB8AC3E}">
        <p14:creationId xmlns:p14="http://schemas.microsoft.com/office/powerpoint/2010/main" val="41316702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D0BF386-E370-A99F-E51E-3B6C3F43B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A966C0C7-3859-0C53-6FF3-580618FB7D96}"/>
              </a:ext>
            </a:extLst>
          </p:cNvPr>
          <p:cNvSpPr/>
          <p:nvPr/>
        </p:nvSpPr>
        <p:spPr>
          <a:xfrm>
            <a:off x="1333403" y="675642"/>
            <a:ext cx="8673424" cy="5757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sz="3200" b="1" cap="small" dirty="0">
                <a:solidFill>
                  <a:srgbClr val="C00000"/>
                </a:solidFill>
              </a:rPr>
              <a:t>Exercício de montagem de questionário</a:t>
            </a:r>
            <a:endParaRPr lang="pt-BR" sz="2400" b="1" cap="small" dirty="0">
              <a:solidFill>
                <a:schemeClr val="tx1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B1D82D1-971A-A75B-7814-D311891638A1}"/>
              </a:ext>
            </a:extLst>
          </p:cNvPr>
          <p:cNvSpPr txBox="1"/>
          <p:nvPr/>
        </p:nvSpPr>
        <p:spPr>
          <a:xfrm>
            <a:off x="2199053" y="1303432"/>
            <a:ext cx="7793895" cy="4885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cap="small" dirty="0"/>
              <a:t>Contexto e motivação da pesquisa</a:t>
            </a:r>
          </a:p>
          <a:p>
            <a:endParaRPr lang="pt-BR" sz="1050" b="1" cap="small" dirty="0"/>
          </a:p>
          <a:p>
            <a:r>
              <a:rPr lang="pt-BR" sz="1600" cap="small" dirty="0"/>
              <a:t>Somos uma empresa atuante no segmento de </a:t>
            </a:r>
            <a:r>
              <a:rPr lang="pt-BR" sz="1600" b="1" cap="small" dirty="0"/>
              <a:t>Consultoria em Inteligência Artificial</a:t>
            </a:r>
            <a:r>
              <a:rPr lang="pt-BR" sz="1600" cap="small" dirty="0"/>
              <a:t>, que presta serviços à empresas dos mais diversos ramos que desejam tirar proveito dessa poderosa ferramenta na modernização e potencialização de suas estratégias.</a:t>
            </a:r>
          </a:p>
          <a:p>
            <a:endParaRPr lang="pt-BR" sz="1050" cap="small" dirty="0"/>
          </a:p>
          <a:p>
            <a:r>
              <a:rPr lang="pt-BR" sz="1600" cap="small" dirty="0"/>
              <a:t>Nosso projeto atual é junto a um cliente do ramo de serviços que tem como público-alvo jovens de todos os gêneros, e que deseja aplicar IA no seu atendimento, tanto online quanto físico, substituindo integralmente o atendimento humano nessa atividade.</a:t>
            </a:r>
          </a:p>
          <a:p>
            <a:endParaRPr lang="pt-BR" sz="1050" cap="small" dirty="0"/>
          </a:p>
          <a:p>
            <a:r>
              <a:rPr lang="pt-BR" sz="1600" cap="small" dirty="0"/>
              <a:t>O principal medo de nosso cliente é uma possível rejeição dos jovens quanto ao uso intensivo de IA na interação, em detrimento do atendimento pessoal, ou mesmo uma mobilização dessa faixa da população, contrária à sua estratégia e ao processo de redução da oferta de vagas de trabalho com a crescente transformação dos negócios, substituindo mão de obra humana por robôs e outros agentes de IA.</a:t>
            </a:r>
          </a:p>
          <a:p>
            <a:endParaRPr lang="pt-BR" sz="1050" cap="small" dirty="0"/>
          </a:p>
          <a:p>
            <a:r>
              <a:rPr lang="pt-BR" sz="1600" cap="small" dirty="0"/>
              <a:t>Sendo assim, antes de iniciar o projeto de adoção de IA, nosso cliente pediu que realizássemos uma pesquisa junto a seu público-alvo para mapear sua percepção sobre o futuro da sociedade e do mundo dos negócios, impactado pelo crescimento da aplicação da Inteligência Artificial e da robotização.</a:t>
            </a:r>
          </a:p>
        </p:txBody>
      </p:sp>
    </p:spTree>
    <p:extLst>
      <p:ext uri="{BB962C8B-B14F-4D97-AF65-F5344CB8AC3E}">
        <p14:creationId xmlns:p14="http://schemas.microsoft.com/office/powerpoint/2010/main" val="370034066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670E6B2-71CB-C140-3F09-6736974D7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aixaDeTexto 12">
            <a:extLst>
              <a:ext uri="{FF2B5EF4-FFF2-40B4-BE49-F238E27FC236}">
                <a16:creationId xmlns:a16="http://schemas.microsoft.com/office/drawing/2014/main" id="{825B4B2D-818D-C8D9-7E50-BB1AD41F2BC3}"/>
              </a:ext>
            </a:extLst>
          </p:cNvPr>
          <p:cNvSpPr txBox="1"/>
          <p:nvPr/>
        </p:nvSpPr>
        <p:spPr>
          <a:xfrm>
            <a:off x="2212912" y="1287122"/>
            <a:ext cx="7518343" cy="5586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7175" indent="-257175" algn="just">
              <a:spcAft>
                <a:spcPts val="900"/>
              </a:spcAft>
              <a:buFont typeface="+mj-lt"/>
              <a:buAutoNum type="arabicPeriod"/>
              <a:defRPr/>
            </a:pPr>
            <a:r>
              <a:rPr lang="pt-BR" sz="2000" b="1" cap="small" dirty="0">
                <a:solidFill>
                  <a:prstClr val="black"/>
                </a:solidFill>
                <a:latin typeface="Calibri"/>
              </a:rPr>
              <a:t>Objetivo da pesquisa</a:t>
            </a:r>
          </a:p>
          <a:p>
            <a:pPr marL="800100" lvl="1" indent="-342900" algn="just">
              <a:spcAft>
                <a:spcPts val="900"/>
              </a:spcAft>
              <a:buFont typeface="Arial" panose="020B0604020202020204" pitchFamily="34" charset="0"/>
              <a:buChar char="•"/>
              <a:defRPr/>
            </a:pPr>
            <a:r>
              <a:rPr lang="pt-BR" sz="1600" cap="small" dirty="0">
                <a:solidFill>
                  <a:prstClr val="black"/>
                </a:solidFill>
                <a:latin typeface="Calibri"/>
              </a:rPr>
              <a:t>Baseado no contexto apresentado, defina em um único parágrafo qual será o objetivo de sua pesquisa</a:t>
            </a:r>
          </a:p>
          <a:p>
            <a:pPr marL="257175" indent="-257175" algn="just">
              <a:spcAft>
                <a:spcPts val="900"/>
              </a:spcAft>
              <a:buFont typeface="+mj-lt"/>
              <a:buAutoNum type="arabicPeriod"/>
              <a:defRPr/>
            </a:pPr>
            <a:r>
              <a:rPr lang="pt-BR" sz="2000" b="1" cap="small" dirty="0">
                <a:solidFill>
                  <a:prstClr val="black"/>
                </a:solidFill>
                <a:latin typeface="Calibri"/>
              </a:rPr>
              <a:t>Definição do Plano de Amostragem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  <a:defRPr/>
            </a:pPr>
            <a:r>
              <a:rPr lang="pt-BR" sz="1600" cap="small" dirty="0">
                <a:solidFill>
                  <a:prstClr val="black"/>
                </a:solidFill>
                <a:latin typeface="Calibri"/>
              </a:rPr>
              <a:t>Defina um plano de amostragem levando em conta que a empresa tem como  foco a região da grande São Paulo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  <a:defRPr/>
            </a:pPr>
            <a:r>
              <a:rPr lang="pt-BR" sz="1600" cap="small" dirty="0">
                <a:solidFill>
                  <a:prstClr val="black"/>
                </a:solidFill>
                <a:latin typeface="Calibri"/>
              </a:rPr>
              <a:t>Deixe claro o perfil da amostra (publico), seu tamanho e distribuição (ao menos para 3 diferentes grupos de amostra)</a:t>
            </a:r>
          </a:p>
          <a:p>
            <a:pPr marL="742950" lvl="1" indent="-285750" algn="just">
              <a:spcAft>
                <a:spcPts val="900"/>
              </a:spcAft>
              <a:buFont typeface="Arial" panose="020B0604020202020204" pitchFamily="34" charset="0"/>
              <a:buChar char="•"/>
              <a:defRPr/>
            </a:pPr>
            <a:r>
              <a:rPr lang="pt-BR" dirty="0">
                <a:hlinkClick r:id="rId2"/>
              </a:rPr>
              <a:t>https://pt.surveymonkey.com/mp/sample-size-calculator/</a:t>
            </a:r>
            <a:endParaRPr lang="pt-BR" sz="1600" cap="small" dirty="0">
              <a:solidFill>
                <a:prstClr val="black"/>
              </a:solidFill>
              <a:latin typeface="Calibri"/>
            </a:endParaRPr>
          </a:p>
          <a:p>
            <a:pPr marL="257175" indent="-257175" algn="just">
              <a:spcAft>
                <a:spcPts val="900"/>
              </a:spcAft>
              <a:buFont typeface="+mj-lt"/>
              <a:buAutoNum type="arabicPeriod"/>
              <a:defRPr/>
            </a:pPr>
            <a:r>
              <a:rPr lang="pt-BR" sz="2000" b="1" cap="small" dirty="0">
                <a:solidFill>
                  <a:prstClr val="black"/>
                </a:solidFill>
                <a:latin typeface="Calibri"/>
              </a:rPr>
              <a:t>Elaboração do Questionário</a:t>
            </a:r>
          </a:p>
          <a:p>
            <a:pPr marL="800100" lvl="1" indent="-342900" algn="just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pt-BR" sz="1600" cap="small" dirty="0">
                <a:solidFill>
                  <a:prstClr val="black"/>
                </a:solidFill>
                <a:latin typeface="Calibri"/>
              </a:rPr>
              <a:t>Redijam um paragrafo de apresentação da pesquisa que deverá ser apresentado aos entrevistados no inicio do questionário</a:t>
            </a:r>
          </a:p>
          <a:p>
            <a:pPr marL="800100" lvl="1" indent="-342900" algn="just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pt-BR" sz="1600" cap="small" dirty="0">
                <a:solidFill>
                  <a:prstClr val="black"/>
                </a:solidFill>
                <a:latin typeface="Calibri"/>
              </a:rPr>
              <a:t>Elaborem 6 questões coerentes com o objetivo da pesquisa e complementares entre si, de modo que suas respostas possam ser analisadas em conjunto. </a:t>
            </a:r>
          </a:p>
          <a:p>
            <a:pPr marL="1257300" lvl="2" indent="-342900" algn="just">
              <a:buFont typeface="Wingdings" panose="05000000000000000000" pitchFamily="2" charset="2"/>
              <a:buChar char="Ø"/>
              <a:defRPr/>
            </a:pPr>
            <a:r>
              <a:rPr lang="pt-BR" sz="1600" cap="small" dirty="0">
                <a:solidFill>
                  <a:prstClr val="black"/>
                </a:solidFill>
                <a:latin typeface="Calibri"/>
              </a:rPr>
              <a:t>3 questões que permitam a classificação dos entrevistados</a:t>
            </a:r>
          </a:p>
          <a:p>
            <a:pPr marL="1257300" lvl="2" indent="-342900" algn="just">
              <a:buFont typeface="Wingdings" panose="05000000000000000000" pitchFamily="2" charset="2"/>
              <a:buChar char="Ø"/>
              <a:defRPr/>
            </a:pPr>
            <a:r>
              <a:rPr lang="pt-BR" sz="1600" cap="small" dirty="0">
                <a:solidFill>
                  <a:prstClr val="black"/>
                </a:solidFill>
                <a:latin typeface="Calibri"/>
              </a:rPr>
              <a:t>1 questão de múltipla escolha sobre o tema</a:t>
            </a:r>
          </a:p>
          <a:p>
            <a:pPr marL="1257300" lvl="2" indent="-342900" algn="just">
              <a:buFont typeface="Wingdings" panose="05000000000000000000" pitchFamily="2" charset="2"/>
              <a:buChar char="Ø"/>
              <a:defRPr/>
            </a:pPr>
            <a:r>
              <a:rPr lang="pt-BR" sz="1600" cap="small" dirty="0">
                <a:solidFill>
                  <a:prstClr val="black"/>
                </a:solidFill>
                <a:latin typeface="Calibri"/>
              </a:rPr>
              <a:t>1 de escala de valores sobre o tema</a:t>
            </a:r>
          </a:p>
          <a:p>
            <a:pPr marL="1257300" lvl="2" indent="-342900" algn="just"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lang="pt-BR" sz="1600" cap="small" dirty="0">
                <a:solidFill>
                  <a:prstClr val="black"/>
                </a:solidFill>
                <a:latin typeface="Calibri"/>
              </a:rPr>
              <a:t>1 com resposta aberta sobre o tema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AF07B3F-8B99-B4D8-FC8D-FCD5B7C1B6FC}"/>
              </a:ext>
            </a:extLst>
          </p:cNvPr>
          <p:cNvSpPr/>
          <p:nvPr/>
        </p:nvSpPr>
        <p:spPr>
          <a:xfrm>
            <a:off x="1333403" y="675642"/>
            <a:ext cx="8673424" cy="5757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sz="3200" b="1" cap="small" dirty="0">
                <a:solidFill>
                  <a:srgbClr val="C00000"/>
                </a:solidFill>
              </a:rPr>
              <a:t>Exercício de montagem de questionário</a:t>
            </a:r>
            <a:endParaRPr lang="pt-BR" sz="2400" b="1" cap="small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912474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1894</TotalTime>
  <Words>2989</Words>
  <Application>Microsoft Office PowerPoint</Application>
  <PresentationFormat>Widescreen</PresentationFormat>
  <Paragraphs>442</Paragraphs>
  <Slides>40</Slides>
  <Notes>23</Notes>
  <HiddenSlides>5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40</vt:i4>
      </vt:variant>
    </vt:vector>
  </HeadingPairs>
  <TitlesOfParts>
    <vt:vector size="48" baseType="lpstr">
      <vt:lpstr>Aptos</vt:lpstr>
      <vt:lpstr>Aptos Display</vt:lpstr>
      <vt:lpstr>Arial</vt:lpstr>
      <vt:lpstr>Calibri</vt:lpstr>
      <vt:lpstr>Gotham-Bold</vt:lpstr>
      <vt:lpstr>Wingdings</vt:lpstr>
      <vt:lpstr>Tema do Office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O processo de pesquisa</vt:lpstr>
      <vt:lpstr>O processo de pesquisa</vt:lpstr>
      <vt:lpstr>Apresentação do PowerPoint</vt:lpstr>
      <vt:lpstr>Definição do problema e objetivos da pesquisa</vt:lpstr>
      <vt:lpstr>Apresentação do PowerPoint</vt:lpstr>
      <vt:lpstr>Apresentação do PowerPoint</vt:lpstr>
      <vt:lpstr>Apresentação do PowerPoint</vt:lpstr>
      <vt:lpstr>Apresentação do PowerPoint</vt:lpstr>
      <vt:lpstr>Escolha do método de pesquisa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Definição dos instrumentos de pesquisa</vt:lpstr>
      <vt:lpstr>Apresentação do PowerPoint</vt:lpstr>
      <vt:lpstr>Definição do plano de amostragem</vt:lpstr>
      <vt:lpstr>Apresentação do PowerPoint</vt:lpstr>
      <vt:lpstr>O processo de pesquisa</vt:lpstr>
      <vt:lpstr>O processo de pesquisa</vt:lpstr>
      <vt:lpstr>Uma boa pesquisa de marketing ...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José Henrique Dell'Osso Cordeiro</dc:creator>
  <cp:lastModifiedBy>José Henrique Dell'Osso Cordeiro</cp:lastModifiedBy>
  <cp:revision>34</cp:revision>
  <cp:lastPrinted>2026-02-13T22:07:38Z</cp:lastPrinted>
  <dcterms:created xsi:type="dcterms:W3CDTF">2025-02-03T19:38:09Z</dcterms:created>
  <dcterms:modified xsi:type="dcterms:W3CDTF">2026-03-31T23:58:41Z</dcterms:modified>
</cp:coreProperties>
</file>