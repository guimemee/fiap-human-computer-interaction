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39"/>
  </p:notesMasterIdLst>
  <p:handoutMasterIdLst>
    <p:handoutMasterId r:id="rId40"/>
  </p:handoutMasterIdLst>
  <p:sldIdLst>
    <p:sldId id="256" r:id="rId6"/>
    <p:sldId id="266" r:id="rId7"/>
    <p:sldId id="386" r:id="rId8"/>
    <p:sldId id="389" r:id="rId9"/>
    <p:sldId id="385" r:id="rId10"/>
    <p:sldId id="326" r:id="rId11"/>
    <p:sldId id="387" r:id="rId12"/>
    <p:sldId id="379" r:id="rId13"/>
    <p:sldId id="390" r:id="rId14"/>
    <p:sldId id="388" r:id="rId15"/>
    <p:sldId id="327" r:id="rId16"/>
    <p:sldId id="328" r:id="rId17"/>
    <p:sldId id="329" r:id="rId18"/>
    <p:sldId id="330" r:id="rId19"/>
    <p:sldId id="331" r:id="rId20"/>
    <p:sldId id="377" r:id="rId21"/>
    <p:sldId id="378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81" r:id="rId30"/>
    <p:sldId id="340" r:id="rId31"/>
    <p:sldId id="341" r:id="rId32"/>
    <p:sldId id="342" r:id="rId33"/>
    <p:sldId id="343" r:id="rId34"/>
    <p:sldId id="344" r:id="rId35"/>
    <p:sldId id="345" r:id="rId36"/>
    <p:sldId id="380" r:id="rId37"/>
    <p:sldId id="265" r:id="rId3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5F4EE"/>
    <a:srgbClr val="FFCC99"/>
    <a:srgbClr val="F0265D"/>
    <a:srgbClr val="F6F6F6"/>
    <a:srgbClr val="EBAFB5"/>
    <a:srgbClr val="F4D3D6"/>
    <a:srgbClr val="F9E8EA"/>
    <a:srgbClr val="0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87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3543" y="4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ustomXml" Target="../customXml/item2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159DCF-2A53-416A-AFC7-C14A87F19D21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9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DADB87-9503-4EE9-A8D2-FC230C2D8DBC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45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DADB87-9503-4EE9-A8D2-FC230C2D8DBC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845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911963"/>
            <a:ext cx="4576305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503980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771A93E-B440-4403-AED2-B4EB82B470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B0FC110-69A9-4E69-A533-474F77BD5C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483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3546A4-1C41-4D83-90AB-AEA9A18883BF}" type="datetimeFigureOut">
              <a:rPr lang="pt-BR" smtClean="0"/>
              <a:pPr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B90BDFD-6BFE-4DB9-B9EE-A328AD2E34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36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551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3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 userDrawn="1"/>
        </p:nvPicPr>
        <p:blipFill rotWithShape="1">
          <a:blip r:embed="rId3"/>
          <a:srcRect l="21776" r="21705"/>
          <a:stretch/>
        </p:blipFill>
        <p:spPr>
          <a:xfrm>
            <a:off x="-11651" y="2329273"/>
            <a:ext cx="9155651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2" name="TextBox 14"/>
          <p:cNvSpPr txBox="1"/>
          <p:nvPr userDrawn="1"/>
        </p:nvSpPr>
        <p:spPr>
          <a:xfrm>
            <a:off x="632919" y="6295596"/>
            <a:ext cx="36170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303030"/>
                </a:solidFill>
                <a:latin typeface="Gotham-Bold"/>
                <a:cs typeface="Gotham-Bold"/>
              </a:rPr>
              <a:t>Versão</a:t>
            </a: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 4.0 – Agosto/2026</a:t>
            </a:r>
          </a:p>
        </p:txBody>
      </p:sp>
      <p:sp>
        <p:nvSpPr>
          <p:cNvPr id="14" name="TextBox 15"/>
          <p:cNvSpPr txBox="1"/>
          <p:nvPr userDrawn="1"/>
        </p:nvSpPr>
        <p:spPr>
          <a:xfrm>
            <a:off x="1006056" y="3024439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 DE COMPUTAÇÃO</a:t>
            </a: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5" name="Rectangle 22"/>
          <p:cNvSpPr/>
          <p:nvPr userDrawn="1"/>
        </p:nvSpPr>
        <p:spPr>
          <a:xfrm flipH="1">
            <a:off x="754365" y="3141713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-35688" y="6619101"/>
            <a:ext cx="1656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cap="small" dirty="0">
                <a:solidFill>
                  <a:srgbClr val="002060"/>
                </a:solidFill>
              </a:rPr>
              <a:t>Engenharia de Negócios</a:t>
            </a:r>
          </a:p>
        </p:txBody>
      </p:sp>
      <p:sp>
        <p:nvSpPr>
          <p:cNvPr id="12" name="CaixaDeTexto 11"/>
          <p:cNvSpPr txBox="1"/>
          <p:nvPr userDrawn="1"/>
        </p:nvSpPr>
        <p:spPr>
          <a:xfrm>
            <a:off x="7991114" y="6619101"/>
            <a:ext cx="1093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cap="small" dirty="0">
                <a:solidFill>
                  <a:srgbClr val="002060"/>
                </a:solidFill>
              </a:rPr>
              <a:t>Prof. Cordeiro</a:t>
            </a:r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  <p:sldLayoutId id="2147483756" r:id="rId11"/>
    <p:sldLayoutId id="2147483757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2015  Prof. Leandro </a:t>
            </a:r>
            <a:r>
              <a:rPr kumimoji="1" lang="en-US" sz="2000" b="1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Rubim</a:t>
            </a:r>
            <a:endParaRPr kumimoji="1" lang="en-US" sz="2000" b="1" dirty="0">
              <a:solidFill>
                <a:schemeClr val="bg1"/>
              </a:solidFill>
              <a:latin typeface="Gotham HTF" pitchFamily="2" charset="0"/>
              <a:cs typeface="Gotham-Bold"/>
            </a:endParaRP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/>
          <p:cNvSpPr txBox="1"/>
          <p:nvPr/>
        </p:nvSpPr>
        <p:spPr>
          <a:xfrm>
            <a:off x="1027971" y="3529066"/>
            <a:ext cx="7223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  <a:latin typeface="Gotham-Book"/>
                <a:cs typeface="Gotham-Book"/>
              </a:rPr>
              <a:t>P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LANEJAMENTO FINANCEIRO STARTUP ONE</a:t>
            </a:r>
          </a:p>
        </p:txBody>
      </p:sp>
      <p:sp>
        <p:nvSpPr>
          <p:cNvPr id="5" name="TextBox 21"/>
          <p:cNvSpPr txBox="1"/>
          <p:nvPr/>
        </p:nvSpPr>
        <p:spPr>
          <a:xfrm>
            <a:off x="1036792" y="4150611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HENRIQUE CORDEIRO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224E-E1F0-A03A-968E-82E35AEA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89562B11-9246-A744-B333-7B9EF62DB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203" y="1371602"/>
            <a:ext cx="3874842" cy="5181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B29BD4A-473E-5EC7-9534-61B0E3FFC04B}"/>
              </a:ext>
            </a:extLst>
          </p:cNvPr>
          <p:cNvSpPr txBox="1"/>
          <p:nvPr/>
        </p:nvSpPr>
        <p:spPr>
          <a:xfrm>
            <a:off x="864851" y="730822"/>
            <a:ext cx="5217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POR QUE AS STARTUPS FALHAM ?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9CAC6C7-193B-9289-5971-E4191A4791EA}"/>
              </a:ext>
            </a:extLst>
          </p:cNvPr>
          <p:cNvSpPr txBox="1"/>
          <p:nvPr/>
        </p:nvSpPr>
        <p:spPr>
          <a:xfrm>
            <a:off x="4913717" y="1544575"/>
            <a:ext cx="363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/>
              <a:t>Pesquisa da </a:t>
            </a:r>
            <a:r>
              <a:rPr lang="pt-BR" b="1" cap="small" dirty="0" err="1"/>
              <a:t>FoundedCEO</a:t>
            </a:r>
            <a:r>
              <a:rPr lang="pt-BR" b="1" cap="small" dirty="0"/>
              <a:t>,</a:t>
            </a:r>
            <a:r>
              <a:rPr lang="pt-BR" cap="small" dirty="0"/>
              <a:t> analisando o período de </a:t>
            </a:r>
            <a:r>
              <a:rPr lang="pt-BR" b="1" cap="small" dirty="0"/>
              <a:t>2015 a 2026 </a:t>
            </a:r>
            <a:r>
              <a:rPr lang="pt-BR" cap="small" dirty="0"/>
              <a:t>nos EUA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E22134B-7F74-3138-998B-80173657BF04}"/>
              </a:ext>
            </a:extLst>
          </p:cNvPr>
          <p:cNvSpPr/>
          <p:nvPr/>
        </p:nvSpPr>
        <p:spPr>
          <a:xfrm>
            <a:off x="865335" y="3012779"/>
            <a:ext cx="3598846" cy="148362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73C848-A978-A3B5-6918-3523CBCED25D}"/>
              </a:ext>
            </a:extLst>
          </p:cNvPr>
          <p:cNvSpPr txBox="1"/>
          <p:nvPr/>
        </p:nvSpPr>
        <p:spPr>
          <a:xfrm>
            <a:off x="5312067" y="2741185"/>
            <a:ext cx="2861681" cy="615553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</a:rPr>
              <a:t>44%</a:t>
            </a:r>
          </a:p>
          <a:p>
            <a:pPr algn="ctr"/>
            <a:r>
              <a:rPr lang="pt-BR" sz="1100" dirty="0">
                <a:solidFill>
                  <a:srgbClr val="FF0000"/>
                </a:solidFill>
              </a:rPr>
              <a:t>NÃO HAVIA DEMANDA OU MESMO </a:t>
            </a:r>
          </a:p>
          <a:p>
            <a:pPr algn="ctr"/>
            <a:r>
              <a:rPr lang="pt-BR" sz="1100" dirty="0">
                <a:solidFill>
                  <a:srgbClr val="FF0000"/>
                </a:solidFill>
              </a:rPr>
              <a:t>NECESSIDADE PARA SEU PRODUTO/SERVIÇO !!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34E7636-45D8-493A-847A-1C2D946B759C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4464181" y="3048962"/>
            <a:ext cx="847886" cy="379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6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EE2E-28DC-C072-D563-B44432BD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61144048-CB13-4BA5-A898-6CF358925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203" y="1371602"/>
            <a:ext cx="3874842" cy="5181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CF5E884-918E-CA36-40AA-F5232A717827}"/>
              </a:ext>
            </a:extLst>
          </p:cNvPr>
          <p:cNvSpPr txBox="1"/>
          <p:nvPr/>
        </p:nvSpPr>
        <p:spPr>
          <a:xfrm>
            <a:off x="864851" y="730822"/>
            <a:ext cx="5217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POR QUE AS STARTUPS FALHAM 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EFFE70-55E3-A621-C615-5EA365B6BAFE}"/>
              </a:ext>
            </a:extLst>
          </p:cNvPr>
          <p:cNvSpPr/>
          <p:nvPr/>
        </p:nvSpPr>
        <p:spPr>
          <a:xfrm>
            <a:off x="865335" y="3172789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5C5B76C-B84A-0431-5EB3-BD52C94EA6F7}"/>
              </a:ext>
            </a:extLst>
          </p:cNvPr>
          <p:cNvSpPr/>
          <p:nvPr/>
        </p:nvSpPr>
        <p:spPr>
          <a:xfrm>
            <a:off x="865334" y="3642723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FDD3C04-C090-A6BD-1178-DA9B22671F61}"/>
              </a:ext>
            </a:extLst>
          </p:cNvPr>
          <p:cNvSpPr/>
          <p:nvPr/>
        </p:nvSpPr>
        <p:spPr>
          <a:xfrm>
            <a:off x="865335" y="3947948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173B255-42DE-3936-3980-55E844527708}"/>
              </a:ext>
            </a:extLst>
          </p:cNvPr>
          <p:cNvSpPr/>
          <p:nvPr/>
        </p:nvSpPr>
        <p:spPr>
          <a:xfrm>
            <a:off x="865333" y="5115013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A90DB3A-D4B9-46A4-F0C8-DD3334616DF0}"/>
              </a:ext>
            </a:extLst>
          </p:cNvPr>
          <p:cNvCxnSpPr>
            <a:stCxn id="7" idx="3"/>
            <a:endCxn id="26" idx="1"/>
          </p:cNvCxnSpPr>
          <p:nvPr/>
        </p:nvCxnSpPr>
        <p:spPr>
          <a:xfrm flipV="1">
            <a:off x="4464181" y="3048962"/>
            <a:ext cx="847886" cy="19800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C9613D-C651-2951-66CD-FF95EDF43744}"/>
              </a:ext>
            </a:extLst>
          </p:cNvPr>
          <p:cNvSpPr txBox="1"/>
          <p:nvPr/>
        </p:nvSpPr>
        <p:spPr>
          <a:xfrm>
            <a:off x="5392217" y="3579593"/>
            <a:ext cx="2842445" cy="430887"/>
          </a:xfrm>
          <a:prstGeom prst="rect">
            <a:avLst/>
          </a:prstGeom>
          <a:solidFill>
            <a:schemeClr val="bg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3">
                    <a:lumMod val="50000"/>
                  </a:schemeClr>
                </a:solidFill>
              </a:rPr>
              <a:t>18</a:t>
            </a:r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%</a:t>
            </a:r>
          </a:p>
          <a:p>
            <a:pPr algn="ctr"/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PROBLEMAS DE PRECIFICAÇÃO OU DE CUSTOS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3A509EC-62DF-EF18-AEBF-CEFA0206A01B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>
            <a:off x="4464180" y="3716904"/>
            <a:ext cx="928037" cy="7813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99FDF3A-F01E-A577-CC74-73C8293A13B3}"/>
              </a:ext>
            </a:extLst>
          </p:cNvPr>
          <p:cNvSpPr txBox="1"/>
          <p:nvPr/>
        </p:nvSpPr>
        <p:spPr>
          <a:xfrm>
            <a:off x="5487595" y="4242368"/>
            <a:ext cx="2651687" cy="430887"/>
          </a:xfrm>
          <a:prstGeom prst="rect">
            <a:avLst/>
          </a:prstGeom>
          <a:solidFill>
            <a:schemeClr val="bg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3">
                    <a:lumMod val="50000"/>
                  </a:schemeClr>
                </a:solidFill>
              </a:rPr>
              <a:t>16%</a:t>
            </a:r>
          </a:p>
          <a:p>
            <a:pPr algn="ctr"/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INVIABILIDADE ECONOMICA POR UNIDADE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FB152F5E-2411-CA47-A96F-B5E19A012C88}"/>
              </a:ext>
            </a:extLst>
          </p:cNvPr>
          <p:cNvCxnSpPr>
            <a:cxnSpLocks/>
            <a:stCxn id="22" idx="3"/>
            <a:endCxn id="32" idx="1"/>
          </p:cNvCxnSpPr>
          <p:nvPr/>
        </p:nvCxnSpPr>
        <p:spPr>
          <a:xfrm>
            <a:off x="4464181" y="4022129"/>
            <a:ext cx="1023414" cy="43568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E63AD77-5B0E-BBCA-DB88-DA1B0F1033E7}"/>
              </a:ext>
            </a:extLst>
          </p:cNvPr>
          <p:cNvSpPr txBox="1"/>
          <p:nvPr/>
        </p:nvSpPr>
        <p:spPr>
          <a:xfrm>
            <a:off x="5487594" y="5058389"/>
            <a:ext cx="2651688" cy="430887"/>
          </a:xfrm>
          <a:prstGeom prst="rect">
            <a:avLst/>
          </a:prstGeom>
          <a:solidFill>
            <a:schemeClr val="bg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3">
                    <a:lumMod val="50000"/>
                  </a:schemeClr>
                </a:solidFill>
              </a:rPr>
              <a:t>9%</a:t>
            </a:r>
          </a:p>
          <a:p>
            <a:pPr algn="ctr"/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INCAPACIDADE DE ATRAIR INVESTIDORES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1587236-795C-B324-0EE7-F68FCAC8394D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4464179" y="5189194"/>
            <a:ext cx="1023415" cy="84639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00C9740-0A92-F5B4-501D-6C681FF55187}"/>
              </a:ext>
            </a:extLst>
          </p:cNvPr>
          <p:cNvSpPr txBox="1"/>
          <p:nvPr/>
        </p:nvSpPr>
        <p:spPr>
          <a:xfrm>
            <a:off x="4913717" y="1544575"/>
            <a:ext cx="363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/>
              <a:t>Pesquisa da </a:t>
            </a:r>
            <a:r>
              <a:rPr lang="pt-BR" b="1" cap="small" dirty="0" err="1"/>
              <a:t>FoundedCEO</a:t>
            </a:r>
            <a:r>
              <a:rPr lang="pt-BR" b="1" cap="small" dirty="0"/>
              <a:t>,</a:t>
            </a:r>
            <a:r>
              <a:rPr lang="pt-BR" cap="small" dirty="0"/>
              <a:t> analisando o período de </a:t>
            </a:r>
            <a:r>
              <a:rPr lang="pt-BR" b="1" cap="small" dirty="0"/>
              <a:t>2015 a 2026 </a:t>
            </a:r>
            <a:r>
              <a:rPr lang="pt-BR" cap="small" dirty="0"/>
              <a:t>nos EUA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9C27A0C-660C-1F95-9348-46B3AD397A9E}"/>
              </a:ext>
            </a:extLst>
          </p:cNvPr>
          <p:cNvSpPr txBox="1"/>
          <p:nvPr/>
        </p:nvSpPr>
        <p:spPr>
          <a:xfrm>
            <a:off x="5312067" y="2741185"/>
            <a:ext cx="3002745" cy="615553"/>
          </a:xfrm>
          <a:prstGeom prst="rect">
            <a:avLst/>
          </a:prstGeom>
          <a:solidFill>
            <a:schemeClr val="bg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3">
                    <a:lumMod val="50000"/>
                  </a:schemeClr>
                </a:solidFill>
              </a:rPr>
              <a:t>31%</a:t>
            </a:r>
          </a:p>
          <a:p>
            <a:pPr algn="ctr"/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FICOU SEM DINHEIRO E/OU</a:t>
            </a:r>
          </a:p>
          <a:p>
            <a:pPr algn="ctr"/>
            <a:r>
              <a:rPr lang="pt-BR" sz="1100" dirty="0">
                <a:solidFill>
                  <a:schemeClr val="accent3">
                    <a:lumMod val="50000"/>
                  </a:schemeClr>
                </a:solidFill>
              </a:rPr>
              <a:t>SEM CONDIÇÃO DE CONSEGUIR DINHEIRO NOVO</a:t>
            </a:r>
          </a:p>
        </p:txBody>
      </p:sp>
    </p:spTree>
    <p:extLst>
      <p:ext uri="{BB962C8B-B14F-4D97-AF65-F5344CB8AC3E}">
        <p14:creationId xmlns:p14="http://schemas.microsoft.com/office/powerpoint/2010/main" val="346425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2" grpId="0" animBg="1"/>
      <p:bldP spid="23" grpId="0" animBg="1"/>
      <p:bldP spid="29" grpId="0" animBg="1"/>
      <p:bldP spid="32" grpId="0" animBg="1"/>
      <p:bldP spid="38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5461-F11C-BD7B-3885-D9EB113A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ECC1BEA9-0FB3-14D1-099B-3968BCA1B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203" y="1371602"/>
            <a:ext cx="3874842" cy="5181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0E32FBE2-30FB-8DC7-ADC2-943464C67EF4}"/>
              </a:ext>
            </a:extLst>
          </p:cNvPr>
          <p:cNvSpPr txBox="1"/>
          <p:nvPr/>
        </p:nvSpPr>
        <p:spPr>
          <a:xfrm>
            <a:off x="4961965" y="1371602"/>
            <a:ext cx="3724836" cy="520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pt-BR" sz="1100" cap="small" dirty="0"/>
              <a:t>Ficar sem dinheiro aparece em 31% das falhas, mas quase sempre é a consequência posterior da causa #1, e não um assassino isolado. 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cap="small" dirty="0"/>
              <a:t>As 431 startups da pesquisa levantaram um total combinado de US$ 17,5 bilhões em financiamento acionário antes de quebrar, com a empresa mediana levantando US$ 11 milhões. 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cap="small" dirty="0"/>
              <a:t>Mas  o dinheiro não foi suficiente para salva-las. 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cap="small" dirty="0"/>
              <a:t>Entretanto, fundadores que tratam “ficou sem dinheiro" como diagnóstico final podem estar resolvendo o problema errado. 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cap="small" dirty="0"/>
              <a:t>O que os matou foi um problema a montante que consumiu esse capital antes que o negócio pudesse atingir o marco de tração necessário para levantar a próxima rodada.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cap="small" dirty="0"/>
              <a:t>A pergunta certa é sempre: "o que fez o dinheiro acabar?" Na esmagadora maioria dos post-mortem, a resposta aponta diretamente para a ausência de necessidade do mercado, a equipe errada ou uma escalabilidade prematura antes que o produto encontrasse seu encaixe. </a:t>
            </a:r>
          </a:p>
          <a:p>
            <a:pPr>
              <a:lnSpc>
                <a:spcPts val="1600"/>
              </a:lnSpc>
            </a:pPr>
            <a:endParaRPr lang="pt-BR" sz="1100" cap="small" dirty="0"/>
          </a:p>
          <a:p>
            <a:pPr>
              <a:lnSpc>
                <a:spcPts val="1600"/>
              </a:lnSpc>
            </a:pPr>
            <a:r>
              <a:rPr lang="pt-BR" sz="1100" b="1" cap="small" dirty="0"/>
              <a:t>Mas o problema pode ser um planejamento financeiro mal realizado !!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5A9B36-C339-DE67-C50C-FDEC21CF3BE2}"/>
              </a:ext>
            </a:extLst>
          </p:cNvPr>
          <p:cNvSpPr txBox="1"/>
          <p:nvPr/>
        </p:nvSpPr>
        <p:spPr>
          <a:xfrm>
            <a:off x="864851" y="730822"/>
            <a:ext cx="5217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POR QUE AS STARTUPS FALHAM 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56917D-5998-5F7E-C765-733525888D75}"/>
              </a:ext>
            </a:extLst>
          </p:cNvPr>
          <p:cNvSpPr/>
          <p:nvPr/>
        </p:nvSpPr>
        <p:spPr>
          <a:xfrm>
            <a:off x="865335" y="3172789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E58506F-E7AB-0F76-B679-17E7675C39EA}"/>
              </a:ext>
            </a:extLst>
          </p:cNvPr>
          <p:cNvSpPr/>
          <p:nvPr/>
        </p:nvSpPr>
        <p:spPr>
          <a:xfrm>
            <a:off x="865334" y="3642723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F455008-8531-B5AA-5FEB-5BE2900EC04D}"/>
              </a:ext>
            </a:extLst>
          </p:cNvPr>
          <p:cNvSpPr/>
          <p:nvPr/>
        </p:nvSpPr>
        <p:spPr>
          <a:xfrm>
            <a:off x="865335" y="3947948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0B3345B-1D75-8F50-E40B-5CD0700C99B4}"/>
              </a:ext>
            </a:extLst>
          </p:cNvPr>
          <p:cNvSpPr/>
          <p:nvPr/>
        </p:nvSpPr>
        <p:spPr>
          <a:xfrm>
            <a:off x="865333" y="5115013"/>
            <a:ext cx="3598846" cy="14836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D317B7-E7C7-65B3-8884-D33B1253D0A2}"/>
              </a:ext>
            </a:extLst>
          </p:cNvPr>
          <p:cNvSpPr/>
          <p:nvPr/>
        </p:nvSpPr>
        <p:spPr>
          <a:xfrm>
            <a:off x="5162270" y="3440824"/>
            <a:ext cx="3324225" cy="116261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COMO PODEMOS FAZER UM PLANEJAMENTO FINANCEIRO DE UMA STARTUP ??</a:t>
            </a:r>
          </a:p>
        </p:txBody>
      </p:sp>
    </p:spTree>
    <p:extLst>
      <p:ext uri="{BB962C8B-B14F-4D97-AF65-F5344CB8AC3E}">
        <p14:creationId xmlns:p14="http://schemas.microsoft.com/office/powerpoint/2010/main" val="190013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8302" y="1264103"/>
            <a:ext cx="6882896" cy="489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tângulo de cantos arredondados 13">
            <a:extLst>
              <a:ext uri="{FF2B5EF4-FFF2-40B4-BE49-F238E27FC236}">
                <a16:creationId xmlns:a16="http://schemas.microsoft.com/office/drawing/2014/main" id="{17A81CE2-3B9D-4B08-86C4-63895AF105CE}"/>
              </a:ext>
            </a:extLst>
          </p:cNvPr>
          <p:cNvSpPr/>
          <p:nvPr/>
        </p:nvSpPr>
        <p:spPr>
          <a:xfrm>
            <a:off x="1108302" y="5905323"/>
            <a:ext cx="6852557" cy="2476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Retângulo de cantos arredondados 8">
            <a:extLst>
              <a:ext uri="{FF2B5EF4-FFF2-40B4-BE49-F238E27FC236}">
                <a16:creationId xmlns:a16="http://schemas.microsoft.com/office/drawing/2014/main" id="{0B59C86E-1A66-4AD2-BFBE-88C055F8590B}"/>
              </a:ext>
            </a:extLst>
          </p:cNvPr>
          <p:cNvSpPr/>
          <p:nvPr/>
        </p:nvSpPr>
        <p:spPr>
          <a:xfrm>
            <a:off x="508801" y="5078971"/>
            <a:ext cx="8332626" cy="571500"/>
          </a:xfrm>
          <a:prstGeom prst="roundRect">
            <a:avLst>
              <a:gd name="adj" fmla="val 621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A OPERAÇÃO DA EMPRESA É LUCRATIVA? A EMPRESA É VIAVEL?</a:t>
            </a:r>
            <a:endParaRPr lang="pt-B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Conector angulado 11">
            <a:extLst>
              <a:ext uri="{FF2B5EF4-FFF2-40B4-BE49-F238E27FC236}">
                <a16:creationId xmlns:a16="http://schemas.microsoft.com/office/drawing/2014/main" id="{1AC30526-3091-485A-8AFC-D8E1D064213E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rot="10800000">
            <a:off x="508802" y="5364721"/>
            <a:ext cx="599501" cy="664428"/>
          </a:xfrm>
          <a:prstGeom prst="bentConnector3">
            <a:avLst>
              <a:gd name="adj1" fmla="val 13813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45384B-0D81-1FE3-20C2-68940366D8F3}"/>
              </a:ext>
            </a:extLst>
          </p:cNvPr>
          <p:cNvSpPr txBox="1"/>
          <p:nvPr/>
        </p:nvSpPr>
        <p:spPr>
          <a:xfrm>
            <a:off x="773545" y="740883"/>
            <a:ext cx="8328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DRE - DEMONSTRAÇÃO DE RESULTADOS DO EXERCÍCIO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8E5E31-DDE4-1243-1934-284D196E6049}"/>
              </a:ext>
            </a:extLst>
          </p:cNvPr>
          <p:cNvSpPr/>
          <p:nvPr/>
        </p:nvSpPr>
        <p:spPr>
          <a:xfrm>
            <a:off x="536257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B3A657-9C1D-BC42-467B-3314450E34CE}"/>
              </a:ext>
            </a:extLst>
          </p:cNvPr>
          <p:cNvSpPr/>
          <p:nvPr/>
        </p:nvSpPr>
        <p:spPr>
          <a:xfrm>
            <a:off x="670371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90712117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9D11-3526-6BEB-31F6-D312A0C5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31263AEE-28F4-5423-03C4-4C1EEA4CB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8302" y="1264103"/>
            <a:ext cx="6882896" cy="489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tângulo de cantos arredondados 13">
            <a:extLst>
              <a:ext uri="{FF2B5EF4-FFF2-40B4-BE49-F238E27FC236}">
                <a16:creationId xmlns:a16="http://schemas.microsoft.com/office/drawing/2014/main" id="{D0F0337B-982F-F625-5D1C-4C82A0533213}"/>
              </a:ext>
            </a:extLst>
          </p:cNvPr>
          <p:cNvSpPr/>
          <p:nvPr/>
        </p:nvSpPr>
        <p:spPr>
          <a:xfrm>
            <a:off x="1108302" y="5905323"/>
            <a:ext cx="6852557" cy="2476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Retângulo de cantos arredondados 8">
            <a:extLst>
              <a:ext uri="{FF2B5EF4-FFF2-40B4-BE49-F238E27FC236}">
                <a16:creationId xmlns:a16="http://schemas.microsoft.com/office/drawing/2014/main" id="{D1157385-5D05-9AD4-AD3F-E8EE85EBA92D}"/>
              </a:ext>
            </a:extLst>
          </p:cNvPr>
          <p:cNvSpPr/>
          <p:nvPr/>
        </p:nvSpPr>
        <p:spPr>
          <a:xfrm>
            <a:off x="508801" y="5078971"/>
            <a:ext cx="8332626" cy="571500"/>
          </a:xfrm>
          <a:prstGeom prst="roundRect">
            <a:avLst>
              <a:gd name="adj" fmla="val 621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A OPERAÇÃO DA EMPRESA É LUCRATIVA? A EMPRESA É VIAVEL?</a:t>
            </a:r>
            <a:endParaRPr lang="pt-B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Conector angulado 11">
            <a:extLst>
              <a:ext uri="{FF2B5EF4-FFF2-40B4-BE49-F238E27FC236}">
                <a16:creationId xmlns:a16="http://schemas.microsoft.com/office/drawing/2014/main" id="{41FEC9A8-5DB1-956D-D64C-DFD73BACE5CD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rot="10800000">
            <a:off x="508802" y="5364721"/>
            <a:ext cx="599501" cy="664428"/>
          </a:xfrm>
          <a:prstGeom prst="bentConnector3">
            <a:avLst>
              <a:gd name="adj1" fmla="val 13813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de cantos arredondados 13">
            <a:extLst>
              <a:ext uri="{FF2B5EF4-FFF2-40B4-BE49-F238E27FC236}">
                <a16:creationId xmlns:a16="http://schemas.microsoft.com/office/drawing/2014/main" id="{958C1C55-25A7-CF13-2721-F0D3FA11C4F1}"/>
              </a:ext>
            </a:extLst>
          </p:cNvPr>
          <p:cNvSpPr/>
          <p:nvPr/>
        </p:nvSpPr>
        <p:spPr>
          <a:xfrm>
            <a:off x="1108301" y="1764286"/>
            <a:ext cx="6852557" cy="24765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" name="Retângulo de cantos arredondados 8">
            <a:extLst>
              <a:ext uri="{FF2B5EF4-FFF2-40B4-BE49-F238E27FC236}">
                <a16:creationId xmlns:a16="http://schemas.microsoft.com/office/drawing/2014/main" id="{0D2AED93-BA08-0ADB-1F50-0BC3E9E7D564}"/>
              </a:ext>
            </a:extLst>
          </p:cNvPr>
          <p:cNvSpPr/>
          <p:nvPr/>
        </p:nvSpPr>
        <p:spPr>
          <a:xfrm>
            <a:off x="508801" y="2410698"/>
            <a:ext cx="8332626" cy="571500"/>
          </a:xfrm>
          <a:prstGeom prst="roundRect">
            <a:avLst>
              <a:gd name="adj" fmla="val 6210"/>
            </a:avLst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É LÓGICO QUE DEPENDE DE QUANTO FATURAMOS, MAS SERÁ QUE É SÓ ISSO?</a:t>
            </a:r>
            <a:endParaRPr lang="pt-B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4" name="Conector angulado 11">
            <a:extLst>
              <a:ext uri="{FF2B5EF4-FFF2-40B4-BE49-F238E27FC236}">
                <a16:creationId xmlns:a16="http://schemas.microsoft.com/office/drawing/2014/main" id="{D6C2A025-2717-019D-EC41-152BD84496BB}"/>
              </a:ext>
            </a:extLst>
          </p:cNvPr>
          <p:cNvCxnSpPr>
            <a:cxnSpLocks/>
            <a:stCxn id="2" idx="1"/>
            <a:endCxn id="3" idx="1"/>
          </p:cNvCxnSpPr>
          <p:nvPr/>
        </p:nvCxnSpPr>
        <p:spPr>
          <a:xfrm rot="10800000" flipV="1">
            <a:off x="508801" y="1888112"/>
            <a:ext cx="599500" cy="808336"/>
          </a:xfrm>
          <a:prstGeom prst="bentConnector3">
            <a:avLst>
              <a:gd name="adj1" fmla="val 138132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FAAC61-4FE0-62B7-ACAF-A1402AAC025E}"/>
              </a:ext>
            </a:extLst>
          </p:cNvPr>
          <p:cNvSpPr txBox="1"/>
          <p:nvPr/>
        </p:nvSpPr>
        <p:spPr>
          <a:xfrm>
            <a:off x="773545" y="740883"/>
            <a:ext cx="8328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DRE - DEMONSTRAÇÃO DE RESULTADOS DO EXERCÍCIO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387118-8921-7A5B-2B2C-E386E5A86DE0}"/>
              </a:ext>
            </a:extLst>
          </p:cNvPr>
          <p:cNvSpPr/>
          <p:nvPr/>
        </p:nvSpPr>
        <p:spPr>
          <a:xfrm>
            <a:off x="536257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D53583A-D1D6-AEB5-32A5-1C6A1B898649}"/>
              </a:ext>
            </a:extLst>
          </p:cNvPr>
          <p:cNvSpPr/>
          <p:nvPr/>
        </p:nvSpPr>
        <p:spPr>
          <a:xfrm>
            <a:off x="670371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8019425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8302" y="1264103"/>
            <a:ext cx="6882896" cy="489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tângulo de cantos arredondados 8"/>
          <p:cNvSpPr/>
          <p:nvPr/>
        </p:nvSpPr>
        <p:spPr>
          <a:xfrm>
            <a:off x="627555" y="1977008"/>
            <a:ext cx="8332626" cy="571500"/>
          </a:xfrm>
          <a:prstGeom prst="roundRect">
            <a:avLst>
              <a:gd name="adj" fmla="val 621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QUANTO GASTAMOS PARA PRODUZIR OU COMPRAR AS MERCADORIAS QUE FORAM VENDIDAS ?</a:t>
            </a:r>
            <a:endParaRPr lang="pt-B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110343" y="2982669"/>
            <a:ext cx="6852557" cy="2476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12" name="Conector angulado 11"/>
          <p:cNvCxnSpPr>
            <a:stCxn id="14" idx="1"/>
            <a:endCxn id="9" idx="1"/>
          </p:cNvCxnSpPr>
          <p:nvPr/>
        </p:nvCxnSpPr>
        <p:spPr>
          <a:xfrm rot="10800000">
            <a:off x="627555" y="2262759"/>
            <a:ext cx="482788" cy="843737"/>
          </a:xfrm>
          <a:prstGeom prst="bentConnector3">
            <a:avLst>
              <a:gd name="adj1" fmla="val 147350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de cantos arredondados 13">
            <a:extLst>
              <a:ext uri="{FF2B5EF4-FFF2-40B4-BE49-F238E27FC236}">
                <a16:creationId xmlns:a16="http://schemas.microsoft.com/office/drawing/2014/main" id="{A8F3C3D4-53FE-4E01-B8D3-23BE3EF39322}"/>
              </a:ext>
            </a:extLst>
          </p:cNvPr>
          <p:cNvSpPr/>
          <p:nvPr/>
        </p:nvSpPr>
        <p:spPr>
          <a:xfrm>
            <a:off x="1108302" y="3475185"/>
            <a:ext cx="6852557" cy="1473702"/>
          </a:xfrm>
          <a:prstGeom prst="roundRect">
            <a:avLst>
              <a:gd name="adj" fmla="val 538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5" name="Retângulo de cantos arredondados 8">
            <a:extLst>
              <a:ext uri="{FF2B5EF4-FFF2-40B4-BE49-F238E27FC236}">
                <a16:creationId xmlns:a16="http://schemas.microsoft.com/office/drawing/2014/main" id="{BB967E4A-08C1-4632-983D-54FF05B7320C}"/>
              </a:ext>
            </a:extLst>
          </p:cNvPr>
          <p:cNvSpPr/>
          <p:nvPr/>
        </p:nvSpPr>
        <p:spPr>
          <a:xfrm>
            <a:off x="627555" y="5489192"/>
            <a:ext cx="8332626" cy="571500"/>
          </a:xfrm>
          <a:prstGeom prst="roundRect">
            <a:avLst>
              <a:gd name="adj" fmla="val 621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QUANTO GASTAMOS PARA MANTER A EMPRESA OPERANDO E VENDER OS PRODUTOS QUE PRODUZIMOS OU COMPRAMOS?</a:t>
            </a:r>
            <a:endParaRPr lang="pt-B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6" name="Conector angulado 11">
            <a:extLst>
              <a:ext uri="{FF2B5EF4-FFF2-40B4-BE49-F238E27FC236}">
                <a16:creationId xmlns:a16="http://schemas.microsoft.com/office/drawing/2014/main" id="{F5FBD939-71D9-481B-BDA6-154BFDFB00E6}"/>
              </a:ext>
            </a:extLst>
          </p:cNvPr>
          <p:cNvCxnSpPr>
            <a:cxnSpLocks/>
            <a:stCxn id="10" idx="1"/>
            <a:endCxn id="15" idx="1"/>
          </p:cNvCxnSpPr>
          <p:nvPr/>
        </p:nvCxnSpPr>
        <p:spPr>
          <a:xfrm rot="10800000" flipV="1">
            <a:off x="627556" y="4212036"/>
            <a:ext cx="480747" cy="1562906"/>
          </a:xfrm>
          <a:prstGeom prst="bentConnector3">
            <a:avLst>
              <a:gd name="adj1" fmla="val 14755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70FB0E-8B7B-D164-11FD-A43CF352B1CB}"/>
              </a:ext>
            </a:extLst>
          </p:cNvPr>
          <p:cNvSpPr txBox="1"/>
          <p:nvPr/>
        </p:nvSpPr>
        <p:spPr>
          <a:xfrm>
            <a:off x="773545" y="740883"/>
            <a:ext cx="8328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DRE - DEMONSTRAÇÃO DE RESULTADOS DO EXERCÍCIO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FA898C-AFB5-D3F5-5D8B-1668EF282438}"/>
              </a:ext>
            </a:extLst>
          </p:cNvPr>
          <p:cNvSpPr/>
          <p:nvPr/>
        </p:nvSpPr>
        <p:spPr>
          <a:xfrm>
            <a:off x="536257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C12B61-CD42-50B5-33F4-9F806BA08140}"/>
              </a:ext>
            </a:extLst>
          </p:cNvPr>
          <p:cNvSpPr/>
          <p:nvPr/>
        </p:nvSpPr>
        <p:spPr>
          <a:xfrm>
            <a:off x="670371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7792076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0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1F0B8-F350-5A14-776B-888F604D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C1A24E3B-599F-8A81-34B3-A44D25366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8302" y="1264103"/>
            <a:ext cx="6882896" cy="489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076E7F5-BD73-5124-2AB8-6F14C2137F98}"/>
              </a:ext>
            </a:extLst>
          </p:cNvPr>
          <p:cNvSpPr txBox="1"/>
          <p:nvPr/>
        </p:nvSpPr>
        <p:spPr>
          <a:xfrm>
            <a:off x="773545" y="740883"/>
            <a:ext cx="8328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DRE - DEMONSTRAÇÃO DE RESULTADOS DO EXERCÍCIO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1FB35C7-D719-E022-2C74-2B9F8CB98448}"/>
              </a:ext>
            </a:extLst>
          </p:cNvPr>
          <p:cNvSpPr/>
          <p:nvPr/>
        </p:nvSpPr>
        <p:spPr>
          <a:xfrm>
            <a:off x="536257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52A64C-6575-DF12-D0A5-5E21974F5D10}"/>
              </a:ext>
            </a:extLst>
          </p:cNvPr>
          <p:cNvSpPr/>
          <p:nvPr/>
        </p:nvSpPr>
        <p:spPr>
          <a:xfrm>
            <a:off x="6703715" y="1571625"/>
            <a:ext cx="1190625" cy="1619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555784"/>
      </p:ext>
    </p:extLst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915E-C190-60A5-CB6E-5A091113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07A17A79-A2FB-EEDD-BF95-C8BA62D9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68780"/>
            <a:ext cx="8191500" cy="39395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AA54BA0B-4543-8240-FC7E-102D191D14BE}"/>
              </a:ext>
            </a:extLst>
          </p:cNvPr>
          <p:cNvSpPr/>
          <p:nvPr/>
        </p:nvSpPr>
        <p:spPr>
          <a:xfrm>
            <a:off x="3022191" y="1932438"/>
            <a:ext cx="5619391" cy="3644398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46EBA8-52B8-352E-EEEC-08F67D146BC2}"/>
              </a:ext>
            </a:extLst>
          </p:cNvPr>
          <p:cNvSpPr txBox="1"/>
          <p:nvPr/>
        </p:nvSpPr>
        <p:spPr>
          <a:xfrm>
            <a:off x="795534" y="740883"/>
            <a:ext cx="7255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DRE ADAPTADO PARA ANALISE DE VIABILIDADE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4A30971-CF4F-2A7E-4D95-E119C00CC351}"/>
              </a:ext>
            </a:extLst>
          </p:cNvPr>
          <p:cNvSpPr/>
          <p:nvPr/>
        </p:nvSpPr>
        <p:spPr>
          <a:xfrm>
            <a:off x="3492876" y="2071982"/>
            <a:ext cx="4607860" cy="3959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RECEITA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(FATURAMENTO – IMPOSTOS)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22DB7CD-EAFC-8CD7-2806-DB47FDE97A6D}"/>
              </a:ext>
            </a:extLst>
          </p:cNvPr>
          <p:cNvSpPr/>
          <p:nvPr/>
        </p:nvSpPr>
        <p:spPr>
          <a:xfrm>
            <a:off x="4057651" y="2816251"/>
            <a:ext cx="3478310" cy="3959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CUSTOS VARIÁVEIS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(SÓ ACONTECEM SE VENDERMOS)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C9EA479-0D91-56ED-1310-28932ADF0DA4}"/>
              </a:ext>
            </a:extLst>
          </p:cNvPr>
          <p:cNvSpPr/>
          <p:nvPr/>
        </p:nvSpPr>
        <p:spPr>
          <a:xfrm>
            <a:off x="4380383" y="3560520"/>
            <a:ext cx="2832846" cy="3959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MARGEM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(QUANTO SOBRA PARA BANCAR CUSTOS FIXOS)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4545973-6BC6-97EC-D531-DF8A8463A3E0}"/>
              </a:ext>
            </a:extLst>
          </p:cNvPr>
          <p:cNvSpPr/>
          <p:nvPr/>
        </p:nvSpPr>
        <p:spPr>
          <a:xfrm>
            <a:off x="4676218" y="4304789"/>
            <a:ext cx="2241176" cy="3959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CUSTOS FIXOS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(ACONTECEM SEMPRE, MESMO SE NÃO VENDERMOS)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C1A4FC2-3BCA-065C-2034-C57D9D9AC4B6}"/>
              </a:ext>
            </a:extLst>
          </p:cNvPr>
          <p:cNvSpPr/>
          <p:nvPr/>
        </p:nvSpPr>
        <p:spPr>
          <a:xfrm>
            <a:off x="5034805" y="5049059"/>
            <a:ext cx="1524002" cy="3959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RESULTADO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(LUCRO OU PREJUIZO)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F4836C1-A744-7D98-EA88-CB2AC261AA2D}"/>
              </a:ext>
            </a:extLst>
          </p:cNvPr>
          <p:cNvSpPr txBox="1"/>
          <p:nvPr/>
        </p:nvSpPr>
        <p:spPr>
          <a:xfrm>
            <a:off x="5559240" y="2074150"/>
            <a:ext cx="475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6163F2-640D-AE12-3304-F06E0EBC715A}"/>
              </a:ext>
            </a:extLst>
          </p:cNvPr>
          <p:cNvSpPr txBox="1"/>
          <p:nvPr/>
        </p:nvSpPr>
        <p:spPr>
          <a:xfrm>
            <a:off x="5559240" y="3575803"/>
            <a:ext cx="475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DC743BC-8B5B-69CF-57EC-0FC6B6B10EC2}"/>
              </a:ext>
            </a:extLst>
          </p:cNvPr>
          <p:cNvSpPr txBox="1"/>
          <p:nvPr/>
        </p:nvSpPr>
        <p:spPr>
          <a:xfrm>
            <a:off x="5572324" y="3022043"/>
            <a:ext cx="475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accent3">
                    <a:lumMod val="50000"/>
                  </a:schemeClr>
                </a:solidFill>
              </a:rPr>
              <a:t>=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C228A3E-AEAC-77E7-C97E-04927019ED98}"/>
              </a:ext>
            </a:extLst>
          </p:cNvPr>
          <p:cNvSpPr txBox="1"/>
          <p:nvPr/>
        </p:nvSpPr>
        <p:spPr>
          <a:xfrm>
            <a:off x="5559240" y="4485833"/>
            <a:ext cx="475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accent3">
                    <a:lumMod val="50000"/>
                  </a:schemeClr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03564923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 animBg="1"/>
      <p:bldP spid="7" grpId="0" animBg="1"/>
      <p:bldP spid="13" grpId="0" animBg="1"/>
      <p:bldP spid="17" grpId="0" animBg="1"/>
      <p:bldP spid="18" grpId="0" animBg="1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720808" y="5328709"/>
            <a:ext cx="37070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1" dirty="0">
                <a:solidFill>
                  <a:schemeClr val="tx1"/>
                </a:solidFill>
              </a:rPr>
              <a:t>CUSTO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GASTOS COM A AQUISIÇÃO DE BENS E SERVIÇOS QUE SERÃO USADOS NA PRODUÇÃO DE OUTROS BENS OU SERVIÇOS OU COMERCIALIZADOS COMO MERCADORIA</a:t>
            </a:r>
          </a:p>
        </p:txBody>
      </p:sp>
      <p:sp>
        <p:nvSpPr>
          <p:cNvPr id="7" name="Retângulo 6"/>
          <p:cNvSpPr/>
          <p:nvPr/>
        </p:nvSpPr>
        <p:spPr>
          <a:xfrm>
            <a:off x="4576116" y="5328709"/>
            <a:ext cx="37070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1" dirty="0">
                <a:solidFill>
                  <a:schemeClr val="tx1"/>
                </a:solidFill>
              </a:rPr>
              <a:t>DESPESAS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GASTOS REALIZADOS NA COMPRA DE BENS OU SERVIÇOS  CONSUMIDOS DIRETA OU INDIRETAMENTE PARA A OBTENÇÃO DE RECEITAS</a:t>
            </a:r>
          </a:p>
        </p:txBody>
      </p:sp>
      <p:sp>
        <p:nvSpPr>
          <p:cNvPr id="12" name="Seta para baixo 11"/>
          <p:cNvSpPr/>
          <p:nvPr/>
        </p:nvSpPr>
        <p:spPr>
          <a:xfrm>
            <a:off x="5212205" y="4584356"/>
            <a:ext cx="432486" cy="749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baixo 10"/>
          <p:cNvSpPr/>
          <p:nvPr/>
        </p:nvSpPr>
        <p:spPr>
          <a:xfrm>
            <a:off x="3273953" y="4584356"/>
            <a:ext cx="432486" cy="749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>
            <a:off x="7056300" y="2681416"/>
            <a:ext cx="432486" cy="26525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baixo 7"/>
          <p:cNvSpPr/>
          <p:nvPr/>
        </p:nvSpPr>
        <p:spPr>
          <a:xfrm>
            <a:off x="1469865" y="2681416"/>
            <a:ext cx="432486" cy="2630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2656699" y="3352800"/>
            <a:ext cx="37070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1" dirty="0">
                <a:solidFill>
                  <a:schemeClr val="tx1"/>
                </a:solidFill>
              </a:rPr>
              <a:t>INVESTIMENTOS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COMPRA DE ATIVOS QUE SERÃO ESTOCADOS E PODEM VIR A SER USADOS NA PRODUÇÃO OU SEREM VENDIDOS COMO MERCADORIA NO FUTURO</a:t>
            </a:r>
          </a:p>
        </p:txBody>
      </p:sp>
      <p:sp>
        <p:nvSpPr>
          <p:cNvPr id="10" name="Seta para baixo 9"/>
          <p:cNvSpPr/>
          <p:nvPr/>
        </p:nvSpPr>
        <p:spPr>
          <a:xfrm>
            <a:off x="4287796" y="2681416"/>
            <a:ext cx="432486" cy="6919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16692" y="1421027"/>
            <a:ext cx="7549978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1" dirty="0">
                <a:solidFill>
                  <a:schemeClr val="tx1"/>
                </a:solidFill>
              </a:rPr>
              <a:t>GASTOS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TODA  COMPRA DE PRODUTO OU SERVIÇOS REALIZADA PELA EMPRESA E QUE GERA SACRIFÍCIO FINANCEIRO (DESEMBOLSO)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943243" y="4697039"/>
            <a:ext cx="12898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CONSUMIDO NA PRODUÇÃO ou COMERCIALIZADO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566425" y="4701157"/>
            <a:ext cx="1635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DESPERDIÇADO SEM SER CONSUMIDO NA PRODUÇÃO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05DF5C2-B79C-435B-9254-ABC5C2378E10}"/>
              </a:ext>
            </a:extLst>
          </p:cNvPr>
          <p:cNvSpPr txBox="1"/>
          <p:nvPr/>
        </p:nvSpPr>
        <p:spPr>
          <a:xfrm>
            <a:off x="921926" y="666665"/>
            <a:ext cx="488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TERMINOLOGIA DE CUSTOS</a:t>
            </a:r>
          </a:p>
        </p:txBody>
      </p:sp>
    </p:spTree>
    <p:extLst>
      <p:ext uri="{BB962C8B-B14F-4D97-AF65-F5344CB8AC3E}">
        <p14:creationId xmlns:p14="http://schemas.microsoft.com/office/powerpoint/2010/main" val="62644624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1" grpId="0" animBg="1"/>
      <p:bldP spid="9" grpId="0" animBg="1"/>
      <p:bldP spid="8" grpId="0" animBg="1"/>
      <p:bldP spid="5" grpId="0" animBg="1"/>
      <p:bldP spid="10" grpId="0" animBg="1"/>
      <p:bldP spid="4" grpId="0" animBg="1"/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28E67FDA-6BDA-4284-8490-4484029AA3B8}"/>
              </a:ext>
            </a:extLst>
          </p:cNvPr>
          <p:cNvSpPr/>
          <p:nvPr/>
        </p:nvSpPr>
        <p:spPr>
          <a:xfrm>
            <a:off x="7849541" y="5971949"/>
            <a:ext cx="1309305" cy="707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9102" y="1642381"/>
            <a:ext cx="5833383" cy="5036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tângulo 5"/>
          <p:cNvSpPr/>
          <p:nvPr/>
        </p:nvSpPr>
        <p:spPr>
          <a:xfrm>
            <a:off x="138422" y="1845285"/>
            <a:ext cx="28524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tx1"/>
                </a:solidFill>
              </a:rPr>
              <a:t>CUSTO</a:t>
            </a:r>
            <a:endParaRPr lang="pt-BR" sz="1200" b="1" dirty="0">
              <a:solidFill>
                <a:schemeClr val="tx1"/>
              </a:solidFill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GASTOS COM A AQUISIÇÃO DE BENS E SERVIÇOS QUE SERÃO USADOS NA PRODUÇÃO DE OUTROS BENS OU SERVIÇOS OU COMERCIALIZADOS COMO MERCADORIA</a:t>
            </a:r>
          </a:p>
        </p:txBody>
      </p:sp>
      <p:sp>
        <p:nvSpPr>
          <p:cNvPr id="7" name="Retângulo 6"/>
          <p:cNvSpPr/>
          <p:nvPr/>
        </p:nvSpPr>
        <p:spPr>
          <a:xfrm>
            <a:off x="138422" y="5198085"/>
            <a:ext cx="28524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tx1"/>
                </a:solidFill>
              </a:rPr>
              <a:t>DESPESAS</a:t>
            </a:r>
            <a:endParaRPr lang="pt-BR" sz="1200" b="1" dirty="0">
              <a:solidFill>
                <a:schemeClr val="tx1"/>
              </a:solidFill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GASTOS REALIZADOS NA COMPRA DE BENS OU SERVIÇOS  CONSUMIDOS DIRETA OU INDIRETAMENTE PARA A OBTENÇÃO DE RECEITAS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8422" y="3502635"/>
            <a:ext cx="2852427" cy="1272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tx1"/>
                </a:solidFill>
              </a:rPr>
              <a:t>INVESTIMENTOS</a:t>
            </a:r>
            <a:endParaRPr lang="pt-BR" sz="1200" b="1" dirty="0">
              <a:solidFill>
                <a:schemeClr val="tx1"/>
              </a:solidFill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COMPRA DE ATIVOS QUE SERÃO ESTOCADOS E PODEM VIR A SER USADOS NA PRODUÇÃO OU SEREM VENDIDOS COMO MERCADORIA NO FUTURO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921926" y="666665"/>
            <a:ext cx="488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TERMINOLOGIA DE CUSTOS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169101" y="1209804"/>
            <a:ext cx="58333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EXEMPLO: CLASSIFICAÇÃO DOS GASTOS EM UMA MARCENARIA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143859" y="1845276"/>
            <a:ext cx="2838827" cy="12727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FB36C6-C9B3-4C32-B2BF-B453F40ADE28}"/>
              </a:ext>
            </a:extLst>
          </p:cNvPr>
          <p:cNvSpPr/>
          <p:nvPr/>
        </p:nvSpPr>
        <p:spPr>
          <a:xfrm>
            <a:off x="7649640" y="206156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AFF9909-29B3-449A-A7C2-D041489ED8D7}"/>
              </a:ext>
            </a:extLst>
          </p:cNvPr>
          <p:cNvSpPr/>
          <p:nvPr/>
        </p:nvSpPr>
        <p:spPr>
          <a:xfrm>
            <a:off x="7649640" y="2447464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BCA7086-31ED-432C-AFD7-1A9B8938B17A}"/>
              </a:ext>
            </a:extLst>
          </p:cNvPr>
          <p:cNvSpPr/>
          <p:nvPr/>
        </p:nvSpPr>
        <p:spPr>
          <a:xfrm>
            <a:off x="7649640" y="283335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AC45690-A04E-47F9-919B-879223D8C38B}"/>
              </a:ext>
            </a:extLst>
          </p:cNvPr>
          <p:cNvSpPr/>
          <p:nvPr/>
        </p:nvSpPr>
        <p:spPr>
          <a:xfrm>
            <a:off x="7649640" y="3219254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CDF310-2ED8-4E80-8BEF-E34D87157AF5}"/>
              </a:ext>
            </a:extLst>
          </p:cNvPr>
          <p:cNvSpPr/>
          <p:nvPr/>
        </p:nvSpPr>
        <p:spPr>
          <a:xfrm>
            <a:off x="7649640" y="360514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F7A6456-C679-4DD6-B3D4-519A6508AC51}"/>
              </a:ext>
            </a:extLst>
          </p:cNvPr>
          <p:cNvSpPr/>
          <p:nvPr/>
        </p:nvSpPr>
        <p:spPr>
          <a:xfrm>
            <a:off x="7649640" y="3991044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4F3FA3C-CDCB-4308-B3DF-73DB0968BBD1}"/>
              </a:ext>
            </a:extLst>
          </p:cNvPr>
          <p:cNvSpPr/>
          <p:nvPr/>
        </p:nvSpPr>
        <p:spPr>
          <a:xfrm>
            <a:off x="7649640" y="437693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13E345F-C5D1-4389-80F1-E84687FE2F32}"/>
              </a:ext>
            </a:extLst>
          </p:cNvPr>
          <p:cNvSpPr/>
          <p:nvPr/>
        </p:nvSpPr>
        <p:spPr>
          <a:xfrm>
            <a:off x="7649640" y="4762834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EA589F3-DC1E-43F4-BC11-9B4A6EFFB749}"/>
              </a:ext>
            </a:extLst>
          </p:cNvPr>
          <p:cNvSpPr/>
          <p:nvPr/>
        </p:nvSpPr>
        <p:spPr>
          <a:xfrm>
            <a:off x="7649640" y="514872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A79B482-ED26-491D-BC0E-76E1B36207BB}"/>
              </a:ext>
            </a:extLst>
          </p:cNvPr>
          <p:cNvSpPr/>
          <p:nvPr/>
        </p:nvSpPr>
        <p:spPr>
          <a:xfrm>
            <a:off x="7649640" y="5534624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B6D460B-ADA2-4CB2-BC05-CB149936BC98}"/>
              </a:ext>
            </a:extLst>
          </p:cNvPr>
          <p:cNvSpPr/>
          <p:nvPr/>
        </p:nvSpPr>
        <p:spPr>
          <a:xfrm>
            <a:off x="7649640" y="592051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B1885DF-8F50-4ED1-B1F0-06AD4302CC3F}"/>
              </a:ext>
            </a:extLst>
          </p:cNvPr>
          <p:cNvSpPr/>
          <p:nvPr/>
        </p:nvSpPr>
        <p:spPr>
          <a:xfrm>
            <a:off x="7649640" y="6306409"/>
            <a:ext cx="1309305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26239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/>
          <p:cNvSpPr/>
          <p:nvPr/>
        </p:nvSpPr>
        <p:spPr>
          <a:xfrm>
            <a:off x="168337" y="2923239"/>
            <a:ext cx="4948216" cy="21553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ABSORÇÃO DOS CUSTOS</a:t>
            </a:r>
          </a:p>
          <a:p>
            <a:pPr algn="ctr"/>
            <a:endParaRPr lang="pt-BR" sz="600" b="1" dirty="0">
              <a:solidFill>
                <a:schemeClr val="tx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86784" y="689825"/>
            <a:ext cx="4479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CUSTEIO POR ABSORÇÃO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36934" y="1897975"/>
            <a:ext cx="4129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u="sng" dirty="0"/>
              <a:t>Custeio</a:t>
            </a:r>
            <a:r>
              <a:rPr lang="pt-BR" sz="2000" dirty="0"/>
              <a:t> = Apropriação (ou atribuição)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36934" y="2331262"/>
            <a:ext cx="8046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u="sng" dirty="0"/>
              <a:t>Custeio por Absorção </a:t>
            </a:r>
            <a:r>
              <a:rPr lang="pt-BR" sz="2000" dirty="0"/>
              <a:t>= Apropriação dos Custos em função do seu Consumo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36934" y="1377837"/>
            <a:ext cx="81833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600" b="1" u="sng" dirty="0"/>
              <a:t>Produtos</a:t>
            </a:r>
            <a:r>
              <a:rPr lang="pt-BR" sz="2600" b="1" dirty="0"/>
              <a:t> </a:t>
            </a:r>
            <a:r>
              <a:rPr lang="pt-BR" sz="2600" dirty="0"/>
              <a:t>“absorvem” </a:t>
            </a:r>
            <a:r>
              <a:rPr lang="pt-BR" sz="2600" b="1" u="sng" dirty="0"/>
              <a:t>Custos</a:t>
            </a:r>
            <a:r>
              <a:rPr lang="pt-BR" sz="2600" dirty="0"/>
              <a:t> durante o processo produtivo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2084211" y="3140948"/>
            <a:ext cx="1164771" cy="15784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Processo Produtivo</a:t>
            </a:r>
          </a:p>
        </p:txBody>
      </p:sp>
      <p:sp>
        <p:nvSpPr>
          <p:cNvPr id="17" name="Seta para a direita 16"/>
          <p:cNvSpPr/>
          <p:nvPr/>
        </p:nvSpPr>
        <p:spPr>
          <a:xfrm>
            <a:off x="1441956" y="3456634"/>
            <a:ext cx="642257" cy="195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>
            <a:off x="1441956" y="4229519"/>
            <a:ext cx="642257" cy="195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a direita 18"/>
          <p:cNvSpPr/>
          <p:nvPr/>
        </p:nvSpPr>
        <p:spPr>
          <a:xfrm>
            <a:off x="3248987" y="3750550"/>
            <a:ext cx="540572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19"/>
          <p:cNvSpPr/>
          <p:nvPr/>
        </p:nvSpPr>
        <p:spPr>
          <a:xfrm>
            <a:off x="4945302" y="3750550"/>
            <a:ext cx="539242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lum bright="-20000"/>
          </a:blip>
          <a:srcRect r="29023"/>
          <a:stretch>
            <a:fillRect/>
          </a:stretch>
        </p:blipFill>
        <p:spPr bwMode="auto">
          <a:xfrm>
            <a:off x="6988629" y="3278471"/>
            <a:ext cx="3248191" cy="35795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6" name="Retângulo de cantos arredondados 25"/>
          <p:cNvSpPr/>
          <p:nvPr/>
        </p:nvSpPr>
        <p:spPr>
          <a:xfrm>
            <a:off x="6959425" y="3731697"/>
            <a:ext cx="1537804" cy="2827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5484543" y="3254858"/>
            <a:ext cx="903252" cy="135061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Venda</a:t>
            </a:r>
          </a:p>
        </p:txBody>
      </p:sp>
      <p:sp>
        <p:nvSpPr>
          <p:cNvPr id="31" name="Retângulo de cantos arredondados 30"/>
          <p:cNvSpPr/>
          <p:nvPr/>
        </p:nvSpPr>
        <p:spPr>
          <a:xfrm>
            <a:off x="6982259" y="4578393"/>
            <a:ext cx="912803" cy="29470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 para a direita 37"/>
          <p:cNvSpPr/>
          <p:nvPr/>
        </p:nvSpPr>
        <p:spPr>
          <a:xfrm>
            <a:off x="6394961" y="3750550"/>
            <a:ext cx="539242" cy="2939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Seta dobrada para cima 38"/>
          <p:cNvSpPr/>
          <p:nvPr/>
        </p:nvSpPr>
        <p:spPr>
          <a:xfrm rot="5400000">
            <a:off x="5425059" y="3350958"/>
            <a:ext cx="669074" cy="2442118"/>
          </a:xfrm>
          <a:prstGeom prst="bentUpArrow">
            <a:avLst>
              <a:gd name="adj1" fmla="val 21551"/>
              <a:gd name="adj2" fmla="val 22481"/>
              <a:gd name="adj3" fmla="val 2155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320727" y="3162719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Estoque de Matéria Prima</a:t>
            </a:r>
          </a:p>
        </p:txBody>
      </p:sp>
      <p:sp>
        <p:nvSpPr>
          <p:cNvPr id="9" name="Retângulo 8"/>
          <p:cNvSpPr/>
          <p:nvPr/>
        </p:nvSpPr>
        <p:spPr>
          <a:xfrm>
            <a:off x="320727" y="4033576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Mão de Obra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802031" y="3554605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Estoque de Produtos Acabados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1550024" y="362416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$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308199" y="325245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$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5460385" y="47801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$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6486297" y="30517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00B050"/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00722859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" grpId="0"/>
      <p:bldP spid="6" grpId="0"/>
      <p:bldP spid="7" grpId="0"/>
      <p:bldP spid="10" grpId="0" animBg="1"/>
      <p:bldP spid="17" grpId="0" animBg="1"/>
      <p:bldP spid="18" grpId="0" animBg="1"/>
      <p:bldP spid="19" grpId="0" animBg="1"/>
      <p:bldP spid="20" grpId="0" animBg="1"/>
      <p:bldP spid="26" grpId="0" animBg="1"/>
      <p:bldP spid="21" grpId="0" animBg="1"/>
      <p:bldP spid="31" grpId="0" animBg="1"/>
      <p:bldP spid="38" grpId="0" animBg="1"/>
      <p:bldP spid="39" grpId="0" animBg="1"/>
      <p:bldP spid="8" grpId="0" animBg="1"/>
      <p:bldP spid="9" grpId="0" animBg="1"/>
      <p:bldP spid="11" grpId="0" animBg="1"/>
      <p:bldP spid="40" grpId="0"/>
      <p:bldP spid="41" grpId="0"/>
      <p:bldP spid="42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/>
        </p:nvSpPr>
        <p:spPr>
          <a:xfrm>
            <a:off x="2084211" y="3140948"/>
            <a:ext cx="1164771" cy="15784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Processo Produtivo</a:t>
            </a:r>
          </a:p>
        </p:txBody>
      </p:sp>
      <p:sp>
        <p:nvSpPr>
          <p:cNvPr id="17" name="Seta para a direita 16"/>
          <p:cNvSpPr/>
          <p:nvPr/>
        </p:nvSpPr>
        <p:spPr>
          <a:xfrm>
            <a:off x="1441956" y="3456634"/>
            <a:ext cx="642257" cy="195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>
            <a:off x="1441956" y="4229519"/>
            <a:ext cx="642257" cy="195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a direita 18"/>
          <p:cNvSpPr/>
          <p:nvPr/>
        </p:nvSpPr>
        <p:spPr>
          <a:xfrm>
            <a:off x="3248987" y="3750550"/>
            <a:ext cx="540572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19"/>
          <p:cNvSpPr/>
          <p:nvPr/>
        </p:nvSpPr>
        <p:spPr>
          <a:xfrm>
            <a:off x="4945302" y="3750550"/>
            <a:ext cx="539242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lum bright="-20000"/>
          </a:blip>
          <a:srcRect r="29023"/>
          <a:stretch>
            <a:fillRect/>
          </a:stretch>
        </p:blipFill>
        <p:spPr bwMode="auto">
          <a:xfrm>
            <a:off x="6988629" y="3278471"/>
            <a:ext cx="3248191" cy="35666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6" name="Retângulo de cantos arredondados 25"/>
          <p:cNvSpPr/>
          <p:nvPr/>
        </p:nvSpPr>
        <p:spPr>
          <a:xfrm>
            <a:off x="6959425" y="3731697"/>
            <a:ext cx="1537804" cy="28275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5484543" y="3254858"/>
            <a:ext cx="903252" cy="135061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Venda</a:t>
            </a:r>
          </a:p>
        </p:txBody>
      </p:sp>
      <p:sp>
        <p:nvSpPr>
          <p:cNvPr id="31" name="Retângulo de cantos arredondados 30"/>
          <p:cNvSpPr/>
          <p:nvPr/>
        </p:nvSpPr>
        <p:spPr>
          <a:xfrm>
            <a:off x="6982259" y="4578393"/>
            <a:ext cx="912803" cy="29470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 para a direita 37"/>
          <p:cNvSpPr/>
          <p:nvPr/>
        </p:nvSpPr>
        <p:spPr>
          <a:xfrm>
            <a:off x="6394961" y="3750550"/>
            <a:ext cx="539242" cy="2939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320727" y="3162719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Estoque de Matéria Prima</a:t>
            </a:r>
          </a:p>
        </p:txBody>
      </p:sp>
      <p:sp>
        <p:nvSpPr>
          <p:cNvPr id="9" name="Retângulo 8"/>
          <p:cNvSpPr/>
          <p:nvPr/>
        </p:nvSpPr>
        <p:spPr>
          <a:xfrm>
            <a:off x="320727" y="4033576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Mão de Obra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802031" y="3554605"/>
            <a:ext cx="1132114" cy="67491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Estoque de Produtos Acabados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799363" y="1534599"/>
            <a:ext cx="1769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Para produzirmos </a:t>
            </a:r>
          </a:p>
          <a:p>
            <a:pPr algn="ctr"/>
            <a:r>
              <a:rPr lang="pt-BR" sz="1400" b="1" dirty="0"/>
              <a:t>100</a:t>
            </a:r>
            <a:r>
              <a:rPr lang="pt-BR" sz="1400" dirty="0"/>
              <a:t> unidades de nosso produto ...</a:t>
            </a:r>
          </a:p>
        </p:txBody>
      </p:sp>
      <p:cxnSp>
        <p:nvCxnSpPr>
          <p:cNvPr id="27" name="Conector de seta reta 26"/>
          <p:cNvCxnSpPr>
            <a:cxnSpLocks/>
            <a:endCxn id="10" idx="0"/>
          </p:cNvCxnSpPr>
          <p:nvPr/>
        </p:nvCxnSpPr>
        <p:spPr>
          <a:xfrm flipH="1">
            <a:off x="2666597" y="2289766"/>
            <a:ext cx="6128" cy="85118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66906" y="1940369"/>
            <a:ext cx="1639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... consumimos </a:t>
            </a:r>
          </a:p>
          <a:p>
            <a:pPr algn="ctr"/>
            <a:r>
              <a:rPr lang="pt-BR" sz="1400" b="1" dirty="0"/>
              <a:t>R$ 10.000,00 </a:t>
            </a:r>
            <a:r>
              <a:rPr lang="pt-BR" sz="1400" dirty="0"/>
              <a:t>de Matéria Prima...</a:t>
            </a:r>
          </a:p>
        </p:txBody>
      </p:sp>
      <p:cxnSp>
        <p:nvCxnSpPr>
          <p:cNvPr id="32" name="Conector de seta reta 31"/>
          <p:cNvCxnSpPr>
            <a:stCxn id="29" idx="2"/>
            <a:endCxn id="8" idx="0"/>
          </p:cNvCxnSpPr>
          <p:nvPr/>
        </p:nvCxnSpPr>
        <p:spPr>
          <a:xfrm>
            <a:off x="886521" y="2679033"/>
            <a:ext cx="263" cy="48368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6906" y="5092445"/>
            <a:ext cx="1639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... e consumimos</a:t>
            </a:r>
          </a:p>
          <a:p>
            <a:pPr algn="ctr"/>
            <a:r>
              <a:rPr lang="pt-BR" sz="1400" dirty="0"/>
              <a:t> </a:t>
            </a:r>
            <a:r>
              <a:rPr lang="pt-BR" sz="1400" b="1" dirty="0"/>
              <a:t>R$ 5.000,00 </a:t>
            </a:r>
            <a:r>
              <a:rPr lang="pt-BR" sz="1400" dirty="0"/>
              <a:t>de Mão de Obra</a:t>
            </a:r>
          </a:p>
        </p:txBody>
      </p:sp>
      <p:cxnSp>
        <p:nvCxnSpPr>
          <p:cNvPr id="37" name="Conector de seta reta 36"/>
          <p:cNvCxnSpPr>
            <a:stCxn id="36" idx="0"/>
            <a:endCxn id="9" idx="2"/>
          </p:cNvCxnSpPr>
          <p:nvPr/>
        </p:nvCxnSpPr>
        <p:spPr>
          <a:xfrm flipV="1">
            <a:off x="886521" y="4708490"/>
            <a:ext cx="263" cy="38395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3363949" y="2289766"/>
            <a:ext cx="19997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Ficamos assim com um estoque de </a:t>
            </a:r>
            <a:r>
              <a:rPr lang="pt-BR" sz="1400" b="1" dirty="0"/>
              <a:t>100 </a:t>
            </a:r>
            <a:r>
              <a:rPr lang="pt-BR" sz="1400" dirty="0"/>
              <a:t>produtos a um custo total de ...?</a:t>
            </a:r>
            <a:endParaRPr lang="pt-BR" sz="1400" b="1" dirty="0"/>
          </a:p>
        </p:txBody>
      </p:sp>
      <p:cxnSp>
        <p:nvCxnSpPr>
          <p:cNvPr id="47" name="Conector de seta reta 46"/>
          <p:cNvCxnSpPr>
            <a:endCxn id="11" idx="0"/>
          </p:cNvCxnSpPr>
          <p:nvPr/>
        </p:nvCxnSpPr>
        <p:spPr>
          <a:xfrm flipH="1">
            <a:off x="4368088" y="3267307"/>
            <a:ext cx="3190" cy="28729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5575607" y="1761945"/>
            <a:ext cx="14942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Vendemos </a:t>
            </a:r>
            <a:r>
              <a:rPr lang="pt-BR" sz="1400" b="1" dirty="0"/>
              <a:t>50 </a:t>
            </a:r>
          </a:p>
          <a:p>
            <a:pPr algn="ctr"/>
            <a:r>
              <a:rPr lang="pt-BR" sz="1400" dirty="0"/>
              <a:t>unidades por </a:t>
            </a:r>
          </a:p>
          <a:p>
            <a:pPr algn="ctr"/>
            <a:r>
              <a:rPr lang="pt-BR" sz="1400" b="1" dirty="0"/>
              <a:t>R$ 20.000,00</a:t>
            </a:r>
          </a:p>
        </p:txBody>
      </p:sp>
      <p:cxnSp>
        <p:nvCxnSpPr>
          <p:cNvPr id="52" name="Conector de seta reta 51"/>
          <p:cNvCxnSpPr>
            <a:stCxn id="50" idx="2"/>
            <a:endCxn id="21" idx="0"/>
          </p:cNvCxnSpPr>
          <p:nvPr/>
        </p:nvCxnSpPr>
        <p:spPr>
          <a:xfrm flipH="1">
            <a:off x="5936169" y="2500609"/>
            <a:ext cx="386571" cy="75424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de cantos arredondados 53"/>
          <p:cNvSpPr/>
          <p:nvPr/>
        </p:nvSpPr>
        <p:spPr>
          <a:xfrm>
            <a:off x="6978542" y="4864608"/>
            <a:ext cx="1529838" cy="29470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/>
          <p:cNvSpPr txBox="1"/>
          <p:nvPr/>
        </p:nvSpPr>
        <p:spPr>
          <a:xfrm>
            <a:off x="7077310" y="2037012"/>
            <a:ext cx="19997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Nossos impostos sobre as vendas  totalizaram</a:t>
            </a:r>
          </a:p>
          <a:p>
            <a:pPr algn="ctr"/>
            <a:r>
              <a:rPr lang="pt-BR" sz="1400" b="1" dirty="0"/>
              <a:t>R$ 1.000,00</a:t>
            </a:r>
          </a:p>
        </p:txBody>
      </p:sp>
      <p:sp>
        <p:nvSpPr>
          <p:cNvPr id="56" name="Retângulo de cantos arredondados 55"/>
          <p:cNvSpPr/>
          <p:nvPr/>
        </p:nvSpPr>
        <p:spPr>
          <a:xfrm>
            <a:off x="6967391" y="4017115"/>
            <a:ext cx="1396024" cy="29470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angulado 57"/>
          <p:cNvCxnSpPr>
            <a:stCxn id="55" idx="2"/>
            <a:endCxn id="56" idx="3"/>
          </p:cNvCxnSpPr>
          <p:nvPr/>
        </p:nvCxnSpPr>
        <p:spPr>
          <a:xfrm rot="16200000" flipH="1">
            <a:off x="7525914" y="3326965"/>
            <a:ext cx="1388791" cy="286211"/>
          </a:xfrm>
          <a:prstGeom prst="bentConnector4">
            <a:avLst>
              <a:gd name="adj1" fmla="val 14986"/>
              <a:gd name="adj2" fmla="val 226627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3356516" y="4653828"/>
            <a:ext cx="237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Qual foi nosso </a:t>
            </a:r>
            <a:r>
              <a:rPr lang="pt-BR" b="1" u="sng" dirty="0"/>
              <a:t>CMV</a:t>
            </a:r>
            <a:r>
              <a:rPr lang="pt-BR" u="sng" dirty="0"/>
              <a:t>  ?</a:t>
            </a:r>
          </a:p>
        </p:txBody>
      </p:sp>
      <p:cxnSp>
        <p:nvCxnSpPr>
          <p:cNvPr id="64" name="Conector de seta reta 63"/>
          <p:cNvCxnSpPr>
            <a:stCxn id="91" idx="3"/>
            <a:endCxn id="31" idx="1"/>
          </p:cNvCxnSpPr>
          <p:nvPr/>
        </p:nvCxnSpPr>
        <p:spPr>
          <a:xfrm flipV="1">
            <a:off x="6155473" y="4725745"/>
            <a:ext cx="826786" cy="50737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102" idx="3"/>
            <a:endCxn id="54" idx="1"/>
          </p:cNvCxnSpPr>
          <p:nvPr/>
        </p:nvCxnSpPr>
        <p:spPr>
          <a:xfrm flipV="1">
            <a:off x="5352585" y="5011960"/>
            <a:ext cx="1625957" cy="135114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2966232" y="5564510"/>
            <a:ext cx="294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Qual foi nosso </a:t>
            </a:r>
            <a:r>
              <a:rPr lang="pt-BR" b="1" u="sng" dirty="0"/>
              <a:t>Lucro Bruto </a:t>
            </a:r>
            <a:r>
              <a:rPr lang="pt-BR" u="sng" dirty="0"/>
              <a:t>?</a:t>
            </a:r>
          </a:p>
        </p:txBody>
      </p:sp>
      <p:sp>
        <p:nvSpPr>
          <p:cNvPr id="74" name="CaixaDeTexto 73"/>
          <p:cNvSpPr txBox="1"/>
          <p:nvPr/>
        </p:nvSpPr>
        <p:spPr>
          <a:xfrm>
            <a:off x="3360231" y="2943976"/>
            <a:ext cx="1999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R$ 15.000,00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4408439" y="5076252"/>
            <a:ext cx="1999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X 50 =  </a:t>
            </a:r>
            <a:r>
              <a:rPr lang="pt-BR" sz="1400" b="1" dirty="0"/>
              <a:t>R$ 7.500,00</a:t>
            </a:r>
          </a:p>
        </p:txBody>
      </p:sp>
      <p:sp>
        <p:nvSpPr>
          <p:cNvPr id="77" name="CaixaDeTexto 76"/>
          <p:cNvSpPr txBox="1"/>
          <p:nvPr/>
        </p:nvSpPr>
        <p:spPr>
          <a:xfrm>
            <a:off x="3200403" y="5881591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Vendas	   R$ 20.000,00  </a:t>
            </a:r>
          </a:p>
          <a:p>
            <a:r>
              <a:rPr lang="pt-BR" sz="1400" dirty="0"/>
              <a:t>(-) Deduções   R$   1.000,00</a:t>
            </a:r>
          </a:p>
          <a:p>
            <a:r>
              <a:rPr lang="pt-BR" sz="1400" u="sng" dirty="0"/>
              <a:t>(-) CMV	   R$   7.500,00</a:t>
            </a:r>
          </a:p>
          <a:p>
            <a:r>
              <a:rPr lang="pt-BR" sz="1400" dirty="0"/>
              <a:t>= Lucro Bruto  </a:t>
            </a:r>
            <a:r>
              <a:rPr lang="pt-BR" sz="1400" b="1" dirty="0"/>
              <a:t>R$ 11.500,00</a:t>
            </a:r>
          </a:p>
        </p:txBody>
      </p:sp>
      <p:cxnSp>
        <p:nvCxnSpPr>
          <p:cNvPr id="78" name="Conector de seta reta 77"/>
          <p:cNvCxnSpPr/>
          <p:nvPr/>
        </p:nvCxnSpPr>
        <p:spPr>
          <a:xfrm flipH="1" flipV="1">
            <a:off x="4334628" y="4218369"/>
            <a:ext cx="3196" cy="498597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/>
          <p:cNvSpPr txBox="1"/>
          <p:nvPr/>
        </p:nvSpPr>
        <p:spPr>
          <a:xfrm>
            <a:off x="2118754" y="4979681"/>
            <a:ext cx="1999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R$ 15.000,00 </a:t>
            </a:r>
          </a:p>
          <a:p>
            <a:pPr algn="ctr"/>
            <a:r>
              <a:rPr lang="pt-BR" sz="1400" dirty="0"/>
              <a:t>100</a:t>
            </a:r>
          </a:p>
        </p:txBody>
      </p:sp>
      <p:cxnSp>
        <p:nvCxnSpPr>
          <p:cNvPr id="89" name="Conector reto 88"/>
          <p:cNvCxnSpPr/>
          <p:nvPr/>
        </p:nvCxnSpPr>
        <p:spPr>
          <a:xfrm>
            <a:off x="2564782" y="5241291"/>
            <a:ext cx="10370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de cantos arredondados 90"/>
          <p:cNvSpPr/>
          <p:nvPr/>
        </p:nvSpPr>
        <p:spPr>
          <a:xfrm>
            <a:off x="2330605" y="4979834"/>
            <a:ext cx="3824868" cy="5065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5" name="Conector de seta reta 94"/>
          <p:cNvCxnSpPr>
            <a:endCxn id="31" idx="1"/>
          </p:cNvCxnSpPr>
          <p:nvPr/>
        </p:nvCxnSpPr>
        <p:spPr>
          <a:xfrm flipV="1">
            <a:off x="5475249" y="4725745"/>
            <a:ext cx="1507010" cy="10273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ângulo de cantos arredondados 101"/>
          <p:cNvSpPr/>
          <p:nvPr/>
        </p:nvSpPr>
        <p:spPr>
          <a:xfrm>
            <a:off x="3175975" y="5901666"/>
            <a:ext cx="2176610" cy="9228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CaixaDeTexto 103"/>
          <p:cNvSpPr txBox="1"/>
          <p:nvPr/>
        </p:nvSpPr>
        <p:spPr>
          <a:xfrm>
            <a:off x="3445723" y="5087403"/>
            <a:ext cx="1375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=  R$ 150,00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341742" y="4917713"/>
            <a:ext cx="2480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(                      )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644D36E-1657-445C-A673-5209B6F36751}"/>
              </a:ext>
            </a:extLst>
          </p:cNvPr>
          <p:cNvSpPr txBox="1"/>
          <p:nvPr/>
        </p:nvSpPr>
        <p:spPr>
          <a:xfrm>
            <a:off x="886784" y="689825"/>
            <a:ext cx="4479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CUSTEIO POR ABSORÇÃO</a:t>
            </a:r>
          </a:p>
        </p:txBody>
      </p:sp>
    </p:spTree>
    <p:extLst>
      <p:ext uri="{BB962C8B-B14F-4D97-AF65-F5344CB8AC3E}">
        <p14:creationId xmlns:p14="http://schemas.microsoft.com/office/powerpoint/2010/main" val="252873088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8" grpId="0" animBg="1"/>
      <p:bldP spid="24" grpId="0"/>
      <p:bldP spid="29" grpId="0"/>
      <p:bldP spid="36" grpId="0"/>
      <p:bldP spid="45" grpId="0"/>
      <p:bldP spid="50" grpId="0"/>
      <p:bldP spid="54" grpId="0" animBg="1"/>
      <p:bldP spid="55" grpId="0"/>
      <p:bldP spid="56" grpId="0" animBg="1"/>
      <p:bldP spid="62" grpId="0"/>
      <p:bldP spid="70" grpId="0"/>
      <p:bldP spid="74" grpId="0"/>
      <p:bldP spid="76" grpId="0"/>
      <p:bldP spid="77" grpId="0" build="p"/>
      <p:bldP spid="82" grpId="0"/>
      <p:bldP spid="91" grpId="0" animBg="1"/>
      <p:bldP spid="102" grpId="0" animBg="1"/>
      <p:bldP spid="104" grpId="0"/>
      <p:bldP spid="1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187624" y="908720"/>
            <a:ext cx="6696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 DE ACORDO COM A </a:t>
            </a:r>
            <a:r>
              <a:rPr lang="pt-BR" sz="2000" u="sng" dirty="0"/>
              <a:t>APROPRIAÇÃO AOS PRODUTOS</a:t>
            </a:r>
          </a:p>
        </p:txBody>
      </p:sp>
      <p:grpSp>
        <p:nvGrpSpPr>
          <p:cNvPr id="2" name="Grupo 55"/>
          <p:cNvGrpSpPr/>
          <p:nvPr/>
        </p:nvGrpSpPr>
        <p:grpSpPr>
          <a:xfrm>
            <a:off x="1619672" y="2851240"/>
            <a:ext cx="5832648" cy="2758076"/>
            <a:chOff x="1619672" y="3068960"/>
            <a:chExt cx="5832648" cy="2758076"/>
          </a:xfrm>
        </p:grpSpPr>
        <p:cxnSp>
          <p:nvCxnSpPr>
            <p:cNvPr id="35" name="Conector reto 34"/>
            <p:cNvCxnSpPr/>
            <p:nvPr/>
          </p:nvCxnSpPr>
          <p:spPr>
            <a:xfrm>
              <a:off x="6624228" y="3068960"/>
              <a:ext cx="0" cy="208823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H="1">
              <a:off x="2429762" y="3068960"/>
              <a:ext cx="36004" cy="208823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1619672" y="5157192"/>
              <a:ext cx="5832648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3563888" y="5178964"/>
              <a:ext cx="0" cy="64807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>
              <a:off x="5508104" y="5157192"/>
              <a:ext cx="0" cy="64807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>
            <a:xfrm>
              <a:off x="7452320" y="5157192"/>
              <a:ext cx="0" cy="64807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/>
            <p:nvPr/>
          </p:nvCxnSpPr>
          <p:spPr>
            <a:xfrm>
              <a:off x="1619672" y="5157192"/>
              <a:ext cx="0" cy="64807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tângulo 31"/>
          <p:cNvSpPr/>
          <p:nvPr/>
        </p:nvSpPr>
        <p:spPr>
          <a:xfrm>
            <a:off x="5436096" y="3067264"/>
            <a:ext cx="2376264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Aluguel da Fábrica</a:t>
            </a:r>
          </a:p>
        </p:txBody>
      </p:sp>
      <p:sp>
        <p:nvSpPr>
          <p:cNvPr id="33" name="Retângulo 32"/>
          <p:cNvSpPr/>
          <p:nvPr/>
        </p:nvSpPr>
        <p:spPr>
          <a:xfrm>
            <a:off x="5436096" y="3427304"/>
            <a:ext cx="2376264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Salário de Supervisores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5436096" y="3787344"/>
            <a:ext cx="2376264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Depreciação de Máquinas</a:t>
            </a:r>
          </a:p>
        </p:txBody>
      </p:sp>
      <p:sp>
        <p:nvSpPr>
          <p:cNvPr id="38" name="Retângulo de cantos arredondados 37"/>
          <p:cNvSpPr/>
          <p:nvPr/>
        </p:nvSpPr>
        <p:spPr>
          <a:xfrm>
            <a:off x="1835696" y="4363408"/>
            <a:ext cx="1224136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MEDIÇÃO</a:t>
            </a:r>
          </a:p>
        </p:txBody>
      </p:sp>
      <p:sp>
        <p:nvSpPr>
          <p:cNvPr id="42" name="Retângulo de cantos arredondados 41"/>
          <p:cNvSpPr/>
          <p:nvPr/>
        </p:nvSpPr>
        <p:spPr>
          <a:xfrm>
            <a:off x="6012160" y="4363408"/>
            <a:ext cx="1224136" cy="36004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RATEIO</a:t>
            </a:r>
          </a:p>
        </p:txBody>
      </p:sp>
      <p:sp>
        <p:nvSpPr>
          <p:cNvPr id="49" name="Retângulo de cantos arredondados 48"/>
          <p:cNvSpPr/>
          <p:nvPr/>
        </p:nvSpPr>
        <p:spPr>
          <a:xfrm>
            <a:off x="3976498" y="3676918"/>
            <a:ext cx="1093024" cy="72289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DEPENDE DA CAPACIDADE DE MEDIR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259632" y="3067264"/>
            <a:ext cx="2376264" cy="2880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Quantidade de Material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1259632" y="3427304"/>
            <a:ext cx="2376264" cy="2880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Horas Trabalhadas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259632" y="3787344"/>
            <a:ext cx="2376264" cy="2880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Quantidade de Energia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1187624" y="6370802"/>
            <a:ext cx="6696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 Quanto gastamos para produzir cada produto ?</a:t>
            </a:r>
          </a:p>
        </p:txBody>
      </p:sp>
      <p:sp>
        <p:nvSpPr>
          <p:cNvPr id="8" name="Elipse 7"/>
          <p:cNvSpPr/>
          <p:nvPr/>
        </p:nvSpPr>
        <p:spPr>
          <a:xfrm>
            <a:off x="755576" y="5587544"/>
            <a:ext cx="1728192" cy="720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PRODUTO A</a:t>
            </a:r>
          </a:p>
        </p:txBody>
      </p:sp>
      <p:sp>
        <p:nvSpPr>
          <p:cNvPr id="9" name="Elipse 8"/>
          <p:cNvSpPr/>
          <p:nvPr/>
        </p:nvSpPr>
        <p:spPr>
          <a:xfrm>
            <a:off x="2699792" y="5587544"/>
            <a:ext cx="1728192" cy="720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PRODUTO B</a:t>
            </a:r>
          </a:p>
        </p:txBody>
      </p:sp>
      <p:sp>
        <p:nvSpPr>
          <p:cNvPr id="10" name="Elipse 9"/>
          <p:cNvSpPr/>
          <p:nvPr/>
        </p:nvSpPr>
        <p:spPr>
          <a:xfrm>
            <a:off x="4644008" y="5587544"/>
            <a:ext cx="1728192" cy="720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PRODUTO C</a:t>
            </a:r>
          </a:p>
        </p:txBody>
      </p:sp>
      <p:sp>
        <p:nvSpPr>
          <p:cNvPr id="11" name="Elipse 10"/>
          <p:cNvSpPr/>
          <p:nvPr/>
        </p:nvSpPr>
        <p:spPr>
          <a:xfrm>
            <a:off x="6588224" y="5587544"/>
            <a:ext cx="1728192" cy="720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PRODUTO D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827584" y="5299512"/>
            <a:ext cx="720080" cy="3600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bg1"/>
                </a:solidFill>
              </a:rPr>
              <a:t>CONSUMO</a:t>
            </a:r>
          </a:p>
        </p:txBody>
      </p:sp>
      <p:sp>
        <p:nvSpPr>
          <p:cNvPr id="43" name="Retângulo 42"/>
          <p:cNvSpPr/>
          <p:nvPr/>
        </p:nvSpPr>
        <p:spPr>
          <a:xfrm>
            <a:off x="1691680" y="5299512"/>
            <a:ext cx="72008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bg1"/>
                </a:solidFill>
              </a:rPr>
              <a:t>RATEIO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2776305" y="5299512"/>
            <a:ext cx="720080" cy="3600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bg1"/>
                </a:solidFill>
              </a:rPr>
              <a:t>CONSUMO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3640401" y="5299512"/>
            <a:ext cx="72008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bg1"/>
                </a:solidFill>
              </a:rPr>
              <a:t>RATEIO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4710037" y="5299512"/>
            <a:ext cx="720080" cy="3600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bg1"/>
                </a:solidFill>
              </a:rPr>
              <a:t>CONSUMO</a:t>
            </a:r>
          </a:p>
        </p:txBody>
      </p:sp>
      <p:sp>
        <p:nvSpPr>
          <p:cNvPr id="53" name="Retângulo 52"/>
          <p:cNvSpPr/>
          <p:nvPr/>
        </p:nvSpPr>
        <p:spPr>
          <a:xfrm>
            <a:off x="5574133" y="5299512"/>
            <a:ext cx="72008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bg1"/>
                </a:solidFill>
              </a:rPr>
              <a:t>RATEIO</a:t>
            </a:r>
          </a:p>
        </p:txBody>
      </p:sp>
      <p:sp>
        <p:nvSpPr>
          <p:cNvPr id="54" name="Retângulo 53"/>
          <p:cNvSpPr/>
          <p:nvPr/>
        </p:nvSpPr>
        <p:spPr>
          <a:xfrm>
            <a:off x="6658758" y="5299512"/>
            <a:ext cx="720080" cy="3600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bg1"/>
                </a:solidFill>
              </a:rPr>
              <a:t>CONSUMO</a:t>
            </a:r>
          </a:p>
        </p:txBody>
      </p:sp>
      <p:sp>
        <p:nvSpPr>
          <p:cNvPr id="55" name="Retângulo 54"/>
          <p:cNvSpPr/>
          <p:nvPr/>
        </p:nvSpPr>
        <p:spPr>
          <a:xfrm>
            <a:off x="7522854" y="5299512"/>
            <a:ext cx="72008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bg1"/>
                </a:solidFill>
              </a:rPr>
              <a:t>RATEIO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5576" y="1555096"/>
            <a:ext cx="3384376" cy="12961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DIRETOS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CONSEGUIMOS APROPRIAR DIRETAMENTE NO PRODUTO BASTANDO EXISTIR UMA MEDIDA DE CONSUMO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32040" y="1555096"/>
            <a:ext cx="3384376" cy="12961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INDIRETOS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PARA APROPRIARMOS AO PRODUTO PRECISAMOS UTILIZAR ALGUM CRITÉRIO DE RATEIO </a:t>
            </a:r>
          </a:p>
        </p:txBody>
      </p:sp>
      <p:cxnSp>
        <p:nvCxnSpPr>
          <p:cNvPr id="48" name="Conector de seta reta 47"/>
          <p:cNvCxnSpPr/>
          <p:nvPr/>
        </p:nvCxnSpPr>
        <p:spPr>
          <a:xfrm>
            <a:off x="3635896" y="3550350"/>
            <a:ext cx="1800200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67923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8" grpId="0" animBg="1"/>
      <p:bldP spid="42" grpId="0" animBg="1"/>
      <p:bldP spid="49" grpId="0" animBg="1"/>
      <p:bldP spid="23" grpId="0" animBg="1"/>
      <p:bldP spid="24" grpId="0" animBg="1"/>
      <p:bldP spid="25" grpId="0" animBg="1"/>
      <p:bldP spid="36" grpId="0"/>
      <p:bldP spid="8" grpId="0" animBg="1"/>
      <p:bldP spid="9" grpId="0" animBg="1"/>
      <p:bldP spid="10" grpId="0" animBg="1"/>
      <p:bldP spid="11" grpId="0" animBg="1"/>
      <p:bldP spid="28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242127"/>
              </p:ext>
            </p:extLst>
          </p:nvPr>
        </p:nvGraphicFramePr>
        <p:xfrm>
          <a:off x="1112019" y="4366727"/>
          <a:ext cx="5481102" cy="195719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4127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438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cap="small" baseline="0" dirty="0"/>
                        <a:t>Custos Diretos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u="none" strike="noStrike" cap="small" baseline="0" dirty="0">
                          <a:solidFill>
                            <a:srgbClr val="C00000"/>
                          </a:solidFill>
                        </a:rPr>
                        <a:t>$17.600</a:t>
                      </a:r>
                      <a:endParaRPr lang="pt-BR" sz="2000" b="1" i="0" u="none" strike="noStrike" cap="small" baseline="0" dirty="0">
                        <a:solidFill>
                          <a:srgbClr val="C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438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cap="small" baseline="0" dirty="0"/>
                        <a:t>Custos indiretos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u="none" strike="noStrike" cap="small" baseline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$10.450</a:t>
                      </a:r>
                      <a:endParaRPr lang="pt-BR" sz="2000" b="1" i="0" u="none" strike="noStrike" cap="small" baseline="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38">
                <a:tc>
                  <a:txBody>
                    <a:bodyPr/>
                    <a:lstStyle/>
                    <a:p>
                      <a:pPr algn="r" fontAlgn="b">
                        <a:tabLst/>
                      </a:pPr>
                      <a:r>
                        <a:rPr lang="pt-BR" sz="2000" u="none" strike="noStrike" cap="small" baseline="0" dirty="0"/>
                        <a:t>Custo por absorção  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cap="small" baseline="0" dirty="0"/>
                        <a:t>$28.050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438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cap="small" baseline="0" dirty="0"/>
                        <a:t>Despesas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u="none" strike="noStrike" cap="small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$8.120</a:t>
                      </a:r>
                      <a:endParaRPr lang="pt-BR" sz="2000" b="1" i="0" u="none" strike="noStrike" cap="small" baseline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438"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cap="small" baseline="0" dirty="0"/>
                        <a:t>Custo Integral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cap="small" baseline="0" dirty="0"/>
                        <a:t>$36.170</a:t>
                      </a:r>
                      <a:endParaRPr lang="pt-BR" sz="20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F4DB3CC-7426-422E-95F4-3AAD1129E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951471"/>
              </p:ext>
            </p:extLst>
          </p:nvPr>
        </p:nvGraphicFramePr>
        <p:xfrm>
          <a:off x="1112019" y="1477622"/>
          <a:ext cx="6307016" cy="250032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151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 dirty="0"/>
                        <a:t>Materiais diretos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$8.200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 dirty="0"/>
                        <a:t>Depreciação do parque industrial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$1.700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/>
                        <a:t>Aluguel da fábrica</a:t>
                      </a:r>
                      <a:endParaRPr lang="pt-BR" sz="1800" b="0" i="0" u="none" strike="noStrike" cap="small" baseline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$5.200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 dirty="0"/>
                        <a:t>Aluguel dos escritórios administrativos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$7.400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 dirty="0"/>
                        <a:t>Materiais indiretos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$950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 dirty="0"/>
                        <a:t>Depreciação de computadores administrativos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$720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/>
                        <a:t>Mão de obra direta</a:t>
                      </a:r>
                      <a:endParaRPr lang="pt-BR" sz="1800" b="0" i="0" u="none" strike="noStrike" cap="small" baseline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$9.400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541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cap="small" baseline="0"/>
                        <a:t>Seguros da área industrial</a:t>
                      </a:r>
                      <a:endParaRPr lang="pt-BR" sz="1800" b="0" i="0" u="none" strike="noStrike" cap="small" baseline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cap="small" baseline="0" dirty="0"/>
                        <a:t>$2.600</a:t>
                      </a:r>
                      <a:endParaRPr lang="pt-BR" sz="1800" b="0" i="0" u="none" strike="noStrike" cap="small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923270FF-CC5D-477A-A3A1-B56B7E3C1D2D}"/>
              </a:ext>
            </a:extLst>
          </p:cNvPr>
          <p:cNvSpPr txBox="1"/>
          <p:nvPr/>
        </p:nvSpPr>
        <p:spPr>
          <a:xfrm>
            <a:off x="7384619" y="1468809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C. Direto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61E8E0-32B7-4509-9EBF-2B7BBFF00653}"/>
              </a:ext>
            </a:extLst>
          </p:cNvPr>
          <p:cNvSpPr txBox="1"/>
          <p:nvPr/>
        </p:nvSpPr>
        <p:spPr>
          <a:xfrm>
            <a:off x="7384619" y="331673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C. Direto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6826F1-4476-4CC1-A386-E35BFF74160D}"/>
              </a:ext>
            </a:extLst>
          </p:cNvPr>
          <p:cNvSpPr txBox="1"/>
          <p:nvPr/>
        </p:nvSpPr>
        <p:spPr>
          <a:xfrm>
            <a:off x="7384619" y="177679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C. Indireto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C4F618-96FA-4528-B32D-FDCCEAD0C6C0}"/>
              </a:ext>
            </a:extLst>
          </p:cNvPr>
          <p:cNvSpPr txBox="1"/>
          <p:nvPr/>
        </p:nvSpPr>
        <p:spPr>
          <a:xfrm>
            <a:off x="7384619" y="2084783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C. Indireto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D5C973-6A24-4B55-A69C-4218EAC27658}"/>
              </a:ext>
            </a:extLst>
          </p:cNvPr>
          <p:cNvSpPr txBox="1"/>
          <p:nvPr/>
        </p:nvSpPr>
        <p:spPr>
          <a:xfrm>
            <a:off x="7384619" y="270075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C. Indireto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49456F-6347-4FAE-9880-669D83B2E9CE}"/>
              </a:ext>
            </a:extLst>
          </p:cNvPr>
          <p:cNvSpPr txBox="1"/>
          <p:nvPr/>
        </p:nvSpPr>
        <p:spPr>
          <a:xfrm>
            <a:off x="7384619" y="362472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C. Indireto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5C08B6-C673-4311-B668-8EE64E6ABDCA}"/>
              </a:ext>
            </a:extLst>
          </p:cNvPr>
          <p:cNvSpPr txBox="1"/>
          <p:nvPr/>
        </p:nvSpPr>
        <p:spPr>
          <a:xfrm>
            <a:off x="7384619" y="2375922"/>
            <a:ext cx="88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034EA2"/>
                </a:solidFill>
              </a:rPr>
              <a:t>Despesa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2B8F8E9-F874-4AEB-8C26-DE09D00532F4}"/>
              </a:ext>
            </a:extLst>
          </p:cNvPr>
          <p:cNvSpPr txBox="1"/>
          <p:nvPr/>
        </p:nvSpPr>
        <p:spPr>
          <a:xfrm>
            <a:off x="7384619" y="2991896"/>
            <a:ext cx="88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034EA2"/>
                </a:solidFill>
              </a:rPr>
              <a:t>Despesa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79349E6F-23F8-4FC3-89C2-226E465A6B04}"/>
              </a:ext>
            </a:extLst>
          </p:cNvPr>
          <p:cNvSpPr/>
          <p:nvPr/>
        </p:nvSpPr>
        <p:spPr>
          <a:xfrm flipH="1">
            <a:off x="6766137" y="4442693"/>
            <a:ext cx="311985" cy="268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7AD1769-5B3F-4757-AB55-B7F13B2B5A1C}"/>
              </a:ext>
            </a:extLst>
          </p:cNvPr>
          <p:cNvSpPr/>
          <p:nvPr/>
        </p:nvSpPr>
        <p:spPr>
          <a:xfrm flipH="1">
            <a:off x="6756333" y="4831329"/>
            <a:ext cx="311985" cy="268914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B9884B72-E5B4-4BEB-94A6-439310E9BF5D}"/>
              </a:ext>
            </a:extLst>
          </p:cNvPr>
          <p:cNvSpPr/>
          <p:nvPr/>
        </p:nvSpPr>
        <p:spPr>
          <a:xfrm flipH="1">
            <a:off x="6766137" y="5616178"/>
            <a:ext cx="311985" cy="268914"/>
          </a:xfrm>
          <a:prstGeom prst="rightArrow">
            <a:avLst/>
          </a:prstGeom>
          <a:solidFill>
            <a:srgbClr val="03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E9CE21-2E33-4BE5-8B61-0F8714317F16}"/>
              </a:ext>
            </a:extLst>
          </p:cNvPr>
          <p:cNvSpPr txBox="1"/>
          <p:nvPr/>
        </p:nvSpPr>
        <p:spPr>
          <a:xfrm>
            <a:off x="886784" y="689825"/>
            <a:ext cx="5097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CLASSIFICAÇÃO DOS GASTOS</a:t>
            </a:r>
          </a:p>
        </p:txBody>
      </p:sp>
    </p:spTree>
    <p:extLst>
      <p:ext uri="{BB962C8B-B14F-4D97-AF65-F5344CB8AC3E}">
        <p14:creationId xmlns:p14="http://schemas.microsoft.com/office/powerpoint/2010/main" val="334090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  <p:bldP spid="12" grpId="0"/>
      <p:bldP spid="13" grpId="0"/>
      <p:bldP spid="14" grpId="0"/>
      <p:bldP spid="3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ta para cima e para baixo 26">
            <a:extLst>
              <a:ext uri="{FF2B5EF4-FFF2-40B4-BE49-F238E27FC236}">
                <a16:creationId xmlns:a16="http://schemas.microsoft.com/office/drawing/2014/main" id="{6C786D10-47E7-41EA-9189-1894AD01E04B}"/>
              </a:ext>
            </a:extLst>
          </p:cNvPr>
          <p:cNvSpPr/>
          <p:nvPr/>
        </p:nvSpPr>
        <p:spPr bwMode="auto">
          <a:xfrm>
            <a:off x="7429512" y="1577107"/>
            <a:ext cx="285752" cy="3714776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 cap="small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C602FE-4448-4ACD-B03A-8C2A2E34DA4D}"/>
              </a:ext>
            </a:extLst>
          </p:cNvPr>
          <p:cNvSpPr txBox="1">
            <a:spLocks/>
          </p:cNvSpPr>
          <p:nvPr/>
        </p:nvSpPr>
        <p:spPr>
          <a:xfrm>
            <a:off x="857215" y="703352"/>
            <a:ext cx="8405537" cy="531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Gotham HTF" pitchFamily="2" charset="0"/>
                <a:ea typeface="+mj-ea"/>
                <a:cs typeface="+mj-cs"/>
              </a:defRPr>
            </a:lvl1pPr>
          </a:lstStyle>
          <a:p>
            <a:r>
              <a:rPr lang="pt-BR" sz="2400" cap="all" dirty="0">
                <a:latin typeface="+mn-lt"/>
              </a:rPr>
              <a:t>APURAÇÃO DE RESULTADOS USANDO CUSTEIO POR ABSORÇÃO</a:t>
            </a:r>
          </a:p>
        </p:txBody>
      </p:sp>
      <p:sp>
        <p:nvSpPr>
          <p:cNvPr id="7" name="Seta para cima e para baixo 3">
            <a:extLst>
              <a:ext uri="{FF2B5EF4-FFF2-40B4-BE49-F238E27FC236}">
                <a16:creationId xmlns:a16="http://schemas.microsoft.com/office/drawing/2014/main" id="{5ED1493C-8CB2-42AD-93BA-115FDD37E59A}"/>
              </a:ext>
            </a:extLst>
          </p:cNvPr>
          <p:cNvSpPr/>
          <p:nvPr/>
        </p:nvSpPr>
        <p:spPr bwMode="auto">
          <a:xfrm>
            <a:off x="785778" y="1648545"/>
            <a:ext cx="285752" cy="4857784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 cap="small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8" name="Seta para cima e para baixo 4">
            <a:extLst>
              <a:ext uri="{FF2B5EF4-FFF2-40B4-BE49-F238E27FC236}">
                <a16:creationId xmlns:a16="http://schemas.microsoft.com/office/drawing/2014/main" id="{81995253-BFD3-46AC-8344-92FEEE85F6DC}"/>
              </a:ext>
            </a:extLst>
          </p:cNvPr>
          <p:cNvSpPr/>
          <p:nvPr/>
        </p:nvSpPr>
        <p:spPr bwMode="auto">
          <a:xfrm>
            <a:off x="5929314" y="1719983"/>
            <a:ext cx="285752" cy="2286016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 cap="small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9" name="CaixaDeTexto 3">
            <a:extLst>
              <a:ext uri="{FF2B5EF4-FFF2-40B4-BE49-F238E27FC236}">
                <a16:creationId xmlns:a16="http://schemas.microsoft.com/office/drawing/2014/main" id="{B037D940-69B1-4806-BFB9-40691AC8C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10" y="1850717"/>
            <a:ext cx="2000234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cap="small" dirty="0">
                <a:solidFill>
                  <a:prstClr val="black"/>
                </a:solidFill>
              </a:rPr>
              <a:t>Materiais </a:t>
            </a:r>
            <a:r>
              <a:rPr lang="pt-BR" b="1" cap="small" dirty="0">
                <a:solidFill>
                  <a:srgbClr val="C00000"/>
                </a:solidFill>
              </a:rPr>
              <a:t>diretos</a:t>
            </a:r>
          </a:p>
        </p:txBody>
      </p:sp>
      <p:sp>
        <p:nvSpPr>
          <p:cNvPr id="10" name="CaixaDeTexto 4">
            <a:extLst>
              <a:ext uri="{FF2B5EF4-FFF2-40B4-BE49-F238E27FC236}">
                <a16:creationId xmlns:a16="http://schemas.microsoft.com/office/drawing/2014/main" id="{EE2CD3B5-D1A1-4E64-944D-A53D8174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48" y="4791817"/>
            <a:ext cx="2000251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Despesas</a:t>
            </a:r>
            <a:r>
              <a:rPr lang="pt-BR" cap="small" dirty="0">
                <a:solidFill>
                  <a:prstClr val="black"/>
                </a:solidFill>
              </a:rPr>
              <a:t> Fixas</a:t>
            </a:r>
          </a:p>
        </p:txBody>
      </p:sp>
      <p:sp>
        <p:nvSpPr>
          <p:cNvPr id="11" name="CaixaDeTexto 6">
            <a:extLst>
              <a:ext uri="{FF2B5EF4-FFF2-40B4-BE49-F238E27FC236}">
                <a16:creationId xmlns:a16="http://schemas.microsoft.com/office/drawing/2014/main" id="{7501DBAA-6B66-4FC6-9889-57C3A116D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10" y="2321135"/>
            <a:ext cx="1285884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cap="small" dirty="0">
                <a:solidFill>
                  <a:prstClr val="black"/>
                </a:solidFill>
              </a:rPr>
              <a:t>MO </a:t>
            </a:r>
            <a:r>
              <a:rPr lang="pt-BR" b="1" cap="small" dirty="0">
                <a:solidFill>
                  <a:srgbClr val="C00000"/>
                </a:solidFill>
              </a:rPr>
              <a:t>direta</a:t>
            </a:r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B2BFAE5C-F99A-4C09-9F71-E1454D467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10" y="3434495"/>
            <a:ext cx="2857526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cap="small" dirty="0">
                <a:solidFill>
                  <a:prstClr val="black"/>
                </a:solidFill>
              </a:rPr>
              <a:t>Custos </a:t>
            </a:r>
            <a:r>
              <a:rPr lang="pt-BR" b="1" cap="small" dirty="0">
                <a:solidFill>
                  <a:srgbClr val="C00000"/>
                </a:solidFill>
              </a:rPr>
              <a:t>indiretos</a:t>
            </a:r>
            <a:r>
              <a:rPr lang="pt-BR" cap="small" dirty="0">
                <a:solidFill>
                  <a:prstClr val="black"/>
                </a:solidFill>
              </a:rPr>
              <a:t> Fixos</a:t>
            </a:r>
          </a:p>
        </p:txBody>
      </p:sp>
      <p:sp>
        <p:nvSpPr>
          <p:cNvPr id="13" name="CaixaDeTexto 8">
            <a:extLst>
              <a:ext uri="{FF2B5EF4-FFF2-40B4-BE49-F238E27FC236}">
                <a16:creationId xmlns:a16="http://schemas.microsoft.com/office/drawing/2014/main" id="{678CED75-1193-4FBF-AFBE-1CCBC24C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48" y="4291751"/>
            <a:ext cx="2357454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Despesas</a:t>
            </a:r>
            <a:r>
              <a:rPr lang="pt-BR" cap="small" dirty="0">
                <a:solidFill>
                  <a:prstClr val="black"/>
                </a:solidFill>
              </a:rPr>
              <a:t> variáveis</a:t>
            </a:r>
          </a:p>
        </p:txBody>
      </p:sp>
      <p:sp>
        <p:nvSpPr>
          <p:cNvPr id="14" name="CaixaDeTexto 9">
            <a:extLst>
              <a:ext uri="{FF2B5EF4-FFF2-40B4-BE49-F238E27FC236}">
                <a16:creationId xmlns:a16="http://schemas.microsoft.com/office/drawing/2014/main" id="{8855DF63-22AB-4DD3-A013-D71D3B5A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10" y="2850849"/>
            <a:ext cx="2928950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cap="small" dirty="0">
                <a:solidFill>
                  <a:prstClr val="black"/>
                </a:solidFill>
              </a:rPr>
              <a:t>Custos </a:t>
            </a:r>
            <a:r>
              <a:rPr lang="pt-BR" b="1" cap="small" dirty="0">
                <a:solidFill>
                  <a:srgbClr val="C00000"/>
                </a:solidFill>
              </a:rPr>
              <a:t>indiretos</a:t>
            </a:r>
            <a:r>
              <a:rPr lang="pt-BR" cap="small" dirty="0">
                <a:solidFill>
                  <a:prstClr val="black"/>
                </a:solidFill>
              </a:rPr>
              <a:t> variáveis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117DA7-278B-4417-8DC5-C94E863F10E8}"/>
              </a:ext>
            </a:extLst>
          </p:cNvPr>
          <p:cNvSpPr txBox="1"/>
          <p:nvPr/>
        </p:nvSpPr>
        <p:spPr>
          <a:xfrm>
            <a:off x="5429248" y="2577239"/>
            <a:ext cx="128588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prstClr val="white"/>
                </a:solidFill>
              </a:rPr>
              <a:t>Custo por absorção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3BD2632-4B54-47BE-9896-2AE176A341FC}"/>
              </a:ext>
            </a:extLst>
          </p:cNvPr>
          <p:cNvCxnSpPr/>
          <p:nvPr/>
        </p:nvCxnSpPr>
        <p:spPr bwMode="auto">
          <a:xfrm>
            <a:off x="857216" y="1577107"/>
            <a:ext cx="692948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861C875-FB61-4DFF-AE52-ED1B67A5D666}"/>
              </a:ext>
            </a:extLst>
          </p:cNvPr>
          <p:cNvCxnSpPr/>
          <p:nvPr/>
        </p:nvCxnSpPr>
        <p:spPr bwMode="auto">
          <a:xfrm>
            <a:off x="785778" y="6577767"/>
            <a:ext cx="72866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F0DEB2D-FE92-453C-90F9-B24AF0EA9DE4}"/>
              </a:ext>
            </a:extLst>
          </p:cNvPr>
          <p:cNvCxnSpPr/>
          <p:nvPr/>
        </p:nvCxnSpPr>
        <p:spPr bwMode="auto">
          <a:xfrm>
            <a:off x="1571596" y="4077437"/>
            <a:ext cx="478634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ta para cima e para baixo 24">
            <a:extLst>
              <a:ext uri="{FF2B5EF4-FFF2-40B4-BE49-F238E27FC236}">
                <a16:creationId xmlns:a16="http://schemas.microsoft.com/office/drawing/2014/main" id="{5DE72525-D081-49FB-B4D7-9F0BE815A575}"/>
              </a:ext>
            </a:extLst>
          </p:cNvPr>
          <p:cNvSpPr/>
          <p:nvPr/>
        </p:nvSpPr>
        <p:spPr bwMode="auto">
          <a:xfrm>
            <a:off x="5929314" y="4148875"/>
            <a:ext cx="285752" cy="2357454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 cap="small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A1A48CD-D038-411F-A4E9-5F776F77B148}"/>
              </a:ext>
            </a:extLst>
          </p:cNvPr>
          <p:cNvCxnSpPr/>
          <p:nvPr/>
        </p:nvCxnSpPr>
        <p:spPr bwMode="auto">
          <a:xfrm>
            <a:off x="1571596" y="5363321"/>
            <a:ext cx="64294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Seta para cima e para baixo 28">
            <a:extLst>
              <a:ext uri="{FF2B5EF4-FFF2-40B4-BE49-F238E27FC236}">
                <a16:creationId xmlns:a16="http://schemas.microsoft.com/office/drawing/2014/main" id="{424F338D-9626-4388-8CC1-88D30283B9FD}"/>
              </a:ext>
            </a:extLst>
          </p:cNvPr>
          <p:cNvSpPr/>
          <p:nvPr/>
        </p:nvSpPr>
        <p:spPr bwMode="auto">
          <a:xfrm>
            <a:off x="7429512" y="5434759"/>
            <a:ext cx="285752" cy="1071570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 cap="small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12DF4C3-5265-47BA-A2C0-4840C7A9B98F}"/>
              </a:ext>
            </a:extLst>
          </p:cNvPr>
          <p:cNvSpPr txBox="1"/>
          <p:nvPr/>
        </p:nvSpPr>
        <p:spPr>
          <a:xfrm>
            <a:off x="5198522" y="4720379"/>
            <a:ext cx="171451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prstClr val="white"/>
                </a:solidFill>
              </a:rPr>
              <a:t>Lucro Bruto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8A28236-0FCC-4EEB-8C4A-DCC43C72BB3F}"/>
              </a:ext>
            </a:extLst>
          </p:cNvPr>
          <p:cNvSpPr txBox="1"/>
          <p:nvPr/>
        </p:nvSpPr>
        <p:spPr>
          <a:xfrm>
            <a:off x="6500818" y="5791949"/>
            <a:ext cx="214314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prstClr val="white"/>
                </a:solidFill>
              </a:rPr>
              <a:t>Lucro Operacional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4A0963C-8E59-4C0E-ACDA-1C78C136B6CC}"/>
              </a:ext>
            </a:extLst>
          </p:cNvPr>
          <p:cNvSpPr txBox="1"/>
          <p:nvPr/>
        </p:nvSpPr>
        <p:spPr>
          <a:xfrm>
            <a:off x="428588" y="4363189"/>
            <a:ext cx="121444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prstClr val="white"/>
                </a:solidFill>
              </a:rPr>
              <a:t>Preço de Venda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C562E14-645E-4B3A-80E9-6A08025632A4}"/>
              </a:ext>
            </a:extLst>
          </p:cNvPr>
          <p:cNvSpPr txBox="1"/>
          <p:nvPr/>
        </p:nvSpPr>
        <p:spPr>
          <a:xfrm>
            <a:off x="6858008" y="3291619"/>
            <a:ext cx="157163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prstClr val="white"/>
                </a:solidFill>
              </a:rPr>
              <a:t>Custo pleno ou integral</a:t>
            </a:r>
          </a:p>
        </p:txBody>
      </p:sp>
      <p:sp>
        <p:nvSpPr>
          <p:cNvPr id="26" name="CaixaDeTexto 4">
            <a:extLst>
              <a:ext uri="{FF2B5EF4-FFF2-40B4-BE49-F238E27FC236}">
                <a16:creationId xmlns:a16="http://schemas.microsoft.com/office/drawing/2014/main" id="{258155CA-204D-4219-90E0-5AA76685E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48" y="5762300"/>
            <a:ext cx="2000251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Resultado</a:t>
            </a:r>
            <a:endParaRPr lang="pt-BR" cap="small" dirty="0">
              <a:solidFill>
                <a:prstClr val="black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7B0CEDA-3662-42D7-ADE2-5477430C61A0}"/>
              </a:ext>
            </a:extLst>
          </p:cNvPr>
          <p:cNvSpPr/>
          <p:nvPr/>
        </p:nvSpPr>
        <p:spPr>
          <a:xfrm>
            <a:off x="2077918" y="1810567"/>
            <a:ext cx="1647625" cy="1062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cap="small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8C1C377-CF79-4576-97DF-24EEE24BA090}"/>
              </a:ext>
            </a:extLst>
          </p:cNvPr>
          <p:cNvSpPr/>
          <p:nvPr/>
        </p:nvSpPr>
        <p:spPr>
          <a:xfrm>
            <a:off x="2181831" y="2770188"/>
            <a:ext cx="1462903" cy="11347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cap="small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104823B8-6C2A-4ED4-A708-A8574DE08708}"/>
              </a:ext>
            </a:extLst>
          </p:cNvPr>
          <p:cNvSpPr/>
          <p:nvPr/>
        </p:nvSpPr>
        <p:spPr>
          <a:xfrm>
            <a:off x="3545000" y="2367066"/>
            <a:ext cx="1873354" cy="970484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cap="small" dirty="0"/>
              <a:t>CUSTOS</a:t>
            </a:r>
          </a:p>
          <a:p>
            <a:pPr algn="ctr"/>
            <a:r>
              <a:rPr lang="pt-BR" sz="1100" cap="small" dirty="0"/>
              <a:t>TODOS OS GASTOS COM A PRODUÇÃO</a:t>
            </a:r>
            <a:endParaRPr lang="pt-BR" sz="2000" cap="small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DFFA1B8-F8A0-4564-AE08-F8ADFB58E3E6}"/>
              </a:ext>
            </a:extLst>
          </p:cNvPr>
          <p:cNvSpPr/>
          <p:nvPr/>
        </p:nvSpPr>
        <p:spPr>
          <a:xfrm>
            <a:off x="3058114" y="5502987"/>
            <a:ext cx="1873354" cy="970484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b="1" cap="small" dirty="0"/>
              <a:t>RESULTADO</a:t>
            </a:r>
          </a:p>
        </p:txBody>
      </p:sp>
      <p:grpSp>
        <p:nvGrpSpPr>
          <p:cNvPr id="31" name="Grupo 36">
            <a:extLst>
              <a:ext uri="{FF2B5EF4-FFF2-40B4-BE49-F238E27FC236}">
                <a16:creationId xmlns:a16="http://schemas.microsoft.com/office/drawing/2014/main" id="{1CCA49A4-497F-451D-BFD8-94747CBB795B}"/>
              </a:ext>
            </a:extLst>
          </p:cNvPr>
          <p:cNvGrpSpPr/>
          <p:nvPr/>
        </p:nvGrpSpPr>
        <p:grpSpPr>
          <a:xfrm>
            <a:off x="3058114" y="4284191"/>
            <a:ext cx="1873354" cy="970484"/>
            <a:chOff x="3058686" y="3774049"/>
            <a:chExt cx="1873354" cy="970484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3BE7A25-D596-4294-B2AE-68EB85CDAC28}"/>
                </a:ext>
              </a:extLst>
            </p:cNvPr>
            <p:cNvSpPr/>
            <p:nvPr/>
          </p:nvSpPr>
          <p:spPr>
            <a:xfrm>
              <a:off x="3058686" y="3774049"/>
              <a:ext cx="1873354" cy="9704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cap="small" dirty="0"/>
                <a:t>DESPESAS</a:t>
              </a:r>
            </a:p>
            <a:p>
              <a:pPr algn="ctr"/>
              <a:endParaRPr lang="pt-BR" sz="2000" b="1" cap="small" dirty="0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D493AFA8-3F3C-41CB-ACC7-9E3CDD09BBB5}"/>
                </a:ext>
              </a:extLst>
            </p:cNvPr>
            <p:cNvSpPr/>
            <p:nvPr/>
          </p:nvSpPr>
          <p:spPr>
            <a:xfrm>
              <a:off x="3206151" y="4222249"/>
              <a:ext cx="157386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100" cap="small" dirty="0">
                  <a:solidFill>
                    <a:schemeClr val="bg1"/>
                  </a:solidFill>
                </a:rPr>
                <a:t>GASTOS COM A GERAÇÃO DE RECEITAS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28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5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70857" y="908720"/>
            <a:ext cx="7326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 DE ACORDO COM O </a:t>
            </a:r>
            <a:r>
              <a:rPr lang="pt-BR" sz="2000" u="sng" dirty="0"/>
              <a:t>NÍVEL DE ATIVIDADE </a:t>
            </a:r>
            <a:r>
              <a:rPr lang="pt-BR" sz="2000" dirty="0"/>
              <a:t>(VOLUMES DE NEGÓCIOS)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5576" y="1555096"/>
            <a:ext cx="3384376" cy="129614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FIXOS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CUJO VALOR TOTAL NÃO VARIA PROPORCIONALMENTE AO VOLUME PRODUZIDO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32040" y="1555096"/>
            <a:ext cx="3384376" cy="129614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VARIÁVEIS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QUE VARIAM PROPORCIONALMENTE AO VOLUME PRODUZIDO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748007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Aluguel da Fábrica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2500606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Seguros da Fábrica</a:t>
            </a:r>
          </a:p>
        </p:txBody>
      </p:sp>
      <p:sp>
        <p:nvSpPr>
          <p:cNvPr id="40" name="Retângulo 39"/>
          <p:cNvSpPr/>
          <p:nvPr/>
        </p:nvSpPr>
        <p:spPr>
          <a:xfrm>
            <a:off x="1379391" y="3362794"/>
            <a:ext cx="2136711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Depreciação das Máquinas</a:t>
            </a:r>
          </a:p>
        </p:txBody>
      </p:sp>
      <p:grpSp>
        <p:nvGrpSpPr>
          <p:cNvPr id="97" name="Grupo 96"/>
          <p:cNvGrpSpPr/>
          <p:nvPr/>
        </p:nvGrpSpPr>
        <p:grpSpPr>
          <a:xfrm>
            <a:off x="696694" y="3842666"/>
            <a:ext cx="3614057" cy="2650082"/>
            <a:chOff x="696694" y="3842666"/>
            <a:chExt cx="3614057" cy="2650082"/>
          </a:xfrm>
        </p:grpSpPr>
        <p:sp>
          <p:nvSpPr>
            <p:cNvPr id="73" name="Retângulo 72"/>
            <p:cNvSpPr/>
            <p:nvPr/>
          </p:nvSpPr>
          <p:spPr>
            <a:xfrm>
              <a:off x="696694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tx2">
                      <a:lumMod val="50000"/>
                    </a:schemeClr>
                  </a:solidFill>
                </a:rPr>
                <a:t>CONSTANTES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46" name="Conector de seta reta 45"/>
            <p:cNvCxnSpPr/>
            <p:nvPr/>
          </p:nvCxnSpPr>
          <p:spPr>
            <a:xfrm flipV="1">
              <a:off x="1480468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1480468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aixaDeTexto 57"/>
            <p:cNvSpPr txBox="1"/>
            <p:nvPr/>
          </p:nvSpPr>
          <p:spPr>
            <a:xfrm>
              <a:off x="762005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59" name="CaixaDeTexto 58"/>
            <p:cNvSpPr txBox="1"/>
            <p:nvPr/>
          </p:nvSpPr>
          <p:spPr>
            <a:xfrm>
              <a:off x="762005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60" name="CaixaDeTexto 59"/>
            <p:cNvSpPr txBox="1"/>
            <p:nvPr/>
          </p:nvSpPr>
          <p:spPr>
            <a:xfrm>
              <a:off x="762005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762005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762005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936179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64" name="CaixaDeTexto 63"/>
            <p:cNvSpPr txBox="1"/>
            <p:nvPr/>
          </p:nvSpPr>
          <p:spPr>
            <a:xfrm>
              <a:off x="1676407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2127575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2578742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3029909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68" name="CaixaDeTexto 67"/>
            <p:cNvSpPr txBox="1"/>
            <p:nvPr/>
          </p:nvSpPr>
          <p:spPr>
            <a:xfrm>
              <a:off x="3559624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69" name="CaixaDeTexto 68"/>
            <p:cNvSpPr txBox="1"/>
            <p:nvPr/>
          </p:nvSpPr>
          <p:spPr>
            <a:xfrm>
              <a:off x="1589294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71" name="Conector reto 70"/>
            <p:cNvCxnSpPr>
              <a:stCxn id="61" idx="3"/>
            </p:cNvCxnSpPr>
            <p:nvPr/>
          </p:nvCxnSpPr>
          <p:spPr>
            <a:xfrm flipV="1">
              <a:off x="1494898" y="5323123"/>
              <a:ext cx="2532824" cy="5157"/>
            </a:xfrm>
            <a:prstGeom prst="line">
              <a:avLst/>
            </a:prstGeom>
            <a:ln w="571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tângulo 71"/>
            <p:cNvSpPr/>
            <p:nvPr/>
          </p:nvSpPr>
          <p:spPr>
            <a:xfrm>
              <a:off x="1502237" y="5355780"/>
              <a:ext cx="2536371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fixos</a:t>
              </a:r>
            </a:p>
          </p:txBody>
        </p:sp>
      </p:grpSp>
      <p:sp>
        <p:nvSpPr>
          <p:cNvPr id="75" name="Retângulo 74"/>
          <p:cNvSpPr/>
          <p:nvPr/>
        </p:nvSpPr>
        <p:spPr>
          <a:xfrm>
            <a:off x="4928121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Matéria Prima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6680720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Embalagens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5559505" y="3362794"/>
            <a:ext cx="2136711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Materiais Indiretos</a:t>
            </a:r>
          </a:p>
        </p:txBody>
      </p:sp>
      <p:grpSp>
        <p:nvGrpSpPr>
          <p:cNvPr id="98" name="Grupo 97"/>
          <p:cNvGrpSpPr/>
          <p:nvPr/>
        </p:nvGrpSpPr>
        <p:grpSpPr>
          <a:xfrm>
            <a:off x="4876808" y="3842666"/>
            <a:ext cx="3614057" cy="2650082"/>
            <a:chOff x="4876808" y="3842666"/>
            <a:chExt cx="3614057" cy="2650082"/>
          </a:xfrm>
        </p:grpSpPr>
        <p:sp>
          <p:nvSpPr>
            <p:cNvPr id="74" name="Retângulo 73"/>
            <p:cNvSpPr/>
            <p:nvPr/>
          </p:nvSpPr>
          <p:spPr>
            <a:xfrm>
              <a:off x="4876808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accent2">
                      <a:lumMod val="75000"/>
                    </a:schemeClr>
                  </a:solidFill>
                </a:rPr>
                <a:t>CRESCENTES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78" name="Conector de seta reta 77"/>
            <p:cNvCxnSpPr/>
            <p:nvPr/>
          </p:nvCxnSpPr>
          <p:spPr>
            <a:xfrm flipV="1">
              <a:off x="5660582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/>
            <p:nvPr/>
          </p:nvCxnSpPr>
          <p:spPr>
            <a:xfrm>
              <a:off x="5660582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aixaDeTexto 79"/>
            <p:cNvSpPr txBox="1"/>
            <p:nvPr/>
          </p:nvSpPr>
          <p:spPr>
            <a:xfrm>
              <a:off x="4942119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81" name="CaixaDeTexto 80"/>
            <p:cNvSpPr txBox="1"/>
            <p:nvPr/>
          </p:nvSpPr>
          <p:spPr>
            <a:xfrm>
              <a:off x="4942119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82" name="CaixaDeTexto 81"/>
            <p:cNvSpPr txBox="1"/>
            <p:nvPr/>
          </p:nvSpPr>
          <p:spPr>
            <a:xfrm>
              <a:off x="4942119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83" name="CaixaDeTexto 82"/>
            <p:cNvSpPr txBox="1"/>
            <p:nvPr/>
          </p:nvSpPr>
          <p:spPr>
            <a:xfrm>
              <a:off x="4942119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84" name="CaixaDeTexto 83"/>
            <p:cNvSpPr txBox="1"/>
            <p:nvPr/>
          </p:nvSpPr>
          <p:spPr>
            <a:xfrm>
              <a:off x="4942119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85" name="CaixaDeTexto 84"/>
            <p:cNvSpPr txBox="1"/>
            <p:nvPr/>
          </p:nvSpPr>
          <p:spPr>
            <a:xfrm>
              <a:off x="5116293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5856521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6307689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6758856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7210023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7739738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5769408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92" name="Conector reto 91"/>
            <p:cNvCxnSpPr/>
            <p:nvPr/>
          </p:nvCxnSpPr>
          <p:spPr>
            <a:xfrm flipV="1">
              <a:off x="5671457" y="5007429"/>
              <a:ext cx="2514600" cy="947057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riângulo isósceles 95"/>
            <p:cNvSpPr/>
            <p:nvPr/>
          </p:nvSpPr>
          <p:spPr>
            <a:xfrm>
              <a:off x="5682342" y="5040086"/>
              <a:ext cx="2536371" cy="925285"/>
            </a:xfrm>
            <a:prstGeom prst="triangle">
              <a:avLst>
                <a:gd name="adj" fmla="val 9956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Variáveis</a:t>
              </a:r>
            </a:p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616408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7" grpId="0" animBg="1"/>
      <p:bldP spid="39" grpId="0" animBg="1"/>
      <p:bldP spid="40" grpId="0" animBg="1"/>
      <p:bldP spid="75" grpId="0" animBg="1"/>
      <p:bldP spid="76" grpId="0" animBg="1"/>
      <p:bldP spid="7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70857" y="908720"/>
            <a:ext cx="7326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 DE ACORDO COM O </a:t>
            </a:r>
            <a:r>
              <a:rPr lang="pt-BR" sz="2000" u="sng" dirty="0"/>
              <a:t>NÍVEL DE ATIVIDADE </a:t>
            </a:r>
            <a:r>
              <a:rPr lang="pt-BR" sz="2000" dirty="0"/>
              <a:t>(VOLUMES PRODUZIDOS)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5576" y="1555096"/>
            <a:ext cx="3384376" cy="129614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FIXOS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CUJO VALOR TOTAL NÃO VARIA PROPORCIONALMENTE AO VOLUME PRODUZIDO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32040" y="1555096"/>
            <a:ext cx="3384376" cy="129614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VARIÁVEIS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QUE VARIAM PROPORCIONALMENTE AO VOLUME PRODUZIDO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748007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Aluguel da Fábrica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2500606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Seguros da Fábrica</a:t>
            </a:r>
          </a:p>
        </p:txBody>
      </p:sp>
      <p:sp>
        <p:nvSpPr>
          <p:cNvPr id="40" name="Retângulo 39"/>
          <p:cNvSpPr/>
          <p:nvPr/>
        </p:nvSpPr>
        <p:spPr>
          <a:xfrm>
            <a:off x="1379391" y="3362794"/>
            <a:ext cx="2136711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Depreciação das Máquinas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928121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Matéria Prima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6680720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Embalagens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5559505" y="3362794"/>
            <a:ext cx="2136711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Materiais Indiretos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755576" y="4330964"/>
            <a:ext cx="3384376" cy="12961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SEMIFIXOS ou SEMIVARIÁVEIS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QUE VARIAM DE ACORDO COM O VOLUME PRODUZIDO,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 MAS NÃO PROPORCIONALMENTE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1379391" y="5790320"/>
            <a:ext cx="2136711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Energia Elétrica</a:t>
            </a:r>
          </a:p>
        </p:txBody>
      </p:sp>
      <p:grpSp>
        <p:nvGrpSpPr>
          <p:cNvPr id="52" name="Grupo 51"/>
          <p:cNvGrpSpPr/>
          <p:nvPr/>
        </p:nvGrpSpPr>
        <p:grpSpPr>
          <a:xfrm>
            <a:off x="4876808" y="3842666"/>
            <a:ext cx="3614057" cy="2650082"/>
            <a:chOff x="4876808" y="3842666"/>
            <a:chExt cx="3614057" cy="2650082"/>
          </a:xfrm>
        </p:grpSpPr>
        <p:sp>
          <p:nvSpPr>
            <p:cNvPr id="74" name="Retângulo 73"/>
            <p:cNvSpPr/>
            <p:nvPr/>
          </p:nvSpPr>
          <p:spPr>
            <a:xfrm>
              <a:off x="4876808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sz="1600" b="1" dirty="0">
                  <a:solidFill>
                    <a:schemeClr val="accent5">
                      <a:lumMod val="50000"/>
                    </a:schemeClr>
                  </a:solidFill>
                </a:rPr>
                <a:t>CRESCENTES POR DEGRÁUS</a:t>
              </a:r>
              <a:endParaRPr lang="pt-BR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sp>
          <p:nvSpPr>
            <p:cNvPr id="51" name="Forma livre 50"/>
            <p:cNvSpPr/>
            <p:nvPr/>
          </p:nvSpPr>
          <p:spPr>
            <a:xfrm>
              <a:off x="5693229" y="4648200"/>
              <a:ext cx="2449286" cy="1338943"/>
            </a:xfrm>
            <a:custGeom>
              <a:avLst/>
              <a:gdLst>
                <a:gd name="connsiteX0" fmla="*/ 10886 w 2449286"/>
                <a:gd name="connsiteY0" fmla="*/ 849086 h 1338943"/>
                <a:gd name="connsiteX1" fmla="*/ 1273629 w 2449286"/>
                <a:gd name="connsiteY1" fmla="*/ 838200 h 1338943"/>
                <a:gd name="connsiteX2" fmla="*/ 1284514 w 2449286"/>
                <a:gd name="connsiteY2" fmla="*/ 402771 h 1338943"/>
                <a:gd name="connsiteX3" fmla="*/ 2002972 w 2449286"/>
                <a:gd name="connsiteY3" fmla="*/ 402771 h 1338943"/>
                <a:gd name="connsiteX4" fmla="*/ 2024743 w 2449286"/>
                <a:gd name="connsiteY4" fmla="*/ 0 h 1338943"/>
                <a:gd name="connsiteX5" fmla="*/ 2449286 w 2449286"/>
                <a:gd name="connsiteY5" fmla="*/ 0 h 1338943"/>
                <a:gd name="connsiteX6" fmla="*/ 2449286 w 2449286"/>
                <a:gd name="connsiteY6" fmla="*/ 1328057 h 1338943"/>
                <a:gd name="connsiteX7" fmla="*/ 0 w 2449286"/>
                <a:gd name="connsiteY7" fmla="*/ 1338943 h 1338943"/>
                <a:gd name="connsiteX8" fmla="*/ 10886 w 2449286"/>
                <a:gd name="connsiteY8" fmla="*/ 849086 h 133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9286" h="1338943">
                  <a:moveTo>
                    <a:pt x="10886" y="849086"/>
                  </a:moveTo>
                  <a:lnTo>
                    <a:pt x="1273629" y="838200"/>
                  </a:lnTo>
                  <a:lnTo>
                    <a:pt x="1284514" y="402771"/>
                  </a:lnTo>
                  <a:lnTo>
                    <a:pt x="2002972" y="402771"/>
                  </a:lnTo>
                  <a:lnTo>
                    <a:pt x="2024743" y="0"/>
                  </a:lnTo>
                  <a:lnTo>
                    <a:pt x="2449286" y="0"/>
                  </a:lnTo>
                  <a:lnTo>
                    <a:pt x="2449286" y="1328057"/>
                  </a:lnTo>
                  <a:lnTo>
                    <a:pt x="0" y="1338943"/>
                  </a:lnTo>
                  <a:lnTo>
                    <a:pt x="10886" y="84908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solidFill>
                  <a:schemeClr val="tx1"/>
                </a:solidFill>
              </a:endParaRPr>
            </a:p>
            <a:p>
              <a:pPr algn="ctr"/>
              <a:endParaRPr lang="pt-BR" sz="1200" dirty="0">
                <a:solidFill>
                  <a:schemeClr val="tx1"/>
                </a:solidFill>
              </a:endParaRPr>
            </a:p>
            <a:p>
              <a:pPr algn="ctr"/>
              <a:endParaRPr lang="pt-BR" sz="1200" dirty="0">
                <a:solidFill>
                  <a:schemeClr val="tx1"/>
                </a:solidFill>
              </a:endParaRPr>
            </a:p>
            <a:p>
              <a:pPr algn="ctr"/>
              <a:endParaRPr lang="pt-BR" sz="1200" dirty="0">
                <a:solidFill>
                  <a:schemeClr val="tx1"/>
                </a:solidFill>
              </a:endParaRPr>
            </a:p>
            <a:p>
              <a:pPr algn="ctr"/>
              <a:endParaRPr lang="pt-BR" sz="7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200" dirty="0">
                  <a:solidFill>
                    <a:schemeClr val="tx1"/>
                  </a:solidFill>
                </a:rPr>
                <a:t>CUSTOS SEMIVARIÁVEIS</a:t>
              </a:r>
            </a:p>
            <a:p>
              <a:pPr algn="ctr"/>
              <a:r>
                <a:rPr lang="pt-BR" sz="1200" dirty="0">
                  <a:solidFill>
                    <a:schemeClr val="tx1"/>
                  </a:solidFill>
                </a:rPr>
                <a:t>ou SEMIFIXOS</a:t>
              </a:r>
            </a:p>
          </p:txBody>
        </p:sp>
        <p:cxnSp>
          <p:nvCxnSpPr>
            <p:cNvPr id="78" name="Conector de seta reta 77"/>
            <p:cNvCxnSpPr/>
            <p:nvPr/>
          </p:nvCxnSpPr>
          <p:spPr>
            <a:xfrm flipV="1">
              <a:off x="5660582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/>
            <p:nvPr/>
          </p:nvCxnSpPr>
          <p:spPr>
            <a:xfrm>
              <a:off x="5660582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aixaDeTexto 79"/>
            <p:cNvSpPr txBox="1"/>
            <p:nvPr/>
          </p:nvSpPr>
          <p:spPr>
            <a:xfrm>
              <a:off x="4942119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81" name="CaixaDeTexto 80"/>
            <p:cNvSpPr txBox="1"/>
            <p:nvPr/>
          </p:nvSpPr>
          <p:spPr>
            <a:xfrm>
              <a:off x="4942119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82" name="CaixaDeTexto 81"/>
            <p:cNvSpPr txBox="1"/>
            <p:nvPr/>
          </p:nvSpPr>
          <p:spPr>
            <a:xfrm>
              <a:off x="4942119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83" name="CaixaDeTexto 82"/>
            <p:cNvSpPr txBox="1"/>
            <p:nvPr/>
          </p:nvSpPr>
          <p:spPr>
            <a:xfrm>
              <a:off x="4942119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84" name="CaixaDeTexto 83"/>
            <p:cNvSpPr txBox="1"/>
            <p:nvPr/>
          </p:nvSpPr>
          <p:spPr>
            <a:xfrm>
              <a:off x="4942119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85" name="CaixaDeTexto 84"/>
            <p:cNvSpPr txBox="1"/>
            <p:nvPr/>
          </p:nvSpPr>
          <p:spPr>
            <a:xfrm>
              <a:off x="5116293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5856521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6307689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6758856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7210023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7739738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5769408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sp>
          <p:nvSpPr>
            <p:cNvPr id="50" name="Forma livre 49"/>
            <p:cNvSpPr/>
            <p:nvPr/>
          </p:nvSpPr>
          <p:spPr>
            <a:xfrm>
              <a:off x="5671457" y="4626429"/>
              <a:ext cx="2471058" cy="859971"/>
            </a:xfrm>
            <a:custGeom>
              <a:avLst/>
              <a:gdLst>
                <a:gd name="connsiteX0" fmla="*/ 0 w 2471058"/>
                <a:gd name="connsiteY0" fmla="*/ 859971 h 859971"/>
                <a:gd name="connsiteX1" fmla="*/ 1273629 w 2471058"/>
                <a:gd name="connsiteY1" fmla="*/ 859971 h 859971"/>
                <a:gd name="connsiteX2" fmla="*/ 1273629 w 2471058"/>
                <a:gd name="connsiteY2" fmla="*/ 424542 h 859971"/>
                <a:gd name="connsiteX3" fmla="*/ 2002972 w 2471058"/>
                <a:gd name="connsiteY3" fmla="*/ 424542 h 859971"/>
                <a:gd name="connsiteX4" fmla="*/ 2002972 w 2471058"/>
                <a:gd name="connsiteY4" fmla="*/ 0 h 859971"/>
                <a:gd name="connsiteX5" fmla="*/ 2471058 w 2471058"/>
                <a:gd name="connsiteY5" fmla="*/ 0 h 85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1058" h="859971">
                  <a:moveTo>
                    <a:pt x="0" y="859971"/>
                  </a:moveTo>
                  <a:lnTo>
                    <a:pt x="1273629" y="859971"/>
                  </a:lnTo>
                  <a:lnTo>
                    <a:pt x="1273629" y="424542"/>
                  </a:lnTo>
                  <a:lnTo>
                    <a:pt x="2002972" y="424542"/>
                  </a:lnTo>
                  <a:lnTo>
                    <a:pt x="2002972" y="0"/>
                  </a:lnTo>
                  <a:lnTo>
                    <a:pt x="2471058" y="0"/>
                  </a:lnTo>
                </a:path>
              </a:pathLst>
            </a:cu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263929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70857" y="908720"/>
            <a:ext cx="7326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 DE ACORDO COM O </a:t>
            </a:r>
            <a:r>
              <a:rPr lang="pt-BR" sz="2000" u="sng" dirty="0"/>
              <a:t>NÍVEL DE ATIVIDADE </a:t>
            </a:r>
            <a:r>
              <a:rPr lang="pt-BR" sz="2000" dirty="0"/>
              <a:t>(VOLUMES PRODUZIDOS)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5576" y="1555096"/>
            <a:ext cx="3384376" cy="129614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FIXOS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CUJO VALOR TOTAL NÃO VARIA PROPORCIONALMENTE AO VOLUME PRODUZIDO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32040" y="1555096"/>
            <a:ext cx="3384376" cy="129614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CUSTOS VARIÁVEIS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SÃO AQUELES QUE VARIAM PROPORCIONALMENTE AO VOLUME PRODUZIDO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748007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Aluguel da Fábrica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2500606" y="2991066"/>
            <a:ext cx="1635965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Seguros da Fábrica</a:t>
            </a:r>
          </a:p>
        </p:txBody>
      </p:sp>
      <p:sp>
        <p:nvSpPr>
          <p:cNvPr id="40" name="Retângulo 39"/>
          <p:cNvSpPr/>
          <p:nvPr/>
        </p:nvSpPr>
        <p:spPr>
          <a:xfrm>
            <a:off x="1379391" y="3362794"/>
            <a:ext cx="2136711" cy="288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Depreciação das Máquinas</a:t>
            </a:r>
          </a:p>
        </p:txBody>
      </p:sp>
      <p:grpSp>
        <p:nvGrpSpPr>
          <p:cNvPr id="2" name="Grupo 96"/>
          <p:cNvGrpSpPr/>
          <p:nvPr/>
        </p:nvGrpSpPr>
        <p:grpSpPr>
          <a:xfrm>
            <a:off x="696694" y="3842666"/>
            <a:ext cx="3614057" cy="2650082"/>
            <a:chOff x="696694" y="3842666"/>
            <a:chExt cx="3614057" cy="2650082"/>
          </a:xfrm>
        </p:grpSpPr>
        <p:sp>
          <p:nvSpPr>
            <p:cNvPr id="73" name="Retângulo 72"/>
            <p:cNvSpPr/>
            <p:nvPr/>
          </p:nvSpPr>
          <p:spPr>
            <a:xfrm>
              <a:off x="696694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tx2">
                      <a:lumMod val="50000"/>
                    </a:schemeClr>
                  </a:solidFill>
                </a:rPr>
                <a:t>CONSTANTES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46" name="Conector de seta reta 45"/>
            <p:cNvCxnSpPr/>
            <p:nvPr/>
          </p:nvCxnSpPr>
          <p:spPr>
            <a:xfrm flipV="1">
              <a:off x="1480468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1480468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aixaDeTexto 57"/>
            <p:cNvSpPr txBox="1"/>
            <p:nvPr/>
          </p:nvSpPr>
          <p:spPr>
            <a:xfrm>
              <a:off x="762005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59" name="CaixaDeTexto 58"/>
            <p:cNvSpPr txBox="1"/>
            <p:nvPr/>
          </p:nvSpPr>
          <p:spPr>
            <a:xfrm>
              <a:off x="762005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60" name="CaixaDeTexto 59"/>
            <p:cNvSpPr txBox="1"/>
            <p:nvPr/>
          </p:nvSpPr>
          <p:spPr>
            <a:xfrm>
              <a:off x="762005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762005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762005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936179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64" name="CaixaDeTexto 63"/>
            <p:cNvSpPr txBox="1"/>
            <p:nvPr/>
          </p:nvSpPr>
          <p:spPr>
            <a:xfrm>
              <a:off x="1676407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2127575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2578742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3029909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68" name="CaixaDeTexto 67"/>
            <p:cNvSpPr txBox="1"/>
            <p:nvPr/>
          </p:nvSpPr>
          <p:spPr>
            <a:xfrm>
              <a:off x="3559624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69" name="CaixaDeTexto 68"/>
            <p:cNvSpPr txBox="1"/>
            <p:nvPr/>
          </p:nvSpPr>
          <p:spPr>
            <a:xfrm>
              <a:off x="1589294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71" name="Conector reto 70"/>
            <p:cNvCxnSpPr>
              <a:stCxn id="61" idx="3"/>
            </p:cNvCxnSpPr>
            <p:nvPr/>
          </p:nvCxnSpPr>
          <p:spPr>
            <a:xfrm flipV="1">
              <a:off x="1494898" y="5323123"/>
              <a:ext cx="2532824" cy="5157"/>
            </a:xfrm>
            <a:prstGeom prst="line">
              <a:avLst/>
            </a:prstGeom>
            <a:ln w="571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tângulo 71"/>
            <p:cNvSpPr/>
            <p:nvPr/>
          </p:nvSpPr>
          <p:spPr>
            <a:xfrm>
              <a:off x="1502237" y="5355780"/>
              <a:ext cx="2536371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fixos</a:t>
              </a:r>
            </a:p>
          </p:txBody>
        </p:sp>
      </p:grpSp>
      <p:sp>
        <p:nvSpPr>
          <p:cNvPr id="75" name="Retângulo 74"/>
          <p:cNvSpPr/>
          <p:nvPr/>
        </p:nvSpPr>
        <p:spPr>
          <a:xfrm>
            <a:off x="4928121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Matéria Prima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6680720" y="2991066"/>
            <a:ext cx="163596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Embalagens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5559505" y="3362794"/>
            <a:ext cx="2136711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Materiais Indiretos</a:t>
            </a:r>
          </a:p>
        </p:txBody>
      </p:sp>
      <p:grpSp>
        <p:nvGrpSpPr>
          <p:cNvPr id="3" name="Grupo 97"/>
          <p:cNvGrpSpPr/>
          <p:nvPr/>
        </p:nvGrpSpPr>
        <p:grpSpPr>
          <a:xfrm>
            <a:off x="4876808" y="3842666"/>
            <a:ext cx="3614057" cy="2650082"/>
            <a:chOff x="4876808" y="3842666"/>
            <a:chExt cx="3614057" cy="2650082"/>
          </a:xfrm>
        </p:grpSpPr>
        <p:sp>
          <p:nvSpPr>
            <p:cNvPr id="74" name="Retângulo 73"/>
            <p:cNvSpPr/>
            <p:nvPr/>
          </p:nvSpPr>
          <p:spPr>
            <a:xfrm>
              <a:off x="4876808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accent2">
                      <a:lumMod val="75000"/>
                    </a:schemeClr>
                  </a:solidFill>
                </a:rPr>
                <a:t>CRESCENTES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78" name="Conector de seta reta 77"/>
            <p:cNvCxnSpPr/>
            <p:nvPr/>
          </p:nvCxnSpPr>
          <p:spPr>
            <a:xfrm flipV="1">
              <a:off x="5660582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/>
            <p:nvPr/>
          </p:nvCxnSpPr>
          <p:spPr>
            <a:xfrm>
              <a:off x="5660582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aixaDeTexto 79"/>
            <p:cNvSpPr txBox="1"/>
            <p:nvPr/>
          </p:nvSpPr>
          <p:spPr>
            <a:xfrm>
              <a:off x="4942119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81" name="CaixaDeTexto 80"/>
            <p:cNvSpPr txBox="1"/>
            <p:nvPr/>
          </p:nvSpPr>
          <p:spPr>
            <a:xfrm>
              <a:off x="4942119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82" name="CaixaDeTexto 81"/>
            <p:cNvSpPr txBox="1"/>
            <p:nvPr/>
          </p:nvSpPr>
          <p:spPr>
            <a:xfrm>
              <a:off x="4942119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83" name="CaixaDeTexto 82"/>
            <p:cNvSpPr txBox="1"/>
            <p:nvPr/>
          </p:nvSpPr>
          <p:spPr>
            <a:xfrm>
              <a:off x="4942119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84" name="CaixaDeTexto 83"/>
            <p:cNvSpPr txBox="1"/>
            <p:nvPr/>
          </p:nvSpPr>
          <p:spPr>
            <a:xfrm>
              <a:off x="4942119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85" name="CaixaDeTexto 84"/>
            <p:cNvSpPr txBox="1"/>
            <p:nvPr/>
          </p:nvSpPr>
          <p:spPr>
            <a:xfrm>
              <a:off x="5116293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5856521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6307689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6758856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7210023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7739738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5769408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92" name="Conector reto 91"/>
            <p:cNvCxnSpPr/>
            <p:nvPr/>
          </p:nvCxnSpPr>
          <p:spPr>
            <a:xfrm flipV="1">
              <a:off x="5671457" y="5007429"/>
              <a:ext cx="2514600" cy="947057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riângulo isósceles 95"/>
            <p:cNvSpPr/>
            <p:nvPr/>
          </p:nvSpPr>
          <p:spPr>
            <a:xfrm>
              <a:off x="5682342" y="5040086"/>
              <a:ext cx="2536371" cy="925285"/>
            </a:xfrm>
            <a:prstGeom prst="triangle">
              <a:avLst>
                <a:gd name="adj" fmla="val 9956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Variáveis</a:t>
              </a:r>
            </a:p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419590"/>
      </p:ext>
    </p:extLst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upo 102"/>
          <p:cNvGrpSpPr/>
          <p:nvPr/>
        </p:nvGrpSpPr>
        <p:grpSpPr>
          <a:xfrm>
            <a:off x="696694" y="3842666"/>
            <a:ext cx="3614057" cy="2650082"/>
            <a:chOff x="696694" y="3842666"/>
            <a:chExt cx="3614057" cy="2650082"/>
          </a:xfrm>
        </p:grpSpPr>
        <p:sp>
          <p:nvSpPr>
            <p:cNvPr id="104" name="Retângulo 103"/>
            <p:cNvSpPr/>
            <p:nvPr/>
          </p:nvSpPr>
          <p:spPr>
            <a:xfrm>
              <a:off x="696694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tx2">
                      <a:lumMod val="50000"/>
                    </a:schemeClr>
                  </a:solidFill>
                </a:rPr>
                <a:t>CONSTANTES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105" name="Conector de seta reta 104"/>
            <p:cNvCxnSpPr/>
            <p:nvPr/>
          </p:nvCxnSpPr>
          <p:spPr>
            <a:xfrm flipV="1">
              <a:off x="1480468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/>
            <p:cNvCxnSpPr/>
            <p:nvPr/>
          </p:nvCxnSpPr>
          <p:spPr>
            <a:xfrm>
              <a:off x="1480468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CaixaDeTexto 106"/>
            <p:cNvSpPr txBox="1"/>
            <p:nvPr/>
          </p:nvSpPr>
          <p:spPr>
            <a:xfrm>
              <a:off x="762005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108" name="CaixaDeTexto 107"/>
            <p:cNvSpPr txBox="1"/>
            <p:nvPr/>
          </p:nvSpPr>
          <p:spPr>
            <a:xfrm>
              <a:off x="762005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109" name="CaixaDeTexto 108"/>
            <p:cNvSpPr txBox="1"/>
            <p:nvPr/>
          </p:nvSpPr>
          <p:spPr>
            <a:xfrm>
              <a:off x="762005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110" name="CaixaDeTexto 109"/>
            <p:cNvSpPr txBox="1"/>
            <p:nvPr/>
          </p:nvSpPr>
          <p:spPr>
            <a:xfrm>
              <a:off x="762005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111" name="CaixaDeTexto 110"/>
            <p:cNvSpPr txBox="1"/>
            <p:nvPr/>
          </p:nvSpPr>
          <p:spPr>
            <a:xfrm>
              <a:off x="762005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112" name="CaixaDeTexto 111"/>
            <p:cNvSpPr txBox="1"/>
            <p:nvPr/>
          </p:nvSpPr>
          <p:spPr>
            <a:xfrm>
              <a:off x="936179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113" name="CaixaDeTexto 112"/>
            <p:cNvSpPr txBox="1"/>
            <p:nvPr/>
          </p:nvSpPr>
          <p:spPr>
            <a:xfrm>
              <a:off x="1676407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2127575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115" name="CaixaDeTexto 114"/>
            <p:cNvSpPr txBox="1"/>
            <p:nvPr/>
          </p:nvSpPr>
          <p:spPr>
            <a:xfrm>
              <a:off x="2578742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116" name="CaixaDeTexto 115"/>
            <p:cNvSpPr txBox="1"/>
            <p:nvPr/>
          </p:nvSpPr>
          <p:spPr>
            <a:xfrm>
              <a:off x="3029909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117" name="CaixaDeTexto 116"/>
            <p:cNvSpPr txBox="1"/>
            <p:nvPr/>
          </p:nvSpPr>
          <p:spPr>
            <a:xfrm>
              <a:off x="3559624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118" name="CaixaDeTexto 117"/>
            <p:cNvSpPr txBox="1"/>
            <p:nvPr/>
          </p:nvSpPr>
          <p:spPr>
            <a:xfrm>
              <a:off x="1589294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119" name="Conector reto 118"/>
            <p:cNvCxnSpPr>
              <a:stCxn id="110" idx="3"/>
            </p:cNvCxnSpPr>
            <p:nvPr/>
          </p:nvCxnSpPr>
          <p:spPr>
            <a:xfrm flipV="1">
              <a:off x="1494898" y="5323123"/>
              <a:ext cx="2532824" cy="5157"/>
            </a:xfrm>
            <a:prstGeom prst="line">
              <a:avLst/>
            </a:prstGeom>
            <a:ln w="571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tângulo 119"/>
            <p:cNvSpPr/>
            <p:nvPr/>
          </p:nvSpPr>
          <p:spPr>
            <a:xfrm>
              <a:off x="1502237" y="5355780"/>
              <a:ext cx="2536371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fixos</a:t>
              </a:r>
            </a:p>
          </p:txBody>
        </p:sp>
      </p:grpSp>
      <p:grpSp>
        <p:nvGrpSpPr>
          <p:cNvPr id="121" name="Grupo 120"/>
          <p:cNvGrpSpPr/>
          <p:nvPr/>
        </p:nvGrpSpPr>
        <p:grpSpPr>
          <a:xfrm>
            <a:off x="4876808" y="3842666"/>
            <a:ext cx="3614057" cy="2650082"/>
            <a:chOff x="4876808" y="3842666"/>
            <a:chExt cx="3614057" cy="2650082"/>
          </a:xfrm>
        </p:grpSpPr>
        <p:sp>
          <p:nvSpPr>
            <p:cNvPr id="122" name="Retângulo 121"/>
            <p:cNvSpPr/>
            <p:nvPr/>
          </p:nvSpPr>
          <p:spPr>
            <a:xfrm>
              <a:off x="4876808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b="1" dirty="0">
                  <a:solidFill>
                    <a:schemeClr val="accent2">
                      <a:lumMod val="75000"/>
                    </a:schemeClr>
                  </a:solidFill>
                </a:rPr>
                <a:t>CRESCENTES</a:t>
              </a:r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  <a:p>
              <a:pPr algn="r"/>
              <a:endParaRPr lang="pt-BR" dirty="0"/>
            </a:p>
          </p:txBody>
        </p:sp>
        <p:cxnSp>
          <p:nvCxnSpPr>
            <p:cNvPr id="123" name="Conector de seta reta 122"/>
            <p:cNvCxnSpPr/>
            <p:nvPr/>
          </p:nvCxnSpPr>
          <p:spPr>
            <a:xfrm flipV="1">
              <a:off x="5660582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de seta reta 123"/>
            <p:cNvCxnSpPr/>
            <p:nvPr/>
          </p:nvCxnSpPr>
          <p:spPr>
            <a:xfrm>
              <a:off x="5660582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CaixaDeTexto 124"/>
            <p:cNvSpPr txBox="1"/>
            <p:nvPr/>
          </p:nvSpPr>
          <p:spPr>
            <a:xfrm>
              <a:off x="4942119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126" name="CaixaDeTexto 125"/>
            <p:cNvSpPr txBox="1"/>
            <p:nvPr/>
          </p:nvSpPr>
          <p:spPr>
            <a:xfrm>
              <a:off x="4942119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127" name="CaixaDeTexto 126"/>
            <p:cNvSpPr txBox="1"/>
            <p:nvPr/>
          </p:nvSpPr>
          <p:spPr>
            <a:xfrm>
              <a:off x="4942119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128" name="CaixaDeTexto 127"/>
            <p:cNvSpPr txBox="1"/>
            <p:nvPr/>
          </p:nvSpPr>
          <p:spPr>
            <a:xfrm>
              <a:off x="4942119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129" name="CaixaDeTexto 128"/>
            <p:cNvSpPr txBox="1"/>
            <p:nvPr/>
          </p:nvSpPr>
          <p:spPr>
            <a:xfrm>
              <a:off x="4942119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130" name="CaixaDeTexto 129"/>
            <p:cNvSpPr txBox="1"/>
            <p:nvPr/>
          </p:nvSpPr>
          <p:spPr>
            <a:xfrm>
              <a:off x="5116293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131" name="CaixaDeTexto 130"/>
            <p:cNvSpPr txBox="1"/>
            <p:nvPr/>
          </p:nvSpPr>
          <p:spPr>
            <a:xfrm>
              <a:off x="5856521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132" name="CaixaDeTexto 131"/>
            <p:cNvSpPr txBox="1"/>
            <p:nvPr/>
          </p:nvSpPr>
          <p:spPr>
            <a:xfrm>
              <a:off x="6307689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133" name="CaixaDeTexto 132"/>
            <p:cNvSpPr txBox="1"/>
            <p:nvPr/>
          </p:nvSpPr>
          <p:spPr>
            <a:xfrm>
              <a:off x="6758856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134" name="CaixaDeTexto 133"/>
            <p:cNvSpPr txBox="1"/>
            <p:nvPr/>
          </p:nvSpPr>
          <p:spPr>
            <a:xfrm>
              <a:off x="7210023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135" name="CaixaDeTexto 134"/>
            <p:cNvSpPr txBox="1"/>
            <p:nvPr/>
          </p:nvSpPr>
          <p:spPr>
            <a:xfrm>
              <a:off x="7739738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136" name="CaixaDeTexto 135"/>
            <p:cNvSpPr txBox="1"/>
            <p:nvPr/>
          </p:nvSpPr>
          <p:spPr>
            <a:xfrm>
              <a:off x="5769408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137" name="Conector reto 136"/>
            <p:cNvCxnSpPr/>
            <p:nvPr/>
          </p:nvCxnSpPr>
          <p:spPr>
            <a:xfrm flipV="1">
              <a:off x="5671457" y="5007429"/>
              <a:ext cx="2514600" cy="947057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riângulo isósceles 137"/>
            <p:cNvSpPr/>
            <p:nvPr/>
          </p:nvSpPr>
          <p:spPr>
            <a:xfrm>
              <a:off x="5682342" y="5040086"/>
              <a:ext cx="2536371" cy="925285"/>
            </a:xfrm>
            <a:prstGeom prst="triangle">
              <a:avLst>
                <a:gd name="adj" fmla="val 9956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Variáveis</a:t>
              </a:r>
            </a:p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70857" y="908720"/>
            <a:ext cx="7326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 DE ACORDO COM O </a:t>
            </a:r>
            <a:r>
              <a:rPr lang="pt-BR" sz="2000" u="sng" dirty="0"/>
              <a:t>NÍVEL DE ATIVIDADE </a:t>
            </a:r>
            <a:r>
              <a:rPr lang="pt-BR" sz="2000" dirty="0"/>
              <a:t>(VOLUMES PRODUZIDOS)</a:t>
            </a:r>
          </a:p>
        </p:txBody>
      </p:sp>
      <p:grpSp>
        <p:nvGrpSpPr>
          <p:cNvPr id="48" name="Grupo 96"/>
          <p:cNvGrpSpPr/>
          <p:nvPr/>
        </p:nvGrpSpPr>
        <p:grpSpPr>
          <a:xfrm>
            <a:off x="2677894" y="1502238"/>
            <a:ext cx="3614057" cy="2650082"/>
            <a:chOff x="696694" y="3842666"/>
            <a:chExt cx="3614057" cy="265008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9" name="Retângulo 48"/>
            <p:cNvSpPr/>
            <p:nvPr/>
          </p:nvSpPr>
          <p:spPr>
            <a:xfrm>
              <a:off x="696694" y="3842666"/>
              <a:ext cx="3614057" cy="2623457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Conector de seta reta 49"/>
            <p:cNvCxnSpPr/>
            <p:nvPr/>
          </p:nvCxnSpPr>
          <p:spPr>
            <a:xfrm flipV="1">
              <a:off x="1480468" y="4016826"/>
              <a:ext cx="0" cy="197031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de seta reta 50"/>
            <p:cNvCxnSpPr/>
            <p:nvPr/>
          </p:nvCxnSpPr>
          <p:spPr>
            <a:xfrm>
              <a:off x="1480468" y="5976254"/>
              <a:ext cx="271054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/>
            <p:cNvSpPr txBox="1"/>
            <p:nvPr/>
          </p:nvSpPr>
          <p:spPr>
            <a:xfrm>
              <a:off x="762005" y="4201898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5.000,00</a:t>
              </a: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762005" y="4531192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4.000,00</a:t>
              </a:r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762005" y="486048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3.000,00</a:t>
              </a:r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762005" y="51897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2.000,00</a:t>
              </a:r>
            </a:p>
          </p:txBody>
        </p:sp>
        <p:sp>
          <p:nvSpPr>
            <p:cNvPr id="56" name="CaixaDeTexto 55"/>
            <p:cNvSpPr txBox="1"/>
            <p:nvPr/>
          </p:nvSpPr>
          <p:spPr>
            <a:xfrm>
              <a:off x="762005" y="5519075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1.000,00</a:t>
              </a:r>
            </a:p>
          </p:txBody>
        </p:sp>
        <p:sp>
          <p:nvSpPr>
            <p:cNvPr id="57" name="CaixaDeTexto 56"/>
            <p:cNvSpPr txBox="1"/>
            <p:nvPr/>
          </p:nvSpPr>
          <p:spPr>
            <a:xfrm>
              <a:off x="936179" y="388620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R$</a:t>
              </a: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1676407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200</a:t>
              </a: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2127575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500</a:t>
              </a:r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2578742" y="598716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800</a:t>
              </a:r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3029909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1100</a:t>
              </a:r>
            </a:p>
          </p:txBody>
        </p:sp>
        <p:sp>
          <p:nvSpPr>
            <p:cNvPr id="97" name="CaixaDeTexto 96"/>
            <p:cNvSpPr txBox="1"/>
            <p:nvPr/>
          </p:nvSpPr>
          <p:spPr>
            <a:xfrm>
              <a:off x="3559624" y="5987161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1400</a:t>
              </a:r>
            </a:p>
          </p:txBody>
        </p:sp>
        <p:sp>
          <p:nvSpPr>
            <p:cNvPr id="98" name="CaixaDeTexto 97"/>
            <p:cNvSpPr txBox="1"/>
            <p:nvPr/>
          </p:nvSpPr>
          <p:spPr>
            <a:xfrm>
              <a:off x="1589294" y="6215749"/>
              <a:ext cx="2339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Quantidade Produzida - Unidades</a:t>
              </a:r>
            </a:p>
          </p:txBody>
        </p:sp>
        <p:cxnSp>
          <p:nvCxnSpPr>
            <p:cNvPr id="99" name="Conector reto 98"/>
            <p:cNvCxnSpPr>
              <a:stCxn id="55" idx="3"/>
            </p:cNvCxnSpPr>
            <p:nvPr/>
          </p:nvCxnSpPr>
          <p:spPr>
            <a:xfrm flipV="1">
              <a:off x="1494898" y="5323123"/>
              <a:ext cx="2532824" cy="5157"/>
            </a:xfrm>
            <a:prstGeom prst="line">
              <a:avLst/>
            </a:prstGeom>
            <a:ln w="571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tângulo 99"/>
            <p:cNvSpPr/>
            <p:nvPr/>
          </p:nvSpPr>
          <p:spPr>
            <a:xfrm>
              <a:off x="1502237" y="5355780"/>
              <a:ext cx="2536371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Custos fixos</a:t>
              </a:r>
            </a:p>
          </p:txBody>
        </p:sp>
      </p:grpSp>
      <p:cxnSp>
        <p:nvCxnSpPr>
          <p:cNvPr id="101" name="Conector reto 100"/>
          <p:cNvCxnSpPr/>
          <p:nvPr/>
        </p:nvCxnSpPr>
        <p:spPr>
          <a:xfrm flipV="1">
            <a:off x="3472543" y="2013857"/>
            <a:ext cx="2514600" cy="947057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riângulo isósceles 101"/>
          <p:cNvSpPr/>
          <p:nvPr/>
        </p:nvSpPr>
        <p:spPr>
          <a:xfrm>
            <a:off x="3483428" y="2046514"/>
            <a:ext cx="2536371" cy="925285"/>
          </a:xfrm>
          <a:prstGeom prst="triangle">
            <a:avLst>
              <a:gd name="adj" fmla="val 9956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Custos Variáveis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0" name="Seta para a direita 139"/>
          <p:cNvSpPr/>
          <p:nvPr/>
        </p:nvSpPr>
        <p:spPr>
          <a:xfrm>
            <a:off x="1001485" y="1676399"/>
            <a:ext cx="1502229" cy="1959429"/>
          </a:xfrm>
          <a:prstGeom prst="rightArrow">
            <a:avLst>
              <a:gd name="adj1" fmla="val 50000"/>
              <a:gd name="adj2" fmla="val 54348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1" name="Retângulo 140"/>
          <p:cNvSpPr/>
          <p:nvPr/>
        </p:nvSpPr>
        <p:spPr>
          <a:xfrm>
            <a:off x="1110722" y="2297266"/>
            <a:ext cx="10216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CUSTOS</a:t>
            </a:r>
          </a:p>
          <a:p>
            <a:r>
              <a:rPr lang="pt-BR" sz="2000" b="1" dirty="0">
                <a:solidFill>
                  <a:schemeClr val="bg1"/>
                </a:solidFill>
              </a:rPr>
              <a:t>TOTAIS</a:t>
            </a:r>
          </a:p>
        </p:txBody>
      </p:sp>
    </p:spTree>
    <p:extLst>
      <p:ext uri="{BB962C8B-B14F-4D97-AF65-F5344CB8AC3E}">
        <p14:creationId xmlns:p14="http://schemas.microsoft.com/office/powerpoint/2010/main" val="24440122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tângulo 206"/>
          <p:cNvSpPr/>
          <p:nvPr/>
        </p:nvSpPr>
        <p:spPr>
          <a:xfrm>
            <a:off x="707571" y="4388266"/>
            <a:ext cx="7652658" cy="1187348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47233" y="760739"/>
            <a:ext cx="763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COMPORTAMENTO DOS CUSTOS POR NIVEL DE ATIVIDADE</a:t>
            </a:r>
          </a:p>
        </p:txBody>
      </p:sp>
      <p:sp>
        <p:nvSpPr>
          <p:cNvPr id="5" name="Retângulo 4"/>
          <p:cNvSpPr/>
          <p:nvPr/>
        </p:nvSpPr>
        <p:spPr>
          <a:xfrm>
            <a:off x="882879" y="1251565"/>
            <a:ext cx="7326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RELAÇÃO CUSTO X VOLUME</a:t>
            </a:r>
          </a:p>
        </p:txBody>
      </p:sp>
      <p:sp>
        <p:nvSpPr>
          <p:cNvPr id="185" name="CaixaDeTexto 184"/>
          <p:cNvSpPr txBox="1"/>
          <p:nvPr/>
        </p:nvSpPr>
        <p:spPr>
          <a:xfrm>
            <a:off x="881746" y="3635884"/>
            <a:ext cx="2474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CUSTOS TOTAIS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5399312" y="3635884"/>
            <a:ext cx="308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CUSTOS UNITÁRIOS</a:t>
            </a:r>
          </a:p>
        </p:txBody>
      </p:sp>
      <p:cxnSp>
        <p:nvCxnSpPr>
          <p:cNvPr id="194" name="Conector de seta reta 193"/>
          <p:cNvCxnSpPr>
            <a:stCxn id="185" idx="3"/>
            <a:endCxn id="187" idx="1"/>
          </p:cNvCxnSpPr>
          <p:nvPr/>
        </p:nvCxnSpPr>
        <p:spPr>
          <a:xfrm>
            <a:off x="3355949" y="3897494"/>
            <a:ext cx="204336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tângulo 198"/>
          <p:cNvSpPr/>
          <p:nvPr/>
        </p:nvSpPr>
        <p:spPr>
          <a:xfrm>
            <a:off x="674914" y="1959424"/>
            <a:ext cx="2906486" cy="1436915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Quanto gastamos para produzir uma certa quantidade de produtos</a:t>
            </a:r>
          </a:p>
        </p:txBody>
      </p:sp>
      <p:sp>
        <p:nvSpPr>
          <p:cNvPr id="200" name="Retângulo 199"/>
          <p:cNvSpPr/>
          <p:nvPr/>
        </p:nvSpPr>
        <p:spPr>
          <a:xfrm>
            <a:off x="5464629" y="1959424"/>
            <a:ext cx="2906486" cy="1436915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Quanto gastamos para produzir </a:t>
            </a:r>
            <a:r>
              <a:rPr lang="pt-BR" b="1" dirty="0">
                <a:solidFill>
                  <a:schemeClr val="tx1"/>
                </a:solidFill>
              </a:rPr>
              <a:t>cada unidade </a:t>
            </a:r>
            <a:r>
              <a:rPr lang="pt-BR" dirty="0">
                <a:solidFill>
                  <a:schemeClr val="tx1"/>
                </a:solidFill>
              </a:rPr>
              <a:t>do produto</a:t>
            </a:r>
          </a:p>
        </p:txBody>
      </p:sp>
      <p:grpSp>
        <p:nvGrpSpPr>
          <p:cNvPr id="206" name="Grupo 205"/>
          <p:cNvGrpSpPr/>
          <p:nvPr/>
        </p:nvGrpSpPr>
        <p:grpSpPr>
          <a:xfrm>
            <a:off x="1143006" y="4437708"/>
            <a:ext cx="6836437" cy="1089276"/>
            <a:chOff x="925286" y="4778884"/>
            <a:chExt cx="6836437" cy="1089276"/>
          </a:xfrm>
        </p:grpSpPr>
        <p:sp>
          <p:nvSpPr>
            <p:cNvPr id="201" name="CaixaDeTexto 200"/>
            <p:cNvSpPr txBox="1"/>
            <p:nvPr/>
          </p:nvSpPr>
          <p:spPr>
            <a:xfrm>
              <a:off x="1621975" y="4778884"/>
              <a:ext cx="2360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CUSTOS TOTAL</a:t>
              </a:r>
            </a:p>
          </p:txBody>
        </p:sp>
        <p:sp>
          <p:nvSpPr>
            <p:cNvPr id="202" name="CaixaDeTexto 201"/>
            <p:cNvSpPr txBox="1"/>
            <p:nvPr/>
          </p:nvSpPr>
          <p:spPr>
            <a:xfrm>
              <a:off x="4757054" y="5029256"/>
              <a:ext cx="30046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= CUSTO UNITÁRIO</a:t>
              </a:r>
            </a:p>
          </p:txBody>
        </p:sp>
        <p:sp>
          <p:nvSpPr>
            <p:cNvPr id="203" name="CaixaDeTexto 202"/>
            <p:cNvSpPr txBox="1"/>
            <p:nvPr/>
          </p:nvSpPr>
          <p:spPr>
            <a:xfrm>
              <a:off x="947061" y="5344940"/>
              <a:ext cx="38012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UNIDADES PRODUZIDAS</a:t>
              </a:r>
            </a:p>
          </p:txBody>
        </p:sp>
        <p:cxnSp>
          <p:nvCxnSpPr>
            <p:cNvPr id="205" name="Conector reto 204"/>
            <p:cNvCxnSpPr/>
            <p:nvPr/>
          </p:nvCxnSpPr>
          <p:spPr>
            <a:xfrm>
              <a:off x="925286" y="5301343"/>
              <a:ext cx="379911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aixaDeTexto 14"/>
          <p:cNvSpPr txBox="1"/>
          <p:nvPr/>
        </p:nvSpPr>
        <p:spPr>
          <a:xfrm>
            <a:off x="881747" y="5895595"/>
            <a:ext cx="7335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Compreendermos a dinâmica CUSTO x VOLUME e seu impacto no custo unitário é fundamental para a definição do preço de venda</a:t>
            </a:r>
          </a:p>
        </p:txBody>
      </p:sp>
    </p:spTree>
    <p:extLst>
      <p:ext uri="{BB962C8B-B14F-4D97-AF65-F5344CB8AC3E}">
        <p14:creationId xmlns:p14="http://schemas.microsoft.com/office/powerpoint/2010/main" val="389059047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 animBg="1"/>
      <p:bldP spid="185" grpId="0"/>
      <p:bldP spid="187" grpId="0"/>
      <p:bldP spid="199" grpId="0" animBg="1"/>
      <p:bldP spid="200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4905" y="1411968"/>
            <a:ext cx="3048000" cy="221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upo 188"/>
          <p:cNvGrpSpPr/>
          <p:nvPr/>
        </p:nvGrpSpPr>
        <p:grpSpPr>
          <a:xfrm>
            <a:off x="5404432" y="1411968"/>
            <a:ext cx="3042879" cy="2209178"/>
            <a:chOff x="5469748" y="4340302"/>
            <a:chExt cx="3042879" cy="2209178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69748" y="4340302"/>
              <a:ext cx="3042879" cy="2209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 l="1263" t="15908" r="82997" b="37281"/>
            <a:stretch>
              <a:fillRect/>
            </a:stretch>
          </p:blipFill>
          <p:spPr bwMode="auto">
            <a:xfrm>
              <a:off x="5595257" y="4713511"/>
              <a:ext cx="478970" cy="1034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CaixaDeTexto 3"/>
          <p:cNvSpPr txBox="1"/>
          <p:nvPr/>
        </p:nvSpPr>
        <p:spPr>
          <a:xfrm>
            <a:off x="1619672" y="260648"/>
            <a:ext cx="585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CLASSIFICAÇÃO DE CUSTOS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4905" y="4129596"/>
            <a:ext cx="3048000" cy="221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02265" y="4125704"/>
            <a:ext cx="3045051" cy="221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5" name="CaixaDeTexto 184"/>
          <p:cNvSpPr txBox="1"/>
          <p:nvPr/>
        </p:nvSpPr>
        <p:spPr>
          <a:xfrm>
            <a:off x="881746" y="3635884"/>
            <a:ext cx="2474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CUSTOS TOTAIS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5399312" y="3635884"/>
            <a:ext cx="308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CUSTOS UNITÁRIOS</a:t>
            </a:r>
          </a:p>
        </p:txBody>
      </p:sp>
      <p:grpSp>
        <p:nvGrpSpPr>
          <p:cNvPr id="3" name="Grupo 191"/>
          <p:cNvGrpSpPr/>
          <p:nvPr/>
        </p:nvGrpSpPr>
        <p:grpSpPr>
          <a:xfrm>
            <a:off x="3777717" y="4343410"/>
            <a:ext cx="1534510" cy="1959429"/>
            <a:chOff x="3843033" y="2209799"/>
            <a:chExt cx="1534510" cy="1959429"/>
          </a:xfrm>
        </p:grpSpPr>
        <p:sp>
          <p:nvSpPr>
            <p:cNvPr id="190" name="Seta para a direita 189"/>
            <p:cNvSpPr/>
            <p:nvPr/>
          </p:nvSpPr>
          <p:spPr>
            <a:xfrm>
              <a:off x="3875314" y="2209799"/>
              <a:ext cx="1502229" cy="1959429"/>
            </a:xfrm>
            <a:prstGeom prst="rightArrow">
              <a:avLst>
                <a:gd name="adj1" fmla="val 50000"/>
                <a:gd name="adj2" fmla="val 5434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1" name="Retângulo 190"/>
            <p:cNvSpPr/>
            <p:nvPr/>
          </p:nvSpPr>
          <p:spPr>
            <a:xfrm>
              <a:off x="3843033" y="2830666"/>
              <a:ext cx="1461426" cy="707886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pt-BR" sz="2000" b="1" dirty="0">
                  <a:solidFill>
                    <a:schemeClr val="bg1"/>
                  </a:solidFill>
                </a:rPr>
                <a:t>ECONOMIA </a:t>
              </a:r>
            </a:p>
            <a:p>
              <a:r>
                <a:rPr lang="pt-BR" sz="2000" b="1" dirty="0">
                  <a:solidFill>
                    <a:schemeClr val="bg1"/>
                  </a:solidFill>
                </a:rPr>
                <a:t> DE ESCALA</a:t>
              </a:r>
            </a:p>
          </p:txBody>
        </p:sp>
      </p:grpSp>
      <p:cxnSp>
        <p:nvCxnSpPr>
          <p:cNvPr id="194" name="Conector de seta reta 193"/>
          <p:cNvCxnSpPr>
            <a:stCxn id="185" idx="3"/>
            <a:endCxn id="187" idx="1"/>
          </p:cNvCxnSpPr>
          <p:nvPr/>
        </p:nvCxnSpPr>
        <p:spPr>
          <a:xfrm>
            <a:off x="3355949" y="3897494"/>
            <a:ext cx="204336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194"/>
          <p:cNvGrpSpPr/>
          <p:nvPr/>
        </p:nvGrpSpPr>
        <p:grpSpPr>
          <a:xfrm>
            <a:off x="3809994" y="1534880"/>
            <a:ext cx="1502229" cy="1959429"/>
            <a:chOff x="3875314" y="2209799"/>
            <a:chExt cx="1502229" cy="1959429"/>
          </a:xfrm>
        </p:grpSpPr>
        <p:sp>
          <p:nvSpPr>
            <p:cNvPr id="196" name="Seta para a direita 195"/>
            <p:cNvSpPr/>
            <p:nvPr/>
          </p:nvSpPr>
          <p:spPr>
            <a:xfrm>
              <a:off x="3875314" y="2209799"/>
              <a:ext cx="1502229" cy="1959429"/>
            </a:xfrm>
            <a:prstGeom prst="rightArrow">
              <a:avLst>
                <a:gd name="adj1" fmla="val 50000"/>
                <a:gd name="adj2" fmla="val 5434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7" name="Retângulo 196"/>
            <p:cNvSpPr/>
            <p:nvPr/>
          </p:nvSpPr>
          <p:spPr>
            <a:xfrm>
              <a:off x="3907977" y="2775858"/>
              <a:ext cx="126274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CUSTOS VARIÁVEIS TENDEM A SER ESTÁVEIS</a:t>
              </a:r>
            </a:p>
          </p:txBody>
        </p:sp>
      </p:grpSp>
      <p:sp>
        <p:nvSpPr>
          <p:cNvPr id="198" name="Retângulo 197"/>
          <p:cNvSpPr/>
          <p:nvPr/>
        </p:nvSpPr>
        <p:spPr>
          <a:xfrm>
            <a:off x="-304800" y="6360097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 cap="small" dirty="0"/>
              <a:t> Ambos podem ser reduzidos com “</a:t>
            </a:r>
            <a:r>
              <a:rPr lang="pt-BR" b="1" cap="small" dirty="0" err="1"/>
              <a:t>re-engenharia</a:t>
            </a:r>
            <a:r>
              <a:rPr lang="pt-BR" b="1" cap="small" dirty="0"/>
              <a:t>” ou negociações com fornecedores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870857" y="908720"/>
            <a:ext cx="7326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RELAÇÃO CUSTO X VOLUME – Comportamento do Custo Unitário</a:t>
            </a:r>
          </a:p>
        </p:txBody>
      </p:sp>
    </p:spTree>
    <p:extLst>
      <p:ext uri="{BB962C8B-B14F-4D97-AF65-F5344CB8AC3E}">
        <p14:creationId xmlns:p14="http://schemas.microsoft.com/office/powerpoint/2010/main" val="247833896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/>
          <p:cNvSpPr/>
          <p:nvPr/>
        </p:nvSpPr>
        <p:spPr>
          <a:xfrm>
            <a:off x="7728857" y="5036004"/>
            <a:ext cx="957943" cy="4921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7121" y="1611087"/>
            <a:ext cx="3959679" cy="3925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aixaDeTexto 3"/>
          <p:cNvSpPr txBox="1"/>
          <p:nvPr/>
        </p:nvSpPr>
        <p:spPr>
          <a:xfrm>
            <a:off x="1619672" y="260648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4000" dirty="0"/>
          </a:p>
        </p:txBody>
      </p:sp>
      <p:sp>
        <p:nvSpPr>
          <p:cNvPr id="5" name="Retângulo 4"/>
          <p:cNvSpPr/>
          <p:nvPr/>
        </p:nvSpPr>
        <p:spPr>
          <a:xfrm>
            <a:off x="832757" y="413420"/>
            <a:ext cx="732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RELAÇÃO CUSTO X VOLUME</a:t>
            </a:r>
          </a:p>
        </p:txBody>
      </p:sp>
      <p:sp>
        <p:nvSpPr>
          <p:cNvPr id="10" name="Seta para baixo 9"/>
          <p:cNvSpPr/>
          <p:nvPr/>
        </p:nvSpPr>
        <p:spPr>
          <a:xfrm flipV="1">
            <a:off x="8752113" y="2160359"/>
            <a:ext cx="155121" cy="163287"/>
          </a:xfrm>
          <a:prstGeom prst="down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baixo 10"/>
          <p:cNvSpPr/>
          <p:nvPr/>
        </p:nvSpPr>
        <p:spPr>
          <a:xfrm>
            <a:off x="8741227" y="2890611"/>
            <a:ext cx="161473" cy="178061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baixo 11"/>
          <p:cNvSpPr/>
          <p:nvPr/>
        </p:nvSpPr>
        <p:spPr>
          <a:xfrm rot="16200000">
            <a:off x="8748031" y="3355521"/>
            <a:ext cx="163285" cy="190501"/>
          </a:xfrm>
          <a:prstGeom prst="downArrow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 para baixo 12"/>
          <p:cNvSpPr/>
          <p:nvPr/>
        </p:nvSpPr>
        <p:spPr>
          <a:xfrm flipV="1">
            <a:off x="8752113" y="5098141"/>
            <a:ext cx="155121" cy="163287"/>
          </a:xfrm>
          <a:prstGeom prst="down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7750629" y="2630261"/>
            <a:ext cx="892628" cy="18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7751986" y="2879274"/>
            <a:ext cx="892628" cy="18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7750625" y="3367783"/>
            <a:ext cx="892628" cy="18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7761507" y="3604549"/>
            <a:ext cx="892628" cy="18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7772389" y="4091693"/>
            <a:ext cx="892628" cy="18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7728857" y="5045530"/>
            <a:ext cx="936159" cy="225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7728857" y="5282088"/>
            <a:ext cx="936160" cy="236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baixo 22"/>
          <p:cNvSpPr/>
          <p:nvPr/>
        </p:nvSpPr>
        <p:spPr>
          <a:xfrm flipV="1">
            <a:off x="8752113" y="3620406"/>
            <a:ext cx="155121" cy="163287"/>
          </a:xfrm>
          <a:prstGeom prst="down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 para baixo 23"/>
          <p:cNvSpPr/>
          <p:nvPr/>
        </p:nvSpPr>
        <p:spPr>
          <a:xfrm rot="16200000">
            <a:off x="8748031" y="2622096"/>
            <a:ext cx="163285" cy="190501"/>
          </a:xfrm>
          <a:prstGeom prst="downArrow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baixo 24"/>
          <p:cNvSpPr/>
          <p:nvPr/>
        </p:nvSpPr>
        <p:spPr>
          <a:xfrm>
            <a:off x="8741227" y="4095750"/>
            <a:ext cx="161473" cy="178061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baixo 25"/>
          <p:cNvSpPr/>
          <p:nvPr/>
        </p:nvSpPr>
        <p:spPr>
          <a:xfrm rot="16200000">
            <a:off x="8748031" y="4577442"/>
            <a:ext cx="163285" cy="190501"/>
          </a:xfrm>
          <a:prstGeom prst="downArrow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92403" y="6017515"/>
            <a:ext cx="8920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O AUMENTO DAS VENDAS EM 33% CAUSOU O AUMENTO DE</a:t>
            </a:r>
          </a:p>
          <a:p>
            <a:pPr algn="ctr"/>
            <a:r>
              <a:rPr lang="pt-BR" sz="2000" b="1" dirty="0"/>
              <a:t>100% NA MARGEM DE LUCRO E DE 266% NO LUCRO TOTAL !!!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377" y="1611087"/>
            <a:ext cx="3959679" cy="392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CaixaDeTexto 28"/>
          <p:cNvSpPr txBox="1"/>
          <p:nvPr/>
        </p:nvSpPr>
        <p:spPr>
          <a:xfrm>
            <a:off x="307938" y="5536666"/>
            <a:ext cx="406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LUCRO TOTAL = R$ 3.000,00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788863" y="5536666"/>
            <a:ext cx="406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LUCRO TOTAL = R$ 8.000,00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27883F4-481D-4ACF-9DC6-9FB9F9000EF9}"/>
              </a:ext>
            </a:extLst>
          </p:cNvPr>
          <p:cNvSpPr/>
          <p:nvPr/>
        </p:nvSpPr>
        <p:spPr>
          <a:xfrm>
            <a:off x="4686298" y="1609356"/>
            <a:ext cx="4000502" cy="39255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619366F-528A-457F-AA46-A1F2F400BF3F}"/>
              </a:ext>
            </a:extLst>
          </p:cNvPr>
          <p:cNvSpPr/>
          <p:nvPr/>
        </p:nvSpPr>
        <p:spPr>
          <a:xfrm>
            <a:off x="3798513" y="2879274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95B4151-C7F3-4E65-B387-2913A1DDAA94}"/>
              </a:ext>
            </a:extLst>
          </p:cNvPr>
          <p:cNvSpPr/>
          <p:nvPr/>
        </p:nvSpPr>
        <p:spPr>
          <a:xfrm>
            <a:off x="3798513" y="3360122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70ADD7A-115C-4DDF-928D-9374DB178D37}"/>
              </a:ext>
            </a:extLst>
          </p:cNvPr>
          <p:cNvSpPr/>
          <p:nvPr/>
        </p:nvSpPr>
        <p:spPr>
          <a:xfrm>
            <a:off x="3798513" y="4097002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E19CFA-B046-47C5-A241-EF87DE0A59ED}"/>
              </a:ext>
            </a:extLst>
          </p:cNvPr>
          <p:cNvSpPr txBox="1"/>
          <p:nvPr/>
        </p:nvSpPr>
        <p:spPr>
          <a:xfrm>
            <a:off x="3915311" y="29615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CE05E1B-7EAC-49B4-9304-A2A741505E12}"/>
              </a:ext>
            </a:extLst>
          </p:cNvPr>
          <p:cNvSpPr/>
          <p:nvPr/>
        </p:nvSpPr>
        <p:spPr>
          <a:xfrm>
            <a:off x="3798513" y="5076116"/>
            <a:ext cx="572151" cy="18939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BF7A6A1-EBBF-4E98-9600-AAA4DF3D682D}"/>
              </a:ext>
            </a:extLst>
          </p:cNvPr>
          <p:cNvSpPr/>
          <p:nvPr/>
        </p:nvSpPr>
        <p:spPr>
          <a:xfrm>
            <a:off x="8096294" y="2872865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317A1AC-A374-4318-8A73-D37D46D56785}"/>
              </a:ext>
            </a:extLst>
          </p:cNvPr>
          <p:cNvSpPr/>
          <p:nvPr/>
        </p:nvSpPr>
        <p:spPr>
          <a:xfrm>
            <a:off x="8096294" y="3365905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F7ABA4F-1BB4-4454-8CD3-6AAA71E0A82C}"/>
              </a:ext>
            </a:extLst>
          </p:cNvPr>
          <p:cNvSpPr/>
          <p:nvPr/>
        </p:nvSpPr>
        <p:spPr>
          <a:xfrm>
            <a:off x="8096294" y="4090593"/>
            <a:ext cx="572151" cy="1893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5F689EB-42CD-46B3-A440-BBB50EA8C8BD}"/>
              </a:ext>
            </a:extLst>
          </p:cNvPr>
          <p:cNvSpPr txBox="1"/>
          <p:nvPr/>
        </p:nvSpPr>
        <p:spPr>
          <a:xfrm>
            <a:off x="8213092" y="29551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69427062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9" grpId="0"/>
      <p:bldP spid="30" grpId="0"/>
      <p:bldP spid="2" grpId="0" animBg="1"/>
      <p:bldP spid="3" grpId="0" animBg="1"/>
      <p:bldP spid="28" grpId="0" animBg="1"/>
      <p:bldP spid="31" grpId="0" animBg="1"/>
      <p:bldP spid="6" grpId="0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2C602FE-4448-4ACD-B03A-8C2A2E34DA4D}"/>
              </a:ext>
            </a:extLst>
          </p:cNvPr>
          <p:cNvSpPr txBox="1">
            <a:spLocks/>
          </p:cNvSpPr>
          <p:nvPr/>
        </p:nvSpPr>
        <p:spPr>
          <a:xfrm>
            <a:off x="857215" y="703352"/>
            <a:ext cx="8405537" cy="531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Gotham HTF" pitchFamily="2" charset="0"/>
                <a:ea typeface="+mj-ea"/>
                <a:cs typeface="+mj-cs"/>
              </a:defRPr>
            </a:lvl1pPr>
          </a:lstStyle>
          <a:p>
            <a:r>
              <a:rPr lang="pt-BR" sz="2400" cap="all" dirty="0">
                <a:latin typeface="+mn-lt"/>
              </a:rPr>
              <a:t>APURAÇÃO DE RESULTADOS USANDO CUSTEIO VARIAVEL</a:t>
            </a:r>
          </a:p>
        </p:txBody>
      </p:sp>
      <p:sp>
        <p:nvSpPr>
          <p:cNvPr id="63" name="Seta para cima e para baixo 3">
            <a:extLst>
              <a:ext uri="{FF2B5EF4-FFF2-40B4-BE49-F238E27FC236}">
                <a16:creationId xmlns:a16="http://schemas.microsoft.com/office/drawing/2014/main" id="{A6FDDA7D-C61C-449E-BF6D-F4621D2F6653}"/>
              </a:ext>
            </a:extLst>
          </p:cNvPr>
          <p:cNvSpPr/>
          <p:nvPr/>
        </p:nvSpPr>
        <p:spPr bwMode="auto">
          <a:xfrm>
            <a:off x="571472" y="1344859"/>
            <a:ext cx="285752" cy="4857784"/>
          </a:xfrm>
          <a:prstGeom prst="upDownArrow">
            <a:avLst/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64" name="Seta para cima e para baixo 4">
            <a:extLst>
              <a:ext uri="{FF2B5EF4-FFF2-40B4-BE49-F238E27FC236}">
                <a16:creationId xmlns:a16="http://schemas.microsoft.com/office/drawing/2014/main" id="{7F0485DA-D12B-4BB9-BD38-4CE40D1008B2}"/>
              </a:ext>
            </a:extLst>
          </p:cNvPr>
          <p:cNvSpPr/>
          <p:nvPr/>
        </p:nvSpPr>
        <p:spPr bwMode="auto">
          <a:xfrm>
            <a:off x="5857884" y="1344859"/>
            <a:ext cx="285752" cy="2357454"/>
          </a:xfrm>
          <a:prstGeom prst="upDownArrow">
            <a:avLst/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sp>
        <p:nvSpPr>
          <p:cNvPr id="65" name="CaixaDeTexto 3">
            <a:extLst>
              <a:ext uri="{FF2B5EF4-FFF2-40B4-BE49-F238E27FC236}">
                <a16:creationId xmlns:a16="http://schemas.microsoft.com/office/drawing/2014/main" id="{CE93EB0F-75BB-4FEE-B5AF-B5F1D5014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12" y="1547031"/>
            <a:ext cx="2000234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Materiais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diretos</a:t>
            </a:r>
          </a:p>
        </p:txBody>
      </p:sp>
      <p:sp>
        <p:nvSpPr>
          <p:cNvPr id="66" name="CaixaDeTexto 4">
            <a:extLst>
              <a:ext uri="{FF2B5EF4-FFF2-40B4-BE49-F238E27FC236}">
                <a16:creationId xmlns:a16="http://schemas.microsoft.com/office/drawing/2014/main" id="{278A0FCE-0C3E-476F-8DFA-7E886C106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36" y="4488131"/>
            <a:ext cx="2000251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Despesas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Fixas</a:t>
            </a:r>
          </a:p>
        </p:txBody>
      </p:sp>
      <p:sp>
        <p:nvSpPr>
          <p:cNvPr id="67" name="CaixaDeTexto 6">
            <a:extLst>
              <a:ext uri="{FF2B5EF4-FFF2-40B4-BE49-F238E27FC236}">
                <a16:creationId xmlns:a16="http://schemas.microsoft.com/office/drawing/2014/main" id="{452CDF5E-37A7-4551-988C-FB920228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12" y="2017449"/>
            <a:ext cx="1285884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direta</a:t>
            </a:r>
          </a:p>
        </p:txBody>
      </p:sp>
      <p:sp>
        <p:nvSpPr>
          <p:cNvPr id="68" name="CaixaDeTexto 7">
            <a:extLst>
              <a:ext uri="{FF2B5EF4-FFF2-40B4-BE49-F238E27FC236}">
                <a16:creationId xmlns:a16="http://schemas.microsoft.com/office/drawing/2014/main" id="{2E83E75E-A095-4947-BA05-9AE958A17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36" y="3988065"/>
            <a:ext cx="2857526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Custos indiretos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Fixos</a:t>
            </a:r>
          </a:p>
        </p:txBody>
      </p:sp>
      <p:sp>
        <p:nvSpPr>
          <p:cNvPr id="69" name="CaixaDeTexto 8">
            <a:extLst>
              <a:ext uri="{FF2B5EF4-FFF2-40B4-BE49-F238E27FC236}">
                <a16:creationId xmlns:a16="http://schemas.microsoft.com/office/drawing/2014/main" id="{BA195092-78A0-4D4D-A946-C873B4635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04" y="2975791"/>
            <a:ext cx="2357454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Despesas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variáveis</a:t>
            </a:r>
          </a:p>
        </p:txBody>
      </p:sp>
      <p:sp>
        <p:nvSpPr>
          <p:cNvPr id="70" name="CaixaDeTexto 9">
            <a:extLst>
              <a:ext uri="{FF2B5EF4-FFF2-40B4-BE49-F238E27FC236}">
                <a16:creationId xmlns:a16="http://schemas.microsoft.com/office/drawing/2014/main" id="{7A9ED10A-8F30-49CE-A3FE-FE662F2D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12" y="2487867"/>
            <a:ext cx="2928950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Custos indiretos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variáveis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06212E49-8186-43EC-9E05-8E14805E13D2}"/>
              </a:ext>
            </a:extLst>
          </p:cNvPr>
          <p:cNvSpPr txBox="1"/>
          <p:nvPr/>
        </p:nvSpPr>
        <p:spPr>
          <a:xfrm>
            <a:off x="5143496" y="2130677"/>
            <a:ext cx="1785958" cy="646331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 do produto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4A75A876-2CE7-446F-BEEC-CD85CE6B0574}"/>
              </a:ext>
            </a:extLst>
          </p:cNvPr>
          <p:cNvCxnSpPr/>
          <p:nvPr/>
        </p:nvCxnSpPr>
        <p:spPr bwMode="auto">
          <a:xfrm>
            <a:off x="642910" y="1273421"/>
            <a:ext cx="7572428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559A8396-7E2F-44F0-A02D-1D29DF565FED}"/>
              </a:ext>
            </a:extLst>
          </p:cNvPr>
          <p:cNvCxnSpPr/>
          <p:nvPr/>
        </p:nvCxnSpPr>
        <p:spPr bwMode="auto">
          <a:xfrm>
            <a:off x="571472" y="6274081"/>
            <a:ext cx="7286676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BA193587-6D9C-4563-96D4-0A978D95DDAE}"/>
              </a:ext>
            </a:extLst>
          </p:cNvPr>
          <p:cNvCxnSpPr/>
          <p:nvPr/>
        </p:nvCxnSpPr>
        <p:spPr bwMode="auto">
          <a:xfrm>
            <a:off x="1357290" y="3773751"/>
            <a:ext cx="4929222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5" name="Seta para cima e para baixo 15">
            <a:extLst>
              <a:ext uri="{FF2B5EF4-FFF2-40B4-BE49-F238E27FC236}">
                <a16:creationId xmlns:a16="http://schemas.microsoft.com/office/drawing/2014/main" id="{8A87DCF5-5C21-4ED3-8C74-BE9D1E6074A2}"/>
              </a:ext>
            </a:extLst>
          </p:cNvPr>
          <p:cNvSpPr/>
          <p:nvPr/>
        </p:nvSpPr>
        <p:spPr bwMode="auto">
          <a:xfrm>
            <a:off x="5857884" y="3845189"/>
            <a:ext cx="285752" cy="2357454"/>
          </a:xfrm>
          <a:prstGeom prst="upDownArrow">
            <a:avLst/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B0BF9B93-6415-490B-9F22-A2D71E04EB47}"/>
              </a:ext>
            </a:extLst>
          </p:cNvPr>
          <p:cNvCxnSpPr/>
          <p:nvPr/>
        </p:nvCxnSpPr>
        <p:spPr bwMode="auto">
          <a:xfrm>
            <a:off x="1357290" y="5059635"/>
            <a:ext cx="6500858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1B4D3E5D-0C8E-4165-A8E2-CA899AAF061C}"/>
              </a:ext>
            </a:extLst>
          </p:cNvPr>
          <p:cNvSpPr txBox="1"/>
          <p:nvPr/>
        </p:nvSpPr>
        <p:spPr>
          <a:xfrm>
            <a:off x="5143504" y="4736469"/>
            <a:ext cx="1714512" cy="646331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Margem de Contribuição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2FF3CCD6-2C3F-407B-892E-77144A8E678A}"/>
              </a:ext>
            </a:extLst>
          </p:cNvPr>
          <p:cNvSpPr txBox="1"/>
          <p:nvPr/>
        </p:nvSpPr>
        <p:spPr>
          <a:xfrm>
            <a:off x="142844" y="4059503"/>
            <a:ext cx="1214446" cy="646331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Preço de Venda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CCD3A7AA-F612-4095-94E0-D50B10992D73}"/>
              </a:ext>
            </a:extLst>
          </p:cNvPr>
          <p:cNvSpPr/>
          <p:nvPr/>
        </p:nvSpPr>
        <p:spPr bwMode="auto">
          <a:xfrm>
            <a:off x="5000628" y="3702313"/>
            <a:ext cx="2000264" cy="266486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>
              <a:solidFill>
                <a:srgbClr val="000000"/>
              </a:solidFill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  <p:grpSp>
        <p:nvGrpSpPr>
          <p:cNvPr id="80" name="Grupo 19">
            <a:extLst>
              <a:ext uri="{FF2B5EF4-FFF2-40B4-BE49-F238E27FC236}">
                <a16:creationId xmlns:a16="http://schemas.microsoft.com/office/drawing/2014/main" id="{79090D35-E797-42E8-94C7-B888120488DF}"/>
              </a:ext>
            </a:extLst>
          </p:cNvPr>
          <p:cNvGrpSpPr/>
          <p:nvPr/>
        </p:nvGrpSpPr>
        <p:grpSpPr>
          <a:xfrm>
            <a:off x="7081408" y="1975195"/>
            <a:ext cx="1873354" cy="970484"/>
            <a:chOff x="7135785" y="1943627"/>
            <a:chExt cx="1873354" cy="970484"/>
          </a:xfrm>
        </p:grpSpPr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C55E2D14-37F9-4B6E-8E34-9DD3112A7C79}"/>
                </a:ext>
              </a:extLst>
            </p:cNvPr>
            <p:cNvSpPr/>
            <p:nvPr/>
          </p:nvSpPr>
          <p:spPr>
            <a:xfrm>
              <a:off x="7135785" y="1943627"/>
              <a:ext cx="1873354" cy="970484"/>
            </a:xfrm>
            <a:prstGeom prst="ellipse">
              <a:avLst/>
            </a:prstGeom>
            <a:solidFill>
              <a:srgbClr val="9BBB59">
                <a:lumMod val="75000"/>
              </a:srgbClr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6DE19D08-7951-4CDD-8AAF-D6B0F97178BC}"/>
                </a:ext>
              </a:extLst>
            </p:cNvPr>
            <p:cNvSpPr/>
            <p:nvPr/>
          </p:nvSpPr>
          <p:spPr>
            <a:xfrm>
              <a:off x="7212130" y="2167259"/>
              <a:ext cx="172066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CUSTOS DIRETOS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+ CUSTOS VARIÁVEIS</a:t>
              </a:r>
            </a:p>
          </p:txBody>
        </p:sp>
      </p:grpSp>
      <p:grpSp>
        <p:nvGrpSpPr>
          <p:cNvPr id="83" name="Grupo 28">
            <a:extLst>
              <a:ext uri="{FF2B5EF4-FFF2-40B4-BE49-F238E27FC236}">
                <a16:creationId xmlns:a16="http://schemas.microsoft.com/office/drawing/2014/main" id="{FB5320F3-13E3-4CF1-BE2A-6124A8D79699}"/>
              </a:ext>
            </a:extLst>
          </p:cNvPr>
          <p:cNvGrpSpPr/>
          <p:nvPr/>
        </p:nvGrpSpPr>
        <p:grpSpPr>
          <a:xfrm>
            <a:off x="7081408" y="5168065"/>
            <a:ext cx="1873354" cy="970484"/>
            <a:chOff x="7072330" y="4982871"/>
            <a:chExt cx="1873354" cy="970484"/>
          </a:xfrm>
        </p:grpSpPr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71D20E6A-7EEC-47D3-B4B7-D5D5038F0465}"/>
                </a:ext>
              </a:extLst>
            </p:cNvPr>
            <p:cNvSpPr/>
            <p:nvPr/>
          </p:nvSpPr>
          <p:spPr>
            <a:xfrm>
              <a:off x="7072330" y="4982871"/>
              <a:ext cx="1873354" cy="970484"/>
            </a:xfrm>
            <a:prstGeom prst="ellipse">
              <a:avLst/>
            </a:prstGeom>
            <a:solidFill>
              <a:srgbClr val="9BBB59">
                <a:lumMod val="75000"/>
              </a:srgbClr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8604782A-0D1D-4284-A5C3-140DAF67936B}"/>
                </a:ext>
              </a:extLst>
            </p:cNvPr>
            <p:cNvSpPr/>
            <p:nvPr/>
          </p:nvSpPr>
          <p:spPr>
            <a:xfrm>
              <a:off x="7445665" y="5294615"/>
              <a:ext cx="118064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RESULTADO</a:t>
              </a:r>
            </a:p>
          </p:txBody>
        </p:sp>
      </p:grpSp>
      <p:grpSp>
        <p:nvGrpSpPr>
          <p:cNvPr id="87" name="Grupo 31">
            <a:extLst>
              <a:ext uri="{FF2B5EF4-FFF2-40B4-BE49-F238E27FC236}">
                <a16:creationId xmlns:a16="http://schemas.microsoft.com/office/drawing/2014/main" id="{32A21680-650B-45D4-86F9-842680219D7E}"/>
              </a:ext>
            </a:extLst>
          </p:cNvPr>
          <p:cNvGrpSpPr/>
          <p:nvPr/>
        </p:nvGrpSpPr>
        <p:grpSpPr>
          <a:xfrm>
            <a:off x="7081408" y="3943929"/>
            <a:ext cx="1873354" cy="970484"/>
            <a:chOff x="7081408" y="3742054"/>
            <a:chExt cx="1873354" cy="970484"/>
          </a:xfrm>
        </p:grpSpPr>
        <p:grpSp>
          <p:nvGrpSpPr>
            <p:cNvPr id="88" name="Grupo 27">
              <a:extLst>
                <a:ext uri="{FF2B5EF4-FFF2-40B4-BE49-F238E27FC236}">
                  <a16:creationId xmlns:a16="http://schemas.microsoft.com/office/drawing/2014/main" id="{D97B73EB-F79C-4B2E-8535-5799DDDF9D0F}"/>
                </a:ext>
              </a:extLst>
            </p:cNvPr>
            <p:cNvGrpSpPr/>
            <p:nvPr/>
          </p:nvGrpSpPr>
          <p:grpSpPr>
            <a:xfrm>
              <a:off x="7081408" y="3742054"/>
              <a:ext cx="1873354" cy="970484"/>
              <a:chOff x="7072330" y="3710376"/>
              <a:chExt cx="1873354" cy="970484"/>
            </a:xfrm>
          </p:grpSpPr>
          <p:sp>
            <p:nvSpPr>
              <p:cNvPr id="90" name="Elipse 89">
                <a:extLst>
                  <a:ext uri="{FF2B5EF4-FFF2-40B4-BE49-F238E27FC236}">
                    <a16:creationId xmlns:a16="http://schemas.microsoft.com/office/drawing/2014/main" id="{AD38309C-CA8E-4F33-8E76-D83595252ED1}"/>
                  </a:ext>
                </a:extLst>
              </p:cNvPr>
              <p:cNvSpPr/>
              <p:nvPr/>
            </p:nvSpPr>
            <p:spPr>
              <a:xfrm>
                <a:off x="7072330" y="3710376"/>
                <a:ext cx="1873354" cy="970484"/>
              </a:xfrm>
              <a:prstGeom prst="ellipse">
                <a:avLst/>
              </a:prstGeom>
              <a:solidFill>
                <a:srgbClr val="9BBB59">
                  <a:lumMod val="75000"/>
                </a:srgbClr>
              </a:solidFill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0BE9DEB7-E098-4984-954F-607A8648C54B}"/>
                  </a:ext>
                </a:extLst>
              </p:cNvPr>
              <p:cNvSpPr/>
              <p:nvPr/>
            </p:nvSpPr>
            <p:spPr>
              <a:xfrm>
                <a:off x="7310771" y="3878980"/>
                <a:ext cx="139647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CUSTOS FIXOS</a:t>
                </a:r>
              </a:p>
            </p:txBody>
          </p:sp>
        </p:grpSp>
        <p:sp>
          <p:nvSpPr>
            <p:cNvPr id="89" name="Retângulo 88">
              <a:extLst>
                <a:ext uri="{FF2B5EF4-FFF2-40B4-BE49-F238E27FC236}">
                  <a16:creationId xmlns:a16="http://schemas.microsoft.com/office/drawing/2014/main" id="{1D522CF6-EA8D-4D80-A4C0-91632B771F5E}"/>
                </a:ext>
              </a:extLst>
            </p:cNvPr>
            <p:cNvSpPr/>
            <p:nvPr/>
          </p:nvSpPr>
          <p:spPr>
            <a:xfrm>
              <a:off x="7391417" y="4180793"/>
              <a:ext cx="125333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CONSIDERADOS COMO DESPESAS</a:t>
              </a:r>
            </a:p>
          </p:txBody>
        </p:sp>
      </p:grpSp>
      <p:sp>
        <p:nvSpPr>
          <p:cNvPr id="2" name="CaixaDeTexto 4">
            <a:extLst>
              <a:ext uri="{FF2B5EF4-FFF2-40B4-BE49-F238E27FC236}">
                <a16:creationId xmlns:a16="http://schemas.microsoft.com/office/drawing/2014/main" id="{CEBAB73C-5087-B000-70E9-EBB97DD1E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36" y="5468641"/>
            <a:ext cx="779152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kern="0" dirty="0">
                <a:solidFill>
                  <a:prstClr val="black"/>
                </a:solidFill>
                <a:latin typeface="Calibri"/>
              </a:rPr>
              <a:t>Lucro 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etângulo de cantos arredondados 29">
            <a:extLst>
              <a:ext uri="{FF2B5EF4-FFF2-40B4-BE49-F238E27FC236}">
                <a16:creationId xmlns:a16="http://schemas.microsoft.com/office/drawing/2014/main" id="{B5842CF8-D353-47CA-88C4-9EF6F2FBDAA9}"/>
              </a:ext>
            </a:extLst>
          </p:cNvPr>
          <p:cNvSpPr/>
          <p:nvPr/>
        </p:nvSpPr>
        <p:spPr>
          <a:xfrm>
            <a:off x="156618" y="5559477"/>
            <a:ext cx="5544616" cy="950577"/>
          </a:xfrm>
          <a:prstGeom prst="roundRect">
            <a:avLst>
              <a:gd name="adj" fmla="val 9777"/>
            </a:avLst>
          </a:prstGeom>
          <a:solidFill>
            <a:sysClr val="window" lastClr="FFFFFF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all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MARGEM DE CONTRIBUIÇÃO = RECEITAS – CUSTOS VARIÁVEIS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margem dos produtos vendidos que contribuirá para a empresa cobrir todos os seus custos e despesas fixas e para gerar resultado (lucro)</a:t>
            </a:r>
          </a:p>
        </p:txBody>
      </p:sp>
    </p:spTree>
    <p:extLst>
      <p:ext uri="{BB962C8B-B14F-4D97-AF65-F5344CB8AC3E}">
        <p14:creationId xmlns:p14="http://schemas.microsoft.com/office/powerpoint/2010/main" val="411508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71" grpId="0" animBg="1"/>
      <p:bldP spid="75" grpId="0" animBg="1"/>
      <p:bldP spid="77" grpId="0" animBg="1"/>
      <p:bldP spid="79" grpId="0" animBg="1"/>
      <p:bldP spid="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o 61"/>
          <p:cNvGrpSpPr/>
          <p:nvPr/>
        </p:nvGrpSpPr>
        <p:grpSpPr>
          <a:xfrm>
            <a:off x="2114550" y="4267200"/>
            <a:ext cx="2190750" cy="1695450"/>
            <a:chOff x="2114550" y="4267200"/>
            <a:chExt cx="2190750" cy="1695450"/>
          </a:xfrm>
        </p:grpSpPr>
        <p:sp>
          <p:nvSpPr>
            <p:cNvPr id="55" name="Forma livre 54"/>
            <p:cNvSpPr/>
            <p:nvPr/>
          </p:nvSpPr>
          <p:spPr>
            <a:xfrm flipH="1" flipV="1">
              <a:off x="2114550" y="4267200"/>
              <a:ext cx="2190750" cy="1695450"/>
            </a:xfrm>
            <a:custGeom>
              <a:avLst/>
              <a:gdLst>
                <a:gd name="connsiteX0" fmla="*/ 0 w 2324100"/>
                <a:gd name="connsiteY0" fmla="*/ 1771650 h 1771650"/>
                <a:gd name="connsiteX1" fmla="*/ 2324100 w 2324100"/>
                <a:gd name="connsiteY1" fmla="*/ 0 h 1771650"/>
                <a:gd name="connsiteX2" fmla="*/ 2324100 w 2324100"/>
                <a:gd name="connsiteY2" fmla="*/ 1066800 h 1771650"/>
                <a:gd name="connsiteX3" fmla="*/ 0 w 2324100"/>
                <a:gd name="connsiteY3" fmla="*/ 1771650 h 17716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106680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99060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52650 w 2190750"/>
                <a:gd name="connsiteY2" fmla="*/ 104775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1047750 h 1695450"/>
                <a:gd name="connsiteX3" fmla="*/ 0 w 2190750"/>
                <a:gd name="connsiteY3" fmla="*/ 169545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0" h="1695450">
                  <a:moveTo>
                    <a:pt x="0" y="1695450"/>
                  </a:moveTo>
                  <a:lnTo>
                    <a:pt x="2190750" y="0"/>
                  </a:lnTo>
                  <a:lnTo>
                    <a:pt x="2190750" y="1047750"/>
                  </a:lnTo>
                  <a:lnTo>
                    <a:pt x="0" y="16954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CaixaDeTexto 55"/>
            <p:cNvSpPr txBox="1"/>
            <p:nvPr/>
          </p:nvSpPr>
          <p:spPr>
            <a:xfrm>
              <a:off x="2343682" y="4873139"/>
              <a:ext cx="9001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/>
                <a:t>PREJUÍZO</a:t>
              </a:r>
            </a:p>
          </p:txBody>
        </p:sp>
      </p:grpSp>
      <p:grpSp>
        <p:nvGrpSpPr>
          <p:cNvPr id="63" name="Grupo 62"/>
          <p:cNvGrpSpPr/>
          <p:nvPr/>
        </p:nvGrpSpPr>
        <p:grpSpPr>
          <a:xfrm>
            <a:off x="4324350" y="2476500"/>
            <a:ext cx="2324100" cy="1771650"/>
            <a:chOff x="4324350" y="2476500"/>
            <a:chExt cx="2324100" cy="1771650"/>
          </a:xfrm>
        </p:grpSpPr>
        <p:sp>
          <p:nvSpPr>
            <p:cNvPr id="53" name="Forma livre 52"/>
            <p:cNvSpPr/>
            <p:nvPr/>
          </p:nvSpPr>
          <p:spPr>
            <a:xfrm>
              <a:off x="4324350" y="2476500"/>
              <a:ext cx="2324100" cy="1771650"/>
            </a:xfrm>
            <a:custGeom>
              <a:avLst/>
              <a:gdLst>
                <a:gd name="connsiteX0" fmla="*/ 0 w 2324100"/>
                <a:gd name="connsiteY0" fmla="*/ 1771650 h 1771650"/>
                <a:gd name="connsiteX1" fmla="*/ 2324100 w 2324100"/>
                <a:gd name="connsiteY1" fmla="*/ 0 h 1771650"/>
                <a:gd name="connsiteX2" fmla="*/ 2324100 w 2324100"/>
                <a:gd name="connsiteY2" fmla="*/ 1066800 h 1771650"/>
                <a:gd name="connsiteX3" fmla="*/ 0 w 2324100"/>
                <a:gd name="connsiteY3" fmla="*/ 177165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4100" h="1771650">
                  <a:moveTo>
                    <a:pt x="0" y="1771650"/>
                  </a:moveTo>
                  <a:lnTo>
                    <a:pt x="2324100" y="0"/>
                  </a:lnTo>
                  <a:lnTo>
                    <a:pt x="2324100" y="106680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/>
            <p:cNvSpPr txBox="1"/>
            <p:nvPr/>
          </p:nvSpPr>
          <p:spPr>
            <a:xfrm>
              <a:off x="5448832" y="3387239"/>
              <a:ext cx="6883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/>
                <a:t>LUCRO</a:t>
              </a:r>
            </a:p>
          </p:txBody>
        </p:sp>
      </p:grpSp>
      <p:sp>
        <p:nvSpPr>
          <p:cNvPr id="4" name="Retângulo 3"/>
          <p:cNvSpPr/>
          <p:nvPr/>
        </p:nvSpPr>
        <p:spPr>
          <a:xfrm>
            <a:off x="832757" y="239244"/>
            <a:ext cx="732608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  <a:p>
            <a:pPr algn="ctr"/>
            <a:r>
              <a:rPr lang="pt-BR" dirty="0"/>
              <a:t>(TAMBÉM CONHECIDO COMO PONTO DE RUPTURA OU </a:t>
            </a:r>
            <a:r>
              <a:rPr lang="pt-BR" i="1" dirty="0"/>
              <a:t>BREAK-EVEN POINT)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96162" y="1929535"/>
            <a:ext cx="739252" cy="692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R$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701065" y="6052548"/>
            <a:ext cx="109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QUANTIDADE</a:t>
            </a:r>
          </a:p>
        </p:txBody>
      </p:sp>
      <p:cxnSp>
        <p:nvCxnSpPr>
          <p:cNvPr id="23" name="Conector reto 22"/>
          <p:cNvCxnSpPr/>
          <p:nvPr/>
        </p:nvCxnSpPr>
        <p:spPr>
          <a:xfrm flipV="1">
            <a:off x="2111829" y="3532414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V="1">
            <a:off x="2133600" y="2457450"/>
            <a:ext cx="4514850" cy="34861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4266089" y="4222559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/>
          <p:cNvSpPr txBox="1"/>
          <p:nvPr/>
        </p:nvSpPr>
        <p:spPr>
          <a:xfrm>
            <a:off x="6654254" y="3355524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 TOTAL</a:t>
            </a:r>
          </a:p>
          <a:p>
            <a:pPr algn="ctr"/>
            <a:r>
              <a:rPr lang="pt-BR" sz="1200" dirty="0"/>
              <a:t>(FIXO + VARIÁVEL)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1409100" y="4683577"/>
            <a:ext cx="75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</a:t>
            </a:r>
          </a:p>
          <a:p>
            <a:pPr algn="ctr"/>
            <a:r>
              <a:rPr lang="pt-BR" sz="1600" b="1" dirty="0"/>
              <a:t>FIXO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4310742" y="4278090"/>
            <a:ext cx="0" cy="168728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>
            <a:off x="2133600" y="4272646"/>
            <a:ext cx="2193469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6600094" y="2266948"/>
            <a:ext cx="869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1170198" y="4016829"/>
            <a:ext cx="10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RECEITA DE EQUILIBRIO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726164" y="5998029"/>
            <a:ext cx="115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QUANTIDADE DE EQUILIBRIO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123735" y="2288907"/>
            <a:ext cx="0" cy="36966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123735" y="5965161"/>
            <a:ext cx="464343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1290396" y="5946321"/>
            <a:ext cx="1168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 = 0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429993" y="1230085"/>
            <a:ext cx="8354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PARTIR DE QUE VOLUME DE VENDAS/PRODUÇÃO COMEÇAMOS A GERAR LUCRO ?</a:t>
            </a:r>
          </a:p>
          <a:p>
            <a:pPr algn="ctr"/>
            <a:r>
              <a:rPr lang="pt-BR" sz="1400" dirty="0"/>
              <a:t>QUAL O VOLUME DE VENDAS/PRODUÇÃO MÍNIMO NECESSÁRIO PARA COBRIR NOSSOS CUSTOS ?</a:t>
            </a:r>
          </a:p>
        </p:txBody>
      </p:sp>
    </p:spTree>
    <p:extLst>
      <p:ext uri="{BB962C8B-B14F-4D97-AF65-F5344CB8AC3E}">
        <p14:creationId xmlns:p14="http://schemas.microsoft.com/office/powerpoint/2010/main" val="167412919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/>
      <p:bldP spid="39" grpId="0"/>
      <p:bldP spid="54" grpId="0"/>
      <p:bldP spid="58" grpId="0"/>
      <p:bldP spid="59" grpId="0"/>
      <p:bldP spid="61" grpId="0"/>
      <p:bldP spid="6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o 61"/>
          <p:cNvGrpSpPr/>
          <p:nvPr/>
        </p:nvGrpSpPr>
        <p:grpSpPr>
          <a:xfrm>
            <a:off x="2114550" y="4267200"/>
            <a:ext cx="2190750" cy="1695450"/>
            <a:chOff x="2114550" y="4267200"/>
            <a:chExt cx="2190750" cy="1695450"/>
          </a:xfrm>
        </p:grpSpPr>
        <p:sp>
          <p:nvSpPr>
            <p:cNvPr id="55" name="Forma livre 54"/>
            <p:cNvSpPr/>
            <p:nvPr/>
          </p:nvSpPr>
          <p:spPr>
            <a:xfrm flipH="1" flipV="1">
              <a:off x="2114550" y="4267200"/>
              <a:ext cx="2190750" cy="1695450"/>
            </a:xfrm>
            <a:custGeom>
              <a:avLst/>
              <a:gdLst>
                <a:gd name="connsiteX0" fmla="*/ 0 w 2324100"/>
                <a:gd name="connsiteY0" fmla="*/ 1771650 h 1771650"/>
                <a:gd name="connsiteX1" fmla="*/ 2324100 w 2324100"/>
                <a:gd name="connsiteY1" fmla="*/ 0 h 1771650"/>
                <a:gd name="connsiteX2" fmla="*/ 2324100 w 2324100"/>
                <a:gd name="connsiteY2" fmla="*/ 1066800 h 1771650"/>
                <a:gd name="connsiteX3" fmla="*/ 0 w 2324100"/>
                <a:gd name="connsiteY3" fmla="*/ 1771650 h 17716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106680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99060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52650 w 2190750"/>
                <a:gd name="connsiteY2" fmla="*/ 1047750 h 1695450"/>
                <a:gd name="connsiteX3" fmla="*/ 0 w 2190750"/>
                <a:gd name="connsiteY3" fmla="*/ 1695450 h 1695450"/>
                <a:gd name="connsiteX0" fmla="*/ 0 w 2190750"/>
                <a:gd name="connsiteY0" fmla="*/ 1695450 h 1695450"/>
                <a:gd name="connsiteX1" fmla="*/ 2190750 w 2190750"/>
                <a:gd name="connsiteY1" fmla="*/ 0 h 1695450"/>
                <a:gd name="connsiteX2" fmla="*/ 2190750 w 2190750"/>
                <a:gd name="connsiteY2" fmla="*/ 1047750 h 1695450"/>
                <a:gd name="connsiteX3" fmla="*/ 0 w 2190750"/>
                <a:gd name="connsiteY3" fmla="*/ 169545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0" h="1695450">
                  <a:moveTo>
                    <a:pt x="0" y="1695450"/>
                  </a:moveTo>
                  <a:lnTo>
                    <a:pt x="2190750" y="0"/>
                  </a:lnTo>
                  <a:lnTo>
                    <a:pt x="2190750" y="1047750"/>
                  </a:lnTo>
                  <a:lnTo>
                    <a:pt x="0" y="16954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CaixaDeTexto 55"/>
            <p:cNvSpPr txBox="1"/>
            <p:nvPr/>
          </p:nvSpPr>
          <p:spPr>
            <a:xfrm>
              <a:off x="2343682" y="4873139"/>
              <a:ext cx="9001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/>
                <a:t>PREJUÍZO</a:t>
              </a:r>
            </a:p>
          </p:txBody>
        </p:sp>
      </p:grpSp>
      <p:grpSp>
        <p:nvGrpSpPr>
          <p:cNvPr id="63" name="Grupo 62"/>
          <p:cNvGrpSpPr/>
          <p:nvPr/>
        </p:nvGrpSpPr>
        <p:grpSpPr>
          <a:xfrm>
            <a:off x="4324350" y="2476500"/>
            <a:ext cx="2324100" cy="1771650"/>
            <a:chOff x="4324350" y="2476500"/>
            <a:chExt cx="2324100" cy="1771650"/>
          </a:xfrm>
        </p:grpSpPr>
        <p:sp>
          <p:nvSpPr>
            <p:cNvPr id="53" name="Forma livre 52"/>
            <p:cNvSpPr/>
            <p:nvPr/>
          </p:nvSpPr>
          <p:spPr>
            <a:xfrm>
              <a:off x="4324350" y="2476500"/>
              <a:ext cx="2324100" cy="1771650"/>
            </a:xfrm>
            <a:custGeom>
              <a:avLst/>
              <a:gdLst>
                <a:gd name="connsiteX0" fmla="*/ 0 w 2324100"/>
                <a:gd name="connsiteY0" fmla="*/ 1771650 h 1771650"/>
                <a:gd name="connsiteX1" fmla="*/ 2324100 w 2324100"/>
                <a:gd name="connsiteY1" fmla="*/ 0 h 1771650"/>
                <a:gd name="connsiteX2" fmla="*/ 2324100 w 2324100"/>
                <a:gd name="connsiteY2" fmla="*/ 1066800 h 1771650"/>
                <a:gd name="connsiteX3" fmla="*/ 0 w 2324100"/>
                <a:gd name="connsiteY3" fmla="*/ 177165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4100" h="1771650">
                  <a:moveTo>
                    <a:pt x="0" y="1771650"/>
                  </a:moveTo>
                  <a:lnTo>
                    <a:pt x="2324100" y="0"/>
                  </a:lnTo>
                  <a:lnTo>
                    <a:pt x="2324100" y="106680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/>
            <p:cNvSpPr txBox="1"/>
            <p:nvPr/>
          </p:nvSpPr>
          <p:spPr>
            <a:xfrm>
              <a:off x="5448832" y="3387239"/>
              <a:ext cx="6883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/>
                <a:t>LUCRO</a:t>
              </a:r>
            </a:p>
          </p:txBody>
        </p:sp>
      </p:grpSp>
      <p:sp>
        <p:nvSpPr>
          <p:cNvPr id="4" name="Retângulo 3"/>
          <p:cNvSpPr/>
          <p:nvPr/>
        </p:nvSpPr>
        <p:spPr>
          <a:xfrm>
            <a:off x="832757" y="239244"/>
            <a:ext cx="732608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  <a:p>
            <a:pPr algn="ctr"/>
            <a:r>
              <a:rPr lang="pt-BR" dirty="0"/>
              <a:t>(TAMBÉM CONHECIDO COMO PONTO DE RUPTURA OU </a:t>
            </a:r>
            <a:r>
              <a:rPr lang="pt-BR" i="1" dirty="0"/>
              <a:t>BREAK-EVEN POINT)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96162" y="1929535"/>
            <a:ext cx="739252" cy="692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R$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701065" y="6052548"/>
            <a:ext cx="109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QUANTIDADE</a:t>
            </a:r>
          </a:p>
        </p:txBody>
      </p:sp>
      <p:cxnSp>
        <p:nvCxnSpPr>
          <p:cNvPr id="23" name="Conector reto 22"/>
          <p:cNvCxnSpPr/>
          <p:nvPr/>
        </p:nvCxnSpPr>
        <p:spPr>
          <a:xfrm flipV="1">
            <a:off x="2111829" y="3532414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V="1">
            <a:off x="2133600" y="2457450"/>
            <a:ext cx="4514850" cy="34861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4266089" y="4222559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/>
          <p:cNvSpPr txBox="1"/>
          <p:nvPr/>
        </p:nvSpPr>
        <p:spPr>
          <a:xfrm>
            <a:off x="6654254" y="3355524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 TOTAL</a:t>
            </a:r>
          </a:p>
          <a:p>
            <a:pPr algn="ctr"/>
            <a:r>
              <a:rPr lang="pt-BR" sz="1200" dirty="0"/>
              <a:t>(FIXO + VARIÁVEL)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1409100" y="4683577"/>
            <a:ext cx="75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</a:t>
            </a:r>
          </a:p>
          <a:p>
            <a:pPr algn="ctr"/>
            <a:r>
              <a:rPr lang="pt-BR" sz="1600" b="1" dirty="0"/>
              <a:t>FIXO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4310742" y="4278090"/>
            <a:ext cx="0" cy="168728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>
            <a:off x="2133600" y="4272646"/>
            <a:ext cx="2193469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6600094" y="2266948"/>
            <a:ext cx="869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1170198" y="4016829"/>
            <a:ext cx="10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RECEITA DE EQUILIBRIO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726164" y="5998029"/>
            <a:ext cx="115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QUANTIDADE DE EQUILIBRIO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123735" y="2288907"/>
            <a:ext cx="0" cy="36966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123735" y="5965161"/>
            <a:ext cx="464343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1290396" y="5946321"/>
            <a:ext cx="1168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 = 0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429993" y="1230085"/>
            <a:ext cx="8354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PARTIR DE QUE VOLUME DE VENDAS/PRODUÇÃO COMEÇAMOS A GERAR LUCRO ?</a:t>
            </a:r>
          </a:p>
          <a:p>
            <a:pPr algn="ctr"/>
            <a:r>
              <a:rPr lang="pt-BR" sz="1400" dirty="0"/>
              <a:t>QUAL O VOLUME DE VENDAS/PRODUÇÃO MÍNIMO NECESSÁRIO PARA COBRIR NOSSOS CUSTOS ?</a:t>
            </a:r>
          </a:p>
        </p:txBody>
      </p:sp>
      <p:sp>
        <p:nvSpPr>
          <p:cNvPr id="2" name="Retângulo de cantos arredondados 1"/>
          <p:cNvSpPr/>
          <p:nvPr/>
        </p:nvSpPr>
        <p:spPr>
          <a:xfrm>
            <a:off x="523399" y="2971800"/>
            <a:ext cx="7844110" cy="2149929"/>
          </a:xfrm>
          <a:prstGeom prst="roundRect">
            <a:avLst>
              <a:gd name="adj" fmla="val 9516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RECEITA TOTAL </a:t>
            </a:r>
            <a:r>
              <a:rPr lang="pt-BR" sz="2400" b="1" dirty="0">
                <a:solidFill>
                  <a:schemeClr val="tx1"/>
                </a:solidFill>
              </a:rPr>
              <a:t>= </a:t>
            </a:r>
            <a:r>
              <a:rPr lang="pt-BR" sz="2400" b="1" dirty="0">
                <a:solidFill>
                  <a:schemeClr val="tx2"/>
                </a:solidFill>
              </a:rPr>
              <a:t>CUSTO TOTAL</a:t>
            </a:r>
          </a:p>
          <a:p>
            <a:pPr algn="ctr"/>
            <a:endParaRPr lang="pt-BR" sz="900" dirty="0">
              <a:solidFill>
                <a:schemeClr val="tx1"/>
              </a:solidFill>
            </a:endParaRPr>
          </a:p>
          <a:p>
            <a:pPr algn="ctr">
              <a:tabLst>
                <a:tab pos="361950" algn="l"/>
              </a:tabLst>
            </a:pPr>
            <a:r>
              <a:rPr lang="pt-BR" sz="1600" b="1" dirty="0">
                <a:solidFill>
                  <a:srgbClr val="C00000"/>
                </a:solidFill>
              </a:rPr>
              <a:t>PREÇO DE VENDA X QUANTIDADE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2000" b="1" dirty="0">
                <a:solidFill>
                  <a:schemeClr val="tx1"/>
                </a:solidFill>
              </a:rPr>
              <a:t>=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1600" b="1" dirty="0">
                <a:solidFill>
                  <a:schemeClr val="tx2"/>
                </a:solidFill>
              </a:rPr>
              <a:t>CUSTO FIXO + (CUSTO VARIÁVEL X QUANTIDADE)</a:t>
            </a:r>
          </a:p>
          <a:p>
            <a:pPr algn="ctr">
              <a:tabLst>
                <a:tab pos="361950" algn="l"/>
              </a:tabLst>
            </a:pPr>
            <a:endParaRPr lang="pt-BR" sz="1600" dirty="0">
              <a:solidFill>
                <a:schemeClr val="tx1"/>
              </a:solidFill>
            </a:endParaRPr>
          </a:p>
          <a:p>
            <a:pPr algn="ctr">
              <a:tabLst>
                <a:tab pos="361950" algn="l"/>
              </a:tabLst>
            </a:pPr>
            <a:endParaRPr lang="pt-BR" sz="1600" dirty="0">
              <a:solidFill>
                <a:schemeClr val="tx1"/>
              </a:solidFill>
            </a:endParaRPr>
          </a:p>
          <a:p>
            <a:pPr algn="ctr">
              <a:tabLst>
                <a:tab pos="361950" algn="l"/>
              </a:tabLst>
            </a:pPr>
            <a:r>
              <a:rPr lang="pt-BR" sz="1600" b="1" dirty="0">
                <a:solidFill>
                  <a:schemeClr val="tx1"/>
                </a:solidFill>
              </a:rPr>
              <a:t>QUANTIDADE</a:t>
            </a:r>
            <a:r>
              <a:rPr lang="pt-BR" sz="1600" b="1" dirty="0">
                <a:solidFill>
                  <a:srgbClr val="C00000"/>
                </a:solidFill>
              </a:rPr>
              <a:t> </a:t>
            </a:r>
            <a:r>
              <a:rPr lang="pt-BR" sz="1600" b="1" dirty="0">
                <a:solidFill>
                  <a:schemeClr val="tx1"/>
                </a:solidFill>
              </a:rPr>
              <a:t>=     </a:t>
            </a:r>
            <a:r>
              <a:rPr lang="pt-BR" sz="1600" dirty="0">
                <a:solidFill>
                  <a:schemeClr val="tx1"/>
                </a:solidFill>
              </a:rPr>
              <a:t>                              ...........................                </a:t>
            </a:r>
          </a:p>
          <a:p>
            <a:pPr algn="ctr">
              <a:tabLst>
                <a:tab pos="361950" algn="l"/>
              </a:tabLst>
            </a:pPr>
            <a:r>
              <a:rPr lang="pt-BR" sz="1600" dirty="0">
                <a:solidFill>
                  <a:schemeClr val="tx1"/>
                </a:solidFill>
              </a:rPr>
              <a:t>    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3629025" y="4256899"/>
            <a:ext cx="3285130" cy="666483"/>
            <a:chOff x="3781425" y="4094974"/>
            <a:chExt cx="3285130" cy="666483"/>
          </a:xfrm>
        </p:grpSpPr>
        <p:sp>
          <p:nvSpPr>
            <p:cNvPr id="3" name="Retângulo 2"/>
            <p:cNvSpPr/>
            <p:nvPr/>
          </p:nvSpPr>
          <p:spPr>
            <a:xfrm>
              <a:off x="4754056" y="4094974"/>
              <a:ext cx="1200906" cy="33855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pt-BR" sz="1600" b="1" dirty="0"/>
                <a:t>CUSTO FIXO</a:t>
              </a:r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3781425" y="4422903"/>
              <a:ext cx="3285130" cy="33855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pt-BR" sz="1600" b="1" dirty="0"/>
                <a:t>PREÇO DE VENDA - CUSTO VARIÁVEL</a:t>
              </a:r>
            </a:p>
          </p:txBody>
        </p:sp>
        <p:cxnSp>
          <p:nvCxnSpPr>
            <p:cNvPr id="6" name="Conector reto 5"/>
            <p:cNvCxnSpPr/>
            <p:nvPr/>
          </p:nvCxnSpPr>
          <p:spPr>
            <a:xfrm>
              <a:off x="3835854" y="4422903"/>
              <a:ext cx="302385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68969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32757" y="239244"/>
            <a:ext cx="732608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  <a:p>
            <a:pPr algn="ctr"/>
            <a:r>
              <a:rPr lang="pt-BR" dirty="0"/>
              <a:t>(TAMBÉM CONHECIDO COMO PONTO DE RUPTURA OU </a:t>
            </a:r>
            <a:r>
              <a:rPr lang="pt-BR" i="1" dirty="0"/>
              <a:t>BREAK-EVEN POINT)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429993" y="1230085"/>
            <a:ext cx="8354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PARTIR DE QUE VOLUME DE VENDAS/PRODUÇÃO COMEÇAMOS A GERAR LUCRO ?</a:t>
            </a:r>
          </a:p>
          <a:p>
            <a:pPr algn="ctr"/>
            <a:r>
              <a:rPr lang="pt-BR" sz="1400" dirty="0"/>
              <a:t>QUAL O VOLUME DE VENDAS/PRODUÇÃO MÍNIMO NECESSÁRIO PARA COBRIR NOSSOS CUSTOS ?</a:t>
            </a:r>
          </a:p>
        </p:txBody>
      </p:sp>
      <p:pic>
        <p:nvPicPr>
          <p:cNvPr id="30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3" y="2162233"/>
            <a:ext cx="3959679" cy="389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CaixaDeTexto 30"/>
          <p:cNvSpPr txBox="1"/>
          <p:nvPr/>
        </p:nvSpPr>
        <p:spPr>
          <a:xfrm>
            <a:off x="5287836" y="2968918"/>
            <a:ext cx="1537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PE = </a:t>
            </a:r>
          </a:p>
        </p:txBody>
      </p:sp>
      <p:grpSp>
        <p:nvGrpSpPr>
          <p:cNvPr id="32" name="Grupo 31"/>
          <p:cNvGrpSpPr/>
          <p:nvPr/>
        </p:nvGrpSpPr>
        <p:grpSpPr>
          <a:xfrm>
            <a:off x="6452514" y="2795978"/>
            <a:ext cx="1240917" cy="898775"/>
            <a:chOff x="4428590" y="4066398"/>
            <a:chExt cx="1240917" cy="898775"/>
          </a:xfrm>
          <a:noFill/>
        </p:grpSpPr>
        <p:sp>
          <p:nvSpPr>
            <p:cNvPr id="33" name="Retângulo 32"/>
            <p:cNvSpPr/>
            <p:nvPr/>
          </p:nvSpPr>
          <p:spPr>
            <a:xfrm>
              <a:off x="4778782" y="4066398"/>
              <a:ext cx="540533" cy="52322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pt-BR" sz="2800" dirty="0"/>
                <a:t>CF</a:t>
              </a:r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4428590" y="4441953"/>
              <a:ext cx="1240917" cy="52322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pt-BR" sz="2800" dirty="0"/>
                <a:t>PV - CV</a:t>
              </a:r>
            </a:p>
          </p:txBody>
        </p:sp>
        <p:cxnSp>
          <p:nvCxnSpPr>
            <p:cNvPr id="35" name="Conector reto 34"/>
            <p:cNvCxnSpPr/>
            <p:nvPr/>
          </p:nvCxnSpPr>
          <p:spPr>
            <a:xfrm flipV="1">
              <a:off x="4428590" y="4520548"/>
              <a:ext cx="1240917" cy="1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/>
          <p:cNvGrpSpPr/>
          <p:nvPr/>
        </p:nvGrpSpPr>
        <p:grpSpPr>
          <a:xfrm>
            <a:off x="5287836" y="3872303"/>
            <a:ext cx="2513139" cy="870200"/>
            <a:chOff x="5287836" y="3872303"/>
            <a:chExt cx="2513139" cy="870200"/>
          </a:xfrm>
        </p:grpSpPr>
        <p:grpSp>
          <p:nvGrpSpPr>
            <p:cNvPr id="42" name="Grupo 41"/>
            <p:cNvGrpSpPr/>
            <p:nvPr/>
          </p:nvGrpSpPr>
          <p:grpSpPr>
            <a:xfrm>
              <a:off x="6449019" y="3872303"/>
              <a:ext cx="1351956" cy="870200"/>
              <a:chOff x="4341679" y="4018773"/>
              <a:chExt cx="1351956" cy="870200"/>
            </a:xfrm>
            <a:noFill/>
          </p:grpSpPr>
          <p:sp>
            <p:nvSpPr>
              <p:cNvPr id="43" name="Retângulo 42"/>
              <p:cNvSpPr/>
              <p:nvPr/>
            </p:nvSpPr>
            <p:spPr>
              <a:xfrm>
                <a:off x="4422783" y="4018773"/>
                <a:ext cx="1189749" cy="52322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pt-BR" sz="2800" dirty="0"/>
                  <a:t>12.000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4514154" y="4365753"/>
                <a:ext cx="1007007" cy="52322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pt-BR" sz="2800" dirty="0"/>
                  <a:t>10 - 5</a:t>
                </a:r>
              </a:p>
            </p:txBody>
          </p:sp>
          <p:cxnSp>
            <p:nvCxnSpPr>
              <p:cNvPr id="45" name="Conector reto 44"/>
              <p:cNvCxnSpPr/>
              <p:nvPr/>
            </p:nvCxnSpPr>
            <p:spPr>
              <a:xfrm>
                <a:off x="4341679" y="4451478"/>
                <a:ext cx="1351956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CaixaDeTexto 47"/>
            <p:cNvSpPr txBox="1"/>
            <p:nvPr/>
          </p:nvSpPr>
          <p:spPr>
            <a:xfrm>
              <a:off x="5287836" y="4033873"/>
              <a:ext cx="15376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dirty="0"/>
                <a:t>PE = </a:t>
              </a:r>
            </a:p>
          </p:txBody>
        </p:sp>
      </p:grpSp>
      <p:sp>
        <p:nvSpPr>
          <p:cNvPr id="49" name="CaixaDeTexto 48"/>
          <p:cNvSpPr txBox="1"/>
          <p:nvPr/>
        </p:nvSpPr>
        <p:spPr>
          <a:xfrm>
            <a:off x="5144960" y="4939849"/>
            <a:ext cx="2832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PE =   2400 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638350" y="3134588"/>
            <a:ext cx="959407" cy="2616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de cantos arredondados 59"/>
          <p:cNvSpPr/>
          <p:nvPr/>
        </p:nvSpPr>
        <p:spPr>
          <a:xfrm>
            <a:off x="3638350" y="3872302"/>
            <a:ext cx="959407" cy="2367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tângulo de cantos arredondados 64"/>
          <p:cNvSpPr/>
          <p:nvPr/>
        </p:nvSpPr>
        <p:spPr>
          <a:xfrm>
            <a:off x="3638350" y="5055848"/>
            <a:ext cx="959407" cy="2616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3221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9" grpId="0"/>
      <p:bldP spid="18" grpId="0" animBg="1"/>
      <p:bldP spid="60" grpId="0" animBg="1"/>
      <p:bldP spid="6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32757" y="413420"/>
            <a:ext cx="732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96162" y="1929535"/>
            <a:ext cx="739252" cy="692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R$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701065" y="6052548"/>
            <a:ext cx="109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QUANTIDADE</a:t>
            </a:r>
          </a:p>
        </p:txBody>
      </p:sp>
      <p:cxnSp>
        <p:nvCxnSpPr>
          <p:cNvPr id="23" name="Conector reto 22"/>
          <p:cNvCxnSpPr/>
          <p:nvPr/>
        </p:nvCxnSpPr>
        <p:spPr>
          <a:xfrm flipV="1">
            <a:off x="2111829" y="3532414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V="1">
            <a:off x="2133600" y="2457450"/>
            <a:ext cx="4514850" cy="34861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15190" y="1031418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FLUTUAÇÕES DO PONTO DE EQUILÍBRIO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1409100" y="4683577"/>
            <a:ext cx="75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</a:t>
            </a:r>
          </a:p>
          <a:p>
            <a:pPr algn="ctr"/>
            <a:r>
              <a:rPr lang="pt-BR" sz="1600" b="1" dirty="0"/>
              <a:t>FIXO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4310742" y="4278090"/>
            <a:ext cx="0" cy="168728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>
            <a:off x="2133600" y="4272646"/>
            <a:ext cx="2193469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1170198" y="4016829"/>
            <a:ext cx="10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RECEITA DE EQUILIBRIO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726164" y="5998029"/>
            <a:ext cx="115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QUANTIDADE DE EQUILIBRIO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123735" y="2288907"/>
            <a:ext cx="0" cy="36966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123735" y="5965161"/>
            <a:ext cx="464343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1934933" y="1477732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IMPACTO DO AUMENTO DOS </a:t>
            </a:r>
            <a:r>
              <a:rPr lang="pt-BR" sz="2000" b="1" u="sng" dirty="0"/>
              <a:t>CUSTOS FIXOS </a:t>
            </a:r>
          </a:p>
        </p:txBody>
      </p:sp>
      <p:cxnSp>
        <p:nvCxnSpPr>
          <p:cNvPr id="30" name="Conector reto 29"/>
          <p:cNvCxnSpPr/>
          <p:nvPr/>
        </p:nvCxnSpPr>
        <p:spPr>
          <a:xfrm flipV="1">
            <a:off x="2111829" y="3097831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eta para a direita 32"/>
          <p:cNvSpPr/>
          <p:nvPr/>
        </p:nvSpPr>
        <p:spPr>
          <a:xfrm rot="16200000">
            <a:off x="2242457" y="4528458"/>
            <a:ext cx="348343" cy="1959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 para a direita 33"/>
          <p:cNvSpPr/>
          <p:nvPr/>
        </p:nvSpPr>
        <p:spPr>
          <a:xfrm rot="16200000">
            <a:off x="6335486" y="3254829"/>
            <a:ext cx="348343" cy="1959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5224057" y="3493197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4255199" y="4222555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/>
          <p:nvPr/>
        </p:nvCxnSpPr>
        <p:spPr>
          <a:xfrm flipH="1">
            <a:off x="2122714" y="3543304"/>
            <a:ext cx="3162299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5279572" y="3548743"/>
            <a:ext cx="0" cy="241662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orma livre 47"/>
          <p:cNvSpPr/>
          <p:nvPr/>
        </p:nvSpPr>
        <p:spPr>
          <a:xfrm>
            <a:off x="1698171" y="3559629"/>
            <a:ext cx="348343" cy="489857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Forma livre 48"/>
          <p:cNvSpPr/>
          <p:nvPr/>
        </p:nvSpPr>
        <p:spPr>
          <a:xfrm rot="16200000" flipV="1">
            <a:off x="4923066" y="5875567"/>
            <a:ext cx="212265" cy="489857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5094515" y="3374574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/>
          <p:cNvSpPr txBox="1"/>
          <p:nvPr/>
        </p:nvSpPr>
        <p:spPr>
          <a:xfrm>
            <a:off x="664029" y="6363548"/>
            <a:ext cx="779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OBVIAMENTE A REDUÇÃO DOS CUSTOS FIXOS TERÁ EFEITO OPOSTO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6654254" y="3355524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 TOTAL</a:t>
            </a:r>
          </a:p>
          <a:p>
            <a:pPr algn="ctr"/>
            <a:r>
              <a:rPr lang="pt-BR" sz="1200" dirty="0"/>
              <a:t>(FIXO + VARIÁVEL)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6600094" y="2266948"/>
            <a:ext cx="869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A99BE4F5-DC65-DA95-E222-41A0C5B97895}"/>
              </a:ext>
            </a:extLst>
          </p:cNvPr>
          <p:cNvCxnSpPr/>
          <p:nvPr/>
        </p:nvCxnSpPr>
        <p:spPr>
          <a:xfrm flipV="1">
            <a:off x="2128506" y="3949640"/>
            <a:ext cx="4547507" cy="1398818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F19A6E24-15C9-E993-B47B-F896162897C7}"/>
              </a:ext>
            </a:extLst>
          </p:cNvPr>
          <p:cNvSpPr/>
          <p:nvPr/>
        </p:nvSpPr>
        <p:spPr>
          <a:xfrm>
            <a:off x="3373532" y="4898987"/>
            <a:ext cx="99069" cy="99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0C43F96-B58F-0AA3-8C27-962A2C1C6A59}"/>
              </a:ext>
            </a:extLst>
          </p:cNvPr>
          <p:cNvSpPr/>
          <p:nvPr/>
        </p:nvSpPr>
        <p:spPr>
          <a:xfrm>
            <a:off x="3245240" y="4762322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69547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6" grpId="0" animBg="1"/>
      <p:bldP spid="48" grpId="0" animBg="1"/>
      <p:bldP spid="49" grpId="0" animBg="1"/>
      <p:bldP spid="50" grpId="0" animBg="1"/>
      <p:bldP spid="51" grpId="0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32757" y="413420"/>
            <a:ext cx="732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96162" y="1929535"/>
            <a:ext cx="739252" cy="692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R$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701065" y="6052548"/>
            <a:ext cx="109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QUANTIDADE</a:t>
            </a:r>
          </a:p>
        </p:txBody>
      </p:sp>
      <p:cxnSp>
        <p:nvCxnSpPr>
          <p:cNvPr id="23" name="Conector reto 22"/>
          <p:cNvCxnSpPr/>
          <p:nvPr/>
        </p:nvCxnSpPr>
        <p:spPr>
          <a:xfrm flipV="1">
            <a:off x="2111829" y="3532414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V="1">
            <a:off x="2133600" y="2457450"/>
            <a:ext cx="4514850" cy="34861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15190" y="1031418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FLUTUAÇÕES DO PONTO DE EQUILÍBRIO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4310742" y="4278090"/>
            <a:ext cx="0" cy="168728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>
            <a:off x="2133600" y="4272646"/>
            <a:ext cx="2193469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1170198" y="4016829"/>
            <a:ext cx="10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RECEITA DE EQUILIBRIO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726164" y="5998029"/>
            <a:ext cx="115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QUANTIDADE DE EQUILIBRIO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123735" y="2288907"/>
            <a:ext cx="0" cy="36966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123735" y="5965161"/>
            <a:ext cx="464343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1290396" y="5946321"/>
            <a:ext cx="1168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 = 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698171" y="1477732"/>
            <a:ext cx="5731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IMPACTO DO AUMENTO DOS </a:t>
            </a:r>
            <a:r>
              <a:rPr lang="pt-BR" sz="2000" b="1" u="sng" dirty="0"/>
              <a:t>CUSTOS VARIÁVEIS</a:t>
            </a:r>
          </a:p>
        </p:txBody>
      </p:sp>
      <p:cxnSp>
        <p:nvCxnSpPr>
          <p:cNvPr id="30" name="Conector reto 29"/>
          <p:cNvCxnSpPr/>
          <p:nvPr/>
        </p:nvCxnSpPr>
        <p:spPr>
          <a:xfrm flipV="1">
            <a:off x="2133600" y="3097831"/>
            <a:ext cx="4525736" cy="181162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eta para a direita 33"/>
          <p:cNvSpPr/>
          <p:nvPr/>
        </p:nvSpPr>
        <p:spPr>
          <a:xfrm rot="15155843">
            <a:off x="6255232" y="3329592"/>
            <a:ext cx="262543" cy="16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4255199" y="4222555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2"/>
          </p:cNvCxnSpPr>
          <p:nvPr/>
        </p:nvCxnSpPr>
        <p:spPr>
          <a:xfrm flipH="1">
            <a:off x="2122715" y="3793103"/>
            <a:ext cx="2752999" cy="57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6" idx="4"/>
          </p:cNvCxnSpPr>
          <p:nvPr/>
        </p:nvCxnSpPr>
        <p:spPr>
          <a:xfrm flipH="1">
            <a:off x="4920344" y="3842637"/>
            <a:ext cx="4905" cy="212273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orma livre 47"/>
          <p:cNvSpPr/>
          <p:nvPr/>
        </p:nvSpPr>
        <p:spPr>
          <a:xfrm>
            <a:off x="1709057" y="3777343"/>
            <a:ext cx="337457" cy="272143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Forma livre 48"/>
          <p:cNvSpPr/>
          <p:nvPr/>
        </p:nvSpPr>
        <p:spPr>
          <a:xfrm rot="16200000" flipV="1">
            <a:off x="4746173" y="6052458"/>
            <a:ext cx="212266" cy="136073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/>
          <p:cNvSpPr txBox="1"/>
          <p:nvPr/>
        </p:nvSpPr>
        <p:spPr>
          <a:xfrm>
            <a:off x="1409100" y="4683577"/>
            <a:ext cx="75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</a:t>
            </a:r>
          </a:p>
          <a:p>
            <a:pPr algn="ctr"/>
            <a:r>
              <a:rPr lang="pt-BR" sz="1600" b="1" dirty="0"/>
              <a:t>FIXO</a:t>
            </a:r>
          </a:p>
        </p:txBody>
      </p:sp>
      <p:sp>
        <p:nvSpPr>
          <p:cNvPr id="36" name="Elipse 35"/>
          <p:cNvSpPr/>
          <p:nvPr/>
        </p:nvSpPr>
        <p:spPr>
          <a:xfrm>
            <a:off x="4875714" y="3743568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746172" y="3624945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/>
          <p:cNvSpPr txBox="1"/>
          <p:nvPr/>
        </p:nvSpPr>
        <p:spPr>
          <a:xfrm>
            <a:off x="664029" y="6376248"/>
            <a:ext cx="779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OBVIAMENTE A REDUÇÃO DOS CUSTOS VARIÁVEIS TERÁ EFEITO OPOSTO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6654254" y="3355524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 TOTAL</a:t>
            </a:r>
          </a:p>
          <a:p>
            <a:pPr algn="ctr"/>
            <a:r>
              <a:rPr lang="pt-BR" sz="1200" dirty="0"/>
              <a:t>(FIXO + VARIÁVEL)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6600094" y="2266948"/>
            <a:ext cx="869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A7E5A7E6-A25D-AD6D-611B-909BB2E28232}"/>
              </a:ext>
            </a:extLst>
          </p:cNvPr>
          <p:cNvCxnSpPr>
            <a:cxnSpLocks/>
          </p:cNvCxnSpPr>
          <p:nvPr/>
        </p:nvCxnSpPr>
        <p:spPr>
          <a:xfrm flipV="1">
            <a:off x="2168155" y="4222555"/>
            <a:ext cx="4486099" cy="676432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BD4BD6B6-F84C-9208-BF3D-978CB2B61B7B}"/>
              </a:ext>
            </a:extLst>
          </p:cNvPr>
          <p:cNvSpPr/>
          <p:nvPr/>
        </p:nvSpPr>
        <p:spPr>
          <a:xfrm>
            <a:off x="3723383" y="4599814"/>
            <a:ext cx="99069" cy="99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371D983-0763-5D63-DFB0-8EC85E8AC0A6}"/>
              </a:ext>
            </a:extLst>
          </p:cNvPr>
          <p:cNvSpPr/>
          <p:nvPr/>
        </p:nvSpPr>
        <p:spPr>
          <a:xfrm>
            <a:off x="3595091" y="4463149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53684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8" grpId="0" animBg="1"/>
      <p:bldP spid="49" grpId="0" animBg="1"/>
      <p:bldP spid="36" grpId="0" animBg="1"/>
      <p:bldP spid="50" grpId="0" animBg="1"/>
      <p:bldP spid="43" grpId="0"/>
      <p:bldP spid="3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32757" y="413420"/>
            <a:ext cx="732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PONTO DE EQUILÍBRIO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96162" y="1929535"/>
            <a:ext cx="739252" cy="692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R$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701065" y="6052548"/>
            <a:ext cx="109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QUANTIDADE</a:t>
            </a:r>
          </a:p>
        </p:txBody>
      </p:sp>
      <p:cxnSp>
        <p:nvCxnSpPr>
          <p:cNvPr id="23" name="Conector reto 22"/>
          <p:cNvCxnSpPr/>
          <p:nvPr/>
        </p:nvCxnSpPr>
        <p:spPr>
          <a:xfrm flipV="1">
            <a:off x="2111829" y="3532414"/>
            <a:ext cx="4547507" cy="139881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V="1">
            <a:off x="2133600" y="2457450"/>
            <a:ext cx="4514850" cy="34861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15190" y="1031418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FLUTUAÇÕES DO PONTO DE EQUILÍBRIO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1409100" y="4683577"/>
            <a:ext cx="75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</a:t>
            </a:r>
          </a:p>
          <a:p>
            <a:pPr algn="ctr"/>
            <a:r>
              <a:rPr lang="pt-BR" sz="1600" b="1" dirty="0"/>
              <a:t>FIXO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4310742" y="4278090"/>
            <a:ext cx="0" cy="168728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H="1">
            <a:off x="2133600" y="4272646"/>
            <a:ext cx="2193469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1170198" y="4016829"/>
            <a:ext cx="10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RECEITA DE EQUILIBRIO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726164" y="5998029"/>
            <a:ext cx="115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QUANTIDADE DE EQUILIBRIO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290396" y="5946321"/>
            <a:ext cx="1168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 = 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934933" y="1477732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IMPACTO DO AUMENTO DOS </a:t>
            </a:r>
            <a:r>
              <a:rPr lang="pt-BR" sz="2000" b="1" u="sng" dirty="0"/>
              <a:t>PREÇOS</a:t>
            </a:r>
            <a:r>
              <a:rPr lang="pt-BR" sz="2000" b="1" dirty="0"/>
              <a:t> </a:t>
            </a:r>
          </a:p>
        </p:txBody>
      </p:sp>
      <p:sp>
        <p:nvSpPr>
          <p:cNvPr id="34" name="Seta para a direita 33"/>
          <p:cNvSpPr/>
          <p:nvPr/>
        </p:nvSpPr>
        <p:spPr>
          <a:xfrm rot="13605969">
            <a:off x="5446560" y="2650953"/>
            <a:ext cx="509850" cy="20073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4255199" y="4222555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6"/>
          </p:cNvCxnSpPr>
          <p:nvPr/>
        </p:nvCxnSpPr>
        <p:spPr>
          <a:xfrm flipH="1">
            <a:off x="2122715" y="4489790"/>
            <a:ext cx="1491354" cy="1145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6" idx="4"/>
          </p:cNvCxnSpPr>
          <p:nvPr/>
        </p:nvCxnSpPr>
        <p:spPr>
          <a:xfrm flipH="1">
            <a:off x="3559629" y="4539324"/>
            <a:ext cx="4906" cy="142604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orma livre 47"/>
          <p:cNvSpPr/>
          <p:nvPr/>
        </p:nvSpPr>
        <p:spPr>
          <a:xfrm flipV="1">
            <a:off x="1698171" y="4397828"/>
            <a:ext cx="348343" cy="119755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Forma livre 48"/>
          <p:cNvSpPr/>
          <p:nvPr/>
        </p:nvSpPr>
        <p:spPr>
          <a:xfrm rot="5400000" flipH="1" flipV="1">
            <a:off x="3581387" y="5998014"/>
            <a:ext cx="223151" cy="255848"/>
          </a:xfrm>
          <a:custGeom>
            <a:avLst/>
            <a:gdLst>
              <a:gd name="connsiteX0" fmla="*/ 0 w 348343"/>
              <a:gd name="connsiteY0" fmla="*/ 489857 h 489857"/>
              <a:gd name="connsiteX1" fmla="*/ 0 w 348343"/>
              <a:gd name="connsiteY1" fmla="*/ 0 h 489857"/>
              <a:gd name="connsiteX2" fmla="*/ 348343 w 348343"/>
              <a:gd name="connsiteY2" fmla="*/ 0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489857">
                <a:moveTo>
                  <a:pt x="0" y="489857"/>
                </a:moveTo>
                <a:lnTo>
                  <a:pt x="0" y="0"/>
                </a:lnTo>
                <a:lnTo>
                  <a:pt x="348343" y="0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/>
          <p:cNvCxnSpPr/>
          <p:nvPr/>
        </p:nvCxnSpPr>
        <p:spPr>
          <a:xfrm flipV="1">
            <a:off x="2111829" y="2166257"/>
            <a:ext cx="3701142" cy="377734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3515000" y="4440255"/>
            <a:ext cx="99069" cy="99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3385458" y="4321632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123735" y="2288907"/>
            <a:ext cx="0" cy="36966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123735" y="5965161"/>
            <a:ext cx="464343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664029" y="6490548"/>
            <a:ext cx="779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OBVIAMENTE A REDUÇÃO DOS PREÇOS TERÁ EFEITO OPOSTO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6654254" y="3355524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CUSTO TOTAL</a:t>
            </a:r>
          </a:p>
          <a:p>
            <a:pPr algn="ctr"/>
            <a:r>
              <a:rPr lang="pt-BR" sz="1200" dirty="0"/>
              <a:t>(FIXO + VARIÁVEL)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600094" y="2266948"/>
            <a:ext cx="869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/>
              <a:t>RECEITA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BC32476-E90C-54E1-451F-49808CAED1DF}"/>
              </a:ext>
            </a:extLst>
          </p:cNvPr>
          <p:cNvCxnSpPr>
            <a:cxnSpLocks/>
          </p:cNvCxnSpPr>
          <p:nvPr/>
        </p:nvCxnSpPr>
        <p:spPr>
          <a:xfrm flipV="1">
            <a:off x="2133600" y="3200400"/>
            <a:ext cx="4633573" cy="274320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4793027F-5F47-FB0F-3CAD-F6ADB6642C5E}"/>
              </a:ext>
            </a:extLst>
          </p:cNvPr>
          <p:cNvSpPr/>
          <p:nvPr/>
        </p:nvSpPr>
        <p:spPr>
          <a:xfrm>
            <a:off x="5713902" y="3730413"/>
            <a:ext cx="99069" cy="99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1FF263D-8885-CD84-C9D4-4C3437E2FA1D}"/>
              </a:ext>
            </a:extLst>
          </p:cNvPr>
          <p:cNvSpPr/>
          <p:nvPr/>
        </p:nvSpPr>
        <p:spPr>
          <a:xfrm>
            <a:off x="5585610" y="3593748"/>
            <a:ext cx="381000" cy="348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02908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8" grpId="0" animBg="1"/>
      <p:bldP spid="49" grpId="0" animBg="1"/>
      <p:bldP spid="36" grpId="0" animBg="1"/>
      <p:bldP spid="50" grpId="0" animBg="1"/>
      <p:bldP spid="45" grpId="0"/>
      <p:bldP spid="3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/>
          <p:cNvSpPr txBox="1"/>
          <p:nvPr/>
        </p:nvSpPr>
        <p:spPr>
          <a:xfrm>
            <a:off x="605269" y="721672"/>
            <a:ext cx="7933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ANÁLISE DA VIABILIDADE ECONÔMICA DO</a:t>
            </a:r>
          </a:p>
          <a:p>
            <a:pPr algn="ctr"/>
            <a:r>
              <a:rPr lang="pt-BR" sz="2400" b="1" dirty="0"/>
              <a:t>PROJETO STARTUP ONE</a:t>
            </a:r>
            <a:endParaRPr lang="pt-BR" sz="2400" b="1" u="sng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E6879C4-B250-4983-ACBE-8FE6D0FAABAB}"/>
              </a:ext>
            </a:extLst>
          </p:cNvPr>
          <p:cNvSpPr txBox="1"/>
          <p:nvPr/>
        </p:nvSpPr>
        <p:spPr>
          <a:xfrm>
            <a:off x="1264623" y="4188496"/>
            <a:ext cx="6860202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1400" dirty="0"/>
              <a:t>ANALISAR A </a:t>
            </a:r>
            <a:r>
              <a:rPr lang="pt-BR" sz="1400" u="sng" dirty="0"/>
              <a:t>ESTRUTURA DE CUSTOS</a:t>
            </a:r>
            <a:r>
              <a:rPr lang="pt-BR" sz="1400" dirty="0"/>
              <a:t> DA SOLUÇÃO </a:t>
            </a:r>
          </a:p>
          <a:p>
            <a:pPr lvl="1"/>
            <a:r>
              <a:rPr lang="pt-BR" sz="1100" i="1" dirty="0"/>
              <a:t>(IDENTIFICAR INVESTIMENTOS, CUSTOS FIXOS E VARIÁVEIS PARA IMPLEMENTAÇÃO)</a:t>
            </a:r>
          </a:p>
          <a:p>
            <a:pPr marL="457200" indent="-457200">
              <a:buFont typeface="+mj-lt"/>
              <a:buAutoNum type="arabicPeriod"/>
            </a:pPr>
            <a:endParaRPr lang="pt-BR" sz="500" dirty="0"/>
          </a:p>
          <a:p>
            <a:pPr marL="457200" indent="-457200">
              <a:buFont typeface="+mj-lt"/>
              <a:buAutoNum type="arabicPeriod"/>
            </a:pPr>
            <a:r>
              <a:rPr lang="pt-BR" sz="1400" dirty="0"/>
              <a:t>ANALISAR OS </a:t>
            </a:r>
            <a:r>
              <a:rPr lang="pt-BR" sz="1400" u="sng" dirty="0"/>
              <a:t>GANHOS OU ECONOMIAS</a:t>
            </a:r>
            <a:r>
              <a:rPr lang="pt-BR" sz="1400" dirty="0"/>
              <a:t> PRODUZIDOS PELAS SOLUÇÃO</a:t>
            </a:r>
          </a:p>
          <a:p>
            <a:pPr lvl="1"/>
            <a:r>
              <a:rPr lang="pt-BR" sz="1100" i="1" dirty="0"/>
              <a:t>(IDENTIFICAR POTENCIAIS RECEITAS, REDUÇÃO DE CUSTOS OU DE PERDAS COM O PROJETO)</a:t>
            </a:r>
            <a:endParaRPr lang="pt-BR" sz="1100" dirty="0"/>
          </a:p>
          <a:p>
            <a:pPr marL="457200" indent="-457200">
              <a:buFont typeface="+mj-lt"/>
              <a:buAutoNum type="arabicPeriod"/>
            </a:pPr>
            <a:endParaRPr lang="pt-BR" sz="500" dirty="0"/>
          </a:p>
          <a:p>
            <a:pPr marL="457200" indent="-457200">
              <a:buFont typeface="+mj-lt"/>
              <a:buAutoNum type="arabicPeriod"/>
            </a:pPr>
            <a:r>
              <a:rPr lang="pt-BR" sz="1400" dirty="0"/>
              <a:t>MONTAR </a:t>
            </a:r>
            <a:r>
              <a:rPr lang="pt-BR" sz="1400" u="sng" dirty="0"/>
              <a:t>DRE PROJETADO</a:t>
            </a:r>
            <a:r>
              <a:rPr lang="pt-BR" sz="1400" dirty="0"/>
              <a:t> PARA OS 24 PRIMEIROS MESES </a:t>
            </a:r>
          </a:p>
          <a:p>
            <a:pPr lvl="1"/>
            <a:r>
              <a:rPr lang="pt-BR" sz="1100" i="1" dirty="0"/>
              <a:t>(MODELO SIMPLIFICADO PARA APURAÇÃO DE MARGEM DE CONTRIBUIÇÃO)</a:t>
            </a:r>
          </a:p>
          <a:p>
            <a:pPr lvl="1"/>
            <a:r>
              <a:rPr lang="pt-BR" sz="1100" i="1" dirty="0">
                <a:solidFill>
                  <a:schemeClr val="tx2"/>
                </a:solidFill>
              </a:rPr>
              <a:t>** RECOMENDO ELABORAR 3 VERSÕES: PESSIMISTA, OTIMISTA E “REALISTA”</a:t>
            </a:r>
          </a:p>
          <a:p>
            <a:pPr marL="457200" indent="-457200">
              <a:buFont typeface="+mj-lt"/>
              <a:buAutoNum type="arabicPeriod"/>
            </a:pPr>
            <a:endParaRPr lang="pt-BR" sz="500" dirty="0"/>
          </a:p>
          <a:p>
            <a:pPr marL="457200" indent="-457200">
              <a:buFont typeface="+mj-lt"/>
              <a:buAutoNum type="arabicPeriod"/>
            </a:pPr>
            <a:r>
              <a:rPr lang="pt-BR" sz="1400" dirty="0"/>
              <a:t>DETERMINAR </a:t>
            </a:r>
            <a:r>
              <a:rPr lang="pt-BR" sz="1400" u="sng" dirty="0"/>
              <a:t>PONTO DE EQUILIBRIO</a:t>
            </a:r>
          </a:p>
          <a:p>
            <a:pPr lvl="1"/>
            <a:r>
              <a:rPr lang="pt-BR" sz="1100" i="1" dirty="0"/>
              <a:t>(PARA ANÁLISE DE QUANDO O PROJETO PASSA A DAR RETORNO) </a:t>
            </a:r>
          </a:p>
          <a:p>
            <a:pPr lvl="1"/>
            <a:endParaRPr lang="pt-BR" sz="500" i="1" dirty="0"/>
          </a:p>
          <a:p>
            <a:pPr marL="457200" indent="-457200">
              <a:buFont typeface="+mj-lt"/>
              <a:buAutoNum type="arabicPeriod"/>
            </a:pPr>
            <a:r>
              <a:rPr lang="pt-BR" sz="1400" dirty="0"/>
              <a:t>CALCULAR NECESSIDADE DE APORTE (INVESTIMENTO)</a:t>
            </a:r>
            <a:endParaRPr lang="pt-BR" sz="1400" u="sng" dirty="0"/>
          </a:p>
          <a:p>
            <a:pPr lvl="1"/>
            <a:r>
              <a:rPr lang="pt-BR" sz="1100" i="1" dirty="0"/>
              <a:t>(QUANTO DINHEIRO PRECISARÃO PARA ESTRUTURAR E OPERAR A EMPRESA ATÉ O PONTO DE EQUILÍBRIO) </a:t>
            </a:r>
          </a:p>
          <a:p>
            <a:pPr lvl="1"/>
            <a:endParaRPr lang="pt-BR" sz="11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033A99-1759-6482-14B5-E4903E2A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758886"/>
            <a:ext cx="4781550" cy="229959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68987082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2019  Prof. Henrique Cordeiro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44514C3E525041A50FD90CCA057415" ma:contentTypeVersion="7" ma:contentTypeDescription="Crie um novo documento." ma:contentTypeScope="" ma:versionID="92f34bbf55dd045e61cbd49179cfa681">
  <xsd:schema xmlns:xsd="http://www.w3.org/2001/XMLSchema" xmlns:xs="http://www.w3.org/2001/XMLSchema" xmlns:p="http://schemas.microsoft.com/office/2006/metadata/properties" xmlns:ns2="b591360b-72bd-45d7-9362-d2d404a7b4f5" targetNamespace="http://schemas.microsoft.com/office/2006/metadata/properties" ma:root="true" ma:fieldsID="41fd020b94b8171414274d460acc2559" ns2:_="">
    <xsd:import namespace="b591360b-72bd-45d7-9362-d2d404a7b4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1360b-72bd-45d7-9362-d2d404a7b4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4A352A-1329-4CB6-9E61-A8BBE55A667B}"/>
</file>

<file path=customXml/itemProps2.xml><?xml version="1.0" encoding="utf-8"?>
<ds:datastoreItem xmlns:ds="http://schemas.openxmlformats.org/officeDocument/2006/customXml" ds:itemID="{586EDC9A-39A4-49D6-A15E-7124A76BEA2B}"/>
</file>

<file path=customXml/itemProps3.xml><?xml version="1.0" encoding="utf-8"?>
<ds:datastoreItem xmlns:ds="http://schemas.openxmlformats.org/officeDocument/2006/customXml" ds:itemID="{6863B23F-EFCB-49DD-83A7-542A1B703A36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2879</TotalTime>
  <Words>2088</Words>
  <Application>Microsoft Office PowerPoint</Application>
  <PresentationFormat>Apresentação na tela (4:3)</PresentationFormat>
  <Paragraphs>581</Paragraphs>
  <Slides>33</Slides>
  <Notes>5</Notes>
  <HiddenSlides>8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33</vt:i4>
      </vt:variant>
    </vt:vector>
  </HeadingPairs>
  <TitlesOfParts>
    <vt:vector size="45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DellOsso Cordeiro</cp:lastModifiedBy>
  <cp:revision>262</cp:revision>
  <dcterms:created xsi:type="dcterms:W3CDTF">2015-01-30T10:46:50Z</dcterms:created>
  <dcterms:modified xsi:type="dcterms:W3CDTF">2026-08-12T01:49:47Z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0x0101007544514C3E525041A50FD90CCA057415</vt:lpwstr>
  </property>
</Properties>
</file>